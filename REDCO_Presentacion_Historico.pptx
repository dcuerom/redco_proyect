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8122748</c:v>
                </c:pt>
                <c:pt idx="1">
                  <c:v>8811887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2154905</c:v>
                </c:pt>
                <c:pt idx="1">
                  <c:v>1186677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0.2653</c:v>
                </c:pt>
                <c:pt idx="1">
                  <c:v>0.1347</c:v>
                </c:pt>
              </c:numCache>
            </c:numRef>
          </c:val>
          <c:smooth val="0"/>
        </c:ser>
        <c:marker val="1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0000.0"/>
          <c:min val="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000000.0"/>
      </c:valAx>
      <c:valAx>
        <c:axId val="-2113994309"/>
        <c:scaling>
          <c:orientation val="minMax"/>
          <c:max val="0.4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205"/>
        <c:crosses val="max"/>
      </c:valAx>
      <c:catAx>
        <c:axId val="-2068027205"/>
        <c:scaling>
          <c:orientation val="minMax"/>
        </c:scaling>
        <c:delete val="1"/>
        <c:axPos val="b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3370429</c:v>
                </c:pt>
                <c:pt idx="1">
                  <c:v>3592127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-400033</c:v>
                </c:pt>
                <c:pt idx="1">
                  <c:v>-1407141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-0.1187</c:v>
                </c:pt>
                <c:pt idx="1">
                  <c:v>-0.3917</c:v>
                </c:pt>
              </c:numCache>
            </c:numRef>
          </c:val>
          <c:smooth val="0"/>
        </c:ser>
        <c:marker val="1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0000.0"/>
          <c:min val="-160000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1000000.0"/>
      </c:valAx>
      <c:valAx>
        <c:axId val="-2113994309"/>
        <c:scaling>
          <c:orientation val="minMax"/>
          <c:max val="1.0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205"/>
        <c:crosses val="max"/>
      </c:valAx>
      <c:catAx>
        <c:axId val="-2068027205"/>
        <c:scaling>
          <c:orientation val="minMax"/>
        </c:scaling>
        <c:delete val="1"/>
        <c:axPos val="b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2077901</c:v>
                </c:pt>
                <c:pt idx="1">
                  <c:v>2417353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649490</c:v>
                </c:pt>
                <c:pt idx="1">
                  <c:v>685490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0.3126</c:v>
                </c:pt>
                <c:pt idx="1">
                  <c:v>0.2836</c:v>
                </c:pt>
              </c:numCache>
            </c:numRef>
          </c:val>
          <c:smooth val="0"/>
        </c:ser>
        <c:marker val="1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0000.0"/>
          <c:min val="-160000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1000000.0"/>
      </c:valAx>
      <c:valAx>
        <c:axId val="-2113994309"/>
        <c:scaling>
          <c:orientation val="minMax"/>
          <c:max val="1.0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205"/>
        <c:crosses val="max"/>
      </c:valAx>
      <c:catAx>
        <c:axId val="-2068027205"/>
        <c:scaling>
          <c:orientation val="minMax"/>
        </c:scaling>
        <c:delete val="1"/>
        <c:axPos val="b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1210944</c:v>
                </c:pt>
                <c:pt idx="1">
                  <c:v>1597092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852557</c:v>
                </c:pt>
                <c:pt idx="1">
                  <c:v>1145375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0.704</c:v>
                </c:pt>
                <c:pt idx="1">
                  <c:v>0.7172</c:v>
                </c:pt>
              </c:numCache>
            </c:numRef>
          </c:val>
          <c:smooth val="0"/>
        </c:ser>
        <c:marker val="1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0000.0"/>
          <c:min val="-160000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1000000.0"/>
      </c:valAx>
      <c:valAx>
        <c:axId val="-2113994309"/>
        <c:scaling>
          <c:orientation val="minMax"/>
          <c:max val="1.0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205"/>
        <c:crosses val="max"/>
      </c:valAx>
      <c:catAx>
        <c:axId val="-2068027205"/>
        <c:scaling>
          <c:orientation val="minMax"/>
        </c:scaling>
        <c:delete val="1"/>
        <c:axPos val="b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1463474</c:v>
                </c:pt>
                <c:pt idx="1">
                  <c:v>1205315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1052891</c:v>
                </c:pt>
                <c:pt idx="1">
                  <c:v>762952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0.7194</c:v>
                </c:pt>
                <c:pt idx="1">
                  <c:v>0.633</c:v>
                </c:pt>
              </c:numCache>
            </c:numRef>
          </c:val>
          <c:smooth val="0"/>
        </c:ser>
        <c:marker val="1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0000.0"/>
          <c:min val="-160000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1000000.0"/>
      </c:valAx>
      <c:valAx>
        <c:axId val="-2113994309"/>
        <c:scaling>
          <c:orientation val="minMax"/>
          <c:max val="1.0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</a:p>
        </c:txPr>
        <c:crossAx val="-2068027205"/>
        <c:crosses val="max"/>
      </c:valAx>
      <c:catAx>
        <c:axId val="-2068027205"/>
        <c:scaling>
          <c:orientation val="minMax"/>
        </c:scaling>
        <c:delete val="1"/>
        <c:axPos val="b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Chile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ADCFC"/>
              </a:solidFill>
            </a:ln>
          </c:spPr>
          <c:marker>
            <c:symbol val="circle"/>
            <c:size val="5"/>
            <c:spPr>
              <a:solidFill>
                <a:srgbClr val="CADCFC"/>
              </a:solidFill>
              <a:ln>
                <a:solidFill>
                  <a:srgbClr val="CADCFC"/>
                </a:solidFill>
              </a:ln>
            </c:spPr>
          </c:marker>
          <c:trendline>
            <c:spPr>
              <a:ln w="19050">
                <a:solidFill>
                  <a:srgbClr val="6C8CC4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-48504.86</c:v>
                </c:pt>
                <c:pt idx="1">
                  <c:v>-109839.19</c:v>
                </c:pt>
                <c:pt idx="2">
                  <c:v>18828.94</c:v>
                </c:pt>
                <c:pt idx="3">
                  <c:v>7508.93</c:v>
                </c:pt>
                <c:pt idx="4">
                  <c:v>-63882.05</c:v>
                </c:pt>
                <c:pt idx="5">
                  <c:v>-106625.94</c:v>
                </c:pt>
                <c:pt idx="6">
                  <c:v>-92296.98</c:v>
                </c:pt>
                <c:pt idx="7">
                  <c:v>-107480.83</c:v>
                </c:pt>
                <c:pt idx="8">
                  <c:v>37742.76</c:v>
                </c:pt>
                <c:pt idx="9">
                  <c:v>149230.56</c:v>
                </c:pt>
                <c:pt idx="10">
                  <c:v>36051.46</c:v>
                </c:pt>
                <c:pt idx="11">
                  <c:v>-120765.96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-34913.92000000004</c:v>
                </c:pt>
                <c:pt idx="1">
                  <c:v>125183.97999999998</c:v>
                </c:pt>
                <c:pt idx="2">
                  <c:v>-50171.71999999997</c:v>
                </c:pt>
                <c:pt idx="3">
                  <c:v>-104072.86999999997</c:v>
                </c:pt>
                <c:pt idx="4">
                  <c:v>-67503.71999999997</c:v>
                </c:pt>
                <c:pt idx="5">
                  <c:v>-103147.09999999998</c:v>
                </c:pt>
                <c:pt idx="6">
                  <c:v>79843.56</c:v>
                </c:pt>
                <c:pt idx="7">
                  <c:v>-273766.17</c:v>
                </c:pt>
                <c:pt idx="8">
                  <c:v>-157946.28000000003</c:v>
                </c:pt>
                <c:pt idx="9">
                  <c:v>-354919.19999999995</c:v>
                </c:pt>
                <c:pt idx="10">
                  <c:v>-143429.18</c:v>
                </c:pt>
                <c:pt idx="11">
                  <c:v>-322297.99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Perú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ADCFC"/>
              </a:solidFill>
            </a:ln>
          </c:spPr>
          <c:marker>
            <c:symbol val="circle"/>
            <c:size val="5"/>
            <c:spPr>
              <a:solidFill>
                <a:srgbClr val="CADCFC"/>
              </a:solidFill>
              <a:ln>
                <a:solidFill>
                  <a:srgbClr val="CADCFC"/>
                </a:solidFill>
              </a:ln>
            </c:spPr>
          </c:marker>
          <c:trendline>
            <c:spPr>
              <a:ln w="19050">
                <a:solidFill>
                  <a:srgbClr val="6C8CC4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-1611.16</c:v>
                </c:pt>
                <c:pt idx="1">
                  <c:v>-12597.78</c:v>
                </c:pt>
                <c:pt idx="2">
                  <c:v>7481.23</c:v>
                </c:pt>
                <c:pt idx="3">
                  <c:v>-21999.41</c:v>
                </c:pt>
                <c:pt idx="4">
                  <c:v>-17336.63</c:v>
                </c:pt>
                <c:pt idx="5">
                  <c:v>89376.19</c:v>
                </c:pt>
                <c:pt idx="6">
                  <c:v>49615.26</c:v>
                </c:pt>
                <c:pt idx="7">
                  <c:v>33862.78</c:v>
                </c:pt>
                <c:pt idx="8">
                  <c:v>314378.0</c:v>
                </c:pt>
                <c:pt idx="9">
                  <c:v>205280.55</c:v>
                </c:pt>
                <c:pt idx="10">
                  <c:v>43117.0</c:v>
                </c:pt>
                <c:pt idx="11">
                  <c:v>-40075.62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34385.149999999994</c:v>
                </c:pt>
                <c:pt idx="1">
                  <c:v>-19143.0</c:v>
                </c:pt>
                <c:pt idx="2">
                  <c:v>12622.0</c:v>
                </c:pt>
                <c:pt idx="3">
                  <c:v>-27595.29999999999</c:v>
                </c:pt>
                <c:pt idx="4">
                  <c:v>13686.0</c:v>
                </c:pt>
                <c:pt idx="5">
                  <c:v>61593.0</c:v>
                </c:pt>
                <c:pt idx="6">
                  <c:v>52347.0</c:v>
                </c:pt>
                <c:pt idx="7">
                  <c:v>416001.0</c:v>
                </c:pt>
                <c:pt idx="8">
                  <c:v>-7964.0</c:v>
                </c:pt>
                <c:pt idx="9">
                  <c:v>157275.0</c:v>
                </c:pt>
                <c:pt idx="10">
                  <c:v>-43027.640000000014</c:v>
                </c:pt>
                <c:pt idx="11">
                  <c:v>35311.0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Brasil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ADCFC"/>
              </a:solidFill>
            </a:ln>
          </c:spPr>
          <c:marker>
            <c:symbol val="circle"/>
            <c:size val="5"/>
            <c:spPr>
              <a:solidFill>
                <a:srgbClr val="CADCFC"/>
              </a:solidFill>
              <a:ln>
                <a:solidFill>
                  <a:srgbClr val="CADCFC"/>
                </a:solidFill>
              </a:ln>
            </c:spPr>
          </c:marker>
          <c:trendline>
            <c:spPr>
              <a:ln w="19050">
                <a:solidFill>
                  <a:srgbClr val="6C8CC4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144558.51</c:v>
                </c:pt>
                <c:pt idx="1">
                  <c:v>176461.66</c:v>
                </c:pt>
                <c:pt idx="2">
                  <c:v>66266.7</c:v>
                </c:pt>
                <c:pt idx="3">
                  <c:v>53240.29</c:v>
                </c:pt>
                <c:pt idx="4">
                  <c:v>220336.25</c:v>
                </c:pt>
                <c:pt idx="5">
                  <c:v>-15354.74</c:v>
                </c:pt>
                <c:pt idx="6">
                  <c:v>89.0</c:v>
                </c:pt>
                <c:pt idx="7">
                  <c:v>119735.93</c:v>
                </c:pt>
                <c:pt idx="8">
                  <c:v>-27683.0</c:v>
                </c:pt>
                <c:pt idx="9">
                  <c:v>86346.09</c:v>
                </c:pt>
                <c:pt idx="10">
                  <c:v>44943.0</c:v>
                </c:pt>
                <c:pt idx="11">
                  <c:v>-16382.8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59479.0</c:v>
                </c:pt>
                <c:pt idx="1">
                  <c:v>31871.0</c:v>
                </c:pt>
                <c:pt idx="2">
                  <c:v>69897.0</c:v>
                </c:pt>
                <c:pt idx="3">
                  <c:v>45205.299999999996</c:v>
                </c:pt>
                <c:pt idx="4">
                  <c:v>3745.0</c:v>
                </c:pt>
                <c:pt idx="5">
                  <c:v>-9723.0</c:v>
                </c:pt>
                <c:pt idx="6">
                  <c:v>16698.0</c:v>
                </c:pt>
                <c:pt idx="7">
                  <c:v>98177.0</c:v>
                </c:pt>
                <c:pt idx="8">
                  <c:v>126265.0</c:v>
                </c:pt>
                <c:pt idx="9">
                  <c:v>311013.0</c:v>
                </c:pt>
                <c:pt idx="10">
                  <c:v>191632.0</c:v>
                </c:pt>
                <c:pt idx="11">
                  <c:v>201115.51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USA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ADCFC"/>
              </a:solidFill>
            </a:ln>
          </c:spPr>
          <c:marker>
            <c:symbol val="circle"/>
            <c:size val="5"/>
            <c:spPr>
              <a:solidFill>
                <a:srgbClr val="CADCFC"/>
              </a:solidFill>
              <a:ln>
                <a:solidFill>
                  <a:srgbClr val="CADCFC"/>
                </a:solidFill>
              </a:ln>
            </c:spPr>
          </c:marker>
          <c:trendline>
            <c:spPr>
              <a:ln w="19050">
                <a:solidFill>
                  <a:srgbClr val="6C8CC4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52804.0</c:v>
                </c:pt>
                <c:pt idx="2">
                  <c:v>133177.0</c:v>
                </c:pt>
                <c:pt idx="3">
                  <c:v>102905.0</c:v>
                </c:pt>
                <c:pt idx="4">
                  <c:v>155191.0</c:v>
                </c:pt>
                <c:pt idx="5">
                  <c:v>35779.0</c:v>
                </c:pt>
                <c:pt idx="6">
                  <c:v>-19729.0</c:v>
                </c:pt>
                <c:pt idx="7">
                  <c:v>87858.0</c:v>
                </c:pt>
                <c:pt idx="8">
                  <c:v>603466.0</c:v>
                </c:pt>
                <c:pt idx="9">
                  <c:v>-32355.0</c:v>
                </c:pt>
                <c:pt idx="10">
                  <c:v>38425.0</c:v>
                </c:pt>
                <c:pt idx="11">
                  <c:v>-104630.0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150438.0</c:v>
                </c:pt>
                <c:pt idx="1">
                  <c:v>241440.21</c:v>
                </c:pt>
                <c:pt idx="2">
                  <c:v>82798.0</c:v>
                </c:pt>
                <c:pt idx="3">
                  <c:v>159302.0</c:v>
                </c:pt>
                <c:pt idx="4">
                  <c:v>147424.0</c:v>
                </c:pt>
                <c:pt idx="5">
                  <c:v>57618.0</c:v>
                </c:pt>
                <c:pt idx="6">
                  <c:v>-10017.0</c:v>
                </c:pt>
                <c:pt idx="7">
                  <c:v>18985.0</c:v>
                </c:pt>
                <c:pt idx="8">
                  <c:v>-1000.0</c:v>
                </c:pt>
                <c:pt idx="9">
                  <c:v>-43411.0</c:v>
                </c:pt>
                <c:pt idx="10">
                  <c:v>-1000.0</c:v>
                </c:pt>
                <c:pt idx="11">
                  <c:v>-39625.0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8862D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D5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3E6FB0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BA6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4FA3A8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B0507A"/>
              </a:solidFill>
              <a:ln w="19050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6B7280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FS e Ing. Basica</c:v>
                </c:pt>
                <c:pt idx="1">
                  <c:v>PFS</c:v>
                </c:pt>
                <c:pt idx="2">
                  <c:v>Consultoria y Due Dilligence</c:v>
                </c:pt>
                <c:pt idx="3">
                  <c:v>Scoping</c:v>
                </c:pt>
                <c:pt idx="4">
                  <c:v>Estudio Conceptual / LOM</c:v>
                </c:pt>
                <c:pt idx="5">
                  <c:v>Permisos / MEIA</c:v>
                </c:pt>
                <c:pt idx="6">
                  <c:v>PEA</c:v>
                </c:pt>
                <c:pt idx="7">
                  <c:v>Confiabilidad Planes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9092795.879999999</c:v>
                </c:pt>
                <c:pt idx="1">
                  <c:v>2998348.49</c:v>
                </c:pt>
                <c:pt idx="2">
                  <c:v>2942808.0</c:v>
                </c:pt>
                <c:pt idx="3">
                  <c:v>2450787.67</c:v>
                </c:pt>
                <c:pt idx="4">
                  <c:v>1928787.6</c:v>
                </c:pt>
                <c:pt idx="5">
                  <c:v>848031.0</c:v>
                </c:pt>
                <c:pt idx="6">
                  <c:v>490000.0</c:v>
                </c:pt>
                <c:pt idx="7">
                  <c:v>110007.0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6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dPt>
            <c:idx val="0"/>
            <c:spPr>
              <a:solidFill>
                <a:srgbClr val="C8862D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dPt>
            <c:idx val="2"/>
            <c:spPr>
              <a:solidFill>
                <a:srgbClr val="6B7280"/>
              </a:solidFill>
            </c:spPr>
          </c:dPt>
          <c:dPt>
            <c:idx val="3"/>
            <c:spPr>
              <a:solidFill>
                <a:srgbClr val="3E6FB0"/>
              </a:solidFill>
            </c:spPr>
          </c:dPt>
          <c:dPt>
            <c:idx val="4"/>
            <c:spPr>
              <a:solidFill>
                <a:srgbClr val="1E2761"/>
              </a:solidFill>
            </c:spPr>
          </c:dPt>
          <c:dPt>
            <c:idx val="5"/>
            <c:spPr>
              <a:solidFill>
                <a:srgbClr val="8E5BA6"/>
              </a:solidFill>
            </c:spPr>
          </c:dPt>
          <c:cat>
            <c:strRef>
              <c:f>Sheet1!$A$2:$A$7</c:f>
              <c:strCache>
                <c:ptCount val="6"/>
                <c:pt idx="0">
                  <c:v>PFS</c:v>
                </c:pt>
                <c:pt idx="1">
                  <c:v>Consultoría/DD</c:v>
                </c:pt>
                <c:pt idx="2">
                  <c:v>Confiab. Planes</c:v>
                </c:pt>
                <c:pt idx="3">
                  <c:v>Scoping</c:v>
                </c:pt>
                <c:pt idx="4">
                  <c:v>FS/Ing. Básica</c:v>
                </c:pt>
                <c:pt idx="5">
                  <c:v>Conceptual/LOM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-2.136536345446063</c:v>
                </c:pt>
                <c:pt idx="1">
                  <c:v>-0.22153347280334734</c:v>
                </c:pt>
                <c:pt idx="2">
                  <c:v>-0.07973357356726148</c:v>
                </c:pt>
                <c:pt idx="3">
                  <c:v>0.2559365135912336</c:v>
                </c:pt>
                <c:pt idx="4">
                  <c:v>0.3062518482647062</c:v>
                </c:pt>
                <c:pt idx="5">
                  <c:v>0.4214951747287252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50" b="1">
                  <a:solidFill>
                    <a:srgbClr val="23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1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8E5BA6"/>
              </a:solidFill>
            </c:spPr>
          </c:dPt>
          <c:dPt>
            <c:idx val="2"/>
            <c:spPr>
              <a:solidFill>
                <a:srgbClr val="C8862D"/>
              </a:solidFill>
            </c:spPr>
          </c:dPt>
          <c:dPt>
            <c:idx val="3"/>
            <c:spPr>
              <a:solidFill>
                <a:srgbClr val="4FA3A8"/>
              </a:solidFill>
            </c:spPr>
          </c:dPt>
          <c:cat>
            <c:strRef>
              <c:f>Sheet1!$A$2:$A$5</c:f>
              <c:strCache>
                <c:ptCount val="4"/>
                <c:pt idx="0">
                  <c:v>FS/Ing. Básica</c:v>
                </c:pt>
                <c:pt idx="1">
                  <c:v>Conceptual/LOM</c:v>
                </c:pt>
                <c:pt idx="2">
                  <c:v>PFS</c:v>
                </c:pt>
                <c:pt idx="3">
                  <c:v>Permisos/MEIA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-0.025183763926372168</c:v>
                </c:pt>
                <c:pt idx="1">
                  <c:v>0.3405200105919954</c:v>
                </c:pt>
                <c:pt idx="2">
                  <c:v>0.5099092148263418</c:v>
                </c:pt>
                <c:pt idx="3">
                  <c:v>0.6735012869606118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50" b="1">
                  <a:solidFill>
                    <a:srgbClr val="23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1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dPt>
            <c:idx val="0"/>
            <c:spPr>
              <a:solidFill>
                <a:srgbClr val="3E6FB0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B0507A"/>
              </a:solidFill>
            </c:spPr>
          </c:dPt>
          <c:dPt>
            <c:idx val="3"/>
            <c:spPr>
              <a:solidFill>
                <a:srgbClr val="8E5BA6"/>
              </a:solidFill>
            </c:spPr>
          </c:dPt>
          <c:cat>
            <c:strRef>
              <c:f>Sheet1!$A$2:$A$5</c:f>
              <c:strCache>
                <c:ptCount val="4"/>
                <c:pt idx="0">
                  <c:v>Scoping</c:v>
                </c:pt>
                <c:pt idx="1">
                  <c:v>FS/Ing. Básica</c:v>
                </c:pt>
                <c:pt idx="2">
                  <c:v>PEA</c:v>
                </c:pt>
                <c:pt idx="3">
                  <c:v>Conceptual/LOM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-0.17379141168482415</c:v>
                </c:pt>
                <c:pt idx="1">
                  <c:v>-0.055432391790209305</c:v>
                </c:pt>
                <c:pt idx="2">
                  <c:v>0.33570265013964995</c:v>
                </c:pt>
                <c:pt idx="3">
                  <c:v>0.7231545656416123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50" b="1">
                  <a:solidFill>
                    <a:srgbClr val="23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1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dPt>
            <c:idx val="0"/>
            <c:spPr>
              <a:solidFill>
                <a:srgbClr val="C8862D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cat>
            <c:strRef>
              <c:f>Sheet1!$A$2:$A$3</c:f>
              <c:strCache>
                <c:ptCount val="2"/>
                <c:pt idx="0">
                  <c:v>PFS</c:v>
                </c:pt>
                <c:pt idx="1">
                  <c:v>Consultoría/DD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0.4076921703048516</c:v>
                </c:pt>
                <c:pt idx="1">
                  <c:v>0.6140270410006161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50" b="1">
                  <a:solidFill>
                    <a:srgbClr val="23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1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2E7D5B"/>
              </a:solidFill>
            </a:ln>
          </c:spPr>
          <c:marker>
            <c:symbol val="circle"/>
            <c:size val="6"/>
            <c:spPr>
              <a:solidFill>
                <a:srgbClr val="2E7D5B"/>
              </a:solidFill>
              <a:ln>
                <a:solidFill>
                  <a:srgbClr val="2E7D5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9">
                  <c:v>0.3333333333333333</c:v>
                </c:pt>
                <c:pt idx="10">
                  <c:v>0.4</c:v>
                </c:pt>
                <c:pt idx="11">
                  <c:v>0.5333333333333333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ize val="6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1.0</c:v>
                </c:pt>
                <c:pt idx="1">
                  <c:v>0.6</c:v>
                </c:pt>
                <c:pt idx="2">
                  <c:v>0.7272727272727273</c:v>
                </c:pt>
                <c:pt idx="3">
                  <c:v>0.3888888888888889</c:v>
                </c:pt>
                <c:pt idx="4">
                  <c:v>0.5</c:v>
                </c:pt>
                <c:pt idx="5">
                  <c:v>0.38095238095238093</c:v>
                </c:pt>
                <c:pt idx="6">
                  <c:v>0.45</c:v>
                </c:pt>
                <c:pt idx="7">
                  <c:v>0.6666666666666666</c:v>
                </c:pt>
                <c:pt idx="8">
                  <c:v>0.4</c:v>
                </c:pt>
                <c:pt idx="9">
                  <c:v>0.6666666666666666</c:v>
                </c:pt>
                <c:pt idx="10">
                  <c:v>0.15789473684210525</c:v>
                </c:pt>
                <c:pt idx="11">
                  <c:v>0.3888888888888889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*</c:v>
                </c:pt>
              </c:strCache>
            </c:strRef>
          </c:tx>
          <c:spPr>
            <a:ln w="31750">
              <a:solidFill>
                <a:srgbClr val="C8862D"/>
              </a:solidFill>
            </a:ln>
          </c:spPr>
          <c:marker>
            <c:symbol val="circle"/>
            <c:size val="6"/>
            <c:spPr>
              <a:solidFill>
                <a:srgbClr val="C8862D"/>
              </a:solidFill>
              <a:ln>
                <a:solidFill>
                  <a:srgbClr val="C8862D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0.46153846153846156</c:v>
                </c:pt>
                <c:pt idx="1">
                  <c:v>0.25</c:v>
                </c:pt>
                <c:pt idx="2">
                  <c:v>0.5238095238095238</c:v>
                </c:pt>
                <c:pt idx="3">
                  <c:v>0.3684210526315789</c:v>
                </c:pt>
                <c:pt idx="4">
                  <c:v>0.42857142857142855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solidFill>
                  <a:srgbClr val="232733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2E7D5B"/>
              </a:solidFill>
            </a:ln>
          </c:spPr>
          <c:marker>
            <c:symbol val="circle"/>
            <c:size val="6"/>
            <c:spPr>
              <a:solidFill>
                <a:srgbClr val="2E7D5B"/>
              </a:solidFill>
              <a:ln>
                <a:solidFill>
                  <a:srgbClr val="2E7D5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9">
                  <c:v>0.19959979989994997</c:v>
                </c:pt>
                <c:pt idx="10">
                  <c:v>0.29189501009518315</c:v>
                </c:pt>
                <c:pt idx="11">
                  <c:v>0.41690962099125367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ize val="6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0.47739602169981915</c:v>
                </c:pt>
                <c:pt idx="1">
                  <c:v>0.48463632827693504</c:v>
                </c:pt>
                <c:pt idx="2">
                  <c:v>0.1200652528548124</c:v>
                </c:pt>
                <c:pt idx="3">
                  <c:v>0.2316126084970306</c:v>
                </c:pt>
                <c:pt idx="4">
                  <c:v>0.3198942498347654</c:v>
                </c:pt>
                <c:pt idx="5">
                  <c:v>0.08629882207067575</c:v>
                </c:pt>
                <c:pt idx="6">
                  <c:v>0.2868959512407488</c:v>
                </c:pt>
                <c:pt idx="7">
                  <c:v>0.5008384572386808</c:v>
                </c:pt>
                <c:pt idx="8">
                  <c:v>0.40638977635782747</c:v>
                </c:pt>
                <c:pt idx="9">
                  <c:v>0.13172119487908962</c:v>
                </c:pt>
                <c:pt idx="10">
                  <c:v>0.13498312710911137</c:v>
                </c:pt>
                <c:pt idx="11">
                  <c:v>0.3565383565383565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*</c:v>
                </c:pt>
              </c:strCache>
            </c:strRef>
          </c:tx>
          <c:spPr>
            <a:ln w="31750">
              <a:solidFill>
                <a:srgbClr val="C8862D"/>
              </a:solidFill>
            </a:ln>
          </c:spPr>
          <c:marker>
            <c:symbol val="circle"/>
            <c:size val="6"/>
            <c:spPr>
              <a:solidFill>
                <a:srgbClr val="C8862D"/>
              </a:solidFill>
              <a:ln>
                <a:solidFill>
                  <a:srgbClr val="C8862D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0.3392405063291139</c:v>
                </c:pt>
                <c:pt idx="1">
                  <c:v>0.0888622754491018</c:v>
                </c:pt>
                <c:pt idx="2">
                  <c:v>0.3552299140980293</c:v>
                </c:pt>
                <c:pt idx="3">
                  <c:v>0.3322884012539185</c:v>
                </c:pt>
                <c:pt idx="4">
                  <c:v>0.1630104764612665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solidFill>
                  <a:srgbClr val="232733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6"/>
          <c:min val="0.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dLbls>
            <c:numFmt formatCode="0.0,,&quot;M&quot;" sourceLinked="0"/>
            <c:txPr>
              <a:bodyPr/>
              <a:lstStyle/>
              <a:p>
                <a:pPr>
                  <a:defRPr sz="800" b="0">
                    <a:solidFill>
                      <a:srgbClr val="2C4A7C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996738</c:v>
                </c:pt>
                <c:pt idx="1">
                  <c:v>1180193</c:v>
                </c:pt>
                <c:pt idx="2">
                  <c:v>950682</c:v>
                </c:pt>
                <c:pt idx="3">
                  <c:v>906131</c:v>
                </c:pt>
                <c:pt idx="4">
                  <c:v>1255790</c:v>
                </c:pt>
                <c:pt idx="5">
                  <c:v>987111</c:v>
                </c:pt>
                <c:pt idx="6">
                  <c:v>1028192</c:v>
                </c:pt>
                <c:pt idx="7">
                  <c:v>1691438</c:v>
                </c:pt>
                <c:pt idx="8">
                  <c:v>725248</c:v>
                </c:pt>
                <c:pt idx="9">
                  <c:v>1239850</c:v>
                </c:pt>
                <c:pt idx="10">
                  <c:v>1154713</c:v>
                </c:pt>
                <c:pt idx="11">
                  <c:v>1699799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Egresos</c:v>
                </c:pt>
              </c:strCache>
            </c:strRef>
          </c:tx>
          <c:spPr>
            <a:solidFill>
              <a:srgbClr val="CADCFC"/>
            </a:solidFill>
            <a:ln w="9525">
              <a:solidFill>
                <a:srgbClr val="2C4A7C"/>
              </a:solidFill>
            </a:ln>
          </c:spPr>
          <c:dLbls>
            <c:numFmt formatCode="0.0,,&quot;M&quot;" sourceLinked="0"/>
            <c:txPr>
              <a:bodyPr/>
              <a:lstStyle/>
              <a:p>
                <a:pPr>
                  <a:defRPr sz="800" b="0">
                    <a:solidFill>
                      <a:srgbClr val="2C4A7C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-686240</c:v>
                </c:pt>
                <c:pt idx="1">
                  <c:v>-769561</c:v>
                </c:pt>
                <c:pt idx="2">
                  <c:v>-765209</c:v>
                </c:pt>
                <c:pt idx="3">
                  <c:v>-856667</c:v>
                </c:pt>
                <c:pt idx="4">
                  <c:v>-1174270</c:v>
                </c:pt>
                <c:pt idx="5">
                  <c:v>-800686</c:v>
                </c:pt>
                <c:pt idx="6">
                  <c:v>-805080</c:v>
                </c:pt>
                <c:pt idx="7">
                  <c:v>-1406250</c:v>
                </c:pt>
                <c:pt idx="8">
                  <c:v>-822880</c:v>
                </c:pt>
                <c:pt idx="9">
                  <c:v>-1176427</c:v>
                </c:pt>
                <c:pt idx="10">
                  <c:v>-1192308</c:v>
                </c:pt>
                <c:pt idx="11">
                  <c:v>-1661668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Caja final</c:v>
                </c:pt>
              </c:strCache>
            </c:strRef>
          </c:tx>
          <c:spPr>
            <a:ln w="34925">
              <a:solidFill>
                <a:srgbClr val="2E7D5B"/>
              </a:solidFill>
            </a:ln>
          </c:spPr>
          <c:marker>
            <c:symbol val="circle"/>
            <c:size val="6"/>
            <c:spPr>
              <a:solidFill>
                <a:srgbClr val="2E7D5B"/>
              </a:solidFill>
              <a:ln>
                <a:solidFill>
                  <a:srgbClr val="2E7D5B"/>
                </a:solidFill>
              </a:ln>
            </c:spPr>
          </c:marker>
          <c:dLbls>
            <c:numFmt formatCode="0.0,,&quot;M&quot;" sourceLinked="0"/>
            <c:txPr>
              <a:bodyPr/>
              <a:lstStyle/>
              <a:p>
                <a:pPr>
                  <a:defRPr sz="800" b="1">
                    <a:solidFill>
                      <a:srgbClr val="2E7D5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564490</c:v>
                </c:pt>
                <c:pt idx="1">
                  <c:v>975122</c:v>
                </c:pt>
                <c:pt idx="2">
                  <c:v>1160595</c:v>
                </c:pt>
                <c:pt idx="3">
                  <c:v>1210059</c:v>
                </c:pt>
                <c:pt idx="4">
                  <c:v>1291579</c:v>
                </c:pt>
                <c:pt idx="5">
                  <c:v>1478004</c:v>
                </c:pt>
                <c:pt idx="6">
                  <c:v>1701115</c:v>
                </c:pt>
                <c:pt idx="7">
                  <c:v>1986304</c:v>
                </c:pt>
                <c:pt idx="8">
                  <c:v>1888672</c:v>
                </c:pt>
                <c:pt idx="9">
                  <c:v>1952095</c:v>
                </c:pt>
                <c:pt idx="10">
                  <c:v>1914500</c:v>
                </c:pt>
                <c:pt idx="11">
                  <c:v>1952632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Prom. Ingresos · 1,2M</c:v>
                </c:pt>
              </c:strCache>
            </c:strRef>
          </c:tx>
          <c:spPr>
            <a:ln w="19050">
              <a:solidFill>
                <a:srgbClr val="2C4A7C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1151324</c:v>
                </c:pt>
                <c:pt idx="1">
                  <c:v>1151324</c:v>
                </c:pt>
                <c:pt idx="2">
                  <c:v>1151324</c:v>
                </c:pt>
                <c:pt idx="3">
                  <c:v>1151324</c:v>
                </c:pt>
                <c:pt idx="4">
                  <c:v>1151324</c:v>
                </c:pt>
                <c:pt idx="5">
                  <c:v>1151324</c:v>
                </c:pt>
                <c:pt idx="6">
                  <c:v>1151324</c:v>
                </c:pt>
                <c:pt idx="7">
                  <c:v>1151324</c:v>
                </c:pt>
                <c:pt idx="8">
                  <c:v>1151324</c:v>
                </c:pt>
                <c:pt idx="9">
                  <c:v>1151324</c:v>
                </c:pt>
                <c:pt idx="10">
                  <c:v>1151324</c:v>
                </c:pt>
                <c:pt idx="11">
                  <c:v>1151324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Prom. Egresos · 1,0M</c:v>
                </c:pt>
              </c:strCache>
            </c:strRef>
          </c:tx>
          <c:spPr>
            <a:ln w="19050">
              <a:solidFill>
                <a:srgbClr val="7C97C4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-1009770</c:v>
                </c:pt>
                <c:pt idx="1">
                  <c:v>-1009770</c:v>
                </c:pt>
                <c:pt idx="2">
                  <c:v>-1009770</c:v>
                </c:pt>
                <c:pt idx="3">
                  <c:v>-1009770</c:v>
                </c:pt>
                <c:pt idx="4">
                  <c:v>-1009770</c:v>
                </c:pt>
                <c:pt idx="5">
                  <c:v>-1009770</c:v>
                </c:pt>
                <c:pt idx="6">
                  <c:v>-1009770</c:v>
                </c:pt>
                <c:pt idx="7">
                  <c:v>-1009770</c:v>
                </c:pt>
                <c:pt idx="8">
                  <c:v>-1009770</c:v>
                </c:pt>
                <c:pt idx="9">
                  <c:v>-1009770</c:v>
                </c:pt>
                <c:pt idx="10">
                  <c:v>-1009770</c:v>
                </c:pt>
                <c:pt idx="11">
                  <c:v>-1009770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950">
                <a:solidFill>
                  <a:srgbClr val="23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1000000.0"/>
      </c:valAx>
    </c:plotArea>
    <c:legend>
      <c:legendPos val="b"/>
      <c:overlay val="0"/>
      <c:txPr>
        <a:bodyPr/>
        <a:lstStyle/>
        <a:p>
          <a:pPr>
            <a:defRPr sz="105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2E7D5B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dPt>
            <c:idx val="2"/>
            <c:spPr>
              <a:solidFill>
                <a:srgbClr val="C8102E"/>
              </a:solidFill>
            </c:spPr>
          </c:dPt>
          <c:dPt>
            <c:idx val="3"/>
            <c:spPr>
              <a:solidFill>
                <a:srgbClr val="C8102E"/>
              </a:solidFill>
            </c:spPr>
          </c:dPt>
          <c:dPt>
            <c:idx val="4"/>
            <c:spPr>
              <a:solidFill>
                <a:srgbClr val="C8102E"/>
              </a:solidFill>
            </c:spPr>
          </c:dPt>
          <c:dPt>
            <c:idx val="5"/>
            <c:spPr>
              <a:solidFill>
                <a:srgbClr val="C8102E"/>
              </a:solidFill>
            </c:spPr>
          </c:dPt>
          <c:dPt>
            <c:idx val="6"/>
            <c:spPr>
              <a:solidFill>
                <a:srgbClr val="2E7D5B"/>
              </a:solidFill>
            </c:spPr>
          </c:dPt>
          <c:dPt>
            <c:idx val="7"/>
            <c:spPr>
              <a:solidFill>
                <a:srgbClr val="2E7D5B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C8102E"/>
              </a:solidFill>
            </c:spPr>
          </c:dPt>
          <c:dPt>
            <c:idx val="10"/>
            <c:spPr>
              <a:solidFill>
                <a:srgbClr val="C8102E"/>
              </a:solidFill>
            </c:spPr>
          </c:dPt>
          <c:dPt>
            <c:idx val="11"/>
            <c:spPr>
              <a:solidFill>
                <a:srgbClr val="2E7D5B"/>
              </a:solidFill>
            </c:spPr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118396</c:v>
                </c:pt>
                <c:pt idx="1">
                  <c:v>133162</c:v>
                </c:pt>
                <c:pt idx="2">
                  <c:v>-69890</c:v>
                </c:pt>
                <c:pt idx="3">
                  <c:v>-113201</c:v>
                </c:pt>
                <c:pt idx="4">
                  <c:v>-40766</c:v>
                </c:pt>
                <c:pt idx="5">
                  <c:v>-48062</c:v>
                </c:pt>
                <c:pt idx="6">
                  <c:v>191766</c:v>
                </c:pt>
                <c:pt idx="7">
                  <c:v>134255</c:v>
                </c:pt>
                <c:pt idx="8">
                  <c:v>-156526</c:v>
                </c:pt>
                <c:pt idx="9">
                  <c:v>-145691</c:v>
                </c:pt>
                <c:pt idx="10">
                  <c:v>-35646</c:v>
                </c:pt>
                <c:pt idx="11">
                  <c:v>3230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2E7D5B"/>
              </a:solidFill>
            </c:spPr>
          </c:dPt>
          <c:dPt>
            <c:idx val="1"/>
            <c:spPr>
              <a:solidFill>
                <a:srgbClr val="C8102E"/>
              </a:solidFill>
            </c:spPr>
          </c:dPt>
          <c:dPt>
            <c:idx val="2"/>
            <c:spPr>
              <a:solidFill>
                <a:srgbClr val="2E7D5B"/>
              </a:solidFill>
            </c:spPr>
          </c:dPt>
          <c:dPt>
            <c:idx val="3"/>
            <c:spPr>
              <a:solidFill>
                <a:srgbClr val="C8102E"/>
              </a:solidFill>
            </c:spPr>
          </c:dPt>
          <c:dPt>
            <c:idx val="4"/>
            <c:spPr>
              <a:solidFill>
                <a:srgbClr val="C8102E"/>
              </a:solidFill>
            </c:spPr>
          </c:dPt>
          <c:dPt>
            <c:idx val="5"/>
            <c:spPr>
              <a:solidFill>
                <a:srgbClr val="2E7D5B"/>
              </a:solidFill>
            </c:spPr>
          </c:dPt>
          <c:dPt>
            <c:idx val="6"/>
            <c:spPr>
              <a:solidFill>
                <a:srgbClr val="2E7D5B"/>
              </a:solidFill>
            </c:spPr>
          </c:dPt>
          <c:dPt>
            <c:idx val="7"/>
            <c:spPr>
              <a:solidFill>
                <a:srgbClr val="C8102E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2E7D5B"/>
              </a:solidFill>
            </c:spPr>
          </c:dPt>
          <c:dPt>
            <c:idx val="10"/>
            <c:spPr>
              <a:solidFill>
                <a:srgbClr val="C8102E"/>
              </a:solidFill>
            </c:spPr>
          </c:dPt>
          <c:dPt>
            <c:idx val="11"/>
            <c:spPr>
              <a:solidFill>
                <a:srgbClr val="C8102E"/>
              </a:solidFill>
            </c:spPr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3798</c:v>
                </c:pt>
                <c:pt idx="1">
                  <c:v>-2643</c:v>
                </c:pt>
                <c:pt idx="2">
                  <c:v>65135</c:v>
                </c:pt>
                <c:pt idx="3">
                  <c:v>-1064</c:v>
                </c:pt>
                <c:pt idx="4">
                  <c:v>-4999</c:v>
                </c:pt>
                <c:pt idx="5">
                  <c:v>42095</c:v>
                </c:pt>
                <c:pt idx="6">
                  <c:v>48879</c:v>
                </c:pt>
                <c:pt idx="7">
                  <c:v>-32506</c:v>
                </c:pt>
                <c:pt idx="8">
                  <c:v>-38703</c:v>
                </c:pt>
                <c:pt idx="9">
                  <c:v>13353</c:v>
                </c:pt>
                <c:pt idx="10">
                  <c:v>-123998</c:v>
                </c:pt>
                <c:pt idx="11">
                  <c:v>-25297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2E7D5B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dPt>
            <c:idx val="2"/>
            <c:spPr>
              <a:solidFill>
                <a:srgbClr val="2E7D5B"/>
              </a:solidFill>
            </c:spPr>
          </c:dPt>
          <c:dPt>
            <c:idx val="3"/>
            <c:spPr>
              <a:solidFill>
                <a:srgbClr val="2E7D5B"/>
              </a:solidFill>
            </c:spPr>
          </c:dPt>
          <c:dPt>
            <c:idx val="4"/>
            <c:spPr>
              <a:solidFill>
                <a:srgbClr val="C8102E"/>
              </a:solidFill>
            </c:spPr>
          </c:dPt>
          <c:dPt>
            <c:idx val="5"/>
            <c:spPr>
              <a:solidFill>
                <a:srgbClr val="C8102E"/>
              </a:solidFill>
            </c:spPr>
          </c:dPt>
          <c:dPt>
            <c:idx val="6"/>
            <c:spPr>
              <a:solidFill>
                <a:srgbClr val="C8102E"/>
              </a:solidFill>
            </c:spPr>
          </c:dPt>
          <c:dPt>
            <c:idx val="7"/>
            <c:spPr>
              <a:solidFill>
                <a:srgbClr val="2E7D5B"/>
              </a:solidFill>
            </c:spPr>
          </c:dPt>
          <c:dPt>
            <c:idx val="8"/>
            <c:spPr>
              <a:solidFill>
                <a:srgbClr val="2E7D5B"/>
              </a:solidFill>
            </c:spPr>
          </c:dPt>
          <c:dPt>
            <c:idx val="9"/>
            <c:spPr>
              <a:solidFill>
                <a:srgbClr val="2E7D5B"/>
              </a:solidFill>
            </c:spPr>
          </c:dPt>
          <c:dPt>
            <c:idx val="10"/>
            <c:spPr>
              <a:solidFill>
                <a:srgbClr val="C8102E"/>
              </a:solidFill>
            </c:spPr>
          </c:dPt>
          <c:dPt>
            <c:idx val="11"/>
            <c:spPr>
              <a:solidFill>
                <a:srgbClr val="2E7D5B"/>
              </a:solidFill>
            </c:spPr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51910</c:v>
                </c:pt>
                <c:pt idx="1">
                  <c:v>16991</c:v>
                </c:pt>
                <c:pt idx="2">
                  <c:v>61952</c:v>
                </c:pt>
                <c:pt idx="3">
                  <c:v>18807</c:v>
                </c:pt>
                <c:pt idx="4">
                  <c:v>-137850</c:v>
                </c:pt>
                <c:pt idx="5">
                  <c:v>-22177</c:v>
                </c:pt>
                <c:pt idx="6">
                  <c:v>-1832</c:v>
                </c:pt>
                <c:pt idx="7">
                  <c:v>70616</c:v>
                </c:pt>
                <c:pt idx="8">
                  <c:v>104282</c:v>
                </c:pt>
                <c:pt idx="9">
                  <c:v>244856</c:v>
                </c:pt>
                <c:pt idx="10">
                  <c:v>-143071</c:v>
                </c:pt>
                <c:pt idx="11">
                  <c:v>105509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2E7D5B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dPt>
            <c:idx val="2"/>
            <c:spPr>
              <a:solidFill>
                <a:srgbClr val="2E7D5B"/>
              </a:solidFill>
            </c:spPr>
          </c:dPt>
          <c:dPt>
            <c:idx val="3"/>
            <c:spPr>
              <a:solidFill>
                <a:srgbClr val="2E7D5B"/>
              </a:solidFill>
            </c:spPr>
          </c:dPt>
          <c:dPt>
            <c:idx val="4"/>
            <c:spPr>
              <a:solidFill>
                <a:srgbClr val="C8102E"/>
              </a:solidFill>
            </c:spPr>
          </c:dPt>
          <c:dPt>
            <c:idx val="5"/>
            <c:spPr>
              <a:solidFill>
                <a:srgbClr val="2E7D5B"/>
              </a:solidFill>
            </c:spPr>
          </c:dPt>
          <c:dPt>
            <c:idx val="6"/>
            <c:spPr>
              <a:solidFill>
                <a:srgbClr val="C8102E"/>
              </a:solidFill>
            </c:spPr>
          </c:dPt>
          <c:dPt>
            <c:idx val="7"/>
            <c:spPr>
              <a:solidFill>
                <a:srgbClr val="2E7D5B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C8102E"/>
              </a:solidFill>
            </c:spPr>
          </c:dPt>
          <c:dPt>
            <c:idx val="10"/>
            <c:spPr>
              <a:solidFill>
                <a:srgbClr val="C8102E"/>
              </a:solidFill>
            </c:spPr>
          </c:dPt>
          <c:dPt>
            <c:idx val="11"/>
            <c:spPr>
              <a:solidFill>
                <a:srgbClr val="C8102E"/>
              </a:solidFill>
            </c:spPr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150438</c:v>
                </c:pt>
                <c:pt idx="1">
                  <c:v>241440</c:v>
                </c:pt>
                <c:pt idx="2">
                  <c:v>82798</c:v>
                </c:pt>
                <c:pt idx="3">
                  <c:v>159302</c:v>
                </c:pt>
                <c:pt idx="4">
                  <c:v>-134434</c:v>
                </c:pt>
                <c:pt idx="5">
                  <c:v>57618</c:v>
                </c:pt>
                <c:pt idx="6">
                  <c:v>-10017</c:v>
                </c:pt>
                <c:pt idx="7">
                  <c:v>18985</c:v>
                </c:pt>
                <c:pt idx="8">
                  <c:v>-1000</c:v>
                </c:pt>
                <c:pt idx="9">
                  <c:v>-154165</c:v>
                </c:pt>
                <c:pt idx="10">
                  <c:v>-7408</c:v>
                </c:pt>
                <c:pt idx="11">
                  <c:v>-389139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dPt>
            <c:idx val="2"/>
            <c:spPr>
              <a:solidFill>
                <a:srgbClr val="2E7D5B"/>
              </a:solidFill>
            </c:spPr>
          </c:dPt>
          <c:dPt>
            <c:idx val="3"/>
            <c:spPr>
              <a:solidFill>
                <a:srgbClr val="C8102E"/>
              </a:solidFill>
            </c:spPr>
          </c:dPt>
          <c:dPt>
            <c:idx val="4"/>
            <c:spPr>
              <a:solidFill>
                <a:srgbClr val="2E7D5B"/>
              </a:solidFill>
            </c:spPr>
          </c:dPt>
          <c:dPt>
            <c:idx val="5"/>
            <c:spPr>
              <a:solidFill>
                <a:srgbClr val="2E7D5B"/>
              </a:solidFill>
            </c:spPr>
          </c:dPt>
          <c:dPt>
            <c:idx val="6"/>
            <c:spPr>
              <a:solidFill>
                <a:srgbClr val="C8102E"/>
              </a:solidFill>
            </c:spPr>
          </c:dPt>
          <c:dPt>
            <c:idx val="7"/>
            <c:spPr>
              <a:solidFill>
                <a:srgbClr val="2E7D5B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2E7D5B"/>
              </a:solidFill>
            </c:spPr>
          </c:dPt>
          <c:dPt>
            <c:idx val="10"/>
            <c:spPr>
              <a:solidFill>
                <a:srgbClr val="2E7D5B"/>
              </a:solidFill>
            </c:spPr>
          </c:dPt>
          <c:dPt>
            <c:idx val="11"/>
            <c:spPr>
              <a:solidFill>
                <a:srgbClr val="2E7D5B"/>
              </a:solidFill>
            </c:spPr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-14044</c:v>
                </c:pt>
                <c:pt idx="1">
                  <c:v>21682</c:v>
                </c:pt>
                <c:pt idx="2">
                  <c:v>45478</c:v>
                </c:pt>
                <c:pt idx="3">
                  <c:v>-14380</c:v>
                </c:pt>
                <c:pt idx="4">
                  <c:v>399568</c:v>
                </c:pt>
                <c:pt idx="5">
                  <c:v>156951</c:v>
                </c:pt>
                <c:pt idx="6">
                  <c:v>-5685</c:v>
                </c:pt>
                <c:pt idx="7">
                  <c:v>93839</c:v>
                </c:pt>
                <c:pt idx="8">
                  <c:v>-5685</c:v>
                </c:pt>
                <c:pt idx="9">
                  <c:v>105069</c:v>
                </c:pt>
                <c:pt idx="10">
                  <c:v>272528</c:v>
                </c:pt>
                <c:pt idx="11">
                  <c:v>343829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chart" Target="../charts/char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Relationship Id="rId6" Type="http://schemas.openxmlformats.org/officeDocument/2006/relationships/chart" Target="../charts/chart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REDCO · MINING CONSULTANTS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Análisis Histórico de Gestión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CADCFC"/>
                </a:solidFill>
                <a:latin typeface="Calibri"/>
              </a:rPr>
              <a:t>Rentabilidad · Ventas · Flujo de Caja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3108960" cy="320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Ejercicios 2023 – 2025 (2026 parcial)  ·  Pilar A — Dimensión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CADCFC"/>
                </a:solidFill>
                <a:latin typeface="Calibri"/>
              </a:rPr>
              <a:t>Documento interno · Datos: ciclo EdP, modelo de gestión y KPIs REDCO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Tres bloques de análisis, cada uno sobre una dimensión distinta de la gestión histórica.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  <a:effectLst>
            <a:outerShdw blurRad="40000" dist="20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441448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Análisis de Rentabilidad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por país, comparación mes a mes, composición de cartera y rentabilidad por nivel de ingeniería.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2148840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  <a:effectLst>
            <a:outerShdw blurRad="40000" dist="20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2856" y="2441448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5146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2461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Análisis de 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977639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por país, ticket promedio y nivel de conversión de propuestas.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2148840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  <a:effectLst>
            <a:outerShdw blurRad="40000" dist="20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4192" y="2441448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5146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2461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Flujo de Caja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977639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de los ciclos de cobro (turnover) por país y flujo consolidado por año.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Análisis de Rentabilidad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Dónde REDCO genera y dónde erosiona margen — por país, en el tiempo y por tipo de estudio.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global del grupo (Ingreso, Margen y Utilidad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Consolidado de los 4 países: Ingreso Op. y Margen Bruto (barras) y Utilidad bruta % = Margen ÷ Ingreso (línea, eje der).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38528"/>
            <a:ext cx="7351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Grupo REDCO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2286000"/>
          <a:ext cx="7461504" cy="35478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6035040"/>
            <a:ext cx="274320" cy="1463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6007607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Ingreso 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6035040"/>
            <a:ext cx="274320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6007607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Margen Bruto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6080759"/>
            <a:ext cx="310896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6035040"/>
            <a:ext cx="64008" cy="137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6007607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Utilidad bruta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02996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8102E"/>
                </a:solidFill>
                <a:latin typeface="Calibri"/>
              </a:rPr>
              <a:t>27% → 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90672"/>
            <a:ext cx="2834640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El ingreso del grupo se mantiene (~8.8M) pero la utilidad operacional cae de 27% a 13% entre 2024 y 2025: la pérdida creciente de Chile comprime el margen consolidado.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 2024: Gastos a Diciembre 2024_v0.xlsx.  ·  Fuente 2025: 202601_FLUJO REDCO 2025 - Cierre diciembre.xlsx.  Consolidado Chile+Perú+Brasil+USA. Utilidad = Margen ÷ Ingreso.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Rentabilidad: evolución por país (Ingreso, Margen y Utilidad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Ingreso Op. y Margen Bruto (barras) y Utilidad bruta % = Margen ÷ Ingreso (línea, eje der).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47088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5488" y="2194560"/>
          <a:ext cx="3483863" cy="151790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224528" y="1737360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47088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334256" y="2194560"/>
          <a:ext cx="3483863" cy="1517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3950208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059936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75488" y="4407408"/>
          <a:ext cx="3483863" cy="151790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ectangle 15"/>
          <p:cNvSpPr/>
          <p:nvPr/>
        </p:nvSpPr>
        <p:spPr>
          <a:xfrm>
            <a:off x="4224528" y="3950208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059936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34256" y="4407408"/>
          <a:ext cx="3483863" cy="151790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ectangle 18"/>
          <p:cNvSpPr/>
          <p:nvPr/>
        </p:nvSpPr>
        <p:spPr>
          <a:xfrm>
            <a:off x="8183879" y="1737360"/>
            <a:ext cx="352044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385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063240" cy="3566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Chile concentra el ingreso pero opera en pérdida (−12% → −39%): absorbe la nómina de la operación regional. Perú, Brasil y USA sostienen utilidades positivas (28–72%). La rentabilidad del grupo vive fuera del país-sede.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135624"/>
            <a:ext cx="274320" cy="1463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610819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Ingreso 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6135624"/>
            <a:ext cx="274320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610819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Margen Bruto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6181344"/>
            <a:ext cx="310896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3400" y="6135624"/>
            <a:ext cx="64008" cy="137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610819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Utilidad bruta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 2024: Gastos a Diciembre 2024_v0.xlsx.  ·  Fuente 2025: 202601_FLUJO REDCO 2025 - Cierre diciembre.xlsx. Margen = Ingreso − Costo Op.; Utilidad = Margen ÷ Ingreso.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Rentabilidad: comparación mes a mes por país (2024 vs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rentabilidad mensual (ingreso − gasto) comparada entre ambos años.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399032"/>
            <a:ext cx="256032" cy="12801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9056" y="134416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99032"/>
            <a:ext cx="256032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83496" y="13441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1737360"/>
          <a:ext cx="5440680" cy="18470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737360"/>
          <a:ext cx="5440680" cy="184708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7200" y="3657600"/>
          <a:ext cx="5440680" cy="184708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09360" y="3657600"/>
          <a:ext cx="5440680" cy="184708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596128"/>
            <a:ext cx="11277295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8756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25312"/>
            <a:ext cx="33963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Chile: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2025 profundiza la pérdida en el 2º semestre (varios meses bajo −250k).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3354" y="5925312"/>
            <a:ext cx="33963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Perú y Brasil: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2025 supera a 2024 con picos concentrados en ago–oct.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8340" y="5925312"/>
            <a:ext cx="33963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USA: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2024 tuvo un mes atípico (~600k); 2025 es más plano y bajo.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Fuente 2024: Gastos a Diciembre 2024_v0.xlsx (Ingresos para PPT_Dic + Gasto total_Análisis, mensual por país).  ·  Fuente 2025: 202601_FLUJO REDCO 2025 - Cierre diciembre.xlsx (Tabla datos unidades_Dic).  Valores en miles de USD.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Composición de cartera por nivel de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La cartera contratada se distribuye en ocho niveles de estudio; FS e Ing. Básica concentra ~44% del monto.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83080"/>
          <a:ext cx="6126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0" y="354787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libri"/>
              </a:rPr>
              <a:t>$20.9M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0416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Cartera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828800"/>
            <a:ext cx="219456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764792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FS e Ing. Basica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$9.1M · 44%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249424"/>
            <a:ext cx="219456" cy="21945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2185416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PFS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$3.0M · 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670048"/>
            <a:ext cx="219456" cy="2194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2606040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Consultoria y Due Dilligence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$2.9M · 14%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090672"/>
            <a:ext cx="219456" cy="219456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3026664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Scoping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$2.5M · 12%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3511296"/>
            <a:ext cx="219456" cy="219456"/>
          </a:xfrm>
          <a:prstGeom prst="rect">
            <a:avLst/>
          </a:prstGeom>
          <a:solidFill>
            <a:srgbClr val="8E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344728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Estudio Conceptual / LOM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$1.9M · 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931920"/>
            <a:ext cx="219456" cy="219456"/>
          </a:xfrm>
          <a:prstGeom prst="rect">
            <a:avLst/>
          </a:prstGeom>
          <a:solidFill>
            <a:srgbClr val="4F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4" y="3867912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Permisos / MEIA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$0.8M · 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4352544"/>
            <a:ext cx="219456" cy="219456"/>
          </a:xfrm>
          <a:prstGeom prst="rect">
            <a:avLst/>
          </a:prstGeom>
          <a:solidFill>
            <a:srgbClr val="B0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4288536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PEA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$0.5M · 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773168"/>
            <a:ext cx="219456" cy="21945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4709160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Confiabilidad Planes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$0.1M · 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5285232"/>
            <a:ext cx="4690872" cy="8961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539496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COMPOSICIÓN DE LA MUESTRA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65099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59 proyectos del modelo. </a:t>
            </a:r>
            <a:r>
              <a:rPr sz="1050" b="0" i="0">
                <a:solidFill>
                  <a:srgbClr val="232733"/>
                </a:solidFill>
                <a:latin typeface="Calibri"/>
              </a:rPr>
              <a:t>El monto es el valor de CONTRATO (no ingreso). Ventana: contratos con fecha de inicio entre jun-2024 a ago-2025.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202601_Proyeccion_Ing+Modulos 1_Edu.xlsx (hoja Dashboard — Nivel de Ingeniería, Monto Contrato USD).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por nivel de estudio, agrupada por país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rentabilidad estimada (ingreso cobrado − costo modelado) de cada nivel de estudio.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4681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47088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1874519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15 proyectos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5488" y="2157984"/>
          <a:ext cx="5248656" cy="155447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263640" y="1737360"/>
            <a:ext cx="54681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847088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4432" y="1874519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 proyectos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73368" y="2157984"/>
          <a:ext cx="5248656" cy="15544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3950208"/>
            <a:ext cx="54681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059936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08736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 proyectos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75488" y="4370832"/>
          <a:ext cx="5248656" cy="155447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Rectangle 18"/>
          <p:cNvSpPr/>
          <p:nvPr/>
        </p:nvSpPr>
        <p:spPr>
          <a:xfrm>
            <a:off x="6263640" y="3950208"/>
            <a:ext cx="54681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4059936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4432" y="408736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 proyectos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373368" y="4370832"/>
          <a:ext cx="5248656" cy="155447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202601_Proyeccion_Ing+Modulos 1_Edu.xlsx (Gantt + Listas) y 00_Ciclo Mensual EdP 2023_v0.xlsx (Ingresado). 32 proyectos con código mapeado; rent. = ingreso cobrado − costo modelado (tarifas estándar). Colores por nivel.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Análisis de Ventas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Cuánto y dónde se vende, y con qué eficiencia se convierten y dimensionan las propuestas.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 y dotación por país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Por país: evolución de la venta anual (EDP Emitido, MUSD) y composición de la dotación 2025 vs 2026 por categoría.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03120"/>
            <a:ext cx="1554480" cy="274320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3969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Ventas ×0.8  ’23→’25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59" y="2783318"/>
            <a:ext cx="420624" cy="82856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" y="2582150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4.3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97864" y="2931923"/>
            <a:ext cx="420624" cy="67995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730755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1368" y="2983837"/>
            <a:ext cx="420624" cy="62804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3352" y="2782669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3.3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13632"/>
            <a:ext cx="2249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022342"/>
            <a:ext cx="566928" cy="72009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290947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4953762"/>
            <a:ext cx="566928" cy="68580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" y="4885182"/>
            <a:ext cx="566928" cy="68580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" y="4799457"/>
            <a:ext cx="566928" cy="85725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598289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36192" y="4816602"/>
            <a:ext cx="566928" cy="92583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6192" y="5188077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6192" y="4679442"/>
            <a:ext cx="566928" cy="137159"/>
          </a:xfrm>
          <a:prstGeom prst="rect">
            <a:avLst/>
          </a:prstGeom>
          <a:solidFill>
            <a:srgbClr val="3E6FB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36192" y="4576572"/>
            <a:ext cx="566928" cy="102869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" y="4490847"/>
            <a:ext cx="566928" cy="85724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36192" y="4439412"/>
            <a:ext cx="566928" cy="51434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26464" y="4238244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76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24328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9192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26664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26664" y="213969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Ventas ×1.5  ’23→’25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3297804"/>
            <a:ext cx="420624" cy="314075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25496" y="3096636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25496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7016" y="3205388"/>
            <a:ext cx="420624" cy="40649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3004220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2.1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3136026"/>
            <a:ext cx="420624" cy="475853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32504" y="2934858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2.5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2504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53512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79192" y="3913632"/>
            <a:ext cx="2249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35808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45536" y="5433822"/>
            <a:ext cx="566928" cy="30861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45536" y="5496687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45536" y="5399532"/>
            <a:ext cx="566928" cy="34290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45536" y="5382387"/>
            <a:ext cx="566928" cy="17145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35808" y="5181219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5615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95344" y="5450967"/>
            <a:ext cx="566928" cy="291465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95344" y="5505259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95344" y="5296662"/>
            <a:ext cx="566928" cy="154304"/>
          </a:xfrm>
          <a:prstGeom prst="rect">
            <a:avLst/>
          </a:prstGeom>
          <a:solidFill>
            <a:srgbClr val="3E6FB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95344" y="5262372"/>
            <a:ext cx="566928" cy="34290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95344" y="5245227"/>
            <a:ext cx="566928" cy="17145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95344" y="5228082"/>
            <a:ext cx="566928" cy="17145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85615" y="5026914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83480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38344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85816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85816" y="213969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Ventas ×2.5  ’23→’25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12664" y="3471169"/>
            <a:ext cx="420624" cy="14071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84648" y="3270001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84648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16168" y="3417352"/>
            <a:ext cx="420624" cy="194527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88152" y="3216184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88152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19672" y="3257880"/>
            <a:ext cx="420624" cy="353999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91656" y="3056712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91656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12664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38344" y="3913632"/>
            <a:ext cx="2249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4960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04688" y="5725287"/>
            <a:ext cx="566928" cy="17145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504688" y="5673852"/>
            <a:ext cx="566928" cy="51435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60" y="5472684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44768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54496" y="5725287"/>
            <a:ext cx="566928" cy="17144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54496" y="5690997"/>
            <a:ext cx="566928" cy="34289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44768" y="5489829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42631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97496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744968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44968" y="213969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Ventas ×16  ’23→’25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71816" y="3592115"/>
            <a:ext cx="420624" cy="1976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43800" y="3390947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43800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75320" y="3310007"/>
            <a:ext cx="420624" cy="30187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47304" y="3108839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7304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78824" y="3293034"/>
            <a:ext cx="420624" cy="318845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750808" y="3091866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50808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71816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97496" y="3913632"/>
            <a:ext cx="2249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54112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63840" y="5725287"/>
            <a:ext cx="566928" cy="17145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54112" y="5524119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03920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13648" y="5708142"/>
            <a:ext cx="566928" cy="34289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613648" y="5690997"/>
            <a:ext cx="566928" cy="17144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03920" y="5489829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701784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56648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Rusia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104120" y="2103120"/>
            <a:ext cx="1554480" cy="274320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104120" y="213969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Ventas ×0.0  ’23→’25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30968" y="3549979"/>
            <a:ext cx="420624" cy="619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902952" y="3348811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02952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34472" y="3582518"/>
            <a:ext cx="420624" cy="2936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06456" y="3381350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506456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237976" y="3606393"/>
            <a:ext cx="420624" cy="548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109960" y="3405225"/>
            <a:ext cx="676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09960" y="3630168"/>
            <a:ext cx="676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30968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56648" y="3913632"/>
            <a:ext cx="2249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13264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13264" y="552297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863072" y="57972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972800" y="5725287"/>
            <a:ext cx="566928" cy="17145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863072" y="5524119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280160" y="6108192"/>
            <a:ext cx="23774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572768" y="608076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Ingeniería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246120" y="6108192"/>
            <a:ext cx="237744" cy="146304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538727" y="608076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Geomecánica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212079" y="6108192"/>
            <a:ext cx="237744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504688" y="608076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Comercial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178040" y="6108192"/>
            <a:ext cx="23774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70648" y="608076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Administración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144000" y="6108192"/>
            <a:ext cx="237744" cy="14630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436608" y="608076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Gestión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(EDP Emitido USD por país/año) y Dotación_Comparativo_Estandarizado_2025-2026.xlsx (headcount por categoría). Barras de dotación a escala común; N = total.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 ·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Venta anual (EDP Emitido) y ranking Top 4 de clientes por año en Chile,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$4.3M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$2.3M · 53%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$766k ·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Lundin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$391k · 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Codelco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$350k · 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$3.5M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▼ 18% vs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38" name="Oval 3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$1.7M · 47%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$391k · 11%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Capstone Copper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$355k · 10%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Lundin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$313k · 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48472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$3.3M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▼ 8% vs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63" name="Oval 62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BHP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$1.2M · 35%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$423k · 13%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$376k · 12%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AngloAmerican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$341k · 10%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 · Perú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Venta anual (EDP Emitido) y ranking Top 4 de clientes por año en Perú,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$934k · 57%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$222k · 14%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Marcobre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$138k · 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Raura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$97k · 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$2.1M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29% vs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38" name="Oval 3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$818k · 39%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$406k · 19%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Glencore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$198k · 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Las Bambas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$190k · 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48472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$2.5M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17% vs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63" name="Oval 62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Las Bambas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$1.1M · 44%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$356k · 14%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$337k · 14%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Alpayana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$131k · 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 · Brasil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Venta anual (EDP Emitido) y ranking Top 4 de clientes por año en Brasil,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$0.7M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$600k · 82%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NEXA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$129k ·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38% vs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28" name="Oval 2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$613k · 61%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J&amp;F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$319k · 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NEXA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$76k · 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2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$1.8M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82% vs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48" name="Oval 47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EroCopper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$406k · 22%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$404k · 22%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AuraMinerals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$343k · 19%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EQUINOX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$307k · 17%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 ·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Venta anual (EDP Emitido) y ranking Top 4 de clientes por año en USA,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$0.1M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Ivanhoe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$102k ·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1427% vs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23" name="Oval 22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Ivanhoe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$602k · 38%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McCarthy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$572k · 37%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EMX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$175k · 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TwinMetals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$113k · 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2" y="194767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VENTA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$1.7M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6% vs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48" name="Oval 47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ThreeCrowns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$646k · 39%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TwinMetals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$453k · 27%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VP Mining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$302k · 18%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Resolution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$155k · 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Ventas: ticket promedio y conversión Emitido → Adjudicado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Se ganan las propuestas chicas: por monto se adjudica ~1 de cada 4–5 USD emitidos, aunque por número la conversión casi se duplica.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2232" y="1847088"/>
            <a:ext cx="10972" cy="420624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847088"/>
            <a:ext cx="10972" cy="420624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2024 (Q4)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505456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798064"/>
            <a:ext cx="1399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C4A7C"/>
                </a:solidFill>
                <a:latin typeface="Calibri"/>
              </a:rPr>
              <a:t>$236k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383280"/>
            <a:ext cx="1399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42 prop. · $9.9M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505456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2798064"/>
            <a:ext cx="1399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761"/>
                </a:solidFill>
                <a:latin typeface="Calibri"/>
              </a:rPr>
              <a:t>$182k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3383280"/>
            <a:ext cx="1399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18 adj. · $3.3M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33088"/>
            <a:ext cx="3566160" cy="4572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Emitido  $9.9M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61366" y="4736592"/>
            <a:ext cx="1174946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1366" y="4855464"/>
            <a:ext cx="1174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$3.3M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8523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33%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del monto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65099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por N°: 18/42 (43%)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84708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2505456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798064"/>
            <a:ext cx="1399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C4A7C"/>
                </a:solidFill>
                <a:latin typeface="Calibri"/>
              </a:rPr>
              <a:t>$266k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383280"/>
            <a:ext cx="1399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164 prop. · $43.7M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505456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798064"/>
            <a:ext cx="1399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761"/>
                </a:solidFill>
                <a:latin typeface="Calibri"/>
              </a:rPr>
              <a:t>$132k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383280"/>
            <a:ext cx="1399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78 adj. · $10.3M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840480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4133088"/>
            <a:ext cx="3566160" cy="4572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5968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Emitido  $43.7M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79336" y="4736592"/>
            <a:ext cx="839423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79336" y="4855464"/>
            <a:ext cx="8394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$10.3M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28523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24%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del monto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565099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por N°: 78/164 (48%)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5" y="184708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2026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66175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2505456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798064"/>
            <a:ext cx="1399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C4A7C"/>
                </a:solidFill>
                <a:latin typeface="Calibri"/>
              </a:rPr>
              <a:t>$222k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383280"/>
            <a:ext cx="1399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86 prop. · $19.1M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58984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5288" y="2505456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05288" y="2798064"/>
            <a:ext cx="1399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761"/>
                </a:solidFill>
                <a:latin typeface="Calibri"/>
              </a:rPr>
              <a:t>$119k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5288" y="3383280"/>
            <a:ext cx="13990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34 adj. · $4.1M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5" y="3840480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66175" y="4133088"/>
            <a:ext cx="3566160" cy="4572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66175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Emitido  $19.1M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37776" y="4736592"/>
            <a:ext cx="8229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7776" y="48554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$4.1M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5" y="528523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21%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del monto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5" y="565099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por N°: 34/86 (40%)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01_KPI Gestión REDCO_2026.xlsx (KPI´s de negocio 2024/2025/2026). Ticket = monto ÷ N° de propuestas.  2024 (Q4) = oct–dic (inicio del registro KPI); 2026 * = enero–junio.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Ventas: conversión de propuestas — por cantidad y por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Conversión mensual (Adjudicadas / Emitidas del mismo mes). La conversión por número supera consistentemente a la de valor: se ganan las propuestas chicas.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Por cantidad (N° de propuestas)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48840"/>
          <a:ext cx="5486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Por valor (USD)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2148840"/>
          <a:ext cx="544068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0" y="6053328"/>
            <a:ext cx="310896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6007608"/>
            <a:ext cx="64008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5971032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6053328"/>
            <a:ext cx="310896" cy="45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68696" y="6007608"/>
            <a:ext cx="64008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5971032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6053328"/>
            <a:ext cx="310896" cy="45720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94576" y="6007608"/>
            <a:ext cx="64008" cy="137160"/>
          </a:xfrm>
          <a:prstGeom prst="ellipse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5971032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01_KPI Gestion REDCO_2026.xlsx (KPI de negocio). Conversion = Adjudicadas / Emitidas del mismo mes. 2024 = oct-dic (inicio del registro KPI); se excluye junio 2026 (mes en curso).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Flujo de Caja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Velocidad de cobro (turnover) por etapa y país, y la evolución de la caja consolidada.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Flujo: días del ciclo de cobro por país, fase y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Una matriz por país: cada celda es el promedio de días de una fase del ciclo EdP. Más oscuro = más lento.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133" y="2212848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14015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2446020"/>
            <a:ext cx="667512" cy="344423"/>
          </a:xfrm>
          <a:prstGeom prst="rect">
            <a:avLst/>
          </a:prstGeom>
          <a:solidFill>
            <a:srgbClr val="96A6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2446020"/>
            <a:ext cx="667512" cy="344423"/>
          </a:xfrm>
          <a:prstGeom prst="rect">
            <a:avLst/>
          </a:prstGeom>
          <a:solidFill>
            <a:srgbClr val="96A5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33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3864" y="2446020"/>
            <a:ext cx="667512" cy="344423"/>
          </a:xfrm>
          <a:prstGeom prst="rect">
            <a:avLst/>
          </a:prstGeom>
          <a:solidFill>
            <a:srgbClr val="8796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446020"/>
            <a:ext cx="667512" cy="344423"/>
          </a:xfrm>
          <a:prstGeom prst="rect">
            <a:avLst/>
          </a:prstGeom>
          <a:solidFill>
            <a:srgbClr val="8A99C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8808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2446020"/>
            <a:ext cx="667512" cy="344423"/>
          </a:xfrm>
          <a:prstGeom prst="rect">
            <a:avLst/>
          </a:prstGeom>
          <a:solidFill>
            <a:srgbClr val="91A0C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0056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35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22448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9112" y="2854452"/>
            <a:ext cx="667512" cy="344423"/>
          </a:xfrm>
          <a:prstGeom prst="rect">
            <a:avLst/>
          </a:prstGeom>
          <a:solidFill>
            <a:srgbClr val="B9CA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16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61488" y="2854452"/>
            <a:ext cx="667512" cy="344423"/>
          </a:xfrm>
          <a:prstGeom prst="rect">
            <a:avLst/>
          </a:prstGeom>
          <a:solidFill>
            <a:srgbClr val="9FAFD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34056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3864" y="2854452"/>
            <a:ext cx="667512" cy="344423"/>
          </a:xfrm>
          <a:prstGeom prst="rect">
            <a:avLst/>
          </a:prstGeom>
          <a:solidFill>
            <a:srgbClr val="B4C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54452"/>
            <a:ext cx="667512" cy="344423"/>
          </a:xfrm>
          <a:prstGeom prst="rect">
            <a:avLst/>
          </a:prstGeom>
          <a:solidFill>
            <a:srgbClr val="B2C3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8808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2854452"/>
            <a:ext cx="667512" cy="344423"/>
          </a:xfrm>
          <a:prstGeom prst="rect">
            <a:avLst/>
          </a:prstGeom>
          <a:solidFill>
            <a:srgbClr val="AEB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0056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230879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Ingresado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39112" y="3262883"/>
            <a:ext cx="667512" cy="344423"/>
          </a:xfrm>
          <a:prstGeom prst="rect">
            <a:avLst/>
          </a:prstGeom>
          <a:solidFill>
            <a:srgbClr val="7583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262883"/>
            <a:ext cx="667512" cy="344423"/>
          </a:xfrm>
          <a:prstGeom prst="rect">
            <a:avLst/>
          </a:prstGeom>
          <a:solidFill>
            <a:srgbClr val="6470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34056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57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83864" y="3262883"/>
            <a:ext cx="667512" cy="344423"/>
          </a:xfrm>
          <a:prstGeom prst="rect">
            <a:avLst/>
          </a:prstGeom>
          <a:solidFill>
            <a:srgbClr val="616D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6432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58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262883"/>
            <a:ext cx="667512" cy="344423"/>
          </a:xfrm>
          <a:prstGeom prst="rect">
            <a:avLst/>
          </a:prstGeom>
          <a:solidFill>
            <a:srgbClr val="6975A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8808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54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47488" y="3262883"/>
            <a:ext cx="667512" cy="344423"/>
          </a:xfrm>
          <a:prstGeom prst="rect">
            <a:avLst/>
          </a:prstGeom>
          <a:solidFill>
            <a:srgbClr val="6976A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0056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54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73736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184708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61573" y="2212848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0496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6496" y="219456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2414015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5552" y="2446020"/>
            <a:ext cx="667512" cy="344423"/>
          </a:xfrm>
          <a:prstGeom prst="rect">
            <a:avLst/>
          </a:prstGeom>
          <a:solidFill>
            <a:srgbClr val="8F9EC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20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36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67928" y="2446020"/>
            <a:ext cx="667512" cy="344423"/>
          </a:xfrm>
          <a:prstGeom prst="rect">
            <a:avLst/>
          </a:prstGeom>
          <a:solidFill>
            <a:srgbClr val="ACBDE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2446020"/>
            <a:ext cx="667512" cy="344423"/>
          </a:xfrm>
          <a:prstGeom prst="rect">
            <a:avLst/>
          </a:prstGeom>
          <a:solidFill>
            <a:srgbClr val="8896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62872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12680" y="2446020"/>
            <a:ext cx="667512" cy="344423"/>
          </a:xfrm>
          <a:prstGeom prst="rect">
            <a:avLst/>
          </a:prstGeom>
          <a:solidFill>
            <a:srgbClr val="A2B2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85248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27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53928" y="2446020"/>
            <a:ext cx="667512" cy="344423"/>
          </a:xfrm>
          <a:prstGeom prst="rect">
            <a:avLst/>
          </a:prstGeom>
          <a:solidFill>
            <a:srgbClr val="97A6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26496" y="2414015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2822448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45552" y="2854452"/>
            <a:ext cx="667512" cy="344423"/>
          </a:xfrm>
          <a:prstGeom prst="rect">
            <a:avLst/>
          </a:prstGeom>
          <a:solidFill>
            <a:srgbClr val="AFC0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18120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67928" y="2854452"/>
            <a:ext cx="667512" cy="344423"/>
          </a:xfrm>
          <a:prstGeom prst="rect">
            <a:avLst/>
          </a:prstGeom>
          <a:solidFill>
            <a:srgbClr val="8B9AC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0496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90304" y="2854452"/>
            <a:ext cx="667512" cy="344423"/>
          </a:xfrm>
          <a:prstGeom prst="rect">
            <a:avLst/>
          </a:prstGeom>
          <a:solidFill>
            <a:srgbClr val="99A9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62872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12680" y="2854452"/>
            <a:ext cx="667512" cy="344423"/>
          </a:xfrm>
          <a:prstGeom prst="rect">
            <a:avLst/>
          </a:prstGeom>
          <a:solidFill>
            <a:srgbClr val="A8B9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85248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24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53928" y="2854452"/>
            <a:ext cx="667512" cy="344423"/>
          </a:xfrm>
          <a:prstGeom prst="rect">
            <a:avLst/>
          </a:prstGeom>
          <a:solidFill>
            <a:srgbClr val="9DAC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26496" y="282244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3230879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Ingresado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45552" y="3262883"/>
            <a:ext cx="667512" cy="344423"/>
          </a:xfrm>
          <a:prstGeom prst="rect">
            <a:avLst/>
          </a:prstGeom>
          <a:solidFill>
            <a:srgbClr val="6C7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18120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53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67928" y="3262883"/>
            <a:ext cx="667512" cy="344423"/>
          </a:xfrm>
          <a:prstGeom prst="rect">
            <a:avLst/>
          </a:prstGeom>
          <a:solidFill>
            <a:srgbClr val="5E6A9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40496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59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3262883"/>
            <a:ext cx="667512" cy="344423"/>
          </a:xfrm>
          <a:prstGeom prst="rect">
            <a:avLst/>
          </a:prstGeom>
          <a:solidFill>
            <a:srgbClr val="4752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62872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12680" y="3262883"/>
            <a:ext cx="667512" cy="344423"/>
          </a:xfrm>
          <a:prstGeom prst="rect">
            <a:avLst/>
          </a:prstGeom>
          <a:solidFill>
            <a:srgbClr val="707DA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985248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51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53928" y="3262883"/>
            <a:ext cx="667512" cy="344423"/>
          </a:xfrm>
          <a:prstGeom prst="rect">
            <a:avLst/>
          </a:prstGeom>
          <a:solidFill>
            <a:srgbClr val="5B689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826496" y="3230879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93192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" y="40416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5133" y="4407407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11680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34056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6432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78808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0056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4608576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39112" y="4640580"/>
            <a:ext cx="667512" cy="344423"/>
          </a:xfrm>
          <a:prstGeom prst="rect">
            <a:avLst/>
          </a:prstGeom>
          <a:solidFill>
            <a:srgbClr val="B4C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11680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61488" y="4640580"/>
            <a:ext cx="667512" cy="344423"/>
          </a:xfrm>
          <a:prstGeom prst="rect">
            <a:avLst/>
          </a:prstGeom>
          <a:solidFill>
            <a:srgbClr val="9EAED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34056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83864" y="4640580"/>
            <a:ext cx="667512" cy="344423"/>
          </a:xfrm>
          <a:prstGeom prst="rect">
            <a:avLst/>
          </a:prstGeom>
          <a:solidFill>
            <a:srgbClr val="BFD0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56432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13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06240" y="4640580"/>
            <a:ext cx="667512" cy="344423"/>
          </a:xfrm>
          <a:prstGeom prst="rect">
            <a:avLst/>
          </a:prstGeom>
          <a:solidFill>
            <a:srgbClr val="C9DB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78808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47488" y="4640580"/>
            <a:ext cx="667512" cy="344423"/>
          </a:xfrm>
          <a:prstGeom prst="rect">
            <a:avLst/>
          </a:prstGeom>
          <a:solidFill>
            <a:srgbClr val="B6C7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0056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17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5017008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039112" y="5049012"/>
            <a:ext cx="667512" cy="344423"/>
          </a:xfrm>
          <a:prstGeom prst="rect">
            <a:avLst/>
          </a:prstGeom>
          <a:solidFill>
            <a:srgbClr val="59669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011680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61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61488" y="5049012"/>
            <a:ext cx="667512" cy="344423"/>
          </a:xfrm>
          <a:prstGeom prst="rect">
            <a:avLst/>
          </a:prstGeom>
          <a:solidFill>
            <a:srgbClr val="515D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734056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65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83864" y="5049012"/>
            <a:ext cx="667512" cy="344423"/>
          </a:xfrm>
          <a:prstGeom prst="rect">
            <a:avLst/>
          </a:prstGeom>
          <a:solidFill>
            <a:srgbClr val="636F9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56432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57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06240" y="5049012"/>
            <a:ext cx="667512" cy="344423"/>
          </a:xfrm>
          <a:prstGeom prst="rect">
            <a:avLst/>
          </a:prstGeom>
          <a:solidFill>
            <a:srgbClr val="616D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78808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58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47488" y="5049012"/>
            <a:ext cx="667512" cy="344423"/>
          </a:xfrm>
          <a:prstGeom prst="rect">
            <a:avLst/>
          </a:prstGeom>
          <a:solidFill>
            <a:srgbClr val="5C689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0056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" y="5425440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Ingresado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039112" y="5457444"/>
            <a:ext cx="667512" cy="344423"/>
          </a:xfrm>
          <a:prstGeom prst="rect">
            <a:avLst/>
          </a:prstGeom>
          <a:solidFill>
            <a:srgbClr val="39447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11680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77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61488" y="5457444"/>
            <a:ext cx="667512" cy="344423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34056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90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83864" y="5457444"/>
            <a:ext cx="667512" cy="344423"/>
          </a:xfrm>
          <a:prstGeom prst="rect">
            <a:avLst/>
          </a:prstGeom>
          <a:solidFill>
            <a:srgbClr val="48538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56432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5457444"/>
            <a:ext cx="667512" cy="344423"/>
          </a:xfrm>
          <a:prstGeom prst="rect">
            <a:avLst/>
          </a:prstGeom>
          <a:solidFill>
            <a:srgbClr val="4F5B8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178808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66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47488" y="5457444"/>
            <a:ext cx="667512" cy="344423"/>
          </a:xfrm>
          <a:prstGeom prst="rect">
            <a:avLst/>
          </a:prstGeom>
          <a:solidFill>
            <a:srgbClr val="3A457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0056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76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93192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46520" y="40416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761573" y="4407407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18120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40496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62872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985248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826496" y="4389120"/>
            <a:ext cx="722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46520" y="4608576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845552" y="4640580"/>
            <a:ext cx="667512" cy="344423"/>
          </a:xfrm>
          <a:prstGeom prst="rect">
            <a:avLst/>
          </a:prstGeom>
          <a:solidFill>
            <a:srgbClr val="C3D5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818120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67928" y="4640580"/>
            <a:ext cx="667512" cy="344423"/>
          </a:xfrm>
          <a:prstGeom prst="rect">
            <a:avLst/>
          </a:prstGeom>
          <a:solidFill>
            <a:srgbClr val="C4D6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540496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290304" y="4640580"/>
            <a:ext cx="667512" cy="344423"/>
          </a:xfrm>
          <a:prstGeom prst="rect">
            <a:avLst/>
          </a:prstGeom>
          <a:solidFill>
            <a:srgbClr val="C4D6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262872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012680" y="4640580"/>
            <a:ext cx="667512" cy="344423"/>
          </a:xfrm>
          <a:prstGeom prst="rect">
            <a:avLst/>
          </a:prstGeom>
          <a:solidFill>
            <a:srgbClr val="C9DB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985248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853928" y="4640580"/>
            <a:ext cx="667512" cy="344423"/>
          </a:xfrm>
          <a:prstGeom prst="rect">
            <a:avLst/>
          </a:prstGeom>
          <a:solidFill>
            <a:srgbClr val="C5D7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826496" y="4608576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46520" y="5017008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45552" y="5049012"/>
            <a:ext cx="667512" cy="344423"/>
          </a:xfrm>
          <a:prstGeom prst="rect">
            <a:avLst/>
          </a:prstGeom>
          <a:solidFill>
            <a:srgbClr val="55619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818120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64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567928" y="5049012"/>
            <a:ext cx="667512" cy="344423"/>
          </a:xfrm>
          <a:prstGeom prst="rect">
            <a:avLst/>
          </a:prstGeom>
          <a:solidFill>
            <a:srgbClr val="9BAAD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540496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90304" y="5049012"/>
            <a:ext cx="667512" cy="344423"/>
          </a:xfrm>
          <a:prstGeom prst="rect">
            <a:avLst/>
          </a:prstGeom>
          <a:solidFill>
            <a:srgbClr val="5F6C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262872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59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012680" y="5049012"/>
            <a:ext cx="667512" cy="344423"/>
          </a:xfrm>
          <a:prstGeom prst="rect">
            <a:avLst/>
          </a:prstGeom>
          <a:solidFill>
            <a:srgbClr val="9DAC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985248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853928" y="5049012"/>
            <a:ext cx="667512" cy="344423"/>
          </a:xfrm>
          <a:prstGeom prst="rect">
            <a:avLst/>
          </a:prstGeom>
          <a:solidFill>
            <a:srgbClr val="7E8C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826496" y="5017008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44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46520" y="5425440"/>
            <a:ext cx="1344168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Ingresado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845552" y="5457444"/>
            <a:ext cx="667512" cy="344423"/>
          </a:xfrm>
          <a:prstGeom prst="rect">
            <a:avLst/>
          </a:prstGeom>
          <a:solidFill>
            <a:srgbClr val="3E497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818120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74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67928" y="5457444"/>
            <a:ext cx="667512" cy="344423"/>
          </a:xfrm>
          <a:prstGeom prst="rect">
            <a:avLst/>
          </a:prstGeom>
          <a:solidFill>
            <a:srgbClr val="8493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540496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290304" y="5457444"/>
            <a:ext cx="667512" cy="344423"/>
          </a:xfrm>
          <a:prstGeom prst="rect">
            <a:avLst/>
          </a:prstGeom>
          <a:solidFill>
            <a:srgbClr val="4B56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262872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68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012680" y="5457444"/>
            <a:ext cx="667512" cy="344423"/>
          </a:xfrm>
          <a:prstGeom prst="rect">
            <a:avLst/>
          </a:prstGeom>
          <a:solidFill>
            <a:srgbClr val="8B9A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985248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853928" y="5457444"/>
            <a:ext cx="667512" cy="344423"/>
          </a:xfrm>
          <a:prstGeom prst="rect">
            <a:avLst/>
          </a:prstGeom>
          <a:solidFill>
            <a:srgbClr val="6D7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826496" y="5425440"/>
            <a:ext cx="722376" cy="408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52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57200" y="6163056"/>
            <a:ext cx="141732" cy="11887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98932" y="6163056"/>
            <a:ext cx="141732" cy="118872"/>
          </a:xfrm>
          <a:prstGeom prst="rect">
            <a:avLst/>
          </a:prstGeom>
          <a:solidFill>
            <a:srgbClr val="B8C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40664" y="6163056"/>
            <a:ext cx="141732" cy="118872"/>
          </a:xfrm>
          <a:prstGeom prst="rect">
            <a:avLst/>
          </a:prstGeom>
          <a:solidFill>
            <a:srgbClr val="A7B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82396" y="6163056"/>
            <a:ext cx="141732" cy="118872"/>
          </a:xfrm>
          <a:prstGeom prst="rect">
            <a:avLst/>
          </a:prstGeom>
          <a:solidFill>
            <a:srgbClr val="96A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24128" y="6163056"/>
            <a:ext cx="141732" cy="118872"/>
          </a:xfrm>
          <a:prstGeom prst="rect">
            <a:avLst/>
          </a:prstGeom>
          <a:solidFill>
            <a:srgbClr val="859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65860" y="6163056"/>
            <a:ext cx="141732" cy="118872"/>
          </a:xfrm>
          <a:prstGeom prst="rect">
            <a:avLst/>
          </a:prstGeom>
          <a:solidFill>
            <a:srgbClr val="748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307592" y="6163056"/>
            <a:ext cx="141732" cy="118872"/>
          </a:xfrm>
          <a:prstGeom prst="rect">
            <a:avLst/>
          </a:prstGeom>
          <a:solidFill>
            <a:srgbClr val="62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449324" y="6163056"/>
            <a:ext cx="141732" cy="118872"/>
          </a:xfrm>
          <a:prstGeom prst="rect">
            <a:avLst/>
          </a:prstGeom>
          <a:solidFill>
            <a:srgbClr val="51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591056" y="6163056"/>
            <a:ext cx="141732" cy="118872"/>
          </a:xfrm>
          <a:prstGeom prst="rect">
            <a:avLst/>
          </a:prstGeom>
          <a:solidFill>
            <a:srgbClr val="404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732788" y="6163056"/>
            <a:ext cx="141732" cy="118872"/>
          </a:xfrm>
          <a:prstGeom prst="rect">
            <a:avLst/>
          </a:prstGeom>
          <a:solidFill>
            <a:srgbClr val="2F3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874519" y="6163056"/>
            <a:ext cx="141732" cy="1188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125980" y="613562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7280"/>
                </a:solidFill>
                <a:latin typeface="Calibri"/>
              </a:rPr>
              <a:t>menos  →  más días de cobro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días promedio por país, fase y año de emisión.  2026 * = año parcial.  Prom. = promedio histórico (todos los EdP).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 de caja consolidado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La caja crece de forma sostenida en el año: los ingresos superan a los egresos casi todos los meses.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828800"/>
          <a:ext cx="77724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828800"/>
            <a:ext cx="329184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2996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5B"/>
                </a:solidFill>
                <a:latin typeface="Calibri"/>
              </a:rPr>
              <a:t>+1,7M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90672"/>
            <a:ext cx="2834640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La caja consolidada pasa de ~0,25M (ene) a ~1,95M (dic). Ingresos &gt; egresos en 10 de 12 meses; el 2º semestre acumula la mayor holgura.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202601_FLUJO REDCO 2025 - Cierre diciembre.xlsx — flujo de caja real 2025 consolidado (hojas 'Flujo Redco &lt;país&gt;').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 de caja por entidad 2025 — quién genera y quién drena caja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Chile y Perú mueven el mayor volumen pero cierran neutros; BVI (y algo Brasil) genera casi toda la caja del grupo.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56231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1865376"/>
            <a:ext cx="1280160" cy="292608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90652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-0,03M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75488" y="2212848"/>
          <a:ext cx="3346704" cy="11704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0352" y="3511295"/>
            <a:ext cx="32369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Gasta ≈ lo que ingresa; 7 de 12 meses en rojo.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856231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3" y="1865376"/>
            <a:ext cx="1280160" cy="292608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3" y="190652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-0,06M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425696" y="2212848"/>
          <a:ext cx="3346704" cy="11704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480559" y="3511295"/>
            <a:ext cx="32369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2° en volumen, pero cierra levemente negativo.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5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7" y="1856231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05872" y="1865376"/>
            <a:ext cx="128016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872" y="190652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+0,37M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375903" y="2212848"/>
          <a:ext cx="3346704" cy="117043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430767" y="3511295"/>
            <a:ext cx="32369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Genera caja de forma sostenida.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4164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160520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5456" y="4169663"/>
            <a:ext cx="1280160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05456" y="421081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+0,01M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475488" y="4517136"/>
          <a:ext cx="3346704" cy="11704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30352" y="5815583"/>
            <a:ext cx="32369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Prácticamente en equilibrio.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404164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4160520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BVI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55663" y="4169663"/>
            <a:ext cx="128016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3" y="421081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+1,40M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425696" y="4517136"/>
          <a:ext cx="3346704" cy="117043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480559" y="5815583"/>
            <a:ext cx="32369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Egresos casi nulos: concentra la caja del grupo.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5" y="4041648"/>
            <a:ext cx="3566160" cy="21031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5" y="4187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LECTURA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7344" y="4553712"/>
            <a:ext cx="23774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1" y="452628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Superávit (ingresos &gt; egresos)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67344" y="4791456"/>
            <a:ext cx="237744" cy="1463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9951" y="4764024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Déficit (egresos &gt; ingresos)</a:t>
            </a:r>
          </a:p>
        </p:txBody>
      </p:sp>
      <p:sp>
        <p:nvSpPr>
          <p:cNvPr id="43" name="Oval 42"/>
          <p:cNvSpPr/>
          <p:nvPr/>
        </p:nvSpPr>
        <p:spPr>
          <a:xfrm>
            <a:off x="8485632" y="5102351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70671" y="5187391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815" y="5065776"/>
            <a:ext cx="2834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Chile y Perú: gran volumen, caja neutra.</a:t>
            </a:r>
          </a:p>
        </p:txBody>
      </p:sp>
      <p:sp>
        <p:nvSpPr>
          <p:cNvPr id="46" name="Oval 45"/>
          <p:cNvSpPr/>
          <p:nvPr/>
        </p:nvSpPr>
        <p:spPr>
          <a:xfrm>
            <a:off x="8485632" y="5431536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70671" y="5516575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14815" y="5394960"/>
            <a:ext cx="2834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Brasil y BVI: generan caja.</a:t>
            </a:r>
          </a:p>
        </p:txBody>
      </p:sp>
      <p:sp>
        <p:nvSpPr>
          <p:cNvPr id="49" name="Oval 48"/>
          <p:cNvSpPr/>
          <p:nvPr/>
        </p:nvSpPr>
        <p:spPr>
          <a:xfrm>
            <a:off x="8485632" y="5760719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70671" y="5845759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14815" y="5724144"/>
            <a:ext cx="2834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La caja del grupo la sostiene BVI.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202601_FLUJO REDCO 2025 - Cierre diciembre.xlsx (hojas 'Flujo Redco &lt;país&gt;'). Barras = delta mensual (ingresos − egresos); verde = superávit, rojo = déficit. neto = suma del año.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Resultado operacional consolidado por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El negocio es rentable en ambos años, con margen operacional de dos dígitos.</a:t>
            </a:r>
          </a:p>
        </p:txBody>
      </p:sp>
      <p:pic>
        <p:nvPicPr>
          <p:cNvPr id="7" name="Picture 6" descr="t4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635240" cy="40504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9842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33172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5B"/>
                </a:solidFill>
                <a:latin typeface="Calibri"/>
              </a:rPr>
              <a:t>+2,3M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044952"/>
            <a:ext cx="288036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Beneficio operacional 2024 = +2,3 MUSD (28%) y 2025 = +1,4 MUSD (16%). La compresión de margen 2024→2025 es el foco de atención.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Hoja 03 / 01 — Ingreso − Costo operacional consolidado (2024 gestión; 2025 Tabla datos unidades).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