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81" r:id="rId6"/>
    <p:sldId id="260" r:id="rId7"/>
    <p:sldId id="261" r:id="rId8"/>
    <p:sldId id="282" r:id="rId9"/>
    <p:sldId id="279" r:id="rId10"/>
    <p:sldId id="263" r:id="rId11"/>
    <p:sldId id="277" r:id="rId12"/>
    <p:sldId id="278" r:id="rId13"/>
    <p:sldId id="264" r:id="rId14"/>
    <p:sldId id="280" r:id="rId15"/>
    <p:sldId id="265" r:id="rId16"/>
    <p:sldId id="266" r:id="rId17"/>
    <p:sldId id="267" r:id="rId18"/>
    <p:sldId id="268" r:id="rId19"/>
    <p:sldId id="271" r:id="rId20"/>
    <p:sldId id="272" r:id="rId21"/>
    <p:sldId id="273" r:id="rId22"/>
    <p:sldId id="276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4A7C"/>
    <a:srgbClr val="2F7D5A"/>
    <a:srgbClr val="C8862D"/>
    <a:srgbClr val="E2E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3"/>
    <p:restoredTop sz="94509"/>
  </p:normalViewPr>
  <p:slideViewPr>
    <p:cSldViewPr snapToGrid="0" snapToObjects="1">
      <p:cViewPr>
        <p:scale>
          <a:sx n="103" d="100"/>
          <a:sy n="103" d="100"/>
        </p:scale>
        <p:origin x="696" y="4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8122748</c:v>
                </c:pt>
                <c:pt idx="1">
                  <c:v>8811887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12E-D246-BDA5-03E8BF6978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2F7D5A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C8862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912E-D246-BDA5-03E8BF69780B}"/>
              </c:ext>
            </c:extLst>
          </c:dPt>
          <c:dPt>
            <c:idx val="1"/>
            <c:invertIfNegative val="1"/>
            <c:bubble3D val="0"/>
            <c:spPr>
              <a:solidFill>
                <a:srgbClr val="C8862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912E-D246-BDA5-03E8BF69780B}"/>
              </c:ext>
            </c:extLst>
          </c:dPt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2154905</c:v>
                </c:pt>
                <c:pt idx="1">
                  <c:v>1186677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12E-D246-BDA5-03E8BF6978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dLbl>
              <c:idx val="0"/>
              <c:layout>
                <c:manualLayout>
                  <c:x val="1.0085098124989278E-3"/>
                  <c:y val="-3.8247997672971323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>
                      <a:solidFill>
                        <a:srgbClr val="232733"/>
                      </a:solidFill>
                      <a:latin typeface="Calibri"/>
                    </a:defRPr>
                  </a:pPr>
                  <a:endParaRPr lang="es-CL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12E-D246-BDA5-03E8BF69780B}"/>
                </c:ext>
              </c:extLst>
            </c:dLbl>
            <c:dLbl>
              <c:idx val="1"/>
              <c:layout>
                <c:manualLayout>
                  <c:x val="-6.9355990427667129E-4"/>
                  <c:y val="-4.5407218749718141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>
                      <a:solidFill>
                        <a:srgbClr val="232733"/>
                      </a:solidFill>
                      <a:latin typeface="Calibri"/>
                    </a:defRPr>
                  </a:pPr>
                  <a:endParaRPr lang="es-CL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12E-D246-BDA5-03E8BF69780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0.26529999999999998</c:v>
                </c:pt>
                <c:pt idx="1">
                  <c:v>0.13469999999999999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12E-D246-BDA5-03E8BF6978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00000"/>
          <c:min val="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\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2000000"/>
      </c:valAx>
      <c:valAx>
        <c:axId val="-2113994309"/>
        <c:scaling>
          <c:orientation val="minMax"/>
          <c:max val="0.4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205"/>
        <c:crosses val="max"/>
        <c:crossBetween val="between"/>
      </c:valAx>
      <c:catAx>
        <c:axId val="-206802720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3370429</c:v>
                </c:pt>
                <c:pt idx="1">
                  <c:v>3592127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50D-DA47-87F6-F387C80824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-400033</c:v>
                </c:pt>
                <c:pt idx="1">
                  <c:v>-1407141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8862D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50D-DA47-87F6-F387C8082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dLbl>
              <c:idx val="0"/>
              <c:layout>
                <c:manualLayout>
                  <c:x val="-6.4550471703393578E-2"/>
                  <c:y val="6.957032168722236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50D-DA47-87F6-F387C808242C}"/>
                </c:ext>
              </c:extLst>
            </c:dLbl>
            <c:dLbl>
              <c:idx val="1"/>
              <c:layout>
                <c:manualLayout>
                  <c:x val="-0.10464963748574499"/>
                  <c:y val="-6.42985750736378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50D-DA47-87F6-F387C808242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-0.1187</c:v>
                </c:pt>
                <c:pt idx="1">
                  <c:v>-0.39169999999999999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0D-DA47-87F6-F387C8082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0000"/>
          <c:min val="-160000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\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1000000"/>
      </c:valAx>
      <c:valAx>
        <c:axId val="-2113994309"/>
        <c:scaling>
          <c:orientation val="minMax"/>
          <c:max val="1"/>
          <c:min val="-0.4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205"/>
        <c:crosses val="max"/>
        <c:crossBetween val="between"/>
      </c:valAx>
      <c:catAx>
        <c:axId val="-206802720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2077901</c:v>
                </c:pt>
                <c:pt idx="1">
                  <c:v>2417353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E245-4D45-AC81-48733627AD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649490</c:v>
                </c:pt>
                <c:pt idx="1">
                  <c:v>685490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245-4D45-AC81-48733627A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dLbl>
              <c:idx val="0"/>
              <c:layout>
                <c:manualLayout>
                  <c:x val="-2.33576923087963E-2"/>
                  <c:y val="-0.1312330234540679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45-4D45-AC81-48733627AD92}"/>
                </c:ext>
              </c:extLst>
            </c:dLbl>
            <c:dLbl>
              <c:idx val="1"/>
              <c:layout>
                <c:manualLayout>
                  <c:x val="-2.33576923087963E-2"/>
                  <c:y val="-0.1228662174065141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245-4D45-AC81-48733627AD9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0.31259999999999999</c:v>
                </c:pt>
                <c:pt idx="1">
                  <c:v>0.28360000000000002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245-4D45-AC81-48733627A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0000"/>
          <c:min val="-160000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\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1000000"/>
      </c:valAx>
      <c:valAx>
        <c:axId val="-2113994309"/>
        <c:scaling>
          <c:orientation val="minMax"/>
          <c:max val="1"/>
          <c:min val="-0.4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205"/>
        <c:crosses val="max"/>
        <c:crossBetween val="between"/>
      </c:valAx>
      <c:catAx>
        <c:axId val="-206802720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1210944</c:v>
                </c:pt>
                <c:pt idx="1">
                  <c:v>1597092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0D1-1542-9B4C-29385B8CF4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852557</c:v>
                </c:pt>
                <c:pt idx="1">
                  <c:v>1145375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0D1-1542-9B4C-29385B8CF4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0.70399999999999996</c:v>
                </c:pt>
                <c:pt idx="1">
                  <c:v>0.71719999999999995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D1-1542-9B4C-29385B8CF4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0000"/>
          <c:min val="-160000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\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1000000"/>
      </c:valAx>
      <c:valAx>
        <c:axId val="-2113994309"/>
        <c:scaling>
          <c:orientation val="minMax"/>
          <c:max val="1"/>
          <c:min val="-0.4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205"/>
        <c:crosses val="max"/>
        <c:crossBetween val="between"/>
      </c:valAx>
      <c:catAx>
        <c:axId val="-206802720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 Op. [USD]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1463474</c:v>
                </c:pt>
                <c:pt idx="1">
                  <c:v>1205315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FEB-BE42-8EDC-AA64B5FC9A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Margen Bruto [USD]</c:v>
                </c:pt>
              </c:strCache>
            </c:strRef>
          </c:tx>
          <c:spPr>
            <a:solidFill>
              <a:srgbClr val="C8862D"/>
            </a:solidFill>
            <a:ln>
              <a:noFill/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1052891</c:v>
                </c:pt>
                <c:pt idx="1">
                  <c:v>762952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3FEB-BE42-8EDC-AA64B5FC9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Utilidad bruta %</c:v>
                </c:pt>
              </c:strCache>
            </c:strRef>
          </c:tx>
          <c:spPr>
            <a:ln w="28575">
              <a:solidFill>
                <a:srgbClr val="6B7280"/>
              </a:solidFill>
            </a:ln>
          </c:spPr>
          <c:marker>
            <c:symbol val="circle"/>
            <c:size val="6"/>
            <c:spPr>
              <a:solidFill>
                <a:srgbClr val="6B7280"/>
              </a:solidFill>
              <a:ln>
                <a:solidFill>
                  <a:srgbClr val="6B7280"/>
                </a:solidFill>
              </a:ln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0.71940000000000004</c:v>
                </c:pt>
                <c:pt idx="1">
                  <c:v>0.63300000000000001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FEB-BE42-8EDC-AA64B5FC9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205"/>
        <c:axId val="-2113994309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txPr>
          <a:bodyPr/>
          <a:lstStyle/>
          <a:p>
            <a:pPr>
              <a:defRPr sz="90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0000"/>
          <c:min val="-1600000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\$0.0,,&quot;M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1000000"/>
      </c:valAx>
      <c:valAx>
        <c:axId val="-2113994309"/>
        <c:scaling>
          <c:orientation val="minMax"/>
          <c:max val="1"/>
          <c:min val="-0.4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205"/>
        <c:crosses val="max"/>
        <c:crossBetween val="between"/>
      </c:valAx>
      <c:catAx>
        <c:axId val="-2068027205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113994309"/>
        <c:crosses val="max"/>
        <c:auto val="1"/>
        <c:lblAlgn val="ctr"/>
        <c:lblOffset val="100"/>
        <c:noMultiLvlLbl val="0"/>
      </c:cat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Chile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2225">
              <a:solidFill>
                <a:srgbClr val="C00000">
                  <a:alpha val="34000"/>
                </a:srgbClr>
              </a:solidFill>
            </a:ln>
          </c:spPr>
          <c:marker>
            <c:symbol val="circle"/>
            <c:size val="5"/>
            <c:spPr>
              <a:solidFill>
                <a:srgbClr val="C00000">
                  <a:alpha val="32915"/>
                </a:srgbClr>
              </a:solidFill>
              <a:ln>
                <a:solidFill>
                  <a:srgbClr val="C00000">
                    <a:alpha val="30000"/>
                  </a:srgbClr>
                </a:solidFill>
              </a:ln>
            </c:spPr>
          </c:marker>
          <c:trendline>
            <c:spPr>
              <a:ln w="19050">
                <a:solidFill>
                  <a:srgbClr val="C00000">
                    <a:alpha val="48980"/>
                  </a:srgbClr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-48504.86</c:v>
                </c:pt>
                <c:pt idx="1">
                  <c:v>-109839.19</c:v>
                </c:pt>
                <c:pt idx="2">
                  <c:v>18828.939999999999</c:v>
                </c:pt>
                <c:pt idx="3">
                  <c:v>7508.93</c:v>
                </c:pt>
                <c:pt idx="4">
                  <c:v>-63882.05</c:v>
                </c:pt>
                <c:pt idx="5">
                  <c:v>-106625.94</c:v>
                </c:pt>
                <c:pt idx="6">
                  <c:v>-92296.98</c:v>
                </c:pt>
                <c:pt idx="7">
                  <c:v>-107480.83</c:v>
                </c:pt>
                <c:pt idx="8">
                  <c:v>37742.76</c:v>
                </c:pt>
                <c:pt idx="9">
                  <c:v>149230.56</c:v>
                </c:pt>
                <c:pt idx="10">
                  <c:v>36051.46</c:v>
                </c:pt>
                <c:pt idx="11">
                  <c:v>-120765.96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FB4-3242-A7CD-F60CA5D99D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1E2761"/>
              </a:solidFill>
            </a:ln>
          </c:spPr>
          <c:marker>
            <c:symbol val="circle"/>
            <c:size val="5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trendline>
            <c:spPr>
              <a:ln w="19050">
                <a:solidFill>
                  <a:srgbClr val="1E2761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-34913.920000000042</c:v>
                </c:pt>
                <c:pt idx="1">
                  <c:v>125183.97999999998</c:v>
                </c:pt>
                <c:pt idx="2">
                  <c:v>-50171.719999999972</c:v>
                </c:pt>
                <c:pt idx="3">
                  <c:v>-104072.86999999997</c:v>
                </c:pt>
                <c:pt idx="4">
                  <c:v>-67503.719999999972</c:v>
                </c:pt>
                <c:pt idx="5">
                  <c:v>-103147.09999999998</c:v>
                </c:pt>
                <c:pt idx="6">
                  <c:v>79843.56</c:v>
                </c:pt>
                <c:pt idx="7">
                  <c:v>-273766.17</c:v>
                </c:pt>
                <c:pt idx="8">
                  <c:v>-157946.28000000003</c:v>
                </c:pt>
                <c:pt idx="9">
                  <c:v>-354919.19999999995</c:v>
                </c:pt>
                <c:pt idx="10">
                  <c:v>-143429.18</c:v>
                </c:pt>
                <c:pt idx="11">
                  <c:v>-322297.99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7FB4-3242-A7CD-F60CA5D99D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  <a:effectLst>
            <a:softEdge rad="0"/>
          </a:effectLst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0">
              <a:solidFill>
                <a:schemeClr val="tx1">
                  <a:shade val="95000"/>
                  <a:satMod val="105000"/>
                  <a:alpha val="14881"/>
                </a:schemeClr>
              </a:solidFill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Perú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2225">
              <a:solidFill>
                <a:srgbClr val="C00000">
                  <a:alpha val="47000"/>
                </a:srgbClr>
              </a:solidFill>
            </a:ln>
          </c:spPr>
          <c:marker>
            <c:symbol val="circle"/>
            <c:size val="5"/>
            <c:spPr>
              <a:solidFill>
                <a:srgbClr val="C00000">
                  <a:alpha val="36945"/>
                </a:srgbClr>
              </a:solidFill>
              <a:ln>
                <a:solidFill>
                  <a:srgbClr val="C00000">
                    <a:alpha val="36000"/>
                  </a:srgbClr>
                </a:solidFill>
              </a:ln>
            </c:spPr>
          </c:marker>
          <c:trendline>
            <c:spPr>
              <a:ln w="19050">
                <a:solidFill>
                  <a:srgbClr val="C00000">
                    <a:alpha val="44301"/>
                  </a:srgbClr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-1611.16</c:v>
                </c:pt>
                <c:pt idx="1">
                  <c:v>-12597.78</c:v>
                </c:pt>
                <c:pt idx="2">
                  <c:v>7481.23</c:v>
                </c:pt>
                <c:pt idx="3">
                  <c:v>-21999.41</c:v>
                </c:pt>
                <c:pt idx="4">
                  <c:v>-17336.63</c:v>
                </c:pt>
                <c:pt idx="5">
                  <c:v>89376.19</c:v>
                </c:pt>
                <c:pt idx="6">
                  <c:v>49615.26</c:v>
                </c:pt>
                <c:pt idx="7">
                  <c:v>33862.78</c:v>
                </c:pt>
                <c:pt idx="8">
                  <c:v>314378</c:v>
                </c:pt>
                <c:pt idx="9">
                  <c:v>205280.55</c:v>
                </c:pt>
                <c:pt idx="10">
                  <c:v>43117</c:v>
                </c:pt>
                <c:pt idx="11">
                  <c:v>-40075.620000000003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008-BF41-9463-D7993DC28E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1E2761"/>
              </a:solidFill>
            </a:ln>
          </c:spPr>
          <c:marker>
            <c:symbol val="circle"/>
            <c:size val="5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trendline>
            <c:spPr>
              <a:ln w="19050">
                <a:solidFill>
                  <a:srgbClr val="1E2761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34385.149999999994</c:v>
                </c:pt>
                <c:pt idx="1">
                  <c:v>-19143</c:v>
                </c:pt>
                <c:pt idx="2">
                  <c:v>12622</c:v>
                </c:pt>
                <c:pt idx="3">
                  <c:v>-27595.299999999988</c:v>
                </c:pt>
                <c:pt idx="4">
                  <c:v>13686</c:v>
                </c:pt>
                <c:pt idx="5">
                  <c:v>61593</c:v>
                </c:pt>
                <c:pt idx="6">
                  <c:v>52347</c:v>
                </c:pt>
                <c:pt idx="7">
                  <c:v>416001</c:v>
                </c:pt>
                <c:pt idx="8">
                  <c:v>-7964</c:v>
                </c:pt>
                <c:pt idx="9">
                  <c:v>157275</c:v>
                </c:pt>
                <c:pt idx="10">
                  <c:v>-43027.640000000014</c:v>
                </c:pt>
                <c:pt idx="11">
                  <c:v>35311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D008-BF41-9463-D7993DC28E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0">
              <a:solidFill>
                <a:schemeClr val="tx1">
                  <a:shade val="95000"/>
                  <a:satMod val="105000"/>
                  <a:alpha val="13000"/>
                </a:schemeClr>
              </a:solidFill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Brasil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2225">
              <a:solidFill>
                <a:srgbClr val="C00000">
                  <a:alpha val="42463"/>
                </a:srgbClr>
              </a:solidFill>
            </a:ln>
          </c:spPr>
          <c:marker>
            <c:symbol val="circle"/>
            <c:size val="5"/>
            <c:spPr>
              <a:solidFill>
                <a:srgbClr val="C00000">
                  <a:alpha val="36711"/>
                </a:srgbClr>
              </a:solidFill>
              <a:ln>
                <a:solidFill>
                  <a:srgbClr val="C00000">
                    <a:alpha val="34757"/>
                  </a:srgbClr>
                </a:solidFill>
              </a:ln>
            </c:spPr>
          </c:marker>
          <c:trendline>
            <c:spPr>
              <a:ln w="19050">
                <a:solidFill>
                  <a:srgbClr val="C00000">
                    <a:alpha val="41336"/>
                  </a:srgbClr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144558.51</c:v>
                </c:pt>
                <c:pt idx="1">
                  <c:v>176461.66</c:v>
                </c:pt>
                <c:pt idx="2">
                  <c:v>66266.7</c:v>
                </c:pt>
                <c:pt idx="3">
                  <c:v>53240.29</c:v>
                </c:pt>
                <c:pt idx="4">
                  <c:v>220336.25</c:v>
                </c:pt>
                <c:pt idx="5">
                  <c:v>-15354.74</c:v>
                </c:pt>
                <c:pt idx="6">
                  <c:v>89</c:v>
                </c:pt>
                <c:pt idx="7">
                  <c:v>119735.93</c:v>
                </c:pt>
                <c:pt idx="8">
                  <c:v>-27683</c:v>
                </c:pt>
                <c:pt idx="9">
                  <c:v>86346.09</c:v>
                </c:pt>
                <c:pt idx="10">
                  <c:v>44943</c:v>
                </c:pt>
                <c:pt idx="11">
                  <c:v>-16382.8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5D3-1E44-8534-F635CC2018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1E2761"/>
              </a:solidFill>
            </a:ln>
          </c:spPr>
          <c:marker>
            <c:symbol val="circle"/>
            <c:size val="5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trendline>
            <c:spPr>
              <a:ln w="19050">
                <a:solidFill>
                  <a:srgbClr val="1E2761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59479</c:v>
                </c:pt>
                <c:pt idx="1">
                  <c:v>31871</c:v>
                </c:pt>
                <c:pt idx="2">
                  <c:v>69897</c:v>
                </c:pt>
                <c:pt idx="3">
                  <c:v>45205.299999999996</c:v>
                </c:pt>
                <c:pt idx="4">
                  <c:v>3745</c:v>
                </c:pt>
                <c:pt idx="5">
                  <c:v>-9723</c:v>
                </c:pt>
                <c:pt idx="6">
                  <c:v>16698</c:v>
                </c:pt>
                <c:pt idx="7">
                  <c:v>98177</c:v>
                </c:pt>
                <c:pt idx="8">
                  <c:v>126265</c:v>
                </c:pt>
                <c:pt idx="9">
                  <c:v>311013</c:v>
                </c:pt>
                <c:pt idx="10">
                  <c:v>191632</c:v>
                </c:pt>
                <c:pt idx="11">
                  <c:v>201115.51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A5D3-1E44-8534-F635CC2018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0">
              <a:solidFill>
                <a:schemeClr val="tx1">
                  <a:shade val="95000"/>
                  <a:satMod val="105000"/>
                  <a:alpha val="15637"/>
                </a:schemeClr>
              </a:solidFill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USA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2225">
              <a:solidFill>
                <a:srgbClr val="C00000">
                  <a:alpha val="41000"/>
                </a:srgbClr>
              </a:solidFill>
            </a:ln>
          </c:spPr>
          <c:marker>
            <c:symbol val="circle"/>
            <c:size val="5"/>
            <c:spPr>
              <a:solidFill>
                <a:srgbClr val="C00000">
                  <a:alpha val="39137"/>
                </a:srgbClr>
              </a:solidFill>
              <a:ln>
                <a:solidFill>
                  <a:srgbClr val="C00000">
                    <a:alpha val="40592"/>
                  </a:srgbClr>
                </a:solidFill>
              </a:ln>
            </c:spPr>
          </c:marker>
          <c:trendline>
            <c:spPr>
              <a:ln w="19050">
                <a:solidFill>
                  <a:srgbClr val="C00000">
                    <a:alpha val="44071"/>
                  </a:srgbClr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52804</c:v>
                </c:pt>
                <c:pt idx="2">
                  <c:v>133177</c:v>
                </c:pt>
                <c:pt idx="3">
                  <c:v>102905</c:v>
                </c:pt>
                <c:pt idx="4">
                  <c:v>155191</c:v>
                </c:pt>
                <c:pt idx="5">
                  <c:v>35779</c:v>
                </c:pt>
                <c:pt idx="6">
                  <c:v>-19729</c:v>
                </c:pt>
                <c:pt idx="7">
                  <c:v>87858</c:v>
                </c:pt>
                <c:pt idx="8">
                  <c:v>603466</c:v>
                </c:pt>
                <c:pt idx="9">
                  <c:v>-32355</c:v>
                </c:pt>
                <c:pt idx="10">
                  <c:v>38425</c:v>
                </c:pt>
                <c:pt idx="11">
                  <c:v>-104630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FBB-DD48-AA22-3F62E9DBD6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1E2761"/>
              </a:solidFill>
            </a:ln>
          </c:spPr>
          <c:marker>
            <c:symbol val="circle"/>
            <c:size val="5"/>
            <c:spPr>
              <a:solidFill>
                <a:srgbClr val="1E2761"/>
              </a:solidFill>
              <a:ln>
                <a:solidFill>
                  <a:srgbClr val="1E2761"/>
                </a:solidFill>
              </a:ln>
            </c:spPr>
          </c:marker>
          <c:trendline>
            <c:spPr>
              <a:ln w="19050">
                <a:solidFill>
                  <a:srgbClr val="1E2761"/>
                </a:solidFill>
                <a:prstDash val="dash"/>
              </a:ln>
            </c:spPr>
            <c:trendlineType val="linear"/>
            <c:dispRSqr val="0"/>
            <c:dispEq val="0"/>
          </c:trendline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150438</c:v>
                </c:pt>
                <c:pt idx="1">
                  <c:v>241440.21</c:v>
                </c:pt>
                <c:pt idx="2">
                  <c:v>82798</c:v>
                </c:pt>
                <c:pt idx="3">
                  <c:v>159302</c:v>
                </c:pt>
                <c:pt idx="4">
                  <c:v>147424</c:v>
                </c:pt>
                <c:pt idx="5">
                  <c:v>57618</c:v>
                </c:pt>
                <c:pt idx="6">
                  <c:v>-10017</c:v>
                </c:pt>
                <c:pt idx="7">
                  <c:v>18985</c:v>
                </c:pt>
                <c:pt idx="8">
                  <c:v>-1000</c:v>
                </c:pt>
                <c:pt idx="9">
                  <c:v>-43411</c:v>
                </c:pt>
                <c:pt idx="10">
                  <c:v>-1000</c:v>
                </c:pt>
                <c:pt idx="11">
                  <c:v>-39625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4FBB-DD48-AA22-3F62E9DBD6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0">
              <a:solidFill>
                <a:schemeClr val="tx1">
                  <a:shade val="95000"/>
                  <a:satMod val="105000"/>
                  <a:alpha val="23000"/>
                </a:schemeClr>
              </a:solidFill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>
                <a:latin typeface="Calibri"/>
              </a:defRPr>
            </a:pPr>
            <a:endParaRPr lang="es-C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Cartera</c:v>
                </c:pt>
              </c:strCache>
            </c:strRef>
          </c:tx>
          <c:dPt>
            <c:idx val="0"/>
            <c:bubble3D val="0"/>
            <c:spPr>
              <a:solidFill>
                <a:srgbClr val="1E2761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28D2-0F47-B272-1A3BA28F2D9E}"/>
              </c:ext>
            </c:extLst>
          </c:dPt>
          <c:dPt>
            <c:idx val="1"/>
            <c:bubble3D val="0"/>
            <c:spPr>
              <a:solidFill>
                <a:srgbClr val="C8862D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28D2-0F47-B272-1A3BA28F2D9E}"/>
              </c:ext>
            </c:extLst>
          </c:dPt>
          <c:dPt>
            <c:idx val="2"/>
            <c:bubble3D val="0"/>
            <c:spPr>
              <a:solidFill>
                <a:srgbClr val="2E7D5B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28D2-0F47-B272-1A3BA28F2D9E}"/>
              </c:ext>
            </c:extLst>
          </c:dPt>
          <c:dPt>
            <c:idx val="3"/>
            <c:bubble3D val="0"/>
            <c:spPr>
              <a:solidFill>
                <a:srgbClr val="3E6FB0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28D2-0F47-B272-1A3BA28F2D9E}"/>
              </c:ext>
            </c:extLst>
          </c:dPt>
          <c:dPt>
            <c:idx val="4"/>
            <c:bubble3D val="0"/>
            <c:spPr>
              <a:solidFill>
                <a:srgbClr val="8E5BA6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28D2-0F47-B272-1A3BA28F2D9E}"/>
              </c:ext>
            </c:extLst>
          </c:dPt>
          <c:dPt>
            <c:idx val="5"/>
            <c:bubble3D val="0"/>
            <c:spPr>
              <a:solidFill>
                <a:srgbClr val="4FA3A8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28D2-0F47-B272-1A3BA28F2D9E}"/>
              </c:ext>
            </c:extLst>
          </c:dPt>
          <c:dPt>
            <c:idx val="6"/>
            <c:bubble3D val="0"/>
            <c:spPr>
              <a:solidFill>
                <a:srgbClr val="B0507A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28D2-0F47-B272-1A3BA28F2D9E}"/>
              </c:ext>
            </c:extLst>
          </c:dPt>
          <c:dPt>
            <c:idx val="7"/>
            <c:bubble3D val="0"/>
            <c:spPr>
              <a:solidFill>
                <a:srgbClr val="6B7280"/>
              </a:soli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F-28D2-0F47-B272-1A3BA28F2D9E}"/>
              </c:ext>
            </c:extLst>
          </c:dPt>
          <c:dLbls>
            <c:dLbl>
              <c:idx val="6"/>
              <c:layout>
                <c:manualLayout>
                  <c:x val="-6.2189054726368917E-3"/>
                  <c:y val="-4.7281323877068557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8D2-0F47-B272-1A3BA28F2D9E}"/>
                </c:ext>
              </c:extLst>
            </c:dLbl>
            <c:dLbl>
              <c:idx val="7"/>
              <c:layout>
                <c:manualLayout>
                  <c:x val="2.0729684908788624E-3"/>
                  <c:y val="-0.12706855791962174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000" b="1">
                      <a:solidFill>
                        <a:schemeClr val="tx1"/>
                      </a:solidFill>
                      <a:latin typeface="Calibri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8D2-0F47-B272-1A3BA28F2D9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FS e Ing. Basica</c:v>
                </c:pt>
                <c:pt idx="1">
                  <c:v>PFS</c:v>
                </c:pt>
                <c:pt idx="2">
                  <c:v>Consultoria y Due Dilligence</c:v>
                </c:pt>
                <c:pt idx="3">
                  <c:v>Scoping</c:v>
                </c:pt>
                <c:pt idx="4">
                  <c:v>Estudio Conceptual / LOM</c:v>
                </c:pt>
                <c:pt idx="5">
                  <c:v>Permisos / MEIA</c:v>
                </c:pt>
                <c:pt idx="6">
                  <c:v>PEA</c:v>
                </c:pt>
                <c:pt idx="7">
                  <c:v>Confiabilidad Planes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9092795.879999999</c:v>
                </c:pt>
                <c:pt idx="1">
                  <c:v>2998348.49</c:v>
                </c:pt>
                <c:pt idx="2">
                  <c:v>2942808</c:v>
                </c:pt>
                <c:pt idx="3">
                  <c:v>2450787.67</c:v>
                </c:pt>
                <c:pt idx="4">
                  <c:v>1928787.6</c:v>
                </c:pt>
                <c:pt idx="5">
                  <c:v>848031</c:v>
                </c:pt>
                <c:pt idx="6">
                  <c:v>490000</c:v>
                </c:pt>
                <c:pt idx="7">
                  <c:v>110007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28D2-0F47-B272-1A3BA28F2D9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6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CL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Margen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0-57A4-AA40-ABC7-B0DD918A078F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57A4-AA40-ABC7-B0DD918A078F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2-57A4-AA40-ABC7-B0DD918A078F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57A4-AA40-ABC7-B0DD918A078F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4-57A4-AA40-ABC7-B0DD918A078F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57A4-AA40-ABC7-B0DD918A078F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6-57A4-AA40-ABC7-B0DD918A078F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57A4-AA40-ABC7-B0DD918A078F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Confiabilidad Planes</c:v>
                </c:pt>
                <c:pt idx="1">
                  <c:v>Scoping</c:v>
                </c:pt>
                <c:pt idx="2">
                  <c:v>FS e Ing. Basica</c:v>
                </c:pt>
                <c:pt idx="3">
                  <c:v>PFS</c:v>
                </c:pt>
                <c:pt idx="4">
                  <c:v>PEA</c:v>
                </c:pt>
                <c:pt idx="5">
                  <c:v>Estudio Conceptual / LOM</c:v>
                </c:pt>
                <c:pt idx="6">
                  <c:v>Consultoria y Due Dilligence</c:v>
                </c:pt>
                <c:pt idx="7">
                  <c:v>Permisos / MEIA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-7.9733573567261476E-2</c:v>
                </c:pt>
                <c:pt idx="1">
                  <c:v>5.8077392246680071E-2</c:v>
                </c:pt>
                <c:pt idx="2">
                  <c:v>0.20285159434115632</c:v>
                </c:pt>
                <c:pt idx="3">
                  <c:v>0.32612800978209927</c:v>
                </c:pt>
                <c:pt idx="4">
                  <c:v>0.33570265013964989</c:v>
                </c:pt>
                <c:pt idx="5">
                  <c:v>0.40893611170420474</c:v>
                </c:pt>
                <c:pt idx="6">
                  <c:v>0.56103997930389449</c:v>
                </c:pt>
                <c:pt idx="7">
                  <c:v>0.67350128696061184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57A4-AA40-ABC7-B0DD918A07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100" b="1"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-0.2"/>
        </c:scaling>
        <c:delete val="0"/>
        <c:axPos val="b"/>
        <c:majorGridlines>
          <c:spPr>
            <a:ln>
              <a:solidFill>
                <a:srgbClr val="E2E5EA">
                  <a:alpha val="58000"/>
                </a:srgbClr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900"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1-6CA2-9A49-8BB3-2A588263ED55}"/>
              </c:ext>
            </c:extLst>
          </c:dPt>
          <c:dPt>
            <c:idx val="1"/>
            <c:invertIfNegative val="1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3-6CA2-9A49-8BB3-2A588263ED55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5-6CA2-9A49-8BB3-2A588263ED55}"/>
              </c:ext>
            </c:extLst>
          </c:dPt>
          <c:dPt>
            <c:idx val="3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7-6CA2-9A49-8BB3-2A588263ED55}"/>
              </c:ext>
            </c:extLst>
          </c:dPt>
          <c:dPt>
            <c:idx val="4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9-6CA2-9A49-8BB3-2A588263ED55}"/>
              </c:ext>
            </c:extLst>
          </c:dPt>
          <c:dPt>
            <c:idx val="5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B-6CA2-9A49-8BB3-2A588263ED55}"/>
              </c:ext>
            </c:extLst>
          </c:dPt>
          <c:dLbls>
            <c:dLbl>
              <c:idx val="0"/>
              <c:layout>
                <c:manualLayout>
                  <c:x val="-0.6444533196051716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A2-9A49-8BB3-2A588263ED5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PFS</c:v>
                </c:pt>
                <c:pt idx="1">
                  <c:v>Consultoría/DD</c:v>
                </c:pt>
                <c:pt idx="2">
                  <c:v>Confiab. Planes</c:v>
                </c:pt>
                <c:pt idx="3">
                  <c:v>Scoping</c:v>
                </c:pt>
                <c:pt idx="4">
                  <c:v>FS/Ing. Básica</c:v>
                </c:pt>
                <c:pt idx="5">
                  <c:v>Conceptual/LOM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-2.1365363454460629</c:v>
                </c:pt>
                <c:pt idx="1">
                  <c:v>-0.22153347280334734</c:v>
                </c:pt>
                <c:pt idx="2">
                  <c:v>-7.9733573567261476E-2</c:v>
                </c:pt>
                <c:pt idx="3">
                  <c:v>0.25593651359123359</c:v>
                </c:pt>
                <c:pt idx="4">
                  <c:v>0.30625184826470619</c:v>
                </c:pt>
                <c:pt idx="5">
                  <c:v>0.42149517472872522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6CA2-9A49-8BB3-2A588263ED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2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 b="1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-1"/>
        </c:scaling>
        <c:delete val="0"/>
        <c:axPos val="b"/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1-F265-1D44-81E4-88DBF98D9F72}"/>
              </c:ext>
            </c:extLst>
          </c:dPt>
          <c:dPt>
            <c:idx val="1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3-F265-1D44-81E4-88DBF98D9F72}"/>
              </c:ext>
            </c:extLst>
          </c:dPt>
          <c:dPt>
            <c:idx val="2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5-F265-1D44-81E4-88DBF98D9F72}"/>
              </c:ext>
            </c:extLst>
          </c:dPt>
          <c:dPt>
            <c:idx val="3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7-F265-1D44-81E4-88DBF98D9F7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FS/Ing. Básica</c:v>
                </c:pt>
                <c:pt idx="1">
                  <c:v>Conceptual/LOM</c:v>
                </c:pt>
                <c:pt idx="2">
                  <c:v>PFS</c:v>
                </c:pt>
                <c:pt idx="3">
                  <c:v>Permisos/MEIA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-2.5183763926372168E-2</c:v>
                </c:pt>
                <c:pt idx="1">
                  <c:v>0.34052001059199538</c:v>
                </c:pt>
                <c:pt idx="2">
                  <c:v>0.50990921482634177</c:v>
                </c:pt>
                <c:pt idx="3">
                  <c:v>0.67350128696061184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F265-1D44-81E4-88DBF98D9F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 b="1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-1"/>
        </c:scaling>
        <c:delete val="0"/>
        <c:axPos val="b"/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1-0CD7-3A44-9AA0-F72E73E17693}"/>
              </c:ext>
            </c:extLst>
          </c:dPt>
          <c:dPt>
            <c:idx val="1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3-0CD7-3A44-9AA0-F72E73E17693}"/>
              </c:ext>
            </c:extLst>
          </c:dPt>
          <c:dPt>
            <c:idx val="2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5-0CD7-3A44-9AA0-F72E73E17693}"/>
              </c:ext>
            </c:extLst>
          </c:dPt>
          <c:dPt>
            <c:idx val="3"/>
            <c:invertIfNegative val="1"/>
            <c:bubble3D val="0"/>
            <c:spPr>
              <a:solidFill>
                <a:srgbClr val="2F7D5A"/>
              </a:solidFill>
            </c:spPr>
            <c:extLst>
              <c:ext xmlns:c16="http://schemas.microsoft.com/office/drawing/2014/chart" uri="{C3380CC4-5D6E-409C-BE32-E72D297353CC}">
                <c16:uniqueId val="{00000007-0CD7-3A44-9AA0-F72E73E17693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Scoping</c:v>
                </c:pt>
                <c:pt idx="1">
                  <c:v>FS/Ing. Básica</c:v>
                </c:pt>
                <c:pt idx="2">
                  <c:v>PEA</c:v>
                </c:pt>
                <c:pt idx="3">
                  <c:v>Conceptual/LOM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-0.17379141168482415</c:v>
                </c:pt>
                <c:pt idx="1">
                  <c:v>-5.5432391790209305E-2</c:v>
                </c:pt>
                <c:pt idx="2">
                  <c:v>0.33570265013964995</c:v>
                </c:pt>
                <c:pt idx="3">
                  <c:v>0.72315456564161229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0CD7-3A44-9AA0-F72E73E176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 b="1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-1"/>
        </c:scaling>
        <c:delete val="0"/>
        <c:axPos val="b"/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49D7-AE47-ABBA-FBECDCEAFDE7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49D7-AE47-ABBA-FBECDCEAFDE7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1">
                    <a:solidFill>
                      <a:srgbClr val="232733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PFS</c:v>
                </c:pt>
                <c:pt idx="1">
                  <c:v>Consultoría/DD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0.40769217030485161</c:v>
                </c:pt>
                <c:pt idx="1">
                  <c:v>0.61402704100061611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9D7-AE47-ABBA-FBECDCEAFD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800" b="1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-1"/>
        </c:scaling>
        <c:delete val="0"/>
        <c:axPos val="b"/>
        <c:numFmt formatCode="General" sourceLinked="1"/>
        <c:majorTickMark val="out"/>
        <c:minorTickMark val="none"/>
        <c:tickLblPos val="none"/>
        <c:spPr>
          <a:ln>
            <a:noFill/>
          </a:ln>
        </c:spPr>
        <c:crossAx val="-2068027336"/>
        <c:crosses val="autoZero"/>
        <c:crossBetween val="between"/>
        <c:majorUnit val="0.2"/>
      </c:valAx>
      <c:spPr>
        <a:solidFill>
          <a:schemeClr val="bg1"/>
        </a:solidFill>
      </c:spPr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5400">
              <a:solidFill>
                <a:srgbClr val="C00000">
                  <a:alpha val="50000"/>
                </a:srgbClr>
              </a:solidFill>
            </a:ln>
          </c:spPr>
          <c:marker>
            <c:symbol val="circle"/>
            <c:size val="6"/>
            <c:spPr>
              <a:solidFill>
                <a:srgbClr val="C00000">
                  <a:alpha val="44000"/>
                </a:srgbClr>
              </a:solidFill>
              <a:ln w="3175">
                <a:solidFill>
                  <a:srgbClr val="C00000">
                    <a:alpha val="51000"/>
                  </a:srgbClr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0.66666666666666663</c:v>
                </c:pt>
                <c:pt idx="1">
                  <c:v>0.66666666666666663</c:v>
                </c:pt>
                <c:pt idx="2">
                  <c:v>0.6</c:v>
                </c:pt>
                <c:pt idx="3">
                  <c:v>0.375</c:v>
                </c:pt>
                <c:pt idx="4">
                  <c:v>0.52941176470588236</c:v>
                </c:pt>
                <c:pt idx="5">
                  <c:v>0.46666666666666667</c:v>
                </c:pt>
                <c:pt idx="6">
                  <c:v>9.6774193548387094E-2</c:v>
                </c:pt>
                <c:pt idx="7">
                  <c:v>0.36</c:v>
                </c:pt>
                <c:pt idx="8">
                  <c:v>0.1111111111111111</c:v>
                </c:pt>
                <c:pt idx="9">
                  <c:v>0.18181818181818182</c:v>
                </c:pt>
                <c:pt idx="10">
                  <c:v>9.0909090909090912E-2</c:v>
                </c:pt>
                <c:pt idx="11">
                  <c:v>0.22222222222222221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43B-D142-879C-76C91B3F35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1E2761">
                  <a:alpha val="84000"/>
                </a:srgbClr>
              </a:solidFill>
            </a:ln>
          </c:spPr>
          <c:marker>
            <c:symbol val="circle"/>
            <c:size val="6"/>
            <c:spPr>
              <a:solidFill>
                <a:srgbClr val="1E2761">
                  <a:alpha val="54494"/>
                </a:srgbClr>
              </a:solidFill>
              <a:ln w="3175">
                <a:solidFill>
                  <a:srgbClr val="1E2761">
                    <a:alpha val="50016"/>
                  </a:srgbClr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0.53333333333333333</c:v>
                </c:pt>
                <c:pt idx="1">
                  <c:v>0.4</c:v>
                </c:pt>
                <c:pt idx="2">
                  <c:v>0.66666666666666663</c:v>
                </c:pt>
                <c:pt idx="3">
                  <c:v>0.53846153846153844</c:v>
                </c:pt>
                <c:pt idx="4">
                  <c:v>0.18181818181818182</c:v>
                </c:pt>
                <c:pt idx="5">
                  <c:v>0.36363636363636365</c:v>
                </c:pt>
                <c:pt idx="6">
                  <c:v>0.42857142857142855</c:v>
                </c:pt>
                <c:pt idx="7">
                  <c:v>0.25</c:v>
                </c:pt>
                <c:pt idx="8">
                  <c:v>0.16666666666666666</c:v>
                </c:pt>
                <c:pt idx="9">
                  <c:v>0.33333333333333331</c:v>
                </c:pt>
                <c:pt idx="10">
                  <c:v>0.23076923076923078</c:v>
                </c:pt>
                <c:pt idx="11">
                  <c:v>0.28000000000000003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43B-D142-879C-76C91B3F35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 *</c:v>
                </c:pt>
              </c:strCache>
            </c:strRef>
          </c:tx>
          <c:spPr>
            <a:ln w="28575">
              <a:solidFill>
                <a:srgbClr val="00B050"/>
              </a:solidFill>
            </a:ln>
          </c:spPr>
          <c:marker>
            <c:symbol val="circle"/>
            <c:size val="6"/>
            <c:spPr>
              <a:solidFill>
                <a:srgbClr val="00B050"/>
              </a:solidFill>
              <a:ln>
                <a:solidFill>
                  <a:srgbClr val="00B05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0.33333333333333331</c:v>
                </c:pt>
                <c:pt idx="1">
                  <c:v>0.16</c:v>
                </c:pt>
                <c:pt idx="2">
                  <c:v>0.44</c:v>
                </c:pt>
                <c:pt idx="3">
                  <c:v>0.26923076923076922</c:v>
                </c:pt>
                <c:pt idx="4">
                  <c:v>0.18181818181818182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43B-D142-879C-76C91B3F35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 w="6350">
              <a:solidFill>
                <a:srgbClr val="E2E5EA">
                  <a:alpha val="11098"/>
                </a:srgbClr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ln w="25400">
              <a:solidFill>
                <a:srgbClr val="C00000">
                  <a:alpha val="48849"/>
                </a:srgbClr>
              </a:solidFill>
            </a:ln>
          </c:spPr>
          <c:marker>
            <c:symbol val="circle"/>
            <c:size val="6"/>
            <c:spPr>
              <a:solidFill>
                <a:srgbClr val="C00000">
                  <a:alpha val="39000"/>
                </a:srgbClr>
              </a:solidFill>
              <a:ln>
                <a:solidFill>
                  <a:srgbClr val="C00000">
                    <a:alpha val="39733"/>
                  </a:srgbClr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0.46191525438018333</c:v>
                </c:pt>
                <c:pt idx="1">
                  <c:v>0.13701980451841222</c:v>
                </c:pt>
                <c:pt idx="2">
                  <c:v>0.23924448018815733</c:v>
                </c:pt>
                <c:pt idx="3">
                  <c:v>0.23916013434326042</c:v>
                </c:pt>
                <c:pt idx="5">
                  <c:v>0.10411854840046066</c:v>
                </c:pt>
                <c:pt idx="6">
                  <c:v>0.11019836988613577</c:v>
                </c:pt>
                <c:pt idx="7">
                  <c:v>0.15854414469337136</c:v>
                </c:pt>
                <c:pt idx="8">
                  <c:v>3.3054382329022275E-2</c:v>
                </c:pt>
                <c:pt idx="9">
                  <c:v>0.13733444884686419</c:v>
                </c:pt>
                <c:pt idx="10">
                  <c:v>1.5651085141903172E-2</c:v>
                </c:pt>
                <c:pt idx="11">
                  <c:v>0.23891437308868502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B9E-F641-89E5-9FE9CD0CCD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1E2761">
                  <a:alpha val="64938"/>
                </a:srgbClr>
              </a:solidFill>
            </a:ln>
          </c:spPr>
          <c:marker>
            <c:symbol val="circle"/>
            <c:size val="6"/>
            <c:spPr>
              <a:solidFill>
                <a:srgbClr val="1E2761">
                  <a:alpha val="48565"/>
                </a:srgbClr>
              </a:solidFill>
              <a:ln w="3175">
                <a:solidFill>
                  <a:srgbClr val="1E2761">
                    <a:alpha val="42000"/>
                  </a:srgbClr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0.47739602169981915</c:v>
                </c:pt>
                <c:pt idx="1">
                  <c:v>0.48463632827693504</c:v>
                </c:pt>
                <c:pt idx="2">
                  <c:v>0.20808594854396381</c:v>
                </c:pt>
                <c:pt idx="3">
                  <c:v>0.1273069679849341</c:v>
                </c:pt>
                <c:pt idx="4">
                  <c:v>0.10195913208342111</c:v>
                </c:pt>
                <c:pt idx="5">
                  <c:v>0.10814170292106899</c:v>
                </c:pt>
                <c:pt idx="6">
                  <c:v>6.3395863395863394E-2</c:v>
                </c:pt>
                <c:pt idx="7">
                  <c:v>9.2342574461506746E-2</c:v>
                </c:pt>
                <c:pt idx="8">
                  <c:v>0.1993730407523511</c:v>
                </c:pt>
                <c:pt idx="9">
                  <c:v>0.170345842531273</c:v>
                </c:pt>
                <c:pt idx="10">
                  <c:v>0.12995451591942819</c:v>
                </c:pt>
                <c:pt idx="11">
                  <c:v>0.17744565217391303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B9E-F641-89E5-9FE9CD0CCD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 *</c:v>
                </c:pt>
              </c:strCache>
            </c:strRef>
          </c:tx>
          <c:spPr>
            <a:ln w="28575">
              <a:solidFill>
                <a:srgbClr val="00B050"/>
              </a:solidFill>
            </a:ln>
          </c:spPr>
          <c:marker>
            <c:symbol val="circle"/>
            <c:size val="6"/>
            <c:spPr>
              <a:solidFill>
                <a:srgbClr val="00B050"/>
              </a:solidFill>
              <a:ln>
                <a:solidFill>
                  <a:srgbClr val="00B050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0.3392405063291139</c:v>
                </c:pt>
                <c:pt idx="1">
                  <c:v>8.8862275449101802E-2</c:v>
                </c:pt>
                <c:pt idx="2">
                  <c:v>0.22772918691286037</c:v>
                </c:pt>
                <c:pt idx="3">
                  <c:v>0.15757395570090679</c:v>
                </c:pt>
                <c:pt idx="4">
                  <c:v>6.7332457293035483E-2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B9E-F641-89E5-9FE9CD0CCD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85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0"/>
        </c:scaling>
        <c:delete val="0"/>
        <c:axPos val="l"/>
        <c:majorGridlines>
          <c:spPr>
            <a:ln w="6350">
              <a:solidFill>
                <a:srgbClr val="E2E5EA">
                  <a:alpha val="0"/>
                </a:srgbClr>
              </a:solidFill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/>
          <a:lstStyle/>
          <a:p>
            <a:pPr>
              <a:defRPr sz="15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2023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bubble3D val="0"/>
            <c:spPr>
              <a:solidFill>
                <a:srgbClr val="1E2761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271-184D-96E7-EDD94E1281EA}"/>
              </c:ext>
            </c:extLst>
          </c:dPt>
          <c:dPt>
            <c:idx val="1"/>
            <c:bubble3D val="0"/>
            <c:spPr>
              <a:solidFill>
                <a:srgbClr val="C8862D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271-184D-96E7-EDD94E1281EA}"/>
              </c:ext>
            </c:extLst>
          </c:dPt>
          <c:dPt>
            <c:idx val="2"/>
            <c:bubble3D val="0"/>
            <c:spPr>
              <a:solidFill>
                <a:srgbClr val="2E7D5B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271-184D-96E7-EDD94E1281EA}"/>
              </c:ext>
            </c:extLst>
          </c:dPt>
          <c:dPt>
            <c:idx val="3"/>
            <c:bubble3D val="0"/>
            <c:spPr>
              <a:solidFill>
                <a:srgbClr val="3E6FB0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271-184D-96E7-EDD94E1281EA}"/>
              </c:ext>
            </c:extLst>
          </c:dPt>
          <c:dPt>
            <c:idx val="4"/>
            <c:bubble3D val="0"/>
            <c:spPr>
              <a:solidFill>
                <a:srgbClr val="8E5BA6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271-184D-96E7-EDD94E1281EA}"/>
              </c:ext>
            </c:extLst>
          </c:dPt>
          <c:dPt>
            <c:idx val="5"/>
            <c:bubble3D val="0"/>
            <c:spPr>
              <a:solidFill>
                <a:srgbClr val="6B7280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6271-184D-96E7-EDD94E1281EA}"/>
              </c:ext>
            </c:extLst>
          </c:dPt>
          <c:dLbls>
            <c:dLbl>
              <c:idx val="3"/>
              <c:layout>
                <c:manualLayout>
                  <c:x val="-3.5612535612535613E-2"/>
                  <c:y val="-9.7809076682316087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1">
                      <a:solidFill>
                        <a:schemeClr val="tx1"/>
                      </a:solidFill>
                      <a:latin typeface="Calibri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271-184D-96E7-EDD94E1281EA}"/>
                </c:ext>
              </c:extLst>
            </c:dLbl>
            <c:dLbl>
              <c:idx val="4"/>
              <c:layout>
                <c:manualLayout>
                  <c:x val="3.5612535612535613E-3"/>
                  <c:y val="-3.1298904538341193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271-184D-96E7-EDD94E1281E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271-184D-96E7-EDD94E1281E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Chile</c:v>
                </c:pt>
                <c:pt idx="1">
                  <c:v>Perú</c:v>
                </c:pt>
                <c:pt idx="2">
                  <c:v>Brasil</c:v>
                </c:pt>
                <c:pt idx="3">
                  <c:v>USA</c:v>
                </c:pt>
                <c:pt idx="4">
                  <c:v>Rusia</c:v>
                </c:pt>
                <c:pt idx="5">
                  <c:v>Otros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4292175.5469375001</c:v>
                </c:pt>
                <c:pt idx="1">
                  <c:v>1626997.0509297918</c:v>
                </c:pt>
                <c:pt idx="2">
                  <c:v>728918.05026441405</c:v>
                </c:pt>
                <c:pt idx="3">
                  <c:v>102384</c:v>
                </c:pt>
                <c:pt idx="4">
                  <c:v>320662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271-184D-96E7-EDD94E1281EA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CL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/>
          <a:lstStyle/>
          <a:p>
            <a:pPr>
              <a:defRPr sz="15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2024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bubble3D val="0"/>
            <c:spPr>
              <a:solidFill>
                <a:srgbClr val="1E2761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B0DD-9D4B-A3E6-DC27EC5E09C8}"/>
              </c:ext>
            </c:extLst>
          </c:dPt>
          <c:dPt>
            <c:idx val="1"/>
            <c:bubble3D val="0"/>
            <c:spPr>
              <a:solidFill>
                <a:srgbClr val="C8862D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B0DD-9D4B-A3E6-DC27EC5E09C8}"/>
              </c:ext>
            </c:extLst>
          </c:dPt>
          <c:dPt>
            <c:idx val="2"/>
            <c:bubble3D val="0"/>
            <c:spPr>
              <a:solidFill>
                <a:srgbClr val="2E7D5B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B0DD-9D4B-A3E6-DC27EC5E09C8}"/>
              </c:ext>
            </c:extLst>
          </c:dPt>
          <c:dPt>
            <c:idx val="3"/>
            <c:bubble3D val="0"/>
            <c:spPr>
              <a:solidFill>
                <a:srgbClr val="3E6FB0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B0DD-9D4B-A3E6-DC27EC5E09C8}"/>
              </c:ext>
            </c:extLst>
          </c:dPt>
          <c:dPt>
            <c:idx val="4"/>
            <c:bubble3D val="0"/>
            <c:spPr>
              <a:solidFill>
                <a:srgbClr val="8E5BA6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B0DD-9D4B-A3E6-DC27EC5E09C8}"/>
              </c:ext>
            </c:extLst>
          </c:dPt>
          <c:dPt>
            <c:idx val="5"/>
            <c:bubble3D val="0"/>
            <c:spPr>
              <a:solidFill>
                <a:srgbClr val="6B7280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B0DD-9D4B-A3E6-DC27EC5E09C8}"/>
              </c:ext>
            </c:extLst>
          </c:dPt>
          <c:dLbls>
            <c:dLbl>
              <c:idx val="4"/>
              <c:layout>
                <c:manualLayout>
                  <c:x val="-1.4245014245014245E-2"/>
                  <c:y val="-0.1056338028169014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1">
                      <a:solidFill>
                        <a:schemeClr val="tx1"/>
                      </a:solidFill>
                      <a:latin typeface="Calibri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DD-9D4B-A3E6-DC27EC5E09C8}"/>
                </c:ext>
              </c:extLst>
            </c:dLbl>
            <c:dLbl>
              <c:idx val="5"/>
              <c:layout>
                <c:manualLayout>
                  <c:x val="3.2051282051281986E-2"/>
                  <c:y val="-0.10172143974960879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900" b="1">
                      <a:solidFill>
                        <a:schemeClr val="tx1"/>
                      </a:solidFill>
                      <a:latin typeface="Calibri"/>
                    </a:defRPr>
                  </a:pPr>
                  <a:endParaRPr lang="es-C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DD-9D4B-A3E6-DC27EC5E09C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Chile</c:v>
                </c:pt>
                <c:pt idx="1">
                  <c:v>Perú</c:v>
                </c:pt>
                <c:pt idx="2">
                  <c:v>Brasil</c:v>
                </c:pt>
                <c:pt idx="3">
                  <c:v>USA</c:v>
                </c:pt>
                <c:pt idx="4">
                  <c:v>Rusia</c:v>
                </c:pt>
                <c:pt idx="5">
                  <c:v>Otros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3522359.47</c:v>
                </c:pt>
                <c:pt idx="1">
                  <c:v>2105737.0699999998</c:v>
                </c:pt>
                <c:pt idx="2">
                  <c:v>1007708</c:v>
                </c:pt>
                <c:pt idx="3">
                  <c:v>1563780</c:v>
                </c:pt>
                <c:pt idx="4">
                  <c:v>152100</c:v>
                </c:pt>
                <c:pt idx="5">
                  <c:v>67160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DD-9D4B-A3E6-DC27EC5E09C8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CL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/>
          <a:lstStyle/>
          <a:p>
            <a:pPr>
              <a:defRPr sz="1500" b="1">
                <a:solidFill>
                  <a:srgbClr val="1E2761"/>
                </a:solidFill>
                <a:latin typeface="Calibri"/>
              </a:defRPr>
            </a:pPr>
            <a:r>
              <a:rPr lang="es-CL"/>
              <a:t>2025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dPt>
            <c:idx val="0"/>
            <c:bubble3D val="0"/>
            <c:spPr>
              <a:solidFill>
                <a:srgbClr val="1E2761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3FE2-4646-9BD0-952A9CF89210}"/>
              </c:ext>
            </c:extLst>
          </c:dPt>
          <c:dPt>
            <c:idx val="1"/>
            <c:bubble3D val="0"/>
            <c:spPr>
              <a:solidFill>
                <a:srgbClr val="C8862D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3FE2-4646-9BD0-952A9CF89210}"/>
              </c:ext>
            </c:extLst>
          </c:dPt>
          <c:dPt>
            <c:idx val="2"/>
            <c:bubble3D val="0"/>
            <c:spPr>
              <a:solidFill>
                <a:srgbClr val="2E7D5B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3FE2-4646-9BD0-952A9CF89210}"/>
              </c:ext>
            </c:extLst>
          </c:dPt>
          <c:dPt>
            <c:idx val="3"/>
            <c:bubble3D val="0"/>
            <c:spPr>
              <a:solidFill>
                <a:srgbClr val="3E6FB0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3FE2-4646-9BD0-952A9CF89210}"/>
              </c:ext>
            </c:extLst>
          </c:dPt>
          <c:dPt>
            <c:idx val="4"/>
            <c:bubble3D val="0"/>
            <c:spPr>
              <a:solidFill>
                <a:srgbClr val="8E5BA6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3FE2-4646-9BD0-952A9CF89210}"/>
              </c:ext>
            </c:extLst>
          </c:dPt>
          <c:dPt>
            <c:idx val="5"/>
            <c:bubble3D val="0"/>
            <c:spPr>
              <a:solidFill>
                <a:srgbClr val="6B7280"/>
              </a:solidFill>
              <a:ln w="15875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3FE2-4646-9BD0-952A9CF89210}"/>
              </c:ext>
            </c:extLst>
          </c:dPt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FE2-4646-9BD0-952A9CF89210}"/>
                </c:ext>
              </c:extLst>
            </c:dLbl>
            <c:dLbl>
              <c:idx val="5"/>
              <c:layout>
                <c:manualLayout>
                  <c:x val="0"/>
                  <c:y val="-2.3474178403755906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FE2-4646-9BD0-952A9CF8921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Calibri"/>
                  </a:defRPr>
                </a:pPr>
                <a:endParaRPr lang="es-CL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Chile</c:v>
                </c:pt>
                <c:pt idx="1">
                  <c:v>Perú</c:v>
                </c:pt>
                <c:pt idx="2">
                  <c:v>Brasil</c:v>
                </c:pt>
                <c:pt idx="3">
                  <c:v>USA</c:v>
                </c:pt>
                <c:pt idx="4">
                  <c:v>Rusia</c:v>
                </c:pt>
                <c:pt idx="5">
                  <c:v>Otros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3253433.1919999998</c:v>
                </c:pt>
                <c:pt idx="1">
                  <c:v>2465053.59</c:v>
                </c:pt>
                <c:pt idx="2">
                  <c:v>1833813.2189622642</c:v>
                </c:pt>
                <c:pt idx="3">
                  <c:v>1651706.1</c:v>
                </c:pt>
                <c:pt idx="4">
                  <c:v>0</c:v>
                </c:pt>
                <c:pt idx="5">
                  <c:v>272031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FE2-4646-9BD0-952A9CF8921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6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CL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Ingresos</c:v>
                </c:pt>
              </c:strCache>
            </c:strRef>
          </c:tx>
          <c:spPr>
            <a:solidFill>
              <a:srgbClr val="2C4A7C"/>
            </a:solidFill>
            <a:ln>
              <a:noFill/>
            </a:ln>
          </c:spPr>
          <c:invertIfNegative val="1"/>
          <c:dLbls>
            <c:dLbl>
              <c:idx val="4"/>
              <c:layout>
                <c:manualLayout>
                  <c:x val="-8.1699346405229353E-3"/>
                  <c:y val="-3.052503052503052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2CD-D047-B283-B1001D03D2A3}"/>
                </c:ext>
              </c:extLst>
            </c:dLbl>
            <c:numFmt formatCode="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>
                    <a:solidFill>
                      <a:srgbClr val="2C4A7C"/>
                    </a:solidFill>
                    <a:latin typeface="Calibri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996738</c:v>
                </c:pt>
                <c:pt idx="1">
                  <c:v>1180193</c:v>
                </c:pt>
                <c:pt idx="2">
                  <c:v>950682</c:v>
                </c:pt>
                <c:pt idx="3">
                  <c:v>906131</c:v>
                </c:pt>
                <c:pt idx="4">
                  <c:v>1255790</c:v>
                </c:pt>
                <c:pt idx="5">
                  <c:v>987111</c:v>
                </c:pt>
                <c:pt idx="6">
                  <c:v>1028192</c:v>
                </c:pt>
                <c:pt idx="7">
                  <c:v>1691438</c:v>
                </c:pt>
                <c:pt idx="8">
                  <c:v>725248</c:v>
                </c:pt>
                <c:pt idx="9">
                  <c:v>1239850</c:v>
                </c:pt>
                <c:pt idx="10">
                  <c:v>1154713</c:v>
                </c:pt>
                <c:pt idx="11">
                  <c:v>1699799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95B3D7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2CD-D047-B283-B1001D03D2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Egresos</c:v>
                </c:pt>
              </c:strCache>
            </c:strRef>
          </c:tx>
          <c:spPr>
            <a:solidFill>
              <a:srgbClr val="558ED5"/>
            </a:solidFill>
            <a:ln w="9525">
              <a:solidFill>
                <a:srgbClr val="2C4A7C"/>
              </a:solidFill>
            </a:ln>
          </c:spPr>
          <c:invertIfNegative val="1"/>
          <c:dLbls>
            <c:numFmt formatCode="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>
                    <a:solidFill>
                      <a:srgbClr val="2C4A7C"/>
                    </a:solidFill>
                    <a:latin typeface="Calibri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-686240</c:v>
                </c:pt>
                <c:pt idx="1">
                  <c:v>-769561</c:v>
                </c:pt>
                <c:pt idx="2">
                  <c:v>-765209</c:v>
                </c:pt>
                <c:pt idx="3">
                  <c:v>-856667</c:v>
                </c:pt>
                <c:pt idx="4">
                  <c:v>-1174270</c:v>
                </c:pt>
                <c:pt idx="5">
                  <c:v>-800686</c:v>
                </c:pt>
                <c:pt idx="6">
                  <c:v>-805080</c:v>
                </c:pt>
                <c:pt idx="7">
                  <c:v>-1406250</c:v>
                </c:pt>
                <c:pt idx="8">
                  <c:v>-822880</c:v>
                </c:pt>
                <c:pt idx="9">
                  <c:v>-1176427</c:v>
                </c:pt>
                <c:pt idx="10">
                  <c:v>-1192308</c:v>
                </c:pt>
                <c:pt idx="11">
                  <c:v>-1661668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95B3D7"/>
                  </a:solidFill>
                  <a:ln w="9525">
                    <a:solidFill>
                      <a:srgbClr val="2C4A7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2CD-D047-B283-B1001D03D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1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Caja final</c:v>
                </c:pt>
              </c:strCache>
            </c:strRef>
          </c:tx>
          <c:spPr>
            <a:ln w="25400">
              <a:solidFill>
                <a:srgbClr val="2E7D5B"/>
              </a:solidFill>
            </a:ln>
          </c:spPr>
          <c:marker>
            <c:symbol val="circle"/>
            <c:size val="6"/>
            <c:spPr>
              <a:solidFill>
                <a:srgbClr val="2E7D5B"/>
              </a:solidFill>
              <a:ln>
                <a:solidFill>
                  <a:srgbClr val="2E7D5B"/>
                </a:solidFill>
              </a:ln>
            </c:spPr>
          </c:marker>
          <c:dLbls>
            <c:dLbl>
              <c:idx val="0"/>
              <c:layout>
                <c:manualLayout>
                  <c:x val="-5.8537903350316658E-3"/>
                  <c:y val="1.71473758087930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2CD-D047-B283-B1001D03D2A3}"/>
                </c:ext>
              </c:extLst>
            </c:dLbl>
            <c:dLbl>
              <c:idx val="1"/>
              <c:layout>
                <c:manualLayout>
                  <c:x val="-9.1217641912408002E-3"/>
                  <c:y val="1.714737580879307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2CD-D047-B283-B1001D03D2A3}"/>
                </c:ext>
              </c:extLst>
            </c:dLbl>
            <c:dLbl>
              <c:idx val="4"/>
              <c:layout>
                <c:manualLayout>
                  <c:x val="-1.8925685759868253E-2"/>
                  <c:y val="-3.169267303125571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2CD-D047-B283-B1001D03D2A3}"/>
                </c:ext>
              </c:extLst>
            </c:dLbl>
            <c:numFmt formatCode="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2E7D5B"/>
                    </a:solidFill>
                    <a:latin typeface="Calibri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564490</c:v>
                </c:pt>
                <c:pt idx="1">
                  <c:v>975122</c:v>
                </c:pt>
                <c:pt idx="2">
                  <c:v>1160595</c:v>
                </c:pt>
                <c:pt idx="3">
                  <c:v>1210059</c:v>
                </c:pt>
                <c:pt idx="4">
                  <c:v>1291579</c:v>
                </c:pt>
                <c:pt idx="5">
                  <c:v>1478004</c:v>
                </c:pt>
                <c:pt idx="6">
                  <c:v>1701115</c:v>
                </c:pt>
                <c:pt idx="7">
                  <c:v>1986304</c:v>
                </c:pt>
                <c:pt idx="8">
                  <c:v>1888672</c:v>
                </c:pt>
                <c:pt idx="9">
                  <c:v>1952095</c:v>
                </c:pt>
                <c:pt idx="10">
                  <c:v>1914500</c:v>
                </c:pt>
                <c:pt idx="11">
                  <c:v>1952632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C2CD-D047-B283-B1001D03D2A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Prom. Ingresos · 1,2M</c:v>
                </c:pt>
              </c:strCache>
            </c:strRef>
          </c:tx>
          <c:spPr>
            <a:ln w="22225">
              <a:solidFill>
                <a:srgbClr val="2C4A7C">
                  <a:alpha val="45000"/>
                </a:srgbClr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1151324</c:v>
                </c:pt>
                <c:pt idx="1">
                  <c:v>1151324</c:v>
                </c:pt>
                <c:pt idx="2">
                  <c:v>1151324</c:v>
                </c:pt>
                <c:pt idx="3">
                  <c:v>1151324</c:v>
                </c:pt>
                <c:pt idx="4">
                  <c:v>1151324</c:v>
                </c:pt>
                <c:pt idx="5">
                  <c:v>1151324</c:v>
                </c:pt>
                <c:pt idx="6">
                  <c:v>1151324</c:v>
                </c:pt>
                <c:pt idx="7">
                  <c:v>1151324</c:v>
                </c:pt>
                <c:pt idx="8">
                  <c:v>1151324</c:v>
                </c:pt>
                <c:pt idx="9">
                  <c:v>1151324</c:v>
                </c:pt>
                <c:pt idx="10">
                  <c:v>1151324</c:v>
                </c:pt>
                <c:pt idx="11">
                  <c:v>1151324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2CD-D047-B283-B1001D03D2A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Prom. Egresos · 1,0M</c:v>
                </c:pt>
              </c:strCache>
            </c:strRef>
          </c:tx>
          <c:spPr>
            <a:ln w="22225">
              <a:solidFill>
                <a:srgbClr val="7C97C4">
                  <a:alpha val="45000"/>
                </a:srgbClr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-1009770</c:v>
                </c:pt>
                <c:pt idx="1">
                  <c:v>-1009770</c:v>
                </c:pt>
                <c:pt idx="2">
                  <c:v>-1009770</c:v>
                </c:pt>
                <c:pt idx="3">
                  <c:v>-1009770</c:v>
                </c:pt>
                <c:pt idx="4">
                  <c:v>-1009770</c:v>
                </c:pt>
                <c:pt idx="5">
                  <c:v>-1009770</c:v>
                </c:pt>
                <c:pt idx="6">
                  <c:v>-1009770</c:v>
                </c:pt>
                <c:pt idx="7">
                  <c:v>-1009770</c:v>
                </c:pt>
                <c:pt idx="8">
                  <c:v>-1009770</c:v>
                </c:pt>
                <c:pt idx="9">
                  <c:v>-1009770</c:v>
                </c:pt>
                <c:pt idx="10">
                  <c:v>-1009770</c:v>
                </c:pt>
                <c:pt idx="11">
                  <c:v>-1009770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2CD-D047-B283-B1001D03D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6B7280"/>
            </a:solidFill>
          </a:ln>
        </c:spPr>
        <c:txPr>
          <a:bodyPr/>
          <a:lstStyle/>
          <a:p>
            <a:pPr>
              <a:defRPr sz="950">
                <a:solidFill>
                  <a:srgbClr val="232733"/>
                </a:solidFill>
                <a:latin typeface="Calibri"/>
              </a:defRPr>
            </a:pPr>
            <a:endParaRPr lang="es-C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  <c:majorUnit val="1000000"/>
      </c:valAx>
    </c:plotArea>
    <c:legend>
      <c:legendPos val="b"/>
      <c:overlay val="0"/>
      <c:txPr>
        <a:bodyPr/>
        <a:lstStyle/>
        <a:p>
          <a:pPr>
            <a:defRPr sz="1050">
              <a:latin typeface="Calibri"/>
            </a:defRPr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5068-4D42-95C3-98E94BE99292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5068-4D42-95C3-98E94BE99292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5068-4D42-95C3-98E94BE99292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5068-4D42-95C3-98E94BE99292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5068-4D42-95C3-98E94BE99292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5068-4D42-95C3-98E94BE99292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5068-4D42-95C3-98E94BE99292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5068-4D42-95C3-98E94BE99292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5068-4D42-95C3-98E94BE9929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5068-4D42-95C3-98E94BE99292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5068-4D42-95C3-98E94BE99292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5068-4D42-95C3-98E94BE99292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118396</c:v>
                </c:pt>
                <c:pt idx="1">
                  <c:v>133162</c:v>
                </c:pt>
                <c:pt idx="2">
                  <c:v>-69890</c:v>
                </c:pt>
                <c:pt idx="3">
                  <c:v>-113201</c:v>
                </c:pt>
                <c:pt idx="4">
                  <c:v>-40766</c:v>
                </c:pt>
                <c:pt idx="5">
                  <c:v>-48062</c:v>
                </c:pt>
                <c:pt idx="6">
                  <c:v>191766</c:v>
                </c:pt>
                <c:pt idx="7">
                  <c:v>134255</c:v>
                </c:pt>
                <c:pt idx="8">
                  <c:v>-156526</c:v>
                </c:pt>
                <c:pt idx="9">
                  <c:v>-145691</c:v>
                </c:pt>
                <c:pt idx="10">
                  <c:v>-35646</c:v>
                </c:pt>
                <c:pt idx="11">
                  <c:v>3230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5068-4D42-95C3-98E94BE99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D568-C246-8430-3B7816EEA242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D568-C246-8430-3B7816EEA242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D568-C246-8430-3B7816EEA242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D568-C246-8430-3B7816EEA242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D568-C246-8430-3B7816EEA242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D568-C246-8430-3B7816EEA242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D568-C246-8430-3B7816EEA242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D568-C246-8430-3B7816EEA242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D568-C246-8430-3B7816EEA24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D568-C246-8430-3B7816EEA242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D568-C246-8430-3B7816EEA242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D568-C246-8430-3B7816EEA242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3798</c:v>
                </c:pt>
                <c:pt idx="1">
                  <c:v>-2643</c:v>
                </c:pt>
                <c:pt idx="2">
                  <c:v>65135</c:v>
                </c:pt>
                <c:pt idx="3">
                  <c:v>-1064</c:v>
                </c:pt>
                <c:pt idx="4">
                  <c:v>-4999</c:v>
                </c:pt>
                <c:pt idx="5">
                  <c:v>42095</c:v>
                </c:pt>
                <c:pt idx="6">
                  <c:v>48879</c:v>
                </c:pt>
                <c:pt idx="7">
                  <c:v>-32506</c:v>
                </c:pt>
                <c:pt idx="8">
                  <c:v>-38703</c:v>
                </c:pt>
                <c:pt idx="9">
                  <c:v>13353</c:v>
                </c:pt>
                <c:pt idx="10">
                  <c:v>-123998</c:v>
                </c:pt>
                <c:pt idx="11">
                  <c:v>-25297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D568-C246-8430-3B7816EEA2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AB3D-6049-BB60-111EAF4EDD68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AB3D-6049-BB60-111EAF4EDD68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AB3D-6049-BB60-111EAF4EDD68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AB3D-6049-BB60-111EAF4EDD68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AB3D-6049-BB60-111EAF4EDD68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AB3D-6049-BB60-111EAF4EDD68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AB3D-6049-BB60-111EAF4EDD68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AB3D-6049-BB60-111EAF4EDD68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AB3D-6049-BB60-111EAF4EDD68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AB3D-6049-BB60-111EAF4EDD68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AB3D-6049-BB60-111EAF4EDD68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AB3D-6049-BB60-111EAF4EDD68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51910</c:v>
                </c:pt>
                <c:pt idx="1">
                  <c:v>16991</c:v>
                </c:pt>
                <c:pt idx="2">
                  <c:v>61952</c:v>
                </c:pt>
                <c:pt idx="3">
                  <c:v>18807</c:v>
                </c:pt>
                <c:pt idx="4">
                  <c:v>-137850</c:v>
                </c:pt>
                <c:pt idx="5">
                  <c:v>-22177</c:v>
                </c:pt>
                <c:pt idx="6">
                  <c:v>-1832</c:v>
                </c:pt>
                <c:pt idx="7">
                  <c:v>70616</c:v>
                </c:pt>
                <c:pt idx="8">
                  <c:v>104282</c:v>
                </c:pt>
                <c:pt idx="9">
                  <c:v>244856</c:v>
                </c:pt>
                <c:pt idx="10">
                  <c:v>-143071</c:v>
                </c:pt>
                <c:pt idx="11">
                  <c:v>105509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AB3D-6049-BB60-111EAF4EDD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9F3A-1A46-A9AD-6EE67DFC5DB7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9F3A-1A46-A9AD-6EE67DFC5DB7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9F3A-1A46-A9AD-6EE67DFC5DB7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9F3A-1A46-A9AD-6EE67DFC5DB7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9F3A-1A46-A9AD-6EE67DFC5DB7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9F3A-1A46-A9AD-6EE67DFC5DB7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9F3A-1A46-A9AD-6EE67DFC5DB7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9F3A-1A46-A9AD-6EE67DFC5DB7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9F3A-1A46-A9AD-6EE67DFC5DB7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9F3A-1A46-A9AD-6EE67DFC5DB7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9F3A-1A46-A9AD-6EE67DFC5DB7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9F3A-1A46-A9AD-6EE67DFC5DB7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150438</c:v>
                </c:pt>
                <c:pt idx="1">
                  <c:v>241440</c:v>
                </c:pt>
                <c:pt idx="2">
                  <c:v>82798</c:v>
                </c:pt>
                <c:pt idx="3">
                  <c:v>159302</c:v>
                </c:pt>
                <c:pt idx="4">
                  <c:v>-134434</c:v>
                </c:pt>
                <c:pt idx="5">
                  <c:v>57618</c:v>
                </c:pt>
                <c:pt idx="6">
                  <c:v>-10017</c:v>
                </c:pt>
                <c:pt idx="7">
                  <c:v>18985</c:v>
                </c:pt>
                <c:pt idx="8">
                  <c:v>-1000</c:v>
                </c:pt>
                <c:pt idx="9">
                  <c:v>-154165</c:v>
                </c:pt>
                <c:pt idx="10">
                  <c:v>-7408</c:v>
                </c:pt>
                <c:pt idx="11">
                  <c:v>-389139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9F3A-1A46-A9AD-6EE67DFC5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2F7D5A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1DC0-EA49-BEBE-FDF72E7DF926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1DC0-EA49-BEBE-FDF72E7DF926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1DC0-EA49-BEBE-FDF72E7DF926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1DC0-EA49-BEBE-FDF72E7DF926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1DC0-EA49-BEBE-FDF72E7DF926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1DC0-EA49-BEBE-FDF72E7DF926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1DC0-EA49-BEBE-FDF72E7DF926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1DC0-EA49-BEBE-FDF72E7DF926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1DC0-EA49-BEBE-FDF72E7DF926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1DC0-EA49-BEBE-FDF72E7DF926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1DC0-EA49-BEBE-FDF72E7DF926}"/>
              </c:ext>
            </c:extLst>
          </c:dPt>
          <c:dPt>
            <c:idx val="1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7-1DC0-EA49-BEBE-FDF72E7DF926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-14044</c:v>
                </c:pt>
                <c:pt idx="1">
                  <c:v>21682</c:v>
                </c:pt>
                <c:pt idx="2">
                  <c:v>45478</c:v>
                </c:pt>
                <c:pt idx="3">
                  <c:v>-14380</c:v>
                </c:pt>
                <c:pt idx="4">
                  <c:v>399568</c:v>
                </c:pt>
                <c:pt idx="5">
                  <c:v>156951</c:v>
                </c:pt>
                <c:pt idx="6">
                  <c:v>-5685</c:v>
                </c:pt>
                <c:pt idx="7">
                  <c:v>93839</c:v>
                </c:pt>
                <c:pt idx="8">
                  <c:v>-5685</c:v>
                </c:pt>
                <c:pt idx="9">
                  <c:v>105069</c:v>
                </c:pt>
                <c:pt idx="10">
                  <c:v>272528</c:v>
                </c:pt>
                <c:pt idx="11">
                  <c:v>343829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C00000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1DC0-EA49-BEBE-FDF72E7DF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one"/>
        <c:spPr>
          <a:ln>
            <a:solidFill>
              <a:srgbClr val="6B728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numFmt formatCode="0.0,,&quot;M&quot;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6B7280"/>
                </a:solidFill>
                <a:latin typeface="Calibri"/>
              </a:defRPr>
            </a:pPr>
            <a:endParaRPr lang="es-CL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DF6D1-0D64-3C45-9181-29A5296F396D}" type="datetimeFigureOut">
              <a:rPr lang="es-CL" smtClean="0"/>
              <a:t>27-07-26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A45A5-13E7-E04D-988B-59E328CE5A3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5193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A45A5-13E7-E04D-988B-59E328CE5A3C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9345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A45A5-13E7-E04D-988B-59E328CE5A3C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072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6.xml"/><Relationship Id="rId5" Type="http://schemas.openxmlformats.org/officeDocument/2006/relationships/chart" Target="../charts/chart25.xml"/><Relationship Id="rId4" Type="http://schemas.openxmlformats.org/officeDocument/2006/relationships/chart" Target="../charts/char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ADCFC"/>
                </a:solidFill>
                <a:latin typeface="Calibri"/>
              </a:rPr>
              <a:t>REDCO · MINING CONSULTANTS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Análisis Histórico de Gestión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CADCFC"/>
                </a:solidFill>
                <a:latin typeface="Calibri"/>
              </a:rPr>
              <a:t>Rentabilidad · Ventas · Flujo de Caja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3108960" cy="3200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1" dirty="0" err="1">
                <a:solidFill>
                  <a:srgbClr val="CADCFC"/>
                </a:solidFill>
                <a:latin typeface="Calibri"/>
              </a:rPr>
              <a:t>Ejercicios</a:t>
            </a:r>
            <a:r>
              <a:rPr sz="1400" b="0" i="1" dirty="0">
                <a:solidFill>
                  <a:srgbClr val="CADCFC"/>
                </a:solidFill>
                <a:latin typeface="Calibri"/>
              </a:rPr>
              <a:t> 2023 – 2025 (2026 </a:t>
            </a:r>
            <a:r>
              <a:rPr sz="1400" b="0" i="1" dirty="0" err="1">
                <a:solidFill>
                  <a:srgbClr val="CADCFC"/>
                </a:solidFill>
                <a:latin typeface="Calibri"/>
              </a:rPr>
              <a:t>parcial</a:t>
            </a:r>
            <a:r>
              <a:rPr sz="1400" b="0" i="1" dirty="0">
                <a:solidFill>
                  <a:srgbClr val="CADCFC"/>
                </a:solidFill>
                <a:latin typeface="Calibri"/>
              </a:rPr>
              <a:t>)  ·  — </a:t>
            </a:r>
            <a:r>
              <a:rPr sz="1400" b="0" i="1" dirty="0" err="1">
                <a:solidFill>
                  <a:srgbClr val="CADCFC"/>
                </a:solidFill>
                <a:latin typeface="Calibri"/>
              </a:rPr>
              <a:t>Dimensión</a:t>
            </a:r>
            <a:r>
              <a:rPr sz="14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1400" b="0" i="1" dirty="0" err="1">
                <a:solidFill>
                  <a:srgbClr val="CADCFC"/>
                </a:solidFill>
                <a:latin typeface="Calibri"/>
              </a:rPr>
              <a:t>Estratégica</a:t>
            </a:r>
            <a:endParaRPr sz="1400" b="0" i="1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CADCFC"/>
                </a:solidFill>
                <a:latin typeface="Calibri"/>
              </a:rPr>
              <a:t>Documento interno · Datos: ciclo EdP, modelo de gestión y KPIs REDCO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Contenido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Tres bloques de análisis, cada uno sobre una dimensión distinta de la gestión histórica.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7061" y="2176272"/>
            <a:ext cx="3611880" cy="33832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931381" y="2468880"/>
            <a:ext cx="566928" cy="56692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31381" y="2542032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1381" y="3273552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Análisis de Rentabilidad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1381" y="4005071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Evolución por país, comparación mes a mes, composición de cartera y rentabilidad por nivel de ingeniería.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8397" y="2176272"/>
            <a:ext cx="3611880" cy="33832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762717" y="2468880"/>
            <a:ext cx="566928" cy="566928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2717" y="2542032"/>
            <a:ext cx="5669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17" y="3273552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Análisis de Ventas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17" y="4005071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Evolución por país, ticket promedio y nivel de conversión de propuestas.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Análisis de Rentabilidad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434840"/>
            <a:ext cx="2926080" cy="2743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CADCFC"/>
                </a:solidFill>
                <a:latin typeface="Calibri"/>
              </a:rPr>
              <a:t>Dónde REDCO genera y dónde erosiona margen — por país, en el tiempo y por tipo de estudio.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REDCO</a:t>
            </a:r>
            <a:r>
              <a:rPr sz="900" b="0" i="1">
                <a:solidFill>
                  <a:srgbClr val="CADCFC"/>
                </a:solidFill>
                <a:latin typeface="Calibri"/>
              </a:rPr>
              <a:t>  · Mining Consultants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>
            <a:extLst>
              <a:ext uri="{FF2B5EF4-FFF2-40B4-BE49-F238E27FC236}">
                <a16:creationId xmlns:a16="http://schemas.microsoft.com/office/drawing/2014/main" id="{53A35164-8909-0F56-9BC9-2D76090E21D6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44" name="Oval 2">
            <a:extLst>
              <a:ext uri="{FF2B5EF4-FFF2-40B4-BE49-F238E27FC236}">
                <a16:creationId xmlns:a16="http://schemas.microsoft.com/office/drawing/2014/main" id="{45A34A60-52F2-BB44-C0F9-BDA98C433D70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3">
            <a:extLst>
              <a:ext uri="{FF2B5EF4-FFF2-40B4-BE49-F238E27FC236}">
                <a16:creationId xmlns:a16="http://schemas.microsoft.com/office/drawing/2014/main" id="{746B3827-B857-9A07-9382-C6ED82DE2AF8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">
            <a:extLst>
              <a:ext uri="{FF2B5EF4-FFF2-40B4-BE49-F238E27FC236}">
                <a16:creationId xmlns:a16="http://schemas.microsoft.com/office/drawing/2014/main" id="{31BE224A-0E36-F4DB-F052-46EAA7F59129}"/>
              </a:ext>
            </a:extLst>
          </p:cNvPr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Rentabilidad global del grupo (Ingreso, Margen y Utilidad %)</a:t>
            </a:r>
          </a:p>
        </p:txBody>
      </p:sp>
      <p:sp>
        <p:nvSpPr>
          <p:cNvPr id="47" name="TextBox 5">
            <a:extLst>
              <a:ext uri="{FF2B5EF4-FFF2-40B4-BE49-F238E27FC236}">
                <a16:creationId xmlns:a16="http://schemas.microsoft.com/office/drawing/2014/main" id="{1AEFEF20-819C-897D-DFFB-34F89CF3F21C}"/>
              </a:ext>
            </a:extLst>
          </p:cNvPr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 dirty="0" err="1">
                <a:solidFill>
                  <a:srgbClr val="6B7280"/>
                </a:solidFill>
                <a:latin typeface="Calibri"/>
              </a:rPr>
              <a:t>Consolidado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los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4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países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:</a:t>
            </a:r>
            <a:r>
              <a:rPr lang="es-419" sz="1350" b="0" i="1" dirty="0">
                <a:solidFill>
                  <a:srgbClr val="6B7280"/>
                </a:solidFill>
                <a:latin typeface="Calibri"/>
              </a:rPr>
              <a:t> Chile, Perú, Brasil y USA</a:t>
            </a:r>
            <a:endParaRPr sz="1350" b="0" i="1" dirty="0">
              <a:solidFill>
                <a:srgbClr val="6B7280"/>
              </a:solidFill>
              <a:latin typeface="Calibri"/>
            </a:endParaRPr>
          </a:p>
        </p:txBody>
      </p:sp>
      <p:graphicFrame>
        <p:nvGraphicFramePr>
          <p:cNvPr id="49" name="Chart 7">
            <a:extLst>
              <a:ext uri="{FF2B5EF4-FFF2-40B4-BE49-F238E27FC236}">
                <a16:creationId xmlns:a16="http://schemas.microsoft.com/office/drawing/2014/main" id="{1C92D2C4-BA20-7EAB-0E57-8A2BFF9B1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65361"/>
              </p:ext>
            </p:extLst>
          </p:nvPr>
        </p:nvGraphicFramePr>
        <p:xfrm>
          <a:off x="566928" y="2286000"/>
          <a:ext cx="7461504" cy="3547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" name="Rectangle 8">
            <a:extLst>
              <a:ext uri="{FF2B5EF4-FFF2-40B4-BE49-F238E27FC236}">
                <a16:creationId xmlns:a16="http://schemas.microsoft.com/office/drawing/2014/main" id="{E89B06E5-6151-0F3D-FED2-8E38605661FB}"/>
              </a:ext>
            </a:extLst>
          </p:cNvPr>
          <p:cNvSpPr/>
          <p:nvPr/>
        </p:nvSpPr>
        <p:spPr>
          <a:xfrm>
            <a:off x="822960" y="6035040"/>
            <a:ext cx="274320" cy="14630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9">
            <a:extLst>
              <a:ext uri="{FF2B5EF4-FFF2-40B4-BE49-F238E27FC236}">
                <a16:creationId xmlns:a16="http://schemas.microsoft.com/office/drawing/2014/main" id="{037F05D1-6E7A-894B-C9C8-FA9FBAFF83E6}"/>
              </a:ext>
            </a:extLst>
          </p:cNvPr>
          <p:cNvSpPr txBox="1"/>
          <p:nvPr/>
        </p:nvSpPr>
        <p:spPr>
          <a:xfrm>
            <a:off x="1152144" y="6007607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Ingreso Op.</a:t>
            </a:r>
          </a:p>
        </p:txBody>
      </p:sp>
      <p:sp>
        <p:nvSpPr>
          <p:cNvPr id="52" name="Rectangle 10">
            <a:extLst>
              <a:ext uri="{FF2B5EF4-FFF2-40B4-BE49-F238E27FC236}">
                <a16:creationId xmlns:a16="http://schemas.microsoft.com/office/drawing/2014/main" id="{C0C44D2B-F4EF-8057-8A57-DD2E351FA6B1}"/>
              </a:ext>
            </a:extLst>
          </p:cNvPr>
          <p:cNvSpPr/>
          <p:nvPr/>
        </p:nvSpPr>
        <p:spPr>
          <a:xfrm>
            <a:off x="2606040" y="6035040"/>
            <a:ext cx="274320" cy="146304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11">
            <a:extLst>
              <a:ext uri="{FF2B5EF4-FFF2-40B4-BE49-F238E27FC236}">
                <a16:creationId xmlns:a16="http://schemas.microsoft.com/office/drawing/2014/main" id="{CE21EA75-17F8-2D96-CED2-E8F79691F7AA}"/>
              </a:ext>
            </a:extLst>
          </p:cNvPr>
          <p:cNvSpPr txBox="1"/>
          <p:nvPr/>
        </p:nvSpPr>
        <p:spPr>
          <a:xfrm>
            <a:off x="2935224" y="6007607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Margen Bruto</a:t>
            </a:r>
          </a:p>
        </p:txBody>
      </p:sp>
      <p:sp>
        <p:nvSpPr>
          <p:cNvPr id="54" name="Rectangle 12">
            <a:extLst>
              <a:ext uri="{FF2B5EF4-FFF2-40B4-BE49-F238E27FC236}">
                <a16:creationId xmlns:a16="http://schemas.microsoft.com/office/drawing/2014/main" id="{63372739-042E-7D01-5C1A-623CE188AA68}"/>
              </a:ext>
            </a:extLst>
          </p:cNvPr>
          <p:cNvSpPr/>
          <p:nvPr/>
        </p:nvSpPr>
        <p:spPr>
          <a:xfrm>
            <a:off x="4480560" y="6080759"/>
            <a:ext cx="310896" cy="457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13">
            <a:extLst>
              <a:ext uri="{FF2B5EF4-FFF2-40B4-BE49-F238E27FC236}">
                <a16:creationId xmlns:a16="http://schemas.microsoft.com/office/drawing/2014/main" id="{510BA745-5BB9-C00C-833B-FF94F5DC3054}"/>
              </a:ext>
            </a:extLst>
          </p:cNvPr>
          <p:cNvSpPr/>
          <p:nvPr/>
        </p:nvSpPr>
        <p:spPr>
          <a:xfrm>
            <a:off x="4617720" y="6035040"/>
            <a:ext cx="64008" cy="1371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14">
            <a:extLst>
              <a:ext uri="{FF2B5EF4-FFF2-40B4-BE49-F238E27FC236}">
                <a16:creationId xmlns:a16="http://schemas.microsoft.com/office/drawing/2014/main" id="{BF9F1355-1369-23B4-BDA4-C475C4F5C4FC}"/>
              </a:ext>
            </a:extLst>
          </p:cNvPr>
          <p:cNvSpPr txBox="1"/>
          <p:nvPr/>
        </p:nvSpPr>
        <p:spPr>
          <a:xfrm>
            <a:off x="4864608" y="6007607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Utilidad bruta %</a:t>
            </a:r>
          </a:p>
        </p:txBody>
      </p:sp>
      <p:sp>
        <p:nvSpPr>
          <p:cNvPr id="57" name="Rectangle 15">
            <a:extLst>
              <a:ext uri="{FF2B5EF4-FFF2-40B4-BE49-F238E27FC236}">
                <a16:creationId xmlns:a16="http://schemas.microsoft.com/office/drawing/2014/main" id="{F90D92F1-3113-93B4-A3C0-A37406D2F398}"/>
              </a:ext>
            </a:extLst>
          </p:cNvPr>
          <p:cNvSpPr/>
          <p:nvPr/>
        </p:nvSpPr>
        <p:spPr>
          <a:xfrm>
            <a:off x="8412480" y="1828800"/>
            <a:ext cx="3291840" cy="41148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9AF813F1-0F0C-D4E6-A197-8C63FFA3C9B5}"/>
              </a:ext>
            </a:extLst>
          </p:cNvPr>
          <p:cNvSpPr txBox="1"/>
          <p:nvPr/>
        </p:nvSpPr>
        <p:spPr>
          <a:xfrm>
            <a:off x="8641080" y="20299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 CLAVE</a:t>
            </a:r>
          </a:p>
        </p:txBody>
      </p:sp>
      <p:sp>
        <p:nvSpPr>
          <p:cNvPr id="59" name="TextBox 17">
            <a:extLst>
              <a:ext uri="{FF2B5EF4-FFF2-40B4-BE49-F238E27FC236}">
                <a16:creationId xmlns:a16="http://schemas.microsoft.com/office/drawing/2014/main" id="{D9207F97-CA31-E928-A91F-8FA3E8E7BECB}"/>
              </a:ext>
            </a:extLst>
          </p:cNvPr>
          <p:cNvSpPr txBox="1"/>
          <p:nvPr/>
        </p:nvSpPr>
        <p:spPr>
          <a:xfrm>
            <a:off x="8641080" y="237744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C8102E"/>
                </a:solidFill>
                <a:latin typeface="Calibri"/>
              </a:rPr>
              <a:t>27% → 13%</a:t>
            </a:r>
          </a:p>
        </p:txBody>
      </p:sp>
      <p:sp>
        <p:nvSpPr>
          <p:cNvPr id="60" name="TextBox 18">
            <a:extLst>
              <a:ext uri="{FF2B5EF4-FFF2-40B4-BE49-F238E27FC236}">
                <a16:creationId xmlns:a16="http://schemas.microsoft.com/office/drawing/2014/main" id="{02363151-03AF-FD11-A71E-73F0080977FD}"/>
              </a:ext>
            </a:extLst>
          </p:cNvPr>
          <p:cNvSpPr txBox="1"/>
          <p:nvPr/>
        </p:nvSpPr>
        <p:spPr>
          <a:xfrm>
            <a:off x="8641080" y="3090672"/>
            <a:ext cx="2834640" cy="2670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El ingreso del grupo se mantiene (~8.8M) pero la utilidad operacional cae de 27% a 13% entre 2024 y 2025: la pérdida creciente de Chile comprime el margen consolidado.</a:t>
            </a:r>
          </a:p>
        </p:txBody>
      </p:sp>
      <p:sp>
        <p:nvSpPr>
          <p:cNvPr id="61" name="TextBox 19">
            <a:extLst>
              <a:ext uri="{FF2B5EF4-FFF2-40B4-BE49-F238E27FC236}">
                <a16:creationId xmlns:a16="http://schemas.microsoft.com/office/drawing/2014/main" id="{5393A636-0CD4-DA8A-627A-ED83874B3C78}"/>
              </a:ext>
            </a:extLst>
          </p:cNvPr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 2024: Gastos a Diciembre 2024_v0.xlsx.  ·  Fuente 2025: 202601_FLUJO REDCO 2025 - Cierre diciembre.xlsx.  Consolidado Chile+Perú+Brasil+USA. Utilidad = Margen ÷ Ingreso.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D53C7-D3C7-096B-B23D-FFE0475D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>
            <a:extLst>
              <a:ext uri="{FF2B5EF4-FFF2-40B4-BE49-F238E27FC236}">
                <a16:creationId xmlns:a16="http://schemas.microsoft.com/office/drawing/2014/main" id="{907E59DB-ADF4-B453-B8CF-AB8B52F7C051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44" name="Oval 2">
            <a:extLst>
              <a:ext uri="{FF2B5EF4-FFF2-40B4-BE49-F238E27FC236}">
                <a16:creationId xmlns:a16="http://schemas.microsoft.com/office/drawing/2014/main" id="{A72E35E7-67C1-61B6-D48B-130D50ABC3DA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3">
            <a:extLst>
              <a:ext uri="{FF2B5EF4-FFF2-40B4-BE49-F238E27FC236}">
                <a16:creationId xmlns:a16="http://schemas.microsoft.com/office/drawing/2014/main" id="{F06FE639-6247-4437-3FF4-FF27CD808F74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">
            <a:extLst>
              <a:ext uri="{FF2B5EF4-FFF2-40B4-BE49-F238E27FC236}">
                <a16:creationId xmlns:a16="http://schemas.microsoft.com/office/drawing/2014/main" id="{3ECC70CD-4D80-27B5-22B2-7EDCD9783135}"/>
              </a:ext>
            </a:extLst>
          </p:cNvPr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Rentabilidad: evolución por país (Ingreso, Margen y Utilidad %)</a:t>
            </a:r>
          </a:p>
        </p:txBody>
      </p:sp>
      <p:sp>
        <p:nvSpPr>
          <p:cNvPr id="47" name="TextBox 5">
            <a:extLst>
              <a:ext uri="{FF2B5EF4-FFF2-40B4-BE49-F238E27FC236}">
                <a16:creationId xmlns:a16="http://schemas.microsoft.com/office/drawing/2014/main" id="{95BC9C8B-C7B0-79B2-73A6-C579093F8A50}"/>
              </a:ext>
            </a:extLst>
          </p:cNvPr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Un panel por país: Ingreso Op. y Margen Bruto (barras) y Utilidad bruta % = Margen ÷ Ingreso (línea, eje der).</a:t>
            </a:r>
          </a:p>
        </p:txBody>
      </p:sp>
      <p:sp>
        <p:nvSpPr>
          <p:cNvPr id="48" name="Rectangle 6">
            <a:extLst>
              <a:ext uri="{FF2B5EF4-FFF2-40B4-BE49-F238E27FC236}">
                <a16:creationId xmlns:a16="http://schemas.microsoft.com/office/drawing/2014/main" id="{B177E214-57AA-9944-6EFE-CB64FAFDADB1}"/>
              </a:ext>
            </a:extLst>
          </p:cNvPr>
          <p:cNvSpPr/>
          <p:nvPr/>
        </p:nvSpPr>
        <p:spPr>
          <a:xfrm>
            <a:off x="365760" y="1737360"/>
            <a:ext cx="3703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7">
            <a:extLst>
              <a:ext uri="{FF2B5EF4-FFF2-40B4-BE49-F238E27FC236}">
                <a16:creationId xmlns:a16="http://schemas.microsoft.com/office/drawing/2014/main" id="{51588F2F-B217-C851-9CCF-C4A7663DB7B4}"/>
              </a:ext>
            </a:extLst>
          </p:cNvPr>
          <p:cNvSpPr txBox="1"/>
          <p:nvPr/>
        </p:nvSpPr>
        <p:spPr>
          <a:xfrm>
            <a:off x="530352" y="1847088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graphicFrame>
        <p:nvGraphicFramePr>
          <p:cNvPr id="50" name="Chart 8">
            <a:extLst>
              <a:ext uri="{FF2B5EF4-FFF2-40B4-BE49-F238E27FC236}">
                <a16:creationId xmlns:a16="http://schemas.microsoft.com/office/drawing/2014/main" id="{EF2F1914-8909-C201-B12D-3F6AE3AC9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830538"/>
              </p:ext>
            </p:extLst>
          </p:nvPr>
        </p:nvGraphicFramePr>
        <p:xfrm>
          <a:off x="475488" y="2194560"/>
          <a:ext cx="3483863" cy="1517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Rectangle 9">
            <a:extLst>
              <a:ext uri="{FF2B5EF4-FFF2-40B4-BE49-F238E27FC236}">
                <a16:creationId xmlns:a16="http://schemas.microsoft.com/office/drawing/2014/main" id="{508481B5-F458-8556-5D63-29DD31BCB9D6}"/>
              </a:ext>
            </a:extLst>
          </p:cNvPr>
          <p:cNvSpPr/>
          <p:nvPr/>
        </p:nvSpPr>
        <p:spPr>
          <a:xfrm>
            <a:off x="4224528" y="1737360"/>
            <a:ext cx="3703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10">
            <a:extLst>
              <a:ext uri="{FF2B5EF4-FFF2-40B4-BE49-F238E27FC236}">
                <a16:creationId xmlns:a16="http://schemas.microsoft.com/office/drawing/2014/main" id="{1DBB223A-5A75-A82F-92CD-61F2AC76F0B6}"/>
              </a:ext>
            </a:extLst>
          </p:cNvPr>
          <p:cNvSpPr txBox="1"/>
          <p:nvPr/>
        </p:nvSpPr>
        <p:spPr>
          <a:xfrm>
            <a:off x="4389120" y="1847088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graphicFrame>
        <p:nvGraphicFramePr>
          <p:cNvPr id="53" name="Chart 11">
            <a:extLst>
              <a:ext uri="{FF2B5EF4-FFF2-40B4-BE49-F238E27FC236}">
                <a16:creationId xmlns:a16="http://schemas.microsoft.com/office/drawing/2014/main" id="{BEA3EE9E-D98F-9A96-AA03-578A2657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768785"/>
              </p:ext>
            </p:extLst>
          </p:nvPr>
        </p:nvGraphicFramePr>
        <p:xfrm>
          <a:off x="4334256" y="2194560"/>
          <a:ext cx="3483863" cy="1517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4" name="Rectangle 12">
            <a:extLst>
              <a:ext uri="{FF2B5EF4-FFF2-40B4-BE49-F238E27FC236}">
                <a16:creationId xmlns:a16="http://schemas.microsoft.com/office/drawing/2014/main" id="{4A6212D3-FB4A-9D3D-B983-1CE61BC05C65}"/>
              </a:ext>
            </a:extLst>
          </p:cNvPr>
          <p:cNvSpPr/>
          <p:nvPr/>
        </p:nvSpPr>
        <p:spPr>
          <a:xfrm>
            <a:off x="365760" y="3950208"/>
            <a:ext cx="3703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13">
            <a:extLst>
              <a:ext uri="{FF2B5EF4-FFF2-40B4-BE49-F238E27FC236}">
                <a16:creationId xmlns:a16="http://schemas.microsoft.com/office/drawing/2014/main" id="{08E0F457-C181-CFB5-D229-0EE83E1B8431}"/>
              </a:ext>
            </a:extLst>
          </p:cNvPr>
          <p:cNvSpPr txBox="1"/>
          <p:nvPr/>
        </p:nvSpPr>
        <p:spPr>
          <a:xfrm>
            <a:off x="530352" y="4059936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graphicFrame>
        <p:nvGraphicFramePr>
          <p:cNvPr id="56" name="Chart 14">
            <a:extLst>
              <a:ext uri="{FF2B5EF4-FFF2-40B4-BE49-F238E27FC236}">
                <a16:creationId xmlns:a16="http://schemas.microsoft.com/office/drawing/2014/main" id="{7C566BA2-5719-96A8-0AED-97CEFCE63485}"/>
              </a:ext>
            </a:extLst>
          </p:cNvPr>
          <p:cNvGraphicFramePr>
            <a:graphicFrameLocks noGrp="1"/>
          </p:cNvGraphicFramePr>
          <p:nvPr/>
        </p:nvGraphicFramePr>
        <p:xfrm>
          <a:off x="475488" y="4407408"/>
          <a:ext cx="3483863" cy="1517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7" name="Rectangle 15">
            <a:extLst>
              <a:ext uri="{FF2B5EF4-FFF2-40B4-BE49-F238E27FC236}">
                <a16:creationId xmlns:a16="http://schemas.microsoft.com/office/drawing/2014/main" id="{D15D58A5-C06B-292E-95F4-90E8F726D196}"/>
              </a:ext>
            </a:extLst>
          </p:cNvPr>
          <p:cNvSpPr/>
          <p:nvPr/>
        </p:nvSpPr>
        <p:spPr>
          <a:xfrm>
            <a:off x="4224528" y="3950208"/>
            <a:ext cx="370332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71DF153B-0E70-D0F5-4695-219E734A899F}"/>
              </a:ext>
            </a:extLst>
          </p:cNvPr>
          <p:cNvSpPr txBox="1"/>
          <p:nvPr/>
        </p:nvSpPr>
        <p:spPr>
          <a:xfrm>
            <a:off x="4389120" y="4059936"/>
            <a:ext cx="33741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graphicFrame>
        <p:nvGraphicFramePr>
          <p:cNvPr id="59" name="Chart 17">
            <a:extLst>
              <a:ext uri="{FF2B5EF4-FFF2-40B4-BE49-F238E27FC236}">
                <a16:creationId xmlns:a16="http://schemas.microsoft.com/office/drawing/2014/main" id="{304998AE-F1C8-314B-E00D-7170A8CB16E8}"/>
              </a:ext>
            </a:extLst>
          </p:cNvPr>
          <p:cNvGraphicFramePr>
            <a:graphicFrameLocks noGrp="1"/>
          </p:cNvGraphicFramePr>
          <p:nvPr/>
        </p:nvGraphicFramePr>
        <p:xfrm>
          <a:off x="4334256" y="4407408"/>
          <a:ext cx="3483863" cy="1517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0" name="Rectangle 18">
            <a:extLst>
              <a:ext uri="{FF2B5EF4-FFF2-40B4-BE49-F238E27FC236}">
                <a16:creationId xmlns:a16="http://schemas.microsoft.com/office/drawing/2014/main" id="{B6A31360-27A0-8BE2-B0BE-4EA5EAFF1957}"/>
              </a:ext>
            </a:extLst>
          </p:cNvPr>
          <p:cNvSpPr/>
          <p:nvPr/>
        </p:nvSpPr>
        <p:spPr>
          <a:xfrm>
            <a:off x="8183879" y="1737360"/>
            <a:ext cx="3520440" cy="42976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19">
            <a:extLst>
              <a:ext uri="{FF2B5EF4-FFF2-40B4-BE49-F238E27FC236}">
                <a16:creationId xmlns:a16="http://schemas.microsoft.com/office/drawing/2014/main" id="{B3167B12-3BB3-97AE-BA1D-7D689D4B7E5E}"/>
              </a:ext>
            </a:extLst>
          </p:cNvPr>
          <p:cNvSpPr txBox="1"/>
          <p:nvPr/>
        </p:nvSpPr>
        <p:spPr>
          <a:xfrm>
            <a:off x="8412480" y="193852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 CLAVE</a:t>
            </a:r>
          </a:p>
        </p:txBody>
      </p:sp>
      <p:sp>
        <p:nvSpPr>
          <p:cNvPr id="62" name="TextBox 20">
            <a:extLst>
              <a:ext uri="{FF2B5EF4-FFF2-40B4-BE49-F238E27FC236}">
                <a16:creationId xmlns:a16="http://schemas.microsoft.com/office/drawing/2014/main" id="{142D039C-1DB1-DFD3-869D-94BFA907F96F}"/>
              </a:ext>
            </a:extLst>
          </p:cNvPr>
          <p:cNvSpPr txBox="1"/>
          <p:nvPr/>
        </p:nvSpPr>
        <p:spPr>
          <a:xfrm>
            <a:off x="8412480" y="2286000"/>
            <a:ext cx="3063240" cy="35661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Chile concentra el ingreso pero opera en pérdida (−12% → −39%): absorbe la nómina de la operación regional. Perú, Brasil y USA sostienen utilidades positivas (28–72%). La rentabilidad del grupo vive fuera del país-sede.</a:t>
            </a:r>
          </a:p>
        </p:txBody>
      </p:sp>
      <p:sp>
        <p:nvSpPr>
          <p:cNvPr id="63" name="Rectangle 21">
            <a:extLst>
              <a:ext uri="{FF2B5EF4-FFF2-40B4-BE49-F238E27FC236}">
                <a16:creationId xmlns:a16="http://schemas.microsoft.com/office/drawing/2014/main" id="{F8FE631D-0583-F1D2-B7B2-BE0538346D8F}"/>
              </a:ext>
            </a:extLst>
          </p:cNvPr>
          <p:cNvSpPr/>
          <p:nvPr/>
        </p:nvSpPr>
        <p:spPr>
          <a:xfrm>
            <a:off x="548640" y="6135624"/>
            <a:ext cx="274320" cy="14630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22">
            <a:extLst>
              <a:ext uri="{FF2B5EF4-FFF2-40B4-BE49-F238E27FC236}">
                <a16:creationId xmlns:a16="http://schemas.microsoft.com/office/drawing/2014/main" id="{B2444E84-D7B3-1BDD-ADAC-FC3D0B623B06}"/>
              </a:ext>
            </a:extLst>
          </p:cNvPr>
          <p:cNvSpPr txBox="1"/>
          <p:nvPr/>
        </p:nvSpPr>
        <p:spPr>
          <a:xfrm>
            <a:off x="877824" y="61081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Ingreso Op.</a:t>
            </a:r>
          </a:p>
        </p:txBody>
      </p:sp>
      <p:sp>
        <p:nvSpPr>
          <p:cNvPr id="65" name="Rectangle 23">
            <a:extLst>
              <a:ext uri="{FF2B5EF4-FFF2-40B4-BE49-F238E27FC236}">
                <a16:creationId xmlns:a16="http://schemas.microsoft.com/office/drawing/2014/main" id="{5942F291-BF11-D936-50A2-7B1CEDCC3F58}"/>
              </a:ext>
            </a:extLst>
          </p:cNvPr>
          <p:cNvSpPr/>
          <p:nvPr/>
        </p:nvSpPr>
        <p:spPr>
          <a:xfrm>
            <a:off x="2331720" y="6135624"/>
            <a:ext cx="274320" cy="146304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24">
            <a:extLst>
              <a:ext uri="{FF2B5EF4-FFF2-40B4-BE49-F238E27FC236}">
                <a16:creationId xmlns:a16="http://schemas.microsoft.com/office/drawing/2014/main" id="{266E9179-1C22-5008-0B97-721D74E15F03}"/>
              </a:ext>
            </a:extLst>
          </p:cNvPr>
          <p:cNvSpPr txBox="1"/>
          <p:nvPr/>
        </p:nvSpPr>
        <p:spPr>
          <a:xfrm>
            <a:off x="2660904" y="61081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Margen Bruto</a:t>
            </a:r>
          </a:p>
        </p:txBody>
      </p:sp>
      <p:sp>
        <p:nvSpPr>
          <p:cNvPr id="67" name="Rectangle 25">
            <a:extLst>
              <a:ext uri="{FF2B5EF4-FFF2-40B4-BE49-F238E27FC236}">
                <a16:creationId xmlns:a16="http://schemas.microsoft.com/office/drawing/2014/main" id="{9CD1E062-5D4E-F27F-644A-6F03386A20E7}"/>
              </a:ext>
            </a:extLst>
          </p:cNvPr>
          <p:cNvSpPr/>
          <p:nvPr/>
        </p:nvSpPr>
        <p:spPr>
          <a:xfrm>
            <a:off x="4206240" y="6181344"/>
            <a:ext cx="310896" cy="457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26">
            <a:extLst>
              <a:ext uri="{FF2B5EF4-FFF2-40B4-BE49-F238E27FC236}">
                <a16:creationId xmlns:a16="http://schemas.microsoft.com/office/drawing/2014/main" id="{1905B490-E9DA-75ED-8441-7BC7DF1C9894}"/>
              </a:ext>
            </a:extLst>
          </p:cNvPr>
          <p:cNvSpPr/>
          <p:nvPr/>
        </p:nvSpPr>
        <p:spPr>
          <a:xfrm>
            <a:off x="4343400" y="6135624"/>
            <a:ext cx="64008" cy="137160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27">
            <a:extLst>
              <a:ext uri="{FF2B5EF4-FFF2-40B4-BE49-F238E27FC236}">
                <a16:creationId xmlns:a16="http://schemas.microsoft.com/office/drawing/2014/main" id="{BA56319C-8E93-0B3C-9E47-083A23C6D64F}"/>
              </a:ext>
            </a:extLst>
          </p:cNvPr>
          <p:cNvSpPr txBox="1"/>
          <p:nvPr/>
        </p:nvSpPr>
        <p:spPr>
          <a:xfrm>
            <a:off x="4590288" y="6108192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Utilidad bruta %</a:t>
            </a:r>
          </a:p>
        </p:txBody>
      </p:sp>
      <p:sp>
        <p:nvSpPr>
          <p:cNvPr id="70" name="TextBox 28">
            <a:extLst>
              <a:ext uri="{FF2B5EF4-FFF2-40B4-BE49-F238E27FC236}">
                <a16:creationId xmlns:a16="http://schemas.microsoft.com/office/drawing/2014/main" id="{BF442F20-AD7C-5565-C1F9-CA729507C562}"/>
              </a:ext>
            </a:extLst>
          </p:cNvPr>
          <p:cNvSpPr txBox="1"/>
          <p:nvPr/>
        </p:nvSpPr>
        <p:spPr>
          <a:xfrm>
            <a:off x="457200" y="6473952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 2024: Gastos a Diciembre 2024_v0.xlsx.  ·  Fuente 2025: 202601_FLUJO REDCO 2025 - Cierre diciembre.xlsx. Margen = Ingreso − Costo Op.; Utilidad = Margen ÷ Ingreso.</a:t>
            </a:r>
          </a:p>
        </p:txBody>
      </p:sp>
    </p:spTree>
    <p:extLst>
      <p:ext uri="{BB962C8B-B14F-4D97-AF65-F5344CB8AC3E}">
        <p14:creationId xmlns:p14="http://schemas.microsoft.com/office/powerpoint/2010/main" val="2185784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Margen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: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comparación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mes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a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mes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por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país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(2024 vs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 dirty="0">
                <a:solidFill>
                  <a:srgbClr val="6B7280"/>
                </a:solidFill>
                <a:latin typeface="Calibri"/>
              </a:rPr>
              <a:t>Un panel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país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: </a:t>
            </a:r>
            <a:r>
              <a:rPr lang="es-419" sz="1350" b="0" i="1" dirty="0">
                <a:solidFill>
                  <a:srgbClr val="6B7280"/>
                </a:solidFill>
                <a:latin typeface="Calibri"/>
              </a:rPr>
              <a:t>margen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mensual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ingreso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−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gasto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)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comparada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entre ambos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años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399032"/>
            <a:ext cx="256032" cy="128016"/>
          </a:xfrm>
          <a:prstGeom prst="rect">
            <a:avLst/>
          </a:prstGeom>
          <a:solidFill>
            <a:srgbClr val="C00000">
              <a:alpha val="4915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49056" y="1344168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399032"/>
            <a:ext cx="256032" cy="12801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83496" y="13441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648038"/>
              </p:ext>
            </p:extLst>
          </p:nvPr>
        </p:nvGraphicFramePr>
        <p:xfrm>
          <a:off x="457200" y="1737360"/>
          <a:ext cx="5440680" cy="184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276959"/>
              </p:ext>
            </p:extLst>
          </p:nvPr>
        </p:nvGraphicFramePr>
        <p:xfrm>
          <a:off x="6309360" y="1737360"/>
          <a:ext cx="5440680" cy="184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391127"/>
              </p:ext>
            </p:extLst>
          </p:nvPr>
        </p:nvGraphicFramePr>
        <p:xfrm>
          <a:off x="457200" y="3657600"/>
          <a:ext cx="5440680" cy="184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403916"/>
              </p:ext>
            </p:extLst>
          </p:nvPr>
        </p:nvGraphicFramePr>
        <p:xfrm>
          <a:off x="6309360" y="3657600"/>
          <a:ext cx="5440680" cy="18470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596128"/>
            <a:ext cx="11277295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6875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INSIGHTS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925312"/>
            <a:ext cx="339638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Chile: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2025 profundiza la pérdida en el 2º semestre (varios meses bajo −250k).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3354" y="5925312"/>
            <a:ext cx="339638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Perú y Brasil: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2025 supera a 2024 con picos concentrados en ago–oct.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8340" y="5925312"/>
            <a:ext cx="339638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USA: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2024 tuvo un mes atípico (~600k); 2025 es más plano y bajo.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28816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 i="0" dirty="0">
                <a:solidFill>
                  <a:srgbClr val="6B7280"/>
                </a:solidFill>
                <a:latin typeface="Calibri"/>
              </a:rPr>
              <a:t>Fuente 2024: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Gastos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a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Diciembre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2024_v0.xlsx (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Ingresos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para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PPT_Dic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+ Gasto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total_Análisis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,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mensual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país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).  ·  Fuente 2025: 202601_FLUJO REDCO 2025 - Cierre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diciembre.xlsx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(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Tabla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datos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unidades_Dic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).  Valores </a:t>
            </a:r>
            <a:r>
              <a:rPr sz="800" b="0" i="0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800" b="0" i="0" dirty="0">
                <a:solidFill>
                  <a:srgbClr val="6B7280"/>
                </a:solidFill>
                <a:latin typeface="Calibri"/>
              </a:rPr>
              <a:t> miles de USD.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Composición de cartera por nivel de ingeniería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La cartera contratada se distribuye en ocho niveles de estudio; FS e Ing. Básica concentra ~44% del monto.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646991"/>
              </p:ext>
            </p:extLst>
          </p:nvPr>
        </p:nvGraphicFramePr>
        <p:xfrm>
          <a:off x="502920" y="1783080"/>
          <a:ext cx="61264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560320" y="354787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E2761"/>
                </a:solidFill>
                <a:latin typeface="Calibri"/>
              </a:rPr>
              <a:t>$20.9M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404164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Cartera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1828800"/>
            <a:ext cx="219456" cy="21945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70064" y="176479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 dirty="0">
                <a:solidFill>
                  <a:srgbClr val="232733"/>
                </a:solidFill>
                <a:latin typeface="Calibri"/>
              </a:rPr>
              <a:t>FS e Ing. </a:t>
            </a:r>
            <a:r>
              <a:rPr sz="1150" b="1" i="0" dirty="0" err="1">
                <a:solidFill>
                  <a:srgbClr val="232733"/>
                </a:solidFill>
                <a:latin typeface="Calibri"/>
              </a:rPr>
              <a:t>Basica</a:t>
            </a:r>
            <a:r>
              <a:rPr sz="1050" b="0" i="0" dirty="0">
                <a:solidFill>
                  <a:srgbClr val="6B7280"/>
                </a:solidFill>
                <a:latin typeface="Calibri"/>
              </a:rPr>
              <a:t>   $9.1M · 44%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2249424"/>
            <a:ext cx="219456" cy="219456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70064" y="2185416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PFS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$3.0M · 14%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2670048"/>
            <a:ext cx="219456" cy="2194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70064" y="260604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Consultoria y Due Dilligence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$2.9M · 14%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3090672"/>
            <a:ext cx="219456" cy="219456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70064" y="3026664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Scoping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$2.5M · 12%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3511296"/>
            <a:ext cx="219456" cy="219456"/>
          </a:xfrm>
          <a:prstGeom prst="rect">
            <a:avLst/>
          </a:prstGeom>
          <a:solidFill>
            <a:srgbClr val="8E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70064" y="3447288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Estudio Conceptual / LOM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$1.9M · 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3931920"/>
            <a:ext cx="219456" cy="219456"/>
          </a:xfrm>
          <a:prstGeom prst="rect">
            <a:avLst/>
          </a:prstGeom>
          <a:solidFill>
            <a:srgbClr val="4FA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70064" y="3867912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Permisos / MEIA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$0.8M · 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4352544"/>
            <a:ext cx="219456" cy="219456"/>
          </a:xfrm>
          <a:prstGeom prst="rect">
            <a:avLst/>
          </a:prstGeom>
          <a:solidFill>
            <a:srgbClr val="B05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70064" y="4288536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PEA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$0.5M · 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4773168"/>
            <a:ext cx="219456" cy="21945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70064" y="4709160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32733"/>
                </a:solidFill>
                <a:latin typeface="Calibri"/>
              </a:rPr>
              <a:t>Confiabilidad Planes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$0.1M · 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5285232"/>
            <a:ext cx="4690872" cy="896112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23760" y="5394960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B7280"/>
                </a:solidFill>
                <a:latin typeface="Calibri"/>
              </a:rPr>
              <a:t>COMPOSICIÓN DE LA MUESTRA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650992"/>
            <a:ext cx="4389120" cy="332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232733"/>
                </a:solidFill>
                <a:latin typeface="Calibri"/>
              </a:rPr>
              <a:t>59 </a:t>
            </a:r>
            <a:r>
              <a:rPr sz="1050" b="1" i="0" dirty="0" err="1">
                <a:solidFill>
                  <a:srgbClr val="232733"/>
                </a:solidFill>
                <a:latin typeface="Calibri"/>
              </a:rPr>
              <a:t>proyectos</a:t>
            </a:r>
            <a:r>
              <a:rPr sz="1050" b="1" i="0" dirty="0">
                <a:solidFill>
                  <a:srgbClr val="232733"/>
                </a:solidFill>
                <a:latin typeface="Calibri"/>
              </a:rPr>
              <a:t> del </a:t>
            </a:r>
            <a:r>
              <a:rPr sz="1050" b="1" i="0" dirty="0" err="1">
                <a:solidFill>
                  <a:srgbClr val="232733"/>
                </a:solidFill>
                <a:latin typeface="Calibri"/>
              </a:rPr>
              <a:t>modelo</a:t>
            </a:r>
            <a:r>
              <a:rPr sz="1050" b="1" i="0" dirty="0">
                <a:solidFill>
                  <a:srgbClr val="232733"/>
                </a:solidFill>
                <a:latin typeface="Calibri"/>
              </a:rPr>
              <a:t>. 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El </a:t>
            </a:r>
            <a:r>
              <a:rPr sz="1050" b="0" i="0" dirty="0" err="1">
                <a:solidFill>
                  <a:srgbClr val="232733"/>
                </a:solidFill>
                <a:latin typeface="Calibri"/>
              </a:rPr>
              <a:t>monto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 es </a:t>
            </a:r>
            <a:r>
              <a:rPr sz="1050" b="0" i="0" dirty="0" err="1">
                <a:solidFill>
                  <a:srgbClr val="232733"/>
                </a:solidFill>
                <a:latin typeface="Calibri"/>
              </a:rPr>
              <a:t>el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 valor de </a:t>
            </a:r>
            <a:r>
              <a:rPr lang="es-419" sz="1050" b="0" i="0" dirty="0">
                <a:solidFill>
                  <a:srgbClr val="232733"/>
                </a:solidFill>
                <a:latin typeface="Calibri"/>
              </a:rPr>
              <a:t>contrato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. Ventana: </a:t>
            </a:r>
            <a:r>
              <a:rPr sz="1050" b="0" i="0" dirty="0" err="1">
                <a:solidFill>
                  <a:srgbClr val="232733"/>
                </a:solidFill>
                <a:latin typeface="Calibri"/>
              </a:rPr>
              <a:t>contratos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 con </a:t>
            </a:r>
            <a:r>
              <a:rPr sz="1050" b="0" i="0" dirty="0" err="1">
                <a:solidFill>
                  <a:srgbClr val="232733"/>
                </a:solidFill>
                <a:latin typeface="Calibri"/>
              </a:rPr>
              <a:t>fecha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 de </a:t>
            </a:r>
            <a:r>
              <a:rPr sz="1050" b="0" i="0" dirty="0" err="1">
                <a:solidFill>
                  <a:srgbClr val="232733"/>
                </a:solidFill>
                <a:latin typeface="Calibri"/>
              </a:rPr>
              <a:t>inicio</a:t>
            </a:r>
            <a:r>
              <a:rPr sz="1050" b="0" i="0" dirty="0">
                <a:solidFill>
                  <a:srgbClr val="232733"/>
                </a:solidFill>
                <a:latin typeface="Calibri"/>
              </a:rPr>
              <a:t> entre jun-2024 a ago-2025.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6B7280"/>
                </a:solidFill>
                <a:latin typeface="Calibri"/>
              </a:rPr>
              <a:t>Fuente: 202601_Proyeccion_Ing+Modulos 1_Edu.xlsx (hoja Dashboard — Nivel de Ingeniería, Monto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Contrato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USD).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2A22A-B63F-1535-9A5E-D6F5421C2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1">
            <a:extLst>
              <a:ext uri="{FF2B5EF4-FFF2-40B4-BE49-F238E27FC236}">
                <a16:creationId xmlns:a16="http://schemas.microsoft.com/office/drawing/2014/main" id="{17BE9A3C-53F5-8EF1-E526-15CA3FA15686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1" name="Oval 2">
            <a:extLst>
              <a:ext uri="{FF2B5EF4-FFF2-40B4-BE49-F238E27FC236}">
                <a16:creationId xmlns:a16="http://schemas.microsoft.com/office/drawing/2014/main" id="{D59E87DB-35B7-DA9D-A502-A49EF87530EB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">
            <a:extLst>
              <a:ext uri="{FF2B5EF4-FFF2-40B4-BE49-F238E27FC236}">
                <a16:creationId xmlns:a16="http://schemas.microsoft.com/office/drawing/2014/main" id="{527052C1-8183-E277-48A2-26D2B28273E3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EA28B592-792F-9B56-3A4B-48D66287153A}"/>
              </a:ext>
            </a:extLst>
          </p:cNvPr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Rentabilidad estimada por nivel de estudio</a:t>
            </a: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1A8A8B7B-B7BD-B2F5-8881-0CC7D3E70408}"/>
              </a:ext>
            </a:extLst>
          </p:cNvPr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Los estudios largos e intensivos no recuperan su costo; consultoría y estudios tempranos rinden más.</a:t>
            </a:r>
          </a:p>
        </p:txBody>
      </p:sp>
      <p:graphicFrame>
        <p:nvGraphicFramePr>
          <p:cNvPr id="35" name="Chart 6">
            <a:extLst>
              <a:ext uri="{FF2B5EF4-FFF2-40B4-BE49-F238E27FC236}">
                <a16:creationId xmlns:a16="http://schemas.microsoft.com/office/drawing/2014/main" id="{10CB42F2-C99A-17A7-6BF3-60C2B667C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418049"/>
              </p:ext>
            </p:extLst>
          </p:nvPr>
        </p:nvGraphicFramePr>
        <p:xfrm>
          <a:off x="457200" y="1783080"/>
          <a:ext cx="781812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6" name="Rectangle 7">
            <a:extLst>
              <a:ext uri="{FF2B5EF4-FFF2-40B4-BE49-F238E27FC236}">
                <a16:creationId xmlns:a16="http://schemas.microsoft.com/office/drawing/2014/main" id="{6BD3F9B2-C68C-9604-7EA3-0FB1366E8D60}"/>
              </a:ext>
            </a:extLst>
          </p:cNvPr>
          <p:cNvSpPr/>
          <p:nvPr/>
        </p:nvSpPr>
        <p:spPr>
          <a:xfrm>
            <a:off x="8458200" y="1783080"/>
            <a:ext cx="3246120" cy="402336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25589BB1-F141-5B0A-8425-14157515D55C}"/>
              </a:ext>
            </a:extLst>
          </p:cNvPr>
          <p:cNvSpPr txBox="1"/>
          <p:nvPr/>
        </p:nvSpPr>
        <p:spPr>
          <a:xfrm>
            <a:off x="8659368" y="1947672"/>
            <a:ext cx="28437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CÓMO SE CALCULA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B9C8D313-33F6-9301-D456-A90536216399}"/>
              </a:ext>
            </a:extLst>
          </p:cNvPr>
          <p:cNvSpPr txBox="1"/>
          <p:nvPr/>
        </p:nvSpPr>
        <p:spPr>
          <a:xfrm>
            <a:off x="8659368" y="2240280"/>
            <a:ext cx="284378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Fórmula: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Ingreso real cobrado (Ingresado del ledger) − costo modelado (módulos × costo/módulo × meses de contrato).</a:t>
            </a: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127CDA3E-2AD9-5043-0892-EAD590D3A2DF}"/>
              </a:ext>
            </a:extLst>
          </p:cNvPr>
          <p:cNvSpPr txBox="1"/>
          <p:nvPr/>
        </p:nvSpPr>
        <p:spPr>
          <a:xfrm>
            <a:off x="8659368" y="3081528"/>
            <a:ext cx="2843784" cy="170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 err="1">
                <a:solidFill>
                  <a:srgbClr val="1E2761"/>
                </a:solidFill>
                <a:latin typeface="Calibri"/>
              </a:rPr>
              <a:t>Muestra</a:t>
            </a:r>
            <a:r>
              <a:rPr lang="es-419" sz="1100" b="1" dirty="0">
                <a:solidFill>
                  <a:srgbClr val="1E2761"/>
                </a:solidFill>
                <a:latin typeface="Calibri"/>
              </a:rPr>
              <a:t>: </a:t>
            </a:r>
            <a:r>
              <a:rPr lang="es-419" sz="1100" dirty="0">
                <a:solidFill>
                  <a:srgbClr val="1E2761"/>
                </a:solidFill>
                <a:latin typeface="Calibri"/>
              </a:rPr>
              <a:t>32 proyectos</a:t>
            </a:r>
            <a:endParaRPr sz="1100" b="0" i="0" dirty="0">
              <a:solidFill>
                <a:srgbClr val="232733"/>
              </a:solidFill>
              <a:latin typeface="Calibri"/>
            </a:endParaRPr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C10D5426-651C-C21E-33DF-A41381405983}"/>
              </a:ext>
            </a:extLst>
          </p:cNvPr>
          <p:cNvSpPr txBox="1"/>
          <p:nvPr/>
        </p:nvSpPr>
        <p:spPr>
          <a:xfrm>
            <a:off x="8659368" y="3776472"/>
            <a:ext cx="284378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Ventana: </a:t>
            </a:r>
            <a:r>
              <a:rPr sz="1100" b="0" i="0">
                <a:solidFill>
                  <a:srgbClr val="232733"/>
                </a:solidFill>
                <a:latin typeface="Calibri"/>
              </a:rPr>
              <a:t>contratos iniciados entre jun-2024 a may-2025.</a:t>
            </a:r>
          </a:p>
        </p:txBody>
      </p:sp>
      <p:sp>
        <p:nvSpPr>
          <p:cNvPr id="41" name="TextBox 12">
            <a:extLst>
              <a:ext uri="{FF2B5EF4-FFF2-40B4-BE49-F238E27FC236}">
                <a16:creationId xmlns:a16="http://schemas.microsoft.com/office/drawing/2014/main" id="{A52F6A32-D087-707A-B59C-612F8B09554C}"/>
              </a:ext>
            </a:extLst>
          </p:cNvPr>
          <p:cNvSpPr txBox="1"/>
          <p:nvPr/>
        </p:nvSpPr>
        <p:spPr>
          <a:xfrm>
            <a:off x="8659368" y="4325112"/>
            <a:ext cx="2843784" cy="34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dirty="0">
                <a:solidFill>
                  <a:srgbClr val="1E2761"/>
                </a:solidFill>
                <a:latin typeface="Calibri"/>
              </a:rPr>
              <a:t>Nota: </a:t>
            </a:r>
            <a:r>
              <a:rPr sz="1100" b="0" i="0" dirty="0" err="1">
                <a:solidFill>
                  <a:srgbClr val="232733"/>
                </a:solidFill>
                <a:latin typeface="Calibri"/>
              </a:rPr>
              <a:t>costo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 </a:t>
            </a:r>
            <a:r>
              <a:rPr lang="es-419" sz="1100" b="0" i="0" dirty="0">
                <a:solidFill>
                  <a:srgbClr val="232733"/>
                </a:solidFill>
                <a:latin typeface="Calibri"/>
              </a:rPr>
              <a:t>modelado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 (</a:t>
            </a:r>
            <a:r>
              <a:rPr sz="1100" b="0" i="0" dirty="0" err="1">
                <a:solidFill>
                  <a:srgbClr val="232733"/>
                </a:solidFill>
                <a:latin typeface="Calibri"/>
              </a:rPr>
              <a:t>tarifas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32733"/>
                </a:solidFill>
                <a:latin typeface="Calibri"/>
              </a:rPr>
              <a:t>estándar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32733"/>
                </a:solidFill>
                <a:latin typeface="Calibri"/>
              </a:rPr>
              <a:t>por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232733"/>
                </a:solidFill>
                <a:latin typeface="Calibri"/>
              </a:rPr>
              <a:t>módulo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), no </a:t>
            </a:r>
            <a:r>
              <a:rPr sz="1100" b="0" i="0" dirty="0" err="1">
                <a:solidFill>
                  <a:srgbClr val="232733"/>
                </a:solidFill>
                <a:latin typeface="Calibri"/>
              </a:rPr>
              <a:t>nómina</a:t>
            </a:r>
            <a:r>
              <a:rPr sz="1100" b="0" i="0" dirty="0">
                <a:solidFill>
                  <a:srgbClr val="232733"/>
                </a:solidFill>
                <a:latin typeface="Calibri"/>
              </a:rPr>
              <a:t> real.</a:t>
            </a:r>
          </a:p>
        </p:txBody>
      </p:sp>
      <p:sp>
        <p:nvSpPr>
          <p:cNvPr id="42" name="TextBox 13">
            <a:extLst>
              <a:ext uri="{FF2B5EF4-FFF2-40B4-BE49-F238E27FC236}">
                <a16:creationId xmlns:a16="http://schemas.microsoft.com/office/drawing/2014/main" id="{81A202E9-0868-FCEE-8AC8-379FB88B9885}"/>
              </a:ext>
            </a:extLst>
          </p:cNvPr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202601_Proyeccion_Ing+Modulos 1_Edu.xlsx (Gantt Proyectos + Listas y Parametros) y 00_Ciclo Mensual EdP 2023_v0.xlsx (Ingresado).</a:t>
            </a:r>
          </a:p>
        </p:txBody>
      </p:sp>
    </p:spTree>
    <p:extLst>
      <p:ext uri="{BB962C8B-B14F-4D97-AF65-F5344CB8AC3E}">
        <p14:creationId xmlns:p14="http://schemas.microsoft.com/office/powerpoint/2010/main" val="3535553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6C07F-C4B6-FAA5-6583-F7329910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">
            <a:extLst>
              <a:ext uri="{FF2B5EF4-FFF2-40B4-BE49-F238E27FC236}">
                <a16:creationId xmlns:a16="http://schemas.microsoft.com/office/drawing/2014/main" id="{162D20DE-82A1-3A46-0C1A-BA1FE6A75905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16" name="Oval 2">
            <a:extLst>
              <a:ext uri="{FF2B5EF4-FFF2-40B4-BE49-F238E27FC236}">
                <a16:creationId xmlns:a16="http://schemas.microsoft.com/office/drawing/2014/main" id="{2BD87179-5CED-D513-4C48-1771E5E8F827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3">
            <a:extLst>
              <a:ext uri="{FF2B5EF4-FFF2-40B4-BE49-F238E27FC236}">
                <a16:creationId xmlns:a16="http://schemas.microsoft.com/office/drawing/2014/main" id="{483416CA-870E-ED16-50B0-C272D48CC3D2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4">
            <a:extLst>
              <a:ext uri="{FF2B5EF4-FFF2-40B4-BE49-F238E27FC236}">
                <a16:creationId xmlns:a16="http://schemas.microsoft.com/office/drawing/2014/main" id="{582DD9BD-1A70-6F95-8A4D-2074900D15BE}"/>
              </a:ext>
            </a:extLst>
          </p:cNvPr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Rentabilidad por nivel de estudio, agrupada por país</a:t>
            </a: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E10B0064-57FC-8931-C46D-54F4CC0A4898}"/>
              </a:ext>
            </a:extLst>
          </p:cNvPr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Un panel por país: rentabilidad estimada (ingreso cobrado − costo modelado) de cada nivel de estudio.</a:t>
            </a: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E25E2C82-AA09-E6ED-A865-01F5F23B0D05}"/>
              </a:ext>
            </a:extLst>
          </p:cNvPr>
          <p:cNvSpPr/>
          <p:nvPr/>
        </p:nvSpPr>
        <p:spPr>
          <a:xfrm>
            <a:off x="2182898" y="1755649"/>
            <a:ext cx="396240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7">
            <a:extLst>
              <a:ext uri="{FF2B5EF4-FFF2-40B4-BE49-F238E27FC236}">
                <a16:creationId xmlns:a16="http://schemas.microsoft.com/office/drawing/2014/main" id="{2CECE76B-F77A-5E60-EECF-10EDC74614B3}"/>
              </a:ext>
            </a:extLst>
          </p:cNvPr>
          <p:cNvSpPr txBox="1"/>
          <p:nvPr/>
        </p:nvSpPr>
        <p:spPr>
          <a:xfrm>
            <a:off x="2347490" y="1865377"/>
            <a:ext cx="19812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sp>
        <p:nvSpPr>
          <p:cNvPr id="22" name="TextBox 8">
            <a:extLst>
              <a:ext uri="{FF2B5EF4-FFF2-40B4-BE49-F238E27FC236}">
                <a16:creationId xmlns:a16="http://schemas.microsoft.com/office/drawing/2014/main" id="{687DA2BF-220E-C50F-D7ED-CD3FE6EAD02B}"/>
              </a:ext>
            </a:extLst>
          </p:cNvPr>
          <p:cNvSpPr txBox="1"/>
          <p:nvPr/>
        </p:nvSpPr>
        <p:spPr>
          <a:xfrm>
            <a:off x="5092722" y="1905185"/>
            <a:ext cx="9276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 dirty="0">
                <a:solidFill>
                  <a:srgbClr val="6B7280"/>
                </a:solidFill>
                <a:latin typeface="Calibri"/>
              </a:rPr>
              <a:t>15 </a:t>
            </a:r>
            <a:r>
              <a:rPr sz="900" b="0" i="0" dirty="0" err="1">
                <a:solidFill>
                  <a:srgbClr val="6B7280"/>
                </a:solidFill>
                <a:latin typeface="Calibri"/>
              </a:rPr>
              <a:t>proyectos</a:t>
            </a:r>
            <a:endParaRPr sz="900" b="0" i="0" dirty="0">
              <a:solidFill>
                <a:srgbClr val="6B7280"/>
              </a:solidFill>
              <a:latin typeface="Calibri"/>
            </a:endParaRPr>
          </a:p>
        </p:txBody>
      </p:sp>
      <p:graphicFrame>
        <p:nvGraphicFramePr>
          <p:cNvPr id="23" name="Chart 9">
            <a:extLst>
              <a:ext uri="{FF2B5EF4-FFF2-40B4-BE49-F238E27FC236}">
                <a16:creationId xmlns:a16="http://schemas.microsoft.com/office/drawing/2014/main" id="{5E908CD9-146C-061D-258E-EEB4AE553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145148"/>
              </p:ext>
            </p:extLst>
          </p:nvPr>
        </p:nvGraphicFramePr>
        <p:xfrm>
          <a:off x="2292626" y="2176273"/>
          <a:ext cx="3803374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Rectangle 10">
            <a:extLst>
              <a:ext uri="{FF2B5EF4-FFF2-40B4-BE49-F238E27FC236}">
                <a16:creationId xmlns:a16="http://schemas.microsoft.com/office/drawing/2014/main" id="{5D26B8FD-5314-6BF8-6528-1D29819093C8}"/>
              </a:ext>
            </a:extLst>
          </p:cNvPr>
          <p:cNvSpPr/>
          <p:nvPr/>
        </p:nvSpPr>
        <p:spPr>
          <a:xfrm>
            <a:off x="6309890" y="1755649"/>
            <a:ext cx="4128075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1F4B4D69-470D-88F5-BE61-717852165D04}"/>
              </a:ext>
            </a:extLst>
          </p:cNvPr>
          <p:cNvSpPr txBox="1"/>
          <p:nvPr/>
        </p:nvSpPr>
        <p:spPr>
          <a:xfrm>
            <a:off x="6474481" y="1865377"/>
            <a:ext cx="206403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754687BE-9440-48DE-0CFF-F5DBF3DB07C3}"/>
              </a:ext>
            </a:extLst>
          </p:cNvPr>
          <p:cNvSpPr txBox="1"/>
          <p:nvPr/>
        </p:nvSpPr>
        <p:spPr>
          <a:xfrm>
            <a:off x="9210951" y="1924144"/>
            <a:ext cx="96643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 dirty="0">
                <a:solidFill>
                  <a:srgbClr val="6B7280"/>
                </a:solidFill>
                <a:latin typeface="Calibri"/>
              </a:rPr>
              <a:t>9 </a:t>
            </a:r>
            <a:r>
              <a:rPr sz="900" b="0" i="0" dirty="0" err="1">
                <a:solidFill>
                  <a:srgbClr val="6B7280"/>
                </a:solidFill>
                <a:latin typeface="Calibri"/>
              </a:rPr>
              <a:t>proyectos</a:t>
            </a:r>
            <a:endParaRPr sz="900" b="0" i="0" dirty="0">
              <a:solidFill>
                <a:srgbClr val="6B7280"/>
              </a:solidFill>
              <a:latin typeface="Calibri"/>
            </a:endParaRPr>
          </a:p>
        </p:txBody>
      </p:sp>
      <p:graphicFrame>
        <p:nvGraphicFramePr>
          <p:cNvPr id="28" name="Chart 13">
            <a:extLst>
              <a:ext uri="{FF2B5EF4-FFF2-40B4-BE49-F238E27FC236}">
                <a16:creationId xmlns:a16="http://schemas.microsoft.com/office/drawing/2014/main" id="{C5AA0803-A22A-3C6F-37FB-D063F98BEA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629094"/>
              </p:ext>
            </p:extLst>
          </p:nvPr>
        </p:nvGraphicFramePr>
        <p:xfrm>
          <a:off x="6419618" y="2176273"/>
          <a:ext cx="3962400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Rectangle 14">
            <a:extLst>
              <a:ext uri="{FF2B5EF4-FFF2-40B4-BE49-F238E27FC236}">
                <a16:creationId xmlns:a16="http://schemas.microsoft.com/office/drawing/2014/main" id="{3E9D6EAF-9C45-56A5-F3EA-AF4D44221DF4}"/>
              </a:ext>
            </a:extLst>
          </p:cNvPr>
          <p:cNvSpPr/>
          <p:nvPr/>
        </p:nvSpPr>
        <p:spPr>
          <a:xfrm>
            <a:off x="2182898" y="3968497"/>
            <a:ext cx="3962400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2BE57626-2C62-C571-7EE0-24C57529D6AF}"/>
              </a:ext>
            </a:extLst>
          </p:cNvPr>
          <p:cNvSpPr txBox="1"/>
          <p:nvPr/>
        </p:nvSpPr>
        <p:spPr>
          <a:xfrm>
            <a:off x="2347490" y="4078225"/>
            <a:ext cx="19812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D9615AD6-2D4A-0875-8C3E-35982481A7FF}"/>
              </a:ext>
            </a:extLst>
          </p:cNvPr>
          <p:cNvSpPr txBox="1"/>
          <p:nvPr/>
        </p:nvSpPr>
        <p:spPr>
          <a:xfrm>
            <a:off x="4995050" y="4078225"/>
            <a:ext cx="92765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 dirty="0">
                <a:solidFill>
                  <a:srgbClr val="6B7280"/>
                </a:solidFill>
                <a:latin typeface="Calibri"/>
              </a:rPr>
              <a:t>6 </a:t>
            </a:r>
            <a:r>
              <a:rPr sz="900" b="0" i="0" dirty="0" err="1">
                <a:solidFill>
                  <a:srgbClr val="6B7280"/>
                </a:solidFill>
                <a:latin typeface="Calibri"/>
              </a:rPr>
              <a:t>proyectos</a:t>
            </a:r>
            <a:endParaRPr sz="900" b="0" i="0" dirty="0">
              <a:solidFill>
                <a:srgbClr val="6B7280"/>
              </a:solidFill>
              <a:latin typeface="Calibri"/>
            </a:endParaRPr>
          </a:p>
        </p:txBody>
      </p:sp>
      <p:graphicFrame>
        <p:nvGraphicFramePr>
          <p:cNvPr id="40" name="Chart 17">
            <a:extLst>
              <a:ext uri="{FF2B5EF4-FFF2-40B4-BE49-F238E27FC236}">
                <a16:creationId xmlns:a16="http://schemas.microsoft.com/office/drawing/2014/main" id="{23D69F1C-5DD9-DA97-A3C7-83652604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879158"/>
              </p:ext>
            </p:extLst>
          </p:nvPr>
        </p:nvGraphicFramePr>
        <p:xfrm>
          <a:off x="2292626" y="4389121"/>
          <a:ext cx="3803374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1" name="Rectangle 18">
            <a:extLst>
              <a:ext uri="{FF2B5EF4-FFF2-40B4-BE49-F238E27FC236}">
                <a16:creationId xmlns:a16="http://schemas.microsoft.com/office/drawing/2014/main" id="{732E2C62-C591-75B1-1D14-1861CE893703}"/>
              </a:ext>
            </a:extLst>
          </p:cNvPr>
          <p:cNvSpPr/>
          <p:nvPr/>
        </p:nvSpPr>
        <p:spPr>
          <a:xfrm>
            <a:off x="6309890" y="3968497"/>
            <a:ext cx="4128075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3BBFEDAA-970C-BCDC-6469-C1D6930F73E8}"/>
              </a:ext>
            </a:extLst>
          </p:cNvPr>
          <p:cNvSpPr txBox="1"/>
          <p:nvPr/>
        </p:nvSpPr>
        <p:spPr>
          <a:xfrm>
            <a:off x="6474481" y="4078225"/>
            <a:ext cx="206403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152DFB46-1289-1FFD-D1B5-BE0D749C5BA8}"/>
              </a:ext>
            </a:extLst>
          </p:cNvPr>
          <p:cNvSpPr txBox="1"/>
          <p:nvPr/>
        </p:nvSpPr>
        <p:spPr>
          <a:xfrm>
            <a:off x="9210951" y="4109002"/>
            <a:ext cx="966439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 dirty="0">
                <a:solidFill>
                  <a:srgbClr val="6B7280"/>
                </a:solidFill>
                <a:latin typeface="Calibri"/>
              </a:rPr>
              <a:t>2 </a:t>
            </a:r>
            <a:r>
              <a:rPr sz="900" b="0" i="0" dirty="0" err="1">
                <a:solidFill>
                  <a:srgbClr val="6B7280"/>
                </a:solidFill>
                <a:latin typeface="Calibri"/>
              </a:rPr>
              <a:t>proyectos</a:t>
            </a:r>
            <a:endParaRPr sz="900" b="0" i="0" dirty="0">
              <a:solidFill>
                <a:srgbClr val="6B7280"/>
              </a:solidFill>
              <a:latin typeface="Calibri"/>
            </a:endParaRPr>
          </a:p>
        </p:txBody>
      </p:sp>
      <p:graphicFrame>
        <p:nvGraphicFramePr>
          <p:cNvPr id="44" name="Chart 21">
            <a:extLst>
              <a:ext uri="{FF2B5EF4-FFF2-40B4-BE49-F238E27FC236}">
                <a16:creationId xmlns:a16="http://schemas.microsoft.com/office/drawing/2014/main" id="{4976FFBD-3225-ECE7-6434-841EA487D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922128"/>
              </p:ext>
            </p:extLst>
          </p:nvPr>
        </p:nvGraphicFramePr>
        <p:xfrm>
          <a:off x="6419618" y="4389121"/>
          <a:ext cx="3962400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5" name="TextBox 22">
            <a:extLst>
              <a:ext uri="{FF2B5EF4-FFF2-40B4-BE49-F238E27FC236}">
                <a16:creationId xmlns:a16="http://schemas.microsoft.com/office/drawing/2014/main" id="{2B2BF201-BACA-279A-5789-F754D33379E5}"/>
              </a:ext>
            </a:extLst>
          </p:cNvPr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202601_Proyeccion_Ing+Modulos 1_Edu.xlsx (Gantt + Listas) y 00_Ciclo Mensual EdP 2023_v0.xlsx (Ingresado). 32 proyectos con código mapeado; rent. = ingreso cobrado − costo modelado (tarifas estándar).</a:t>
            </a:r>
          </a:p>
        </p:txBody>
      </p:sp>
    </p:spTree>
    <p:extLst>
      <p:ext uri="{BB962C8B-B14F-4D97-AF65-F5344CB8AC3E}">
        <p14:creationId xmlns:p14="http://schemas.microsoft.com/office/powerpoint/2010/main" val="1359091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5156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 dirty="0" err="1">
                <a:solidFill>
                  <a:srgbClr val="FFFFFF"/>
                </a:solidFill>
                <a:latin typeface="Calibri"/>
              </a:rPr>
              <a:t>Análisis</a:t>
            </a:r>
            <a:r>
              <a:rPr sz="3800" b="1" i="0" dirty="0">
                <a:solidFill>
                  <a:srgbClr val="FFFFFF"/>
                </a:solidFill>
                <a:latin typeface="Calibri"/>
              </a:rPr>
              <a:t> de</a:t>
            </a:r>
            <a:r>
              <a:rPr lang="es-419" sz="3800" b="1" i="0" dirty="0">
                <a:solidFill>
                  <a:srgbClr val="FFFFFF"/>
                </a:solidFill>
                <a:latin typeface="Calibri"/>
              </a:rPr>
              <a:t> Ventas y</a:t>
            </a:r>
            <a:r>
              <a:rPr sz="3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419" sz="3800" b="1" i="0" dirty="0">
                <a:solidFill>
                  <a:srgbClr val="FFFFFF"/>
                </a:solidFill>
                <a:latin typeface="Calibri"/>
              </a:rPr>
              <a:t>Producción</a:t>
            </a:r>
            <a:endParaRPr sz="3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434840"/>
            <a:ext cx="2926080" cy="2743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 dirty="0" err="1">
                <a:solidFill>
                  <a:srgbClr val="CADCFC"/>
                </a:solidFill>
                <a:latin typeface="Calibri"/>
              </a:rPr>
              <a:t>Cuánto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 y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dónde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 se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vende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, y con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qué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eficiencia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 se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convierten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 y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dimensionan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 las </a:t>
            </a:r>
            <a:r>
              <a:rPr sz="1500" b="0" i="1" dirty="0" err="1">
                <a:solidFill>
                  <a:srgbClr val="CADCFC"/>
                </a:solidFill>
                <a:latin typeface="Calibri"/>
              </a:rPr>
              <a:t>propuestas</a:t>
            </a:r>
            <a:r>
              <a:rPr sz="1500" b="0" i="1" dirty="0">
                <a:solidFill>
                  <a:srgbClr val="CADCFC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REDCO</a:t>
            </a:r>
            <a:r>
              <a:rPr sz="900" b="0" i="1">
                <a:solidFill>
                  <a:srgbClr val="CADCFC"/>
                </a:solidFill>
                <a:latin typeface="Calibri"/>
              </a:rPr>
              <a:t>  · Mining Consultants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EAAE5-E4B5-A40A-697F-DBB571582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>
            <a:extLst>
              <a:ext uri="{FF2B5EF4-FFF2-40B4-BE49-F238E27FC236}">
                <a16:creationId xmlns:a16="http://schemas.microsoft.com/office/drawing/2014/main" id="{E9E7CB5E-48DF-399E-0519-87393F10376D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48" name="Oval 2">
            <a:extLst>
              <a:ext uri="{FF2B5EF4-FFF2-40B4-BE49-F238E27FC236}">
                <a16:creationId xmlns:a16="http://schemas.microsoft.com/office/drawing/2014/main" id="{D824A0A7-8C06-C4CE-ED18-1B30E94486B2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3">
            <a:extLst>
              <a:ext uri="{FF2B5EF4-FFF2-40B4-BE49-F238E27FC236}">
                <a16:creationId xmlns:a16="http://schemas.microsoft.com/office/drawing/2014/main" id="{6D5918FA-0A5C-8EFD-12FA-6A1D06CB7D44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">
            <a:extLst>
              <a:ext uri="{FF2B5EF4-FFF2-40B4-BE49-F238E27FC236}">
                <a16:creationId xmlns:a16="http://schemas.microsoft.com/office/drawing/2014/main" id="{86506036-9214-7A96-1755-6F73D318808D}"/>
              </a:ext>
            </a:extLst>
          </p:cNvPr>
          <p:cNvSpPr txBox="1"/>
          <p:nvPr/>
        </p:nvSpPr>
        <p:spPr>
          <a:xfrm>
            <a:off x="896112" y="758952"/>
            <a:ext cx="10789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dirty="0">
                <a:solidFill>
                  <a:srgbClr val="232733"/>
                </a:solidFill>
                <a:latin typeface="Calibri"/>
              </a:rPr>
              <a:t>Ventas: ticket promedio y conversión de propuestas</a:t>
            </a:r>
          </a:p>
        </p:txBody>
      </p:sp>
      <p:sp>
        <p:nvSpPr>
          <p:cNvPr id="51" name="TextBox 5">
            <a:extLst>
              <a:ext uri="{FF2B5EF4-FFF2-40B4-BE49-F238E27FC236}">
                <a16:creationId xmlns:a16="http://schemas.microsoft.com/office/drawing/2014/main" id="{0AEEEDE8-E12B-6429-2E8E-C8644442DE68}"/>
              </a:ext>
            </a:extLst>
          </p:cNvPr>
          <p:cNvSpPr txBox="1"/>
          <p:nvPr/>
        </p:nvSpPr>
        <p:spPr>
          <a:xfrm>
            <a:off x="896112" y="1298448"/>
            <a:ext cx="107899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 dirty="0">
                <a:solidFill>
                  <a:srgbClr val="6B7280"/>
                </a:solidFill>
                <a:latin typeface="Calibri"/>
              </a:rPr>
              <a:t>Se ganan las propuestas chicas: por monto se adjudica ~1 de cada 4–5 USD emitidos, y el ticket adjudicado se contrae año a año.</a:t>
            </a:r>
          </a:p>
        </p:txBody>
      </p:sp>
      <p:sp>
        <p:nvSpPr>
          <p:cNvPr id="102" name="TextBox 56">
            <a:extLst>
              <a:ext uri="{FF2B5EF4-FFF2-40B4-BE49-F238E27FC236}">
                <a16:creationId xmlns:a16="http://schemas.microsoft.com/office/drawing/2014/main" id="{1EFBEDB9-A772-BE2E-FFE9-91BC2FFD702D}"/>
              </a:ext>
            </a:extLst>
          </p:cNvPr>
          <p:cNvSpPr txBox="1"/>
          <p:nvPr/>
        </p:nvSpPr>
        <p:spPr>
          <a:xfrm>
            <a:off x="457200" y="6437376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6B7280"/>
                </a:solidFill>
                <a:latin typeface="Calibri"/>
              </a:rPr>
              <a:t>Fuente: 01_KPI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Gestión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REDCO_2026.xlsx (KPI´s de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negocio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2024/2025/2026). Ticket =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monto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÷ N° de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propuestas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.  2024 =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completo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(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ene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–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dic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);  2026 * =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enero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–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junio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65091" y="1700784"/>
            <a:ext cx="10972" cy="361188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8014716" y="1700784"/>
            <a:ext cx="10972" cy="361188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84048" y="1700784"/>
            <a:ext cx="3712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2024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84048" y="2103120"/>
            <a:ext cx="1792224" cy="1042415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12064" y="2194560"/>
            <a:ext cx="1536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TICKET EMITIDO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2064" y="2359152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C4A7C"/>
                </a:solidFill>
                <a:latin typeface="Calibri"/>
              </a:rPr>
              <a:t>$289k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99616" y="252374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base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12064" y="2889504"/>
            <a:ext cx="1536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32733"/>
                </a:solidFill>
                <a:latin typeface="Calibri"/>
              </a:rPr>
              <a:t>119 prop. · $34.2M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304288" y="2103120"/>
            <a:ext cx="1792224" cy="1042415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432304" y="2194560"/>
            <a:ext cx="1536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TICKET ADJUDICADO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432304" y="2359152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C4A7C"/>
                </a:solidFill>
                <a:latin typeface="Calibri"/>
              </a:rPr>
              <a:t>$230k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419856" y="252374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base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432304" y="2889504"/>
            <a:ext cx="1536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32733"/>
                </a:solidFill>
                <a:latin typeface="Calibri"/>
              </a:rPr>
              <a:t>53 adj. · $12.2M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4048" y="3218688"/>
            <a:ext cx="3712463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Del monto emitido, cuánto se adjudica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84048" y="3383280"/>
            <a:ext cx="3712463" cy="38404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Emitido  $34.2M</a:t>
            </a:r>
          </a:p>
        </p:txBody>
      </p:sp>
      <p:sp>
        <p:nvSpPr>
          <p:cNvPr id="119" name="Down Arrow 118"/>
          <p:cNvSpPr/>
          <p:nvPr/>
        </p:nvSpPr>
        <p:spPr>
          <a:xfrm>
            <a:off x="2121408" y="3822191"/>
            <a:ext cx="237744" cy="219456"/>
          </a:xfrm>
          <a:prstGeom prst="downArrow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84048" y="4069080"/>
            <a:ext cx="371246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Calibri"/>
              </a:rPr>
              <a:t>Adjudicado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10145" y="4242816"/>
            <a:ext cx="860267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$12.2M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84048" y="4681728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>
                <a:solidFill>
                  <a:srgbClr val="1E2761"/>
                </a:solidFill>
                <a:latin typeface="Calibri"/>
              </a:rPr>
              <a:t>36%</a:t>
            </a:r>
            <a:r>
              <a:rPr sz="950" b="0" i="0" dirty="0">
                <a:solidFill>
                  <a:srgbClr val="6B7280"/>
                </a:solidFill>
                <a:latin typeface="Calibri"/>
              </a:rPr>
              <a:t> del </a:t>
            </a:r>
            <a:r>
              <a:rPr sz="950" b="0" i="0" dirty="0" err="1">
                <a:solidFill>
                  <a:srgbClr val="6B7280"/>
                </a:solidFill>
                <a:latin typeface="Calibri"/>
              </a:rPr>
              <a:t>monto</a:t>
            </a:r>
            <a:r>
              <a:rPr sz="9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6B7280"/>
                </a:solidFill>
                <a:latin typeface="Calibri"/>
              </a:rPr>
              <a:t>emitido</a:t>
            </a:r>
            <a:endParaRPr sz="95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384048" y="4965192"/>
            <a:ext cx="3712463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por N°: 53/119 (45%)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233672" y="1700784"/>
            <a:ext cx="3712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2025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233672" y="2103120"/>
            <a:ext cx="1792224" cy="1042415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361688" y="2194560"/>
            <a:ext cx="1536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TICKET EMITIDO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361688" y="2359152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C4A7C"/>
                </a:solidFill>
                <a:latin typeface="Calibri"/>
              </a:rPr>
              <a:t>$266k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349240" y="2487168"/>
            <a:ext cx="548640" cy="201168"/>
          </a:xfrm>
          <a:prstGeom prst="roundRect">
            <a:avLst>
              <a:gd name="adj" fmla="val 45000"/>
            </a:avLst>
          </a:prstGeom>
          <a:solidFill>
            <a:srgbClr val="B44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−8%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361688" y="2889504"/>
            <a:ext cx="1536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32733"/>
                </a:solidFill>
                <a:latin typeface="Calibri"/>
              </a:rPr>
              <a:t>164 prop. · $43.7M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153912" y="2103120"/>
            <a:ext cx="1792224" cy="1042415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281928" y="2194560"/>
            <a:ext cx="1536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TICKET ADJUDICADO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281928" y="2359152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C4A7C"/>
                </a:solidFill>
                <a:latin typeface="Calibri"/>
              </a:rPr>
              <a:t>$132k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269480" y="2487168"/>
            <a:ext cx="548640" cy="201168"/>
          </a:xfrm>
          <a:prstGeom prst="roundRect">
            <a:avLst>
              <a:gd name="adj" fmla="val 45000"/>
            </a:avLst>
          </a:prstGeom>
          <a:solidFill>
            <a:srgbClr val="B44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−43%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281928" y="2889504"/>
            <a:ext cx="1536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32733"/>
                </a:solidFill>
                <a:latin typeface="Calibri"/>
              </a:rPr>
              <a:t>78 adj. · $10.3M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33672" y="3218688"/>
            <a:ext cx="3712463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Del monto emitido, cuánto se adjudica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233672" y="3383280"/>
            <a:ext cx="3712463" cy="38404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Emitido  $43.7M</a:t>
            </a:r>
          </a:p>
        </p:txBody>
      </p:sp>
      <p:sp>
        <p:nvSpPr>
          <p:cNvPr id="138" name="Down Arrow 137"/>
          <p:cNvSpPr/>
          <p:nvPr/>
        </p:nvSpPr>
        <p:spPr>
          <a:xfrm>
            <a:off x="5971032" y="3822191"/>
            <a:ext cx="237744" cy="219456"/>
          </a:xfrm>
          <a:prstGeom prst="downArrow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4233672" y="4069080"/>
            <a:ext cx="371246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Calibri"/>
              </a:rPr>
              <a:t>Adjudicado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644408" y="4242816"/>
            <a:ext cx="890991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$10.3M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233672" y="4681728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24%</a:t>
            </a:r>
            <a:r>
              <a:rPr sz="950" b="0" i="0">
                <a:solidFill>
                  <a:srgbClr val="6B7280"/>
                </a:solidFill>
                <a:latin typeface="Calibri"/>
              </a:rPr>
              <a:t> del monto emitido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233672" y="4965192"/>
            <a:ext cx="3712463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por N°: 78/164 (48%)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083296" y="1700784"/>
            <a:ext cx="371246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2026 *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083296" y="2103120"/>
            <a:ext cx="1792224" cy="1042415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8211312" y="2194560"/>
            <a:ext cx="1536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TICKET EMITIDO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211312" y="2359152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C4A7C"/>
                </a:solidFill>
                <a:latin typeface="Calibri"/>
              </a:rPr>
              <a:t>$222k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9198864" y="2487168"/>
            <a:ext cx="548640" cy="201168"/>
          </a:xfrm>
          <a:prstGeom prst="roundRect">
            <a:avLst>
              <a:gd name="adj" fmla="val 45000"/>
            </a:avLst>
          </a:prstGeom>
          <a:solidFill>
            <a:srgbClr val="B44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−17%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211312" y="2889504"/>
            <a:ext cx="1536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32733"/>
                </a:solidFill>
                <a:latin typeface="Calibri"/>
              </a:rPr>
              <a:t>86 prop. · $19.1M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003536" y="2103120"/>
            <a:ext cx="1792224" cy="1042415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0131552" y="2194560"/>
            <a:ext cx="1536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6B7280"/>
                </a:solidFill>
                <a:latin typeface="Calibri"/>
              </a:rPr>
              <a:t>TICKET ADJUDICADO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131552" y="2359152"/>
            <a:ext cx="1051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2C4A7C"/>
                </a:solidFill>
                <a:latin typeface="Calibri"/>
              </a:rPr>
              <a:t>$119k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1119104" y="2487168"/>
            <a:ext cx="548640" cy="201168"/>
          </a:xfrm>
          <a:prstGeom prst="roundRect">
            <a:avLst>
              <a:gd name="adj" fmla="val 45000"/>
            </a:avLst>
          </a:prstGeom>
          <a:solidFill>
            <a:srgbClr val="B44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−10%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131552" y="2889504"/>
            <a:ext cx="1536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232733"/>
                </a:solidFill>
                <a:latin typeface="Calibri"/>
              </a:rPr>
              <a:t>34 adj. · $4.1M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083296" y="3218688"/>
            <a:ext cx="3712463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Del monto emitido, cuánto se adjudica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083296" y="3383280"/>
            <a:ext cx="3712463" cy="384048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Emitido  $19.1M</a:t>
            </a:r>
          </a:p>
        </p:txBody>
      </p:sp>
      <p:sp>
        <p:nvSpPr>
          <p:cNvPr id="158" name="Down Arrow 157"/>
          <p:cNvSpPr/>
          <p:nvPr/>
        </p:nvSpPr>
        <p:spPr>
          <a:xfrm>
            <a:off x="9820655" y="3822191"/>
            <a:ext cx="237744" cy="219456"/>
          </a:xfrm>
          <a:prstGeom prst="downArrow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8083296" y="4069080"/>
            <a:ext cx="371246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i="0">
                <a:solidFill>
                  <a:srgbClr val="1E2761"/>
                </a:solidFill>
                <a:latin typeface="Calibri"/>
              </a:rPr>
              <a:t>Adjudicado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549719" y="4242816"/>
            <a:ext cx="779617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$4.1M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083296" y="4681728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21%</a:t>
            </a:r>
            <a:r>
              <a:rPr sz="950" b="0" i="0">
                <a:solidFill>
                  <a:srgbClr val="6B7280"/>
                </a:solidFill>
                <a:latin typeface="Calibri"/>
              </a:rPr>
              <a:t> del monto emitido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083296" y="4965192"/>
            <a:ext cx="3712463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por N°: 34/86 (40%)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083296" y="5129784"/>
            <a:ext cx="3712463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1">
                <a:solidFill>
                  <a:srgbClr val="6B7280"/>
                </a:solidFill>
                <a:latin typeface="Calibri"/>
              </a:rPr>
              <a:t>* 2026 es, por definición, la ventana ene–jun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84048" y="5358384"/>
            <a:ext cx="5596128" cy="987552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384048" y="5358384"/>
            <a:ext cx="45720" cy="98755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548640" y="5458968"/>
            <a:ext cx="52120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1E2761"/>
                </a:solidFill>
                <a:latin typeface="Calibri"/>
              </a:rPr>
              <a:t>LECTURA POR CANTIDAD DE PROPUESTAS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48640" y="5660136"/>
            <a:ext cx="5266944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800" b="1">
                <a:solidFill>
                  <a:srgbClr val="232733"/>
                </a:solidFill>
                <a:latin typeface="Calibri"/>
              </a:rPr>
              <a:t>•  </a:t>
            </a:r>
            <a:r>
              <a:rPr sz="800">
                <a:solidFill>
                  <a:srgbClr val="232733"/>
                </a:solidFill>
                <a:latin typeface="Calibri"/>
              </a:rPr>
              <a:t>La conversión por número de propuestas cayó en 2026 vs. la ventana comparable de 2025 (54 % → 40 %): en 2026 se emiten más propuestas pero se adjudica una fracción menor.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800" b="1">
                <a:solidFill>
                  <a:srgbClr val="232733"/>
                </a:solidFill>
                <a:latin typeface="Calibri"/>
              </a:rPr>
              <a:t>•  </a:t>
            </a:r>
            <a:r>
              <a:rPr sz="800">
                <a:solidFill>
                  <a:srgbClr val="232733"/>
                </a:solidFill>
                <a:latin typeface="Calibri"/>
              </a:rPr>
              <a:t>La conversión por valor es mucho más baja que por cantidad (~21–24 % vs ~48 %): REDCO gana muchas propuestas chicas pero convierte poco del monto — las propuestas de mayor ticket caen más.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199632" y="5358384"/>
            <a:ext cx="5596128" cy="987552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6199632" y="5358384"/>
            <a:ext cx="45720" cy="98755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6364224" y="5458968"/>
            <a:ext cx="521208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solidFill>
                  <a:srgbClr val="2C4A7C"/>
                </a:solidFill>
                <a:latin typeface="Calibri"/>
              </a:rPr>
              <a:t>LECTURA POR TRANSFORMACIÓN DE MONTO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364224" y="5660136"/>
            <a:ext cx="5266944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800" b="1">
                <a:solidFill>
                  <a:srgbClr val="232733"/>
                </a:solidFill>
                <a:latin typeface="Calibri"/>
              </a:rPr>
              <a:t>•  </a:t>
            </a:r>
            <a:r>
              <a:rPr sz="800">
                <a:solidFill>
                  <a:srgbClr val="232733"/>
                </a:solidFill>
                <a:latin typeface="Calibri"/>
              </a:rPr>
              <a:t>REDCO adjudica propuestas de la mitad del tamaño que emite.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800" b="1">
                <a:solidFill>
                  <a:srgbClr val="232733"/>
                </a:solidFill>
                <a:latin typeface="Calibri"/>
              </a:rPr>
              <a:t>•  </a:t>
            </a:r>
            <a:r>
              <a:rPr sz="800">
                <a:solidFill>
                  <a:srgbClr val="232733"/>
                </a:solidFill>
                <a:latin typeface="Calibri"/>
              </a:rPr>
              <a:t>Baja sostenida del ticket promedio emitido.</a:t>
            </a: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sz="800" b="1">
                <a:solidFill>
                  <a:srgbClr val="232733"/>
                </a:solidFill>
                <a:latin typeface="Calibri"/>
              </a:rPr>
              <a:t>•  </a:t>
            </a:r>
            <a:r>
              <a:rPr sz="800">
                <a:solidFill>
                  <a:srgbClr val="232733"/>
                </a:solidFill>
                <a:latin typeface="Calibri"/>
              </a:rPr>
              <a:t>Mejora leve del ratio Adj/Emit porque en 2026 bajó el tamaño promedio emitido, acercándolo al adjudicado.</a:t>
            </a:r>
          </a:p>
        </p:txBody>
      </p:sp>
    </p:spTree>
    <p:extLst>
      <p:ext uri="{BB962C8B-B14F-4D97-AF65-F5344CB8AC3E}">
        <p14:creationId xmlns:p14="http://schemas.microsoft.com/office/powerpoint/2010/main" val="20571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6163D5-272A-CA42-ECCC-25DFC8B9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">
            <a:extLst>
              <a:ext uri="{FF2B5EF4-FFF2-40B4-BE49-F238E27FC236}">
                <a16:creationId xmlns:a16="http://schemas.microsoft.com/office/drawing/2014/main" id="{15953A83-F8CB-8994-1B60-5ADFC019E8CE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21" name="Oval 2">
            <a:extLst>
              <a:ext uri="{FF2B5EF4-FFF2-40B4-BE49-F238E27FC236}">
                <a16:creationId xmlns:a16="http://schemas.microsoft.com/office/drawing/2014/main" id="{D88F801D-CD6D-50D6-E7C2-1052F82A8113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3">
            <a:extLst>
              <a:ext uri="{FF2B5EF4-FFF2-40B4-BE49-F238E27FC236}">
                <a16:creationId xmlns:a16="http://schemas.microsoft.com/office/drawing/2014/main" id="{676BA4C0-63E9-0A03-DEA9-47CC736EB5C0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B4E4E98C-8C4C-08F8-82FA-30AEF4B98CE3}"/>
              </a:ext>
            </a:extLst>
          </p:cNvPr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Ventas: conversión de propuestas — por cantidad y por valor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77170B6A-5C5C-C55A-2817-904684AE6A6E}"/>
              </a:ext>
            </a:extLst>
          </p:cNvPr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Conversión mensual (Adjudicadas / Emitidas del mismo mes). La conversión por número supera consistentemente a la de valor: se ganan las propuestas chicas.</a:t>
            </a:r>
          </a:p>
        </p:txBody>
      </p:sp>
      <p:sp>
        <p:nvSpPr>
          <p:cNvPr id="25" name="TextBox 6">
            <a:extLst>
              <a:ext uri="{FF2B5EF4-FFF2-40B4-BE49-F238E27FC236}">
                <a16:creationId xmlns:a16="http://schemas.microsoft.com/office/drawing/2014/main" id="{5C6E9B93-C416-AACF-0586-AD71CE5AC75E}"/>
              </a:ext>
            </a:extLst>
          </p:cNvPr>
          <p:cNvSpPr txBox="1"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Por cantidad (N° de propuestas)</a:t>
            </a:r>
          </a:p>
        </p:txBody>
      </p:sp>
      <p:graphicFrame>
        <p:nvGraphicFramePr>
          <p:cNvPr id="26" name="Chart 7">
            <a:extLst>
              <a:ext uri="{FF2B5EF4-FFF2-40B4-BE49-F238E27FC236}">
                <a16:creationId xmlns:a16="http://schemas.microsoft.com/office/drawing/2014/main" id="{0B1B0A3C-572F-582E-9CB6-2C4678471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330777"/>
              </p:ext>
            </p:extLst>
          </p:nvPr>
        </p:nvGraphicFramePr>
        <p:xfrm>
          <a:off x="457200" y="2148840"/>
          <a:ext cx="548640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Box 8">
            <a:extLst>
              <a:ext uri="{FF2B5EF4-FFF2-40B4-BE49-F238E27FC236}">
                <a16:creationId xmlns:a16="http://schemas.microsoft.com/office/drawing/2014/main" id="{DF9458AB-598E-E157-BBFC-ED755FFE4DFE}"/>
              </a:ext>
            </a:extLst>
          </p:cNvPr>
          <p:cNvSpPr txBox="1"/>
          <p:nvPr/>
        </p:nvSpPr>
        <p:spPr>
          <a:xfrm>
            <a:off x="6263640" y="1783080"/>
            <a:ext cx="5440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1E2761"/>
                </a:solidFill>
                <a:latin typeface="Calibri"/>
              </a:rPr>
              <a:t>Por valor (USD)</a:t>
            </a:r>
          </a:p>
        </p:txBody>
      </p:sp>
      <p:graphicFrame>
        <p:nvGraphicFramePr>
          <p:cNvPr id="28" name="Chart 9">
            <a:extLst>
              <a:ext uri="{FF2B5EF4-FFF2-40B4-BE49-F238E27FC236}">
                <a16:creationId xmlns:a16="http://schemas.microsoft.com/office/drawing/2014/main" id="{208DFBE7-5E31-2C5C-B6E1-B29182A68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100755"/>
              </p:ext>
            </p:extLst>
          </p:nvPr>
        </p:nvGraphicFramePr>
        <p:xfrm>
          <a:off x="6263640" y="2148840"/>
          <a:ext cx="544068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Rectangle 10">
            <a:extLst>
              <a:ext uri="{FF2B5EF4-FFF2-40B4-BE49-F238E27FC236}">
                <a16:creationId xmlns:a16="http://schemas.microsoft.com/office/drawing/2014/main" id="{ADD85A6D-A1F4-9566-64C8-CDF562F8789E}"/>
              </a:ext>
            </a:extLst>
          </p:cNvPr>
          <p:cNvSpPr/>
          <p:nvPr/>
        </p:nvSpPr>
        <p:spPr>
          <a:xfrm>
            <a:off x="4114800" y="6053328"/>
            <a:ext cx="310896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11">
            <a:extLst>
              <a:ext uri="{FF2B5EF4-FFF2-40B4-BE49-F238E27FC236}">
                <a16:creationId xmlns:a16="http://schemas.microsoft.com/office/drawing/2014/main" id="{2BC804DB-BFB1-EF00-CFA6-AE883F0E7242}"/>
              </a:ext>
            </a:extLst>
          </p:cNvPr>
          <p:cNvSpPr/>
          <p:nvPr/>
        </p:nvSpPr>
        <p:spPr>
          <a:xfrm>
            <a:off x="4242816" y="6007608"/>
            <a:ext cx="64008" cy="1371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2D5C77A0-49F8-D104-31F4-256034694107}"/>
              </a:ext>
            </a:extLst>
          </p:cNvPr>
          <p:cNvSpPr txBox="1"/>
          <p:nvPr/>
        </p:nvSpPr>
        <p:spPr>
          <a:xfrm>
            <a:off x="4498848" y="59710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3D0DC3F1-46A2-9AE8-C0EB-C5B8495A31DD}"/>
              </a:ext>
            </a:extLst>
          </p:cNvPr>
          <p:cNvSpPr/>
          <p:nvPr/>
        </p:nvSpPr>
        <p:spPr>
          <a:xfrm>
            <a:off x="5440680" y="6053328"/>
            <a:ext cx="310896" cy="457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14">
            <a:extLst>
              <a:ext uri="{FF2B5EF4-FFF2-40B4-BE49-F238E27FC236}">
                <a16:creationId xmlns:a16="http://schemas.microsoft.com/office/drawing/2014/main" id="{60A4AFDB-E775-1882-CA45-EEFEB69BE3FB}"/>
              </a:ext>
            </a:extLst>
          </p:cNvPr>
          <p:cNvSpPr/>
          <p:nvPr/>
        </p:nvSpPr>
        <p:spPr>
          <a:xfrm>
            <a:off x="5568696" y="6007608"/>
            <a:ext cx="64008" cy="13716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96F1B709-78FA-239F-9D45-C6F98BA63E0E}"/>
              </a:ext>
            </a:extLst>
          </p:cNvPr>
          <p:cNvSpPr txBox="1"/>
          <p:nvPr/>
        </p:nvSpPr>
        <p:spPr>
          <a:xfrm>
            <a:off x="5824728" y="59710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35" name="Rectangle 16">
            <a:extLst>
              <a:ext uri="{FF2B5EF4-FFF2-40B4-BE49-F238E27FC236}">
                <a16:creationId xmlns:a16="http://schemas.microsoft.com/office/drawing/2014/main" id="{313325EB-E2E1-E045-DA48-5EF55F3FEC69}"/>
              </a:ext>
            </a:extLst>
          </p:cNvPr>
          <p:cNvSpPr/>
          <p:nvPr/>
        </p:nvSpPr>
        <p:spPr>
          <a:xfrm>
            <a:off x="6766560" y="6053328"/>
            <a:ext cx="310896" cy="4572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17">
            <a:extLst>
              <a:ext uri="{FF2B5EF4-FFF2-40B4-BE49-F238E27FC236}">
                <a16:creationId xmlns:a16="http://schemas.microsoft.com/office/drawing/2014/main" id="{BB1F2EFA-FCAF-83C5-BFB3-C8CACDD8B1E4}"/>
              </a:ext>
            </a:extLst>
          </p:cNvPr>
          <p:cNvSpPr/>
          <p:nvPr/>
        </p:nvSpPr>
        <p:spPr>
          <a:xfrm>
            <a:off x="6894576" y="6007608"/>
            <a:ext cx="64008" cy="137160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C7D72976-85F4-B599-3D3F-516D134C0509}"/>
              </a:ext>
            </a:extLst>
          </p:cNvPr>
          <p:cNvSpPr txBox="1"/>
          <p:nvPr/>
        </p:nvSpPr>
        <p:spPr>
          <a:xfrm>
            <a:off x="7150608" y="597103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38" name="TextBox 19">
            <a:extLst>
              <a:ext uri="{FF2B5EF4-FFF2-40B4-BE49-F238E27FC236}">
                <a16:creationId xmlns:a16="http://schemas.microsoft.com/office/drawing/2014/main" id="{80BCA204-0E9F-E698-34C4-4EADFBE7C6DB}"/>
              </a:ext>
            </a:extLst>
          </p:cNvPr>
          <p:cNvSpPr txBox="1"/>
          <p:nvPr/>
        </p:nvSpPr>
        <p:spPr>
          <a:xfrm>
            <a:off x="457200" y="6455664"/>
            <a:ext cx="11247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6B7280"/>
                </a:solidFill>
                <a:latin typeface="Calibri"/>
              </a:rPr>
              <a:t>Fuente: 01_KPI Gestion REDCO_2026.xlsx (KPI de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negocio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). Conversion =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Adjudicadas</a:t>
            </a:r>
            <a:r>
              <a:rPr lang="es-419" sz="850" b="0" i="0" dirty="0">
                <a:solidFill>
                  <a:srgbClr val="6B7280"/>
                </a:solidFill>
                <a:latin typeface="Calibri"/>
              </a:rPr>
              <a:t> m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/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Emitidas</a:t>
            </a:r>
            <a:r>
              <a:rPr lang="es-419" sz="850" b="0" i="0" dirty="0">
                <a:solidFill>
                  <a:srgbClr val="6B7280"/>
                </a:solidFill>
                <a:latin typeface="Calibri"/>
              </a:rPr>
              <a:t> en (m -1) + reszago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. 2024 = oct-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dic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(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inicio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del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registro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KPI); se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excluye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junio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2026 (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mes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curso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).</a:t>
            </a:r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B31D00B3-7DD7-4D3B-D5BE-F36E6221B3E0}"/>
              </a:ext>
            </a:extLst>
          </p:cNvPr>
          <p:cNvCxnSpPr/>
          <p:nvPr/>
        </p:nvCxnSpPr>
        <p:spPr>
          <a:xfrm flipV="1">
            <a:off x="2784297" y="2250040"/>
            <a:ext cx="0" cy="3318553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18CC6FC8-8D69-CE26-2E99-BBCDAB262711}"/>
              </a:ext>
            </a:extLst>
          </p:cNvPr>
          <p:cNvCxnSpPr/>
          <p:nvPr/>
        </p:nvCxnSpPr>
        <p:spPr>
          <a:xfrm flipV="1">
            <a:off x="8543172" y="2250040"/>
            <a:ext cx="0" cy="3318553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CD30921E-3887-5FE1-DC08-F262F10492AA}"/>
              </a:ext>
            </a:extLst>
          </p:cNvPr>
          <p:cNvCxnSpPr>
            <a:cxnSpLocks/>
          </p:cNvCxnSpPr>
          <p:nvPr/>
        </p:nvCxnSpPr>
        <p:spPr>
          <a:xfrm flipH="1" flipV="1">
            <a:off x="8138160" y="4807131"/>
            <a:ext cx="777240" cy="404949"/>
          </a:xfrm>
          <a:prstGeom prst="line">
            <a:avLst/>
          </a:prstGeom>
          <a:ln>
            <a:solidFill>
              <a:srgbClr val="FF0000">
                <a:alpha val="44000"/>
              </a:srgb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8">
            <a:extLst>
              <a:ext uri="{FF2B5EF4-FFF2-40B4-BE49-F238E27FC236}">
                <a16:creationId xmlns:a16="http://schemas.microsoft.com/office/drawing/2014/main" id="{2AD93D05-2566-AFA3-E7C9-0B1D7761B37F}"/>
              </a:ext>
            </a:extLst>
          </p:cNvPr>
          <p:cNvSpPr txBox="1"/>
          <p:nvPr/>
        </p:nvSpPr>
        <p:spPr>
          <a:xfrm>
            <a:off x="8257358" y="5930434"/>
            <a:ext cx="1910664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800" b="1" i="0" dirty="0">
                <a:solidFill>
                  <a:srgbClr val="1E2761"/>
                </a:solidFill>
                <a:latin typeface="Calibri"/>
              </a:rPr>
              <a:t>Se cancela efecto Seligdar</a:t>
            </a:r>
            <a:r>
              <a:rPr lang="es-419" sz="1300" b="1" i="0" dirty="0">
                <a:solidFill>
                  <a:srgbClr val="1E2761"/>
                </a:solidFill>
                <a:latin typeface="Calibri"/>
              </a:rPr>
              <a:t> </a:t>
            </a:r>
            <a:endParaRPr sz="1300" b="1" i="0" dirty="0">
              <a:solidFill>
                <a:srgbClr val="1E2761"/>
              </a:solidFill>
              <a:latin typeface="Calibri"/>
            </a:endParaRPr>
          </a:p>
        </p:txBody>
      </p: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74DD9BE7-32ED-13CC-2147-0E484E62BF89}"/>
              </a:ext>
            </a:extLst>
          </p:cNvPr>
          <p:cNvCxnSpPr>
            <a:cxnSpLocks/>
          </p:cNvCxnSpPr>
          <p:nvPr/>
        </p:nvCxnSpPr>
        <p:spPr>
          <a:xfrm flipH="1">
            <a:off x="8138160" y="6053552"/>
            <a:ext cx="388620" cy="0"/>
          </a:xfrm>
          <a:prstGeom prst="line">
            <a:avLst/>
          </a:prstGeom>
          <a:ln>
            <a:solidFill>
              <a:srgbClr val="C00000">
                <a:alpha val="44000"/>
              </a:srgb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7FB2692E-7C34-744E-DCE5-FDA6EE41D344}"/>
              </a:ext>
            </a:extLst>
          </p:cNvPr>
          <p:cNvCxnSpPr>
            <a:cxnSpLocks/>
          </p:cNvCxnSpPr>
          <p:nvPr/>
        </p:nvCxnSpPr>
        <p:spPr>
          <a:xfrm flipH="1">
            <a:off x="896112" y="4178461"/>
            <a:ext cx="1888185" cy="0"/>
          </a:xfrm>
          <a:prstGeom prst="line">
            <a:avLst/>
          </a:prstGeom>
          <a:ln>
            <a:solidFill>
              <a:srgbClr val="FF0000">
                <a:alpha val="44000"/>
              </a:srgb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4E598015-D146-674B-5996-2F8B44CC3824}"/>
              </a:ext>
            </a:extLst>
          </p:cNvPr>
          <p:cNvCxnSpPr>
            <a:cxnSpLocks/>
          </p:cNvCxnSpPr>
          <p:nvPr/>
        </p:nvCxnSpPr>
        <p:spPr>
          <a:xfrm flipH="1">
            <a:off x="896112" y="4014004"/>
            <a:ext cx="1888185" cy="0"/>
          </a:xfrm>
          <a:prstGeom prst="line">
            <a:avLst/>
          </a:prstGeom>
          <a:ln>
            <a:solidFill>
              <a:srgbClr val="2C4A7C">
                <a:alpha val="44000"/>
              </a:srgb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3BEDB0C1-0790-299E-B909-000925866292}"/>
              </a:ext>
            </a:extLst>
          </p:cNvPr>
          <p:cNvCxnSpPr>
            <a:cxnSpLocks/>
          </p:cNvCxnSpPr>
          <p:nvPr/>
        </p:nvCxnSpPr>
        <p:spPr>
          <a:xfrm flipH="1">
            <a:off x="884707" y="4411884"/>
            <a:ext cx="1888185" cy="0"/>
          </a:xfrm>
          <a:prstGeom prst="line">
            <a:avLst/>
          </a:prstGeom>
          <a:ln>
            <a:solidFill>
              <a:srgbClr val="00B050">
                <a:alpha val="44000"/>
              </a:srgb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AEB25901-F415-4B5D-B5E4-07AECA4088D1}"/>
              </a:ext>
            </a:extLst>
          </p:cNvPr>
          <p:cNvCxnSpPr>
            <a:cxnSpLocks/>
          </p:cNvCxnSpPr>
          <p:nvPr/>
        </p:nvCxnSpPr>
        <p:spPr>
          <a:xfrm flipH="1">
            <a:off x="6708334" y="4857288"/>
            <a:ext cx="1786014" cy="0"/>
          </a:xfrm>
          <a:prstGeom prst="line">
            <a:avLst/>
          </a:prstGeom>
          <a:ln>
            <a:solidFill>
              <a:srgbClr val="00B050">
                <a:alpha val="44000"/>
              </a:srgb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D11DEE51-27DE-D3CA-48E1-E5102090A6B1}"/>
              </a:ext>
            </a:extLst>
          </p:cNvPr>
          <p:cNvCxnSpPr>
            <a:cxnSpLocks/>
          </p:cNvCxnSpPr>
          <p:nvPr/>
        </p:nvCxnSpPr>
        <p:spPr>
          <a:xfrm flipH="1">
            <a:off x="6708334" y="4807131"/>
            <a:ext cx="1786014" cy="0"/>
          </a:xfrm>
          <a:prstGeom prst="line">
            <a:avLst/>
          </a:prstGeom>
          <a:ln>
            <a:solidFill>
              <a:srgbClr val="2C4A7C">
                <a:alpha val="44000"/>
              </a:srgb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A89F1750-E970-4B32-234A-147C4FA6221B}"/>
              </a:ext>
            </a:extLst>
          </p:cNvPr>
          <p:cNvCxnSpPr>
            <a:cxnSpLocks/>
          </p:cNvCxnSpPr>
          <p:nvPr/>
        </p:nvCxnSpPr>
        <p:spPr>
          <a:xfrm flipH="1">
            <a:off x="6708334" y="4670301"/>
            <a:ext cx="1786014" cy="0"/>
          </a:xfrm>
          <a:prstGeom prst="line">
            <a:avLst/>
          </a:prstGeom>
          <a:ln>
            <a:solidFill>
              <a:srgbClr val="FF0000">
                <a:alpha val="44000"/>
              </a:srgb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8">
            <a:extLst>
              <a:ext uri="{FF2B5EF4-FFF2-40B4-BE49-F238E27FC236}">
                <a16:creationId xmlns:a16="http://schemas.microsoft.com/office/drawing/2014/main" id="{28CCA761-829B-A7F6-FE48-2E8E66A5B9C6}"/>
              </a:ext>
            </a:extLst>
          </p:cNvPr>
          <p:cNvSpPr txBox="1"/>
          <p:nvPr/>
        </p:nvSpPr>
        <p:spPr>
          <a:xfrm>
            <a:off x="7684677" y="2250040"/>
            <a:ext cx="777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800" b="1" i="0" dirty="0">
                <a:solidFill>
                  <a:srgbClr val="1E2761"/>
                </a:solidFill>
                <a:latin typeface="Calibri"/>
              </a:rPr>
              <a:t>Ventana de comparación</a:t>
            </a:r>
            <a:endParaRPr sz="1300" b="1" i="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70" name="TextBox 8">
            <a:extLst>
              <a:ext uri="{FF2B5EF4-FFF2-40B4-BE49-F238E27FC236}">
                <a16:creationId xmlns:a16="http://schemas.microsoft.com/office/drawing/2014/main" id="{A73DE50D-0381-7BE9-3902-878DE2C04E3A}"/>
              </a:ext>
            </a:extLst>
          </p:cNvPr>
          <p:cNvSpPr txBox="1"/>
          <p:nvPr/>
        </p:nvSpPr>
        <p:spPr>
          <a:xfrm>
            <a:off x="1974626" y="2245185"/>
            <a:ext cx="777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800" b="1" i="0" dirty="0">
                <a:solidFill>
                  <a:srgbClr val="1E2761"/>
                </a:solidFill>
                <a:latin typeface="Calibri"/>
              </a:rPr>
              <a:t>Ventana de comparación</a:t>
            </a:r>
            <a:endParaRPr sz="1300" b="1" i="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71" name="TextBox 8">
            <a:extLst>
              <a:ext uri="{FF2B5EF4-FFF2-40B4-BE49-F238E27FC236}">
                <a16:creationId xmlns:a16="http://schemas.microsoft.com/office/drawing/2014/main" id="{E8888BB3-DF6D-6917-A9D3-C56B72421EEA}"/>
              </a:ext>
            </a:extLst>
          </p:cNvPr>
          <p:cNvSpPr txBox="1"/>
          <p:nvPr/>
        </p:nvSpPr>
        <p:spPr>
          <a:xfrm>
            <a:off x="409810" y="3969152"/>
            <a:ext cx="53369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700" b="1" i="0" dirty="0">
                <a:solidFill>
                  <a:srgbClr val="2C4A7C"/>
                </a:solidFill>
                <a:latin typeface="Calibri"/>
              </a:rPr>
              <a:t>46% prom.</a:t>
            </a:r>
            <a:endParaRPr sz="700" b="1" i="0" dirty="0">
              <a:solidFill>
                <a:srgbClr val="2C4A7C"/>
              </a:solidFill>
              <a:latin typeface="Calibri"/>
            </a:endParaRPr>
          </a:p>
        </p:txBody>
      </p:sp>
      <p:sp>
        <p:nvSpPr>
          <p:cNvPr id="72" name="TextBox 8">
            <a:extLst>
              <a:ext uri="{FF2B5EF4-FFF2-40B4-BE49-F238E27FC236}">
                <a16:creationId xmlns:a16="http://schemas.microsoft.com/office/drawing/2014/main" id="{7C70F2D6-81AF-1752-5912-75FF3675D0C5}"/>
              </a:ext>
            </a:extLst>
          </p:cNvPr>
          <p:cNvSpPr txBox="1"/>
          <p:nvPr/>
        </p:nvSpPr>
        <p:spPr>
          <a:xfrm>
            <a:off x="409810" y="4114453"/>
            <a:ext cx="53369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700" b="1" i="0" dirty="0">
                <a:solidFill>
                  <a:srgbClr val="C00000"/>
                </a:solidFill>
                <a:latin typeface="Calibri"/>
              </a:rPr>
              <a:t>43% prom.</a:t>
            </a:r>
            <a:endParaRPr sz="700" b="1" i="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73" name="TextBox 8">
            <a:extLst>
              <a:ext uri="{FF2B5EF4-FFF2-40B4-BE49-F238E27FC236}">
                <a16:creationId xmlns:a16="http://schemas.microsoft.com/office/drawing/2014/main" id="{964E2976-04BE-BF25-AE04-6E50AC053361}"/>
              </a:ext>
            </a:extLst>
          </p:cNvPr>
          <p:cNvSpPr txBox="1"/>
          <p:nvPr/>
        </p:nvSpPr>
        <p:spPr>
          <a:xfrm>
            <a:off x="409810" y="4342918"/>
            <a:ext cx="53369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700" b="1" dirty="0">
                <a:solidFill>
                  <a:srgbClr val="2F7D5A"/>
                </a:solidFill>
                <a:latin typeface="Calibri"/>
              </a:rPr>
              <a:t>39</a:t>
            </a:r>
            <a:r>
              <a:rPr lang="es-419" sz="700" b="1" i="0" dirty="0">
                <a:solidFill>
                  <a:srgbClr val="2F7D5A"/>
                </a:solidFill>
                <a:latin typeface="Calibri"/>
              </a:rPr>
              <a:t>% prom.</a:t>
            </a:r>
            <a:endParaRPr sz="700" b="1" i="0" dirty="0">
              <a:solidFill>
                <a:srgbClr val="2F7D5A"/>
              </a:solidFill>
              <a:latin typeface="Calibri"/>
            </a:endParaRPr>
          </a:p>
        </p:txBody>
      </p:sp>
      <p:sp>
        <p:nvSpPr>
          <p:cNvPr id="74" name="TextBox 8">
            <a:extLst>
              <a:ext uri="{FF2B5EF4-FFF2-40B4-BE49-F238E27FC236}">
                <a16:creationId xmlns:a16="http://schemas.microsoft.com/office/drawing/2014/main" id="{F6349D85-B581-614B-1719-F4A34B661570}"/>
              </a:ext>
            </a:extLst>
          </p:cNvPr>
          <p:cNvSpPr txBox="1"/>
          <p:nvPr/>
        </p:nvSpPr>
        <p:spPr>
          <a:xfrm>
            <a:off x="6213348" y="4738416"/>
            <a:ext cx="53369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700" b="1" dirty="0">
                <a:solidFill>
                  <a:srgbClr val="2C4A7C"/>
                </a:solidFill>
                <a:latin typeface="Calibri"/>
              </a:rPr>
              <a:t>22</a:t>
            </a:r>
            <a:r>
              <a:rPr lang="es-419" sz="700" b="1" i="0" dirty="0">
                <a:solidFill>
                  <a:srgbClr val="2C4A7C"/>
                </a:solidFill>
                <a:latin typeface="Calibri"/>
              </a:rPr>
              <a:t>% prom.</a:t>
            </a:r>
            <a:endParaRPr sz="700" b="1" i="0" dirty="0">
              <a:solidFill>
                <a:srgbClr val="2C4A7C"/>
              </a:solidFill>
              <a:latin typeface="Calibri"/>
            </a:endParaRPr>
          </a:p>
        </p:txBody>
      </p:sp>
      <p:sp>
        <p:nvSpPr>
          <p:cNvPr id="75" name="TextBox 8">
            <a:extLst>
              <a:ext uri="{FF2B5EF4-FFF2-40B4-BE49-F238E27FC236}">
                <a16:creationId xmlns:a16="http://schemas.microsoft.com/office/drawing/2014/main" id="{7DDA129B-60AF-1FBA-7E5E-A5DCA3958913}"/>
              </a:ext>
            </a:extLst>
          </p:cNvPr>
          <p:cNvSpPr txBox="1"/>
          <p:nvPr/>
        </p:nvSpPr>
        <p:spPr>
          <a:xfrm>
            <a:off x="6213347" y="4605739"/>
            <a:ext cx="53369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700" b="1" dirty="0">
                <a:solidFill>
                  <a:srgbClr val="C00000"/>
                </a:solidFill>
                <a:latin typeface="Calibri"/>
              </a:rPr>
              <a:t>27</a:t>
            </a:r>
            <a:r>
              <a:rPr lang="es-419" sz="700" b="1" i="0" dirty="0">
                <a:solidFill>
                  <a:srgbClr val="C00000"/>
                </a:solidFill>
                <a:latin typeface="Calibri"/>
              </a:rPr>
              <a:t>% prom.</a:t>
            </a:r>
            <a:endParaRPr sz="700" b="1" i="0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76" name="TextBox 8">
            <a:extLst>
              <a:ext uri="{FF2B5EF4-FFF2-40B4-BE49-F238E27FC236}">
                <a16:creationId xmlns:a16="http://schemas.microsoft.com/office/drawing/2014/main" id="{A4EC6BCF-F268-F99A-5414-CEFD69FC3BD3}"/>
              </a:ext>
            </a:extLst>
          </p:cNvPr>
          <p:cNvSpPr txBox="1"/>
          <p:nvPr/>
        </p:nvSpPr>
        <p:spPr>
          <a:xfrm>
            <a:off x="6219467" y="4909226"/>
            <a:ext cx="533693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700" b="1" dirty="0">
                <a:solidFill>
                  <a:srgbClr val="2F7D5A"/>
                </a:solidFill>
                <a:latin typeface="Calibri"/>
              </a:rPr>
              <a:t>21</a:t>
            </a:r>
            <a:r>
              <a:rPr lang="es-419" sz="700" b="1" i="0" dirty="0">
                <a:solidFill>
                  <a:srgbClr val="2F7D5A"/>
                </a:solidFill>
                <a:latin typeface="Calibri"/>
              </a:rPr>
              <a:t>% prom.</a:t>
            </a:r>
            <a:endParaRPr sz="700" b="1" i="0" dirty="0">
              <a:solidFill>
                <a:srgbClr val="2F7D5A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0092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Producción por país — composición anual</a:t>
            </a:r>
            <a:endParaRPr sz="2600" b="1" i="0" dirty="0">
              <a:solidFill>
                <a:srgbClr val="232733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 dirty="0" err="1">
                <a:solidFill>
                  <a:srgbClr val="6B7280"/>
                </a:solidFill>
                <a:latin typeface="Calibri"/>
              </a:rPr>
              <a:t>Distribución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de la </a:t>
            </a:r>
            <a:r>
              <a:rPr lang="es-419" sz="1350" i="1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(EDP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)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país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cada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;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total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anual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va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al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centro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cada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dona.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253929"/>
              </p:ext>
            </p:extLst>
          </p:nvPr>
        </p:nvGraphicFramePr>
        <p:xfrm>
          <a:off x="548640" y="1783080"/>
          <a:ext cx="3566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411224" y="3433791"/>
            <a:ext cx="1828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 dirty="0">
                <a:solidFill>
                  <a:srgbClr val="1E2761"/>
                </a:solidFill>
                <a:latin typeface="Calibri"/>
              </a:rPr>
              <a:t>$7.1M</a:t>
            </a:r>
            <a:r>
              <a:rPr lang="es-419" sz="1900" b="1" i="0" dirty="0">
                <a:solidFill>
                  <a:srgbClr val="1E2761"/>
                </a:solidFill>
                <a:latin typeface="Calibri"/>
              </a:rPr>
              <a:t>USD</a:t>
            </a:r>
            <a:endParaRPr sz="1900" b="1" i="0" dirty="0">
              <a:solidFill>
                <a:srgbClr val="1E2761"/>
              </a:solidFill>
              <a:latin typeface="Calibri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80400"/>
              </p:ext>
            </p:extLst>
          </p:nvPr>
        </p:nvGraphicFramePr>
        <p:xfrm>
          <a:off x="4315968" y="1783080"/>
          <a:ext cx="3566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84648" y="3438622"/>
            <a:ext cx="1828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 dirty="0">
                <a:solidFill>
                  <a:srgbClr val="1E2761"/>
                </a:solidFill>
                <a:latin typeface="Calibri"/>
              </a:rPr>
              <a:t>$8.4M</a:t>
            </a:r>
            <a:r>
              <a:rPr lang="es-419" sz="1900" b="1" i="0" dirty="0">
                <a:solidFill>
                  <a:srgbClr val="1E2761"/>
                </a:solidFill>
                <a:latin typeface="Calibri"/>
              </a:rPr>
              <a:t>USD</a:t>
            </a:r>
            <a:endParaRPr sz="1900" b="1" i="0" dirty="0">
              <a:solidFill>
                <a:srgbClr val="1E2761"/>
              </a:solidFill>
              <a:latin typeface="Calibri"/>
            </a:endParaRP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084881"/>
              </p:ext>
            </p:extLst>
          </p:nvPr>
        </p:nvGraphicFramePr>
        <p:xfrm>
          <a:off x="8083296" y="1783080"/>
          <a:ext cx="35661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951976" y="3438622"/>
            <a:ext cx="1828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 dirty="0">
                <a:solidFill>
                  <a:srgbClr val="1E2761"/>
                </a:solidFill>
                <a:latin typeface="Calibri"/>
              </a:rPr>
              <a:t>$9.5M</a:t>
            </a:r>
            <a:r>
              <a:rPr lang="es-419" sz="1900" b="1" i="0" dirty="0">
                <a:solidFill>
                  <a:srgbClr val="1E2761"/>
                </a:solidFill>
                <a:latin typeface="Calibri"/>
              </a:rPr>
              <a:t>USD</a:t>
            </a:r>
            <a:endParaRPr sz="1900" b="1" i="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81912" y="5468112"/>
            <a:ext cx="219456" cy="219456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92808" y="5422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Chile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5468112"/>
            <a:ext cx="219456" cy="219456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0168" y="5422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Perú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56632" y="5468112"/>
            <a:ext cx="219456" cy="21945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7528" y="5422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Brasil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3992" y="5468112"/>
            <a:ext cx="219456" cy="219456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04888" y="5422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USA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31352" y="5468112"/>
            <a:ext cx="219456" cy="219456"/>
          </a:xfrm>
          <a:prstGeom prst="rect">
            <a:avLst/>
          </a:prstGeom>
          <a:solidFill>
            <a:srgbClr val="8E5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42248" y="5422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Rusia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68712" y="5468112"/>
            <a:ext cx="219456" cy="21945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79608" y="542239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32733"/>
                </a:solidFill>
                <a:latin typeface="Calibri"/>
              </a:rPr>
              <a:t>Otros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año. 'Otros' = BVI y Canadá.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380390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E7D5B"/>
                </a:solidFill>
                <a:latin typeface="Calibri"/>
              </a:rPr>
              <a:t>▲ +19,1%  vs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7655" y="380390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2E7D5B"/>
                </a:solidFill>
                <a:latin typeface="Calibri"/>
              </a:rPr>
              <a:t>▲ +12,6%  vs 2024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797296"/>
            <a:ext cx="11100816" cy="585216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5797296"/>
            <a:ext cx="54864" cy="585216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88873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C8862D"/>
                </a:solidFill>
                <a:latin typeface="Calibri"/>
              </a:rPr>
              <a:t>NOTA · DIVERSIFICACIÓN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6247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232733"/>
                </a:solidFill>
                <a:latin typeface="Calibri"/>
              </a:rPr>
              <a:t>El crecimiento del período (+34,0 % ’23→’25) no viene de Chile: Chile cae de $4,3M a $3,3M (−24 %) y su peso baja de 61 % a 34 %. </a:t>
            </a:r>
            <a:r>
              <a:rPr sz="900" b="1" i="0">
                <a:solidFill>
                  <a:srgbClr val="1E2761"/>
                </a:solidFill>
                <a:latin typeface="Calibri"/>
              </a:rPr>
              <a:t>Perú (+52 %), Brasil (×2,5) y USA (×16) absorben todo el crecimiento; los países efectivos (1/HHI) pasan de 2,3 a 3,9.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740082-FCCF-A15B-E7C1-99C054FD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ounded Rectangle 164"/>
          <p:cNvSpPr/>
          <p:nvPr/>
        </p:nvSpPr>
        <p:spPr>
          <a:xfrm>
            <a:off x="274320" y="3877056"/>
            <a:ext cx="11640312" cy="2139696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1">
            <a:extLst>
              <a:ext uri="{FF2B5EF4-FFF2-40B4-BE49-F238E27FC236}">
                <a16:creationId xmlns:a16="http://schemas.microsoft.com/office/drawing/2014/main" id="{5B0A04FA-67A7-B836-579B-DB21EC25E3D1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27" name="Oval 2">
            <a:extLst>
              <a:ext uri="{FF2B5EF4-FFF2-40B4-BE49-F238E27FC236}">
                <a16:creationId xmlns:a16="http://schemas.microsoft.com/office/drawing/2014/main" id="{6F9BC30B-2DDF-3E0F-E4DD-B09E4AF0582B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3">
            <a:extLst>
              <a:ext uri="{FF2B5EF4-FFF2-40B4-BE49-F238E27FC236}">
                <a16:creationId xmlns:a16="http://schemas.microsoft.com/office/drawing/2014/main" id="{1094B27F-9F90-A10A-F66D-ABD5BB3F4277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EF114A43-B3BC-D074-682C-F88F960D034C}"/>
              </a:ext>
            </a:extLst>
          </p:cNvPr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dirty="0">
                <a:solidFill>
                  <a:srgbClr val="232733"/>
                </a:solidFill>
                <a:latin typeface="Calibri"/>
              </a:rPr>
              <a:t>Producción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y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dotación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por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país</a:t>
            </a:r>
            <a:endParaRPr sz="2600" b="1" i="0" dirty="0">
              <a:solidFill>
                <a:srgbClr val="232733"/>
              </a:solidFill>
              <a:latin typeface="Calibri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668CF073-B962-678A-6E6C-57684CE029AB}"/>
              </a:ext>
            </a:extLst>
          </p:cNvPr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 dirty="0">
                <a:solidFill>
                  <a:srgbClr val="6B7280"/>
                </a:solidFill>
                <a:latin typeface="Calibri"/>
              </a:rPr>
              <a:t>Por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país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: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evolución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de la </a:t>
            </a:r>
            <a:r>
              <a:rPr lang="es-419" sz="1350" i="1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anual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(EDP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, MUSD) y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composición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de la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dotación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2025 vs 2026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categoría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.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8B279AA1-4FD3-3C3E-75BA-40FE926B4F80}"/>
              </a:ext>
            </a:extLst>
          </p:cNvPr>
          <p:cNvSpPr txBox="1"/>
          <p:nvPr/>
        </p:nvSpPr>
        <p:spPr>
          <a:xfrm>
            <a:off x="320040" y="1783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sp>
        <p:nvSpPr>
          <p:cNvPr id="32" name="Rounded Rectangle 7">
            <a:extLst>
              <a:ext uri="{FF2B5EF4-FFF2-40B4-BE49-F238E27FC236}">
                <a16:creationId xmlns:a16="http://schemas.microsoft.com/office/drawing/2014/main" id="{EE0BF55E-CAA6-1DAD-B78A-1404B063EBFA}"/>
              </a:ext>
            </a:extLst>
          </p:cNvPr>
          <p:cNvSpPr/>
          <p:nvPr/>
        </p:nvSpPr>
        <p:spPr>
          <a:xfrm>
            <a:off x="667512" y="2103120"/>
            <a:ext cx="1554480" cy="274320"/>
          </a:xfrm>
          <a:prstGeom prst="round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8">
            <a:extLst>
              <a:ext uri="{FF2B5EF4-FFF2-40B4-BE49-F238E27FC236}">
                <a16:creationId xmlns:a16="http://schemas.microsoft.com/office/drawing/2014/main" id="{D560B925-AB1A-DA90-4DD1-E8169AD755B7}"/>
              </a:ext>
            </a:extLst>
          </p:cNvPr>
          <p:cNvSpPr txBox="1"/>
          <p:nvPr/>
        </p:nvSpPr>
        <p:spPr>
          <a:xfrm>
            <a:off x="664375" y="2173789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FFFFFF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×0.8</a:t>
            </a:r>
            <a:r>
              <a:rPr lang="es-CL" sz="1000" b="1" i="0" dirty="0">
                <a:solidFill>
                  <a:srgbClr val="FFFFFF"/>
                </a:solidFill>
                <a:latin typeface="Calibri"/>
              </a:rPr>
              <a:t>  </a:t>
            </a:r>
            <a:r>
              <a:rPr lang="es-CL" sz="1000" i="0" dirty="0">
                <a:solidFill>
                  <a:srgbClr val="FFFFFF"/>
                </a:solidFill>
                <a:latin typeface="Calibri"/>
              </a:rPr>
              <a:t>’23→’25</a:t>
            </a:r>
            <a:endParaRPr sz="100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AD83CB5B-4012-8922-F16F-D74A6D46CBBA}"/>
              </a:ext>
            </a:extLst>
          </p:cNvPr>
          <p:cNvSpPr/>
          <p:nvPr/>
        </p:nvSpPr>
        <p:spPr>
          <a:xfrm>
            <a:off x="594359" y="2783318"/>
            <a:ext cx="420624" cy="828561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0">
            <a:extLst>
              <a:ext uri="{FF2B5EF4-FFF2-40B4-BE49-F238E27FC236}">
                <a16:creationId xmlns:a16="http://schemas.microsoft.com/office/drawing/2014/main" id="{190582AB-9600-1DAF-D8CE-126B390382CC}"/>
              </a:ext>
            </a:extLst>
          </p:cNvPr>
          <p:cNvSpPr txBox="1"/>
          <p:nvPr/>
        </p:nvSpPr>
        <p:spPr>
          <a:xfrm>
            <a:off x="466343" y="2582150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E2761"/>
                </a:solidFill>
                <a:latin typeface="Calibri"/>
              </a:rPr>
              <a:t>4.3</a:t>
            </a:r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A70B91DC-46F3-5E86-FDE9-E6E5ABF2905F}"/>
              </a:ext>
            </a:extLst>
          </p:cNvPr>
          <p:cNvSpPr txBox="1"/>
          <p:nvPr/>
        </p:nvSpPr>
        <p:spPr>
          <a:xfrm>
            <a:off x="466343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37" name="Rectangle 12">
            <a:extLst>
              <a:ext uri="{FF2B5EF4-FFF2-40B4-BE49-F238E27FC236}">
                <a16:creationId xmlns:a16="http://schemas.microsoft.com/office/drawing/2014/main" id="{91C96509-EDBC-BEA3-48D3-9C529C5DD75D}"/>
              </a:ext>
            </a:extLst>
          </p:cNvPr>
          <p:cNvSpPr/>
          <p:nvPr/>
        </p:nvSpPr>
        <p:spPr>
          <a:xfrm>
            <a:off x="1197864" y="2931923"/>
            <a:ext cx="420624" cy="67995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3B49F21C-A442-CDA0-EBC8-2DD9C6555F37}"/>
              </a:ext>
            </a:extLst>
          </p:cNvPr>
          <p:cNvSpPr txBox="1"/>
          <p:nvPr/>
        </p:nvSpPr>
        <p:spPr>
          <a:xfrm>
            <a:off x="1069848" y="2730755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3.5</a:t>
            </a:r>
          </a:p>
        </p:txBody>
      </p:sp>
      <p:sp>
        <p:nvSpPr>
          <p:cNvPr id="39" name="TextBox 14">
            <a:extLst>
              <a:ext uri="{FF2B5EF4-FFF2-40B4-BE49-F238E27FC236}">
                <a16:creationId xmlns:a16="http://schemas.microsoft.com/office/drawing/2014/main" id="{5B7C9C4D-9F71-CD50-56BE-F5BDABE6D5B2}"/>
              </a:ext>
            </a:extLst>
          </p:cNvPr>
          <p:cNvSpPr txBox="1"/>
          <p:nvPr/>
        </p:nvSpPr>
        <p:spPr>
          <a:xfrm>
            <a:off x="1069848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40" name="Rectangle 15">
            <a:extLst>
              <a:ext uri="{FF2B5EF4-FFF2-40B4-BE49-F238E27FC236}">
                <a16:creationId xmlns:a16="http://schemas.microsoft.com/office/drawing/2014/main" id="{5E425FEB-E16C-5B89-BE66-E3531E417160}"/>
              </a:ext>
            </a:extLst>
          </p:cNvPr>
          <p:cNvSpPr/>
          <p:nvPr/>
        </p:nvSpPr>
        <p:spPr>
          <a:xfrm>
            <a:off x="1801368" y="2983837"/>
            <a:ext cx="420624" cy="62804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16">
            <a:extLst>
              <a:ext uri="{FF2B5EF4-FFF2-40B4-BE49-F238E27FC236}">
                <a16:creationId xmlns:a16="http://schemas.microsoft.com/office/drawing/2014/main" id="{5B77A8C0-7A46-3E13-9DCC-EC5574F069A8}"/>
              </a:ext>
            </a:extLst>
          </p:cNvPr>
          <p:cNvSpPr txBox="1"/>
          <p:nvPr/>
        </p:nvSpPr>
        <p:spPr>
          <a:xfrm>
            <a:off x="1673352" y="2782669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E2761"/>
                </a:solidFill>
                <a:latin typeface="Calibri"/>
              </a:rPr>
              <a:t>3.3</a:t>
            </a: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64DA3FAF-7F8A-9A03-947F-C2BB97FB01D7}"/>
              </a:ext>
            </a:extLst>
          </p:cNvPr>
          <p:cNvSpPr txBox="1"/>
          <p:nvPr/>
        </p:nvSpPr>
        <p:spPr>
          <a:xfrm>
            <a:off x="1673352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43" name="Rectangle 18">
            <a:extLst>
              <a:ext uri="{FF2B5EF4-FFF2-40B4-BE49-F238E27FC236}">
                <a16:creationId xmlns:a16="http://schemas.microsoft.com/office/drawing/2014/main" id="{88A0D4BD-3DB2-C95B-1534-DFAD1BBD3A8C}"/>
              </a:ext>
            </a:extLst>
          </p:cNvPr>
          <p:cNvSpPr/>
          <p:nvPr/>
        </p:nvSpPr>
        <p:spPr>
          <a:xfrm>
            <a:off x="594359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ounded Rectangle 165"/>
          <p:cNvSpPr/>
          <p:nvPr/>
        </p:nvSpPr>
        <p:spPr>
          <a:xfrm>
            <a:off x="667512" y="3986784"/>
            <a:ext cx="1554480" cy="274320"/>
          </a:xfrm>
          <a:prstGeom prst="roundRect">
            <a:avLst>
              <a:gd name="adj" fmla="val 25936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4" name="TextBox 19">
            <a:extLst>
              <a:ext uri="{FF2B5EF4-FFF2-40B4-BE49-F238E27FC236}">
                <a16:creationId xmlns:a16="http://schemas.microsoft.com/office/drawing/2014/main" id="{605A9744-1515-FD60-713A-896F94698C2C}"/>
              </a:ext>
            </a:extLst>
          </p:cNvPr>
          <p:cNvSpPr txBox="1"/>
          <p:nvPr/>
        </p:nvSpPr>
        <p:spPr>
          <a:xfrm>
            <a:off x="667512" y="405993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Dotación  55 → 76</a:t>
            </a:r>
          </a:p>
        </p:txBody>
      </p:sp>
      <p:sp>
        <p:nvSpPr>
          <p:cNvPr id="45" name="TextBox 20">
            <a:extLst>
              <a:ext uri="{FF2B5EF4-FFF2-40B4-BE49-F238E27FC236}">
                <a16:creationId xmlns:a16="http://schemas.microsoft.com/office/drawing/2014/main" id="{F7E5770E-8543-ECA9-1241-649D270DCCF7}"/>
              </a:ext>
            </a:extLst>
          </p:cNvPr>
          <p:cNvSpPr txBox="1"/>
          <p:nvPr/>
        </p:nvSpPr>
        <p:spPr>
          <a:xfrm>
            <a:off x="676656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46" name="Rectangle 21">
            <a:extLst>
              <a:ext uri="{FF2B5EF4-FFF2-40B4-BE49-F238E27FC236}">
                <a16:creationId xmlns:a16="http://schemas.microsoft.com/office/drawing/2014/main" id="{F4AC3CB8-D161-F09B-0D14-5BD31EE48D8D}"/>
              </a:ext>
            </a:extLst>
          </p:cNvPr>
          <p:cNvSpPr/>
          <p:nvPr/>
        </p:nvSpPr>
        <p:spPr>
          <a:xfrm>
            <a:off x="786384" y="5123154"/>
            <a:ext cx="566928" cy="619277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23B8E976-92C2-FDDB-20CF-17F7FC7BDE77}"/>
              </a:ext>
            </a:extLst>
          </p:cNvPr>
          <p:cNvSpPr txBox="1"/>
          <p:nvPr/>
        </p:nvSpPr>
        <p:spPr>
          <a:xfrm>
            <a:off x="786384" y="5354154"/>
            <a:ext cx="566928" cy="15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48" name="Rectangle 23">
            <a:extLst>
              <a:ext uri="{FF2B5EF4-FFF2-40B4-BE49-F238E27FC236}">
                <a16:creationId xmlns:a16="http://schemas.microsoft.com/office/drawing/2014/main" id="{B58BB41F-902E-9F5D-8E41-8D0ADD83AE26}"/>
              </a:ext>
            </a:extLst>
          </p:cNvPr>
          <p:cNvSpPr/>
          <p:nvPr/>
        </p:nvSpPr>
        <p:spPr>
          <a:xfrm>
            <a:off x="786384" y="5064175"/>
            <a:ext cx="566928" cy="58978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24">
            <a:extLst>
              <a:ext uri="{FF2B5EF4-FFF2-40B4-BE49-F238E27FC236}">
                <a16:creationId xmlns:a16="http://schemas.microsoft.com/office/drawing/2014/main" id="{5F31D42B-1706-874A-FAE0-9D9043E71C4A}"/>
              </a:ext>
            </a:extLst>
          </p:cNvPr>
          <p:cNvSpPr/>
          <p:nvPr/>
        </p:nvSpPr>
        <p:spPr>
          <a:xfrm>
            <a:off x="786384" y="5005197"/>
            <a:ext cx="566928" cy="58978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25">
            <a:extLst>
              <a:ext uri="{FF2B5EF4-FFF2-40B4-BE49-F238E27FC236}">
                <a16:creationId xmlns:a16="http://schemas.microsoft.com/office/drawing/2014/main" id="{4D888D5D-B1E5-8070-F7D8-1CA5DD4A8CCF}"/>
              </a:ext>
            </a:extLst>
          </p:cNvPr>
          <p:cNvSpPr/>
          <p:nvPr/>
        </p:nvSpPr>
        <p:spPr>
          <a:xfrm>
            <a:off x="786384" y="4931473"/>
            <a:ext cx="566928" cy="73723"/>
          </a:xfrm>
          <a:prstGeom prst="rect">
            <a:avLst/>
          </a:prstGeom>
          <a:solidFill>
            <a:srgbClr val="6B728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26">
            <a:extLst>
              <a:ext uri="{FF2B5EF4-FFF2-40B4-BE49-F238E27FC236}">
                <a16:creationId xmlns:a16="http://schemas.microsoft.com/office/drawing/2014/main" id="{1FA82A7D-2451-4011-8C7B-7F80660F3BEC}"/>
              </a:ext>
            </a:extLst>
          </p:cNvPr>
          <p:cNvSpPr txBox="1"/>
          <p:nvPr/>
        </p:nvSpPr>
        <p:spPr>
          <a:xfrm>
            <a:off x="676656" y="4758469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 dirty="0">
                <a:solidFill>
                  <a:srgbClr val="1E2761"/>
                </a:solidFill>
                <a:latin typeface="Calibri"/>
              </a:rPr>
              <a:t>55</a:t>
            </a:r>
          </a:p>
        </p:txBody>
      </p:sp>
      <p:sp>
        <p:nvSpPr>
          <p:cNvPr id="52" name="TextBox 27">
            <a:extLst>
              <a:ext uri="{FF2B5EF4-FFF2-40B4-BE49-F238E27FC236}">
                <a16:creationId xmlns:a16="http://schemas.microsoft.com/office/drawing/2014/main" id="{01B00590-7BCD-B75F-DA89-A9CA2D42C456}"/>
              </a:ext>
            </a:extLst>
          </p:cNvPr>
          <p:cNvSpPr txBox="1"/>
          <p:nvPr/>
        </p:nvSpPr>
        <p:spPr>
          <a:xfrm>
            <a:off x="1426464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53" name="Rectangle 28">
            <a:extLst>
              <a:ext uri="{FF2B5EF4-FFF2-40B4-BE49-F238E27FC236}">
                <a16:creationId xmlns:a16="http://schemas.microsoft.com/office/drawing/2014/main" id="{BA0D3F23-EBE9-485D-4AF2-83C2CCA02A7F}"/>
              </a:ext>
            </a:extLst>
          </p:cNvPr>
          <p:cNvSpPr/>
          <p:nvPr/>
        </p:nvSpPr>
        <p:spPr>
          <a:xfrm>
            <a:off x="1536192" y="4946218"/>
            <a:ext cx="566928" cy="796213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29">
            <a:extLst>
              <a:ext uri="{FF2B5EF4-FFF2-40B4-BE49-F238E27FC236}">
                <a16:creationId xmlns:a16="http://schemas.microsoft.com/office/drawing/2014/main" id="{5FC5B955-D519-DD72-DE12-3B7D4D2E66E8}"/>
              </a:ext>
            </a:extLst>
          </p:cNvPr>
          <p:cNvSpPr txBox="1"/>
          <p:nvPr/>
        </p:nvSpPr>
        <p:spPr>
          <a:xfrm>
            <a:off x="1536192" y="5265686"/>
            <a:ext cx="566928" cy="15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54</a:t>
            </a:r>
          </a:p>
        </p:txBody>
      </p:sp>
      <p:sp>
        <p:nvSpPr>
          <p:cNvPr id="55" name="Rectangle 30">
            <a:extLst>
              <a:ext uri="{FF2B5EF4-FFF2-40B4-BE49-F238E27FC236}">
                <a16:creationId xmlns:a16="http://schemas.microsoft.com/office/drawing/2014/main" id="{5D4DD94E-27D4-6783-4D48-C9DB4F5AF14F}"/>
              </a:ext>
            </a:extLst>
          </p:cNvPr>
          <p:cNvSpPr/>
          <p:nvPr/>
        </p:nvSpPr>
        <p:spPr>
          <a:xfrm>
            <a:off x="1536192" y="4828260"/>
            <a:ext cx="566928" cy="117956"/>
          </a:xfrm>
          <a:prstGeom prst="rect">
            <a:avLst/>
          </a:prstGeom>
          <a:solidFill>
            <a:srgbClr val="3E6FB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31">
            <a:extLst>
              <a:ext uri="{FF2B5EF4-FFF2-40B4-BE49-F238E27FC236}">
                <a16:creationId xmlns:a16="http://schemas.microsoft.com/office/drawing/2014/main" id="{AD9E042A-959A-6E76-8E58-CED37CA546BC}"/>
              </a:ext>
            </a:extLst>
          </p:cNvPr>
          <p:cNvSpPr/>
          <p:nvPr/>
        </p:nvSpPr>
        <p:spPr>
          <a:xfrm>
            <a:off x="1536192" y="4739792"/>
            <a:ext cx="566928" cy="88467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32">
            <a:extLst>
              <a:ext uri="{FF2B5EF4-FFF2-40B4-BE49-F238E27FC236}">
                <a16:creationId xmlns:a16="http://schemas.microsoft.com/office/drawing/2014/main" id="{F3B86869-EBDB-3F7B-6282-B05204E99C86}"/>
              </a:ext>
            </a:extLst>
          </p:cNvPr>
          <p:cNvSpPr/>
          <p:nvPr/>
        </p:nvSpPr>
        <p:spPr>
          <a:xfrm>
            <a:off x="1536192" y="4666068"/>
            <a:ext cx="566928" cy="73722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33">
            <a:extLst>
              <a:ext uri="{FF2B5EF4-FFF2-40B4-BE49-F238E27FC236}">
                <a16:creationId xmlns:a16="http://schemas.microsoft.com/office/drawing/2014/main" id="{3DAA749F-22AA-9B62-0FD0-457D5FE6B7B6}"/>
              </a:ext>
            </a:extLst>
          </p:cNvPr>
          <p:cNvSpPr/>
          <p:nvPr/>
        </p:nvSpPr>
        <p:spPr>
          <a:xfrm>
            <a:off x="1536192" y="4621834"/>
            <a:ext cx="566928" cy="44233"/>
          </a:xfrm>
          <a:prstGeom prst="rect">
            <a:avLst/>
          </a:prstGeom>
          <a:solidFill>
            <a:srgbClr val="6B728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34">
            <a:extLst>
              <a:ext uri="{FF2B5EF4-FFF2-40B4-BE49-F238E27FC236}">
                <a16:creationId xmlns:a16="http://schemas.microsoft.com/office/drawing/2014/main" id="{4A8312C7-EB4B-241C-E286-FA2A843F45DF}"/>
              </a:ext>
            </a:extLst>
          </p:cNvPr>
          <p:cNvSpPr txBox="1"/>
          <p:nvPr/>
        </p:nvSpPr>
        <p:spPr>
          <a:xfrm>
            <a:off x="1426464" y="4448830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76</a:t>
            </a:r>
          </a:p>
        </p:txBody>
      </p:sp>
      <p:sp>
        <p:nvSpPr>
          <p:cNvPr id="60" name="Rectangle 35">
            <a:extLst>
              <a:ext uri="{FF2B5EF4-FFF2-40B4-BE49-F238E27FC236}">
                <a16:creationId xmlns:a16="http://schemas.microsoft.com/office/drawing/2014/main" id="{8DAFA214-1C7C-A4D3-53CE-3698C8D18392}"/>
              </a:ext>
            </a:extLst>
          </p:cNvPr>
          <p:cNvSpPr/>
          <p:nvPr/>
        </p:nvSpPr>
        <p:spPr>
          <a:xfrm>
            <a:off x="2624328" y="1828800"/>
            <a:ext cx="9144" cy="416052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36">
            <a:extLst>
              <a:ext uri="{FF2B5EF4-FFF2-40B4-BE49-F238E27FC236}">
                <a16:creationId xmlns:a16="http://schemas.microsoft.com/office/drawing/2014/main" id="{205E70E7-CD9E-A8F5-1DBC-83D21DC36BDF}"/>
              </a:ext>
            </a:extLst>
          </p:cNvPr>
          <p:cNvSpPr txBox="1"/>
          <p:nvPr/>
        </p:nvSpPr>
        <p:spPr>
          <a:xfrm>
            <a:off x="2679192" y="1783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sp>
        <p:nvSpPr>
          <p:cNvPr id="62" name="Rounded Rectangle 37">
            <a:extLst>
              <a:ext uri="{FF2B5EF4-FFF2-40B4-BE49-F238E27FC236}">
                <a16:creationId xmlns:a16="http://schemas.microsoft.com/office/drawing/2014/main" id="{71297587-B576-8BDE-5CCD-C685030D40AF}"/>
              </a:ext>
            </a:extLst>
          </p:cNvPr>
          <p:cNvSpPr/>
          <p:nvPr/>
        </p:nvSpPr>
        <p:spPr>
          <a:xfrm>
            <a:off x="3026664" y="2103120"/>
            <a:ext cx="1554480" cy="27432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38">
            <a:extLst>
              <a:ext uri="{FF2B5EF4-FFF2-40B4-BE49-F238E27FC236}">
                <a16:creationId xmlns:a16="http://schemas.microsoft.com/office/drawing/2014/main" id="{67E72315-605C-4D43-616A-B3AB9C5B6928}"/>
              </a:ext>
            </a:extLst>
          </p:cNvPr>
          <p:cNvSpPr txBox="1"/>
          <p:nvPr/>
        </p:nvSpPr>
        <p:spPr>
          <a:xfrm>
            <a:off x="3026664" y="2173789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dirty="0">
                <a:solidFill>
                  <a:srgbClr val="FFFFFF"/>
                </a:solidFill>
                <a:latin typeface="Calibri"/>
              </a:rPr>
              <a:t>P</a:t>
            </a:r>
            <a:r>
              <a:rPr lang="es-419" sz="1000" b="1" i="0" dirty="0">
                <a:solidFill>
                  <a:srgbClr val="FFFFFF"/>
                </a:solidFill>
                <a:latin typeface="Calibri"/>
              </a:rPr>
              <a:t>roducción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×1.5  </a:t>
            </a:r>
            <a:r>
              <a:rPr sz="1000" i="0" dirty="0">
                <a:solidFill>
                  <a:srgbClr val="FFFFFF"/>
                </a:solidFill>
                <a:latin typeface="Calibri"/>
              </a:rPr>
              <a:t>’23→’25</a:t>
            </a:r>
          </a:p>
        </p:txBody>
      </p:sp>
      <p:sp>
        <p:nvSpPr>
          <p:cNvPr id="64" name="Rectangle 39">
            <a:extLst>
              <a:ext uri="{FF2B5EF4-FFF2-40B4-BE49-F238E27FC236}">
                <a16:creationId xmlns:a16="http://schemas.microsoft.com/office/drawing/2014/main" id="{13451A30-AE78-F2C7-DB8E-28215C97D1F1}"/>
              </a:ext>
            </a:extLst>
          </p:cNvPr>
          <p:cNvSpPr/>
          <p:nvPr/>
        </p:nvSpPr>
        <p:spPr>
          <a:xfrm>
            <a:off x="2953512" y="3297804"/>
            <a:ext cx="420624" cy="314075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40">
            <a:extLst>
              <a:ext uri="{FF2B5EF4-FFF2-40B4-BE49-F238E27FC236}">
                <a16:creationId xmlns:a16="http://schemas.microsoft.com/office/drawing/2014/main" id="{08D8C4F4-96F4-CF80-352A-A53B22046DB4}"/>
              </a:ext>
            </a:extLst>
          </p:cNvPr>
          <p:cNvSpPr txBox="1"/>
          <p:nvPr/>
        </p:nvSpPr>
        <p:spPr>
          <a:xfrm>
            <a:off x="2825496" y="3096636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E2761"/>
                </a:solidFill>
                <a:latin typeface="Calibri"/>
              </a:rPr>
              <a:t>1.6</a:t>
            </a:r>
          </a:p>
        </p:txBody>
      </p:sp>
      <p:sp>
        <p:nvSpPr>
          <p:cNvPr id="66" name="TextBox 41">
            <a:extLst>
              <a:ext uri="{FF2B5EF4-FFF2-40B4-BE49-F238E27FC236}">
                <a16:creationId xmlns:a16="http://schemas.microsoft.com/office/drawing/2014/main" id="{7CC43547-E888-7B3F-098F-08470CA076E7}"/>
              </a:ext>
            </a:extLst>
          </p:cNvPr>
          <p:cNvSpPr txBox="1"/>
          <p:nvPr/>
        </p:nvSpPr>
        <p:spPr>
          <a:xfrm>
            <a:off x="2825496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67" name="Rectangle 42">
            <a:extLst>
              <a:ext uri="{FF2B5EF4-FFF2-40B4-BE49-F238E27FC236}">
                <a16:creationId xmlns:a16="http://schemas.microsoft.com/office/drawing/2014/main" id="{5E7BB282-48D5-36A2-0663-4525EF7E90E1}"/>
              </a:ext>
            </a:extLst>
          </p:cNvPr>
          <p:cNvSpPr/>
          <p:nvPr/>
        </p:nvSpPr>
        <p:spPr>
          <a:xfrm>
            <a:off x="3557016" y="3205388"/>
            <a:ext cx="420624" cy="406491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43">
            <a:extLst>
              <a:ext uri="{FF2B5EF4-FFF2-40B4-BE49-F238E27FC236}">
                <a16:creationId xmlns:a16="http://schemas.microsoft.com/office/drawing/2014/main" id="{8B3BD41D-3A8B-439C-0BA4-590B746CD65A}"/>
              </a:ext>
            </a:extLst>
          </p:cNvPr>
          <p:cNvSpPr txBox="1"/>
          <p:nvPr/>
        </p:nvSpPr>
        <p:spPr>
          <a:xfrm>
            <a:off x="3429000" y="3004220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E2761"/>
                </a:solidFill>
                <a:latin typeface="Calibri"/>
              </a:rPr>
              <a:t>2.1</a:t>
            </a:r>
          </a:p>
        </p:txBody>
      </p:sp>
      <p:sp>
        <p:nvSpPr>
          <p:cNvPr id="69" name="TextBox 44">
            <a:extLst>
              <a:ext uri="{FF2B5EF4-FFF2-40B4-BE49-F238E27FC236}">
                <a16:creationId xmlns:a16="http://schemas.microsoft.com/office/drawing/2014/main" id="{9C331717-499A-150C-32DA-82F0726FC5C5}"/>
              </a:ext>
            </a:extLst>
          </p:cNvPr>
          <p:cNvSpPr txBox="1"/>
          <p:nvPr/>
        </p:nvSpPr>
        <p:spPr>
          <a:xfrm>
            <a:off x="3429000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70" name="Rectangle 45">
            <a:extLst>
              <a:ext uri="{FF2B5EF4-FFF2-40B4-BE49-F238E27FC236}">
                <a16:creationId xmlns:a16="http://schemas.microsoft.com/office/drawing/2014/main" id="{08E84348-3282-B1C8-F819-F424EB0C8A00}"/>
              </a:ext>
            </a:extLst>
          </p:cNvPr>
          <p:cNvSpPr/>
          <p:nvPr/>
        </p:nvSpPr>
        <p:spPr>
          <a:xfrm>
            <a:off x="4160520" y="3136026"/>
            <a:ext cx="420624" cy="475853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46">
            <a:extLst>
              <a:ext uri="{FF2B5EF4-FFF2-40B4-BE49-F238E27FC236}">
                <a16:creationId xmlns:a16="http://schemas.microsoft.com/office/drawing/2014/main" id="{E52B32E6-4E55-0FB1-4946-683BB8300500}"/>
              </a:ext>
            </a:extLst>
          </p:cNvPr>
          <p:cNvSpPr txBox="1"/>
          <p:nvPr/>
        </p:nvSpPr>
        <p:spPr>
          <a:xfrm>
            <a:off x="4032504" y="2934858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2.5</a:t>
            </a:r>
          </a:p>
        </p:txBody>
      </p:sp>
      <p:sp>
        <p:nvSpPr>
          <p:cNvPr id="72" name="TextBox 47">
            <a:extLst>
              <a:ext uri="{FF2B5EF4-FFF2-40B4-BE49-F238E27FC236}">
                <a16:creationId xmlns:a16="http://schemas.microsoft.com/office/drawing/2014/main" id="{377B314C-F82A-9779-9842-EAD55BF603FD}"/>
              </a:ext>
            </a:extLst>
          </p:cNvPr>
          <p:cNvSpPr txBox="1"/>
          <p:nvPr/>
        </p:nvSpPr>
        <p:spPr>
          <a:xfrm>
            <a:off x="4032504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73" name="Rectangle 48">
            <a:extLst>
              <a:ext uri="{FF2B5EF4-FFF2-40B4-BE49-F238E27FC236}">
                <a16:creationId xmlns:a16="http://schemas.microsoft.com/office/drawing/2014/main" id="{AEC3E3A8-0C60-A574-D1ED-65646975A3B4}"/>
              </a:ext>
            </a:extLst>
          </p:cNvPr>
          <p:cNvSpPr/>
          <p:nvPr/>
        </p:nvSpPr>
        <p:spPr>
          <a:xfrm>
            <a:off x="2953512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ounded Rectangle 166"/>
          <p:cNvSpPr/>
          <p:nvPr/>
        </p:nvSpPr>
        <p:spPr>
          <a:xfrm>
            <a:off x="3026664" y="3986784"/>
            <a:ext cx="1554480" cy="274320"/>
          </a:xfrm>
          <a:prstGeom prst="roundRect">
            <a:avLst>
              <a:gd name="adj" fmla="val 17904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4" name="TextBox 49">
            <a:extLst>
              <a:ext uri="{FF2B5EF4-FFF2-40B4-BE49-F238E27FC236}">
                <a16:creationId xmlns:a16="http://schemas.microsoft.com/office/drawing/2014/main" id="{7DB97875-62D0-1A49-73CB-D5884E811079}"/>
              </a:ext>
            </a:extLst>
          </p:cNvPr>
          <p:cNvSpPr txBox="1"/>
          <p:nvPr/>
        </p:nvSpPr>
        <p:spPr>
          <a:xfrm>
            <a:off x="3026664" y="405993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Dotación  21 → 30</a:t>
            </a:r>
          </a:p>
        </p:txBody>
      </p:sp>
      <p:sp>
        <p:nvSpPr>
          <p:cNvPr id="75" name="TextBox 50">
            <a:extLst>
              <a:ext uri="{FF2B5EF4-FFF2-40B4-BE49-F238E27FC236}">
                <a16:creationId xmlns:a16="http://schemas.microsoft.com/office/drawing/2014/main" id="{BCF0089F-20E0-121C-BA76-744580AC3735}"/>
              </a:ext>
            </a:extLst>
          </p:cNvPr>
          <p:cNvSpPr txBox="1"/>
          <p:nvPr/>
        </p:nvSpPr>
        <p:spPr>
          <a:xfrm>
            <a:off x="3035808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76" name="Rectangle 51">
            <a:extLst>
              <a:ext uri="{FF2B5EF4-FFF2-40B4-BE49-F238E27FC236}">
                <a16:creationId xmlns:a16="http://schemas.microsoft.com/office/drawing/2014/main" id="{81FCA864-5B4E-F966-CFF3-41B31FBC357C}"/>
              </a:ext>
            </a:extLst>
          </p:cNvPr>
          <p:cNvSpPr/>
          <p:nvPr/>
        </p:nvSpPr>
        <p:spPr>
          <a:xfrm>
            <a:off x="3145536" y="5477027"/>
            <a:ext cx="566928" cy="265404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52">
            <a:extLst>
              <a:ext uri="{FF2B5EF4-FFF2-40B4-BE49-F238E27FC236}">
                <a16:creationId xmlns:a16="http://schemas.microsoft.com/office/drawing/2014/main" id="{0AB35963-E39E-E72E-CFEC-4E0760B931AC}"/>
              </a:ext>
            </a:extLst>
          </p:cNvPr>
          <p:cNvSpPr txBox="1"/>
          <p:nvPr/>
        </p:nvSpPr>
        <p:spPr>
          <a:xfrm>
            <a:off x="3145536" y="5531091"/>
            <a:ext cx="566928" cy="15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78" name="Rectangle 53">
            <a:extLst>
              <a:ext uri="{FF2B5EF4-FFF2-40B4-BE49-F238E27FC236}">
                <a16:creationId xmlns:a16="http://schemas.microsoft.com/office/drawing/2014/main" id="{FAA01B23-861E-E430-B0DD-0FC93FA95D2B}"/>
              </a:ext>
            </a:extLst>
          </p:cNvPr>
          <p:cNvSpPr/>
          <p:nvPr/>
        </p:nvSpPr>
        <p:spPr>
          <a:xfrm>
            <a:off x="3145536" y="5447538"/>
            <a:ext cx="566928" cy="29489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54">
            <a:extLst>
              <a:ext uri="{FF2B5EF4-FFF2-40B4-BE49-F238E27FC236}">
                <a16:creationId xmlns:a16="http://schemas.microsoft.com/office/drawing/2014/main" id="{F3A16DEA-FC4A-371F-3BA5-83EAA00CA019}"/>
              </a:ext>
            </a:extLst>
          </p:cNvPr>
          <p:cNvSpPr/>
          <p:nvPr/>
        </p:nvSpPr>
        <p:spPr>
          <a:xfrm>
            <a:off x="3145536" y="5432793"/>
            <a:ext cx="566928" cy="18288"/>
          </a:xfrm>
          <a:prstGeom prst="rect">
            <a:avLst/>
          </a:prstGeom>
          <a:solidFill>
            <a:srgbClr val="6B728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55">
            <a:extLst>
              <a:ext uri="{FF2B5EF4-FFF2-40B4-BE49-F238E27FC236}">
                <a16:creationId xmlns:a16="http://schemas.microsoft.com/office/drawing/2014/main" id="{0780B9EA-C69C-43B5-5647-20C8143717B8}"/>
              </a:ext>
            </a:extLst>
          </p:cNvPr>
          <p:cNvSpPr txBox="1"/>
          <p:nvPr/>
        </p:nvSpPr>
        <p:spPr>
          <a:xfrm>
            <a:off x="3035808" y="5259788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21</a:t>
            </a:r>
          </a:p>
        </p:txBody>
      </p:sp>
      <p:sp>
        <p:nvSpPr>
          <p:cNvPr id="81" name="TextBox 56">
            <a:extLst>
              <a:ext uri="{FF2B5EF4-FFF2-40B4-BE49-F238E27FC236}">
                <a16:creationId xmlns:a16="http://schemas.microsoft.com/office/drawing/2014/main" id="{771F70F2-53AF-A5B9-DBC0-80176603AEF1}"/>
              </a:ext>
            </a:extLst>
          </p:cNvPr>
          <p:cNvSpPr txBox="1"/>
          <p:nvPr/>
        </p:nvSpPr>
        <p:spPr>
          <a:xfrm>
            <a:off x="3785615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82" name="Rectangle 57">
            <a:extLst>
              <a:ext uri="{FF2B5EF4-FFF2-40B4-BE49-F238E27FC236}">
                <a16:creationId xmlns:a16="http://schemas.microsoft.com/office/drawing/2014/main" id="{A59D884D-7517-0B31-3456-B74F9F6E52B1}"/>
              </a:ext>
            </a:extLst>
          </p:cNvPr>
          <p:cNvSpPr/>
          <p:nvPr/>
        </p:nvSpPr>
        <p:spPr>
          <a:xfrm>
            <a:off x="3895344" y="5491772"/>
            <a:ext cx="566928" cy="250659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58">
            <a:extLst>
              <a:ext uri="{FF2B5EF4-FFF2-40B4-BE49-F238E27FC236}">
                <a16:creationId xmlns:a16="http://schemas.microsoft.com/office/drawing/2014/main" id="{716A3ECB-EBE4-3BAA-A935-903669814B9F}"/>
              </a:ext>
            </a:extLst>
          </p:cNvPr>
          <p:cNvSpPr txBox="1"/>
          <p:nvPr/>
        </p:nvSpPr>
        <p:spPr>
          <a:xfrm>
            <a:off x="3895344" y="5538463"/>
            <a:ext cx="566928" cy="15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84" name="Rectangle 59">
            <a:extLst>
              <a:ext uri="{FF2B5EF4-FFF2-40B4-BE49-F238E27FC236}">
                <a16:creationId xmlns:a16="http://schemas.microsoft.com/office/drawing/2014/main" id="{A27C1CB0-9F78-B11F-4788-1572A91C1368}"/>
              </a:ext>
            </a:extLst>
          </p:cNvPr>
          <p:cNvSpPr/>
          <p:nvPr/>
        </p:nvSpPr>
        <p:spPr>
          <a:xfrm>
            <a:off x="3895344" y="5359069"/>
            <a:ext cx="566928" cy="132701"/>
          </a:xfrm>
          <a:prstGeom prst="rect">
            <a:avLst/>
          </a:prstGeom>
          <a:solidFill>
            <a:srgbClr val="3E6FB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60">
            <a:extLst>
              <a:ext uri="{FF2B5EF4-FFF2-40B4-BE49-F238E27FC236}">
                <a16:creationId xmlns:a16="http://schemas.microsoft.com/office/drawing/2014/main" id="{622A6D5D-7080-190D-F403-0E3945805C5A}"/>
              </a:ext>
            </a:extLst>
          </p:cNvPr>
          <p:cNvSpPr/>
          <p:nvPr/>
        </p:nvSpPr>
        <p:spPr>
          <a:xfrm>
            <a:off x="3895344" y="5329580"/>
            <a:ext cx="566928" cy="29489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61">
            <a:extLst>
              <a:ext uri="{FF2B5EF4-FFF2-40B4-BE49-F238E27FC236}">
                <a16:creationId xmlns:a16="http://schemas.microsoft.com/office/drawing/2014/main" id="{B2A9291F-D8DA-8106-19C6-371376B21644}"/>
              </a:ext>
            </a:extLst>
          </p:cNvPr>
          <p:cNvSpPr/>
          <p:nvPr/>
        </p:nvSpPr>
        <p:spPr>
          <a:xfrm>
            <a:off x="3895344" y="5314835"/>
            <a:ext cx="566928" cy="18288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62">
            <a:extLst>
              <a:ext uri="{FF2B5EF4-FFF2-40B4-BE49-F238E27FC236}">
                <a16:creationId xmlns:a16="http://schemas.microsoft.com/office/drawing/2014/main" id="{379E3DC9-47EC-988D-E18C-2077E2F74CF5}"/>
              </a:ext>
            </a:extLst>
          </p:cNvPr>
          <p:cNvSpPr/>
          <p:nvPr/>
        </p:nvSpPr>
        <p:spPr>
          <a:xfrm>
            <a:off x="3895344" y="5300091"/>
            <a:ext cx="566928" cy="18288"/>
          </a:xfrm>
          <a:prstGeom prst="rect">
            <a:avLst/>
          </a:prstGeom>
          <a:solidFill>
            <a:srgbClr val="6B7280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63">
            <a:extLst>
              <a:ext uri="{FF2B5EF4-FFF2-40B4-BE49-F238E27FC236}">
                <a16:creationId xmlns:a16="http://schemas.microsoft.com/office/drawing/2014/main" id="{90706A50-2F27-BC15-1D2A-ACBE1C82C0DA}"/>
              </a:ext>
            </a:extLst>
          </p:cNvPr>
          <p:cNvSpPr txBox="1"/>
          <p:nvPr/>
        </p:nvSpPr>
        <p:spPr>
          <a:xfrm>
            <a:off x="3785615" y="512708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30</a:t>
            </a:r>
          </a:p>
        </p:txBody>
      </p:sp>
      <p:sp>
        <p:nvSpPr>
          <p:cNvPr id="89" name="Rectangle 64">
            <a:extLst>
              <a:ext uri="{FF2B5EF4-FFF2-40B4-BE49-F238E27FC236}">
                <a16:creationId xmlns:a16="http://schemas.microsoft.com/office/drawing/2014/main" id="{2CA7524A-08EA-76A4-C866-B99C11E9D6C4}"/>
              </a:ext>
            </a:extLst>
          </p:cNvPr>
          <p:cNvSpPr/>
          <p:nvPr/>
        </p:nvSpPr>
        <p:spPr>
          <a:xfrm>
            <a:off x="4983480" y="1828800"/>
            <a:ext cx="9144" cy="416052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65">
            <a:extLst>
              <a:ext uri="{FF2B5EF4-FFF2-40B4-BE49-F238E27FC236}">
                <a16:creationId xmlns:a16="http://schemas.microsoft.com/office/drawing/2014/main" id="{4592A1DD-2B8D-4F45-D7F4-C86D2478D22A}"/>
              </a:ext>
            </a:extLst>
          </p:cNvPr>
          <p:cNvSpPr txBox="1"/>
          <p:nvPr/>
        </p:nvSpPr>
        <p:spPr>
          <a:xfrm>
            <a:off x="5038344" y="1783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sp>
        <p:nvSpPr>
          <p:cNvPr id="91" name="Rounded Rectangle 66">
            <a:extLst>
              <a:ext uri="{FF2B5EF4-FFF2-40B4-BE49-F238E27FC236}">
                <a16:creationId xmlns:a16="http://schemas.microsoft.com/office/drawing/2014/main" id="{CB4FCD63-B8AD-5FC2-101E-A11D711073BA}"/>
              </a:ext>
            </a:extLst>
          </p:cNvPr>
          <p:cNvSpPr/>
          <p:nvPr/>
        </p:nvSpPr>
        <p:spPr>
          <a:xfrm>
            <a:off x="5385816" y="2103120"/>
            <a:ext cx="1554480" cy="27432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67">
            <a:extLst>
              <a:ext uri="{FF2B5EF4-FFF2-40B4-BE49-F238E27FC236}">
                <a16:creationId xmlns:a16="http://schemas.microsoft.com/office/drawing/2014/main" id="{FABDB1B1-008B-A574-1A01-55D00657469F}"/>
              </a:ext>
            </a:extLst>
          </p:cNvPr>
          <p:cNvSpPr txBox="1"/>
          <p:nvPr/>
        </p:nvSpPr>
        <p:spPr>
          <a:xfrm>
            <a:off x="5385816" y="2179787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FFFFFF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×2.5  </a:t>
            </a:r>
            <a:r>
              <a:rPr sz="1000" i="0" dirty="0">
                <a:solidFill>
                  <a:srgbClr val="FFFFFF"/>
                </a:solidFill>
                <a:latin typeface="Calibri"/>
              </a:rPr>
              <a:t>’23→’25</a:t>
            </a:r>
          </a:p>
        </p:txBody>
      </p:sp>
      <p:sp>
        <p:nvSpPr>
          <p:cNvPr id="93" name="Rectangle 68">
            <a:extLst>
              <a:ext uri="{FF2B5EF4-FFF2-40B4-BE49-F238E27FC236}">
                <a16:creationId xmlns:a16="http://schemas.microsoft.com/office/drawing/2014/main" id="{4B78071C-D6FA-4392-9F90-5ED995BCCED8}"/>
              </a:ext>
            </a:extLst>
          </p:cNvPr>
          <p:cNvSpPr/>
          <p:nvPr/>
        </p:nvSpPr>
        <p:spPr>
          <a:xfrm>
            <a:off x="5312664" y="3471169"/>
            <a:ext cx="420624" cy="14071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69">
            <a:extLst>
              <a:ext uri="{FF2B5EF4-FFF2-40B4-BE49-F238E27FC236}">
                <a16:creationId xmlns:a16="http://schemas.microsoft.com/office/drawing/2014/main" id="{D3CC5346-399A-5B18-6687-730C250A2421}"/>
              </a:ext>
            </a:extLst>
          </p:cNvPr>
          <p:cNvSpPr txBox="1"/>
          <p:nvPr/>
        </p:nvSpPr>
        <p:spPr>
          <a:xfrm>
            <a:off x="5184648" y="3270001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0.7</a:t>
            </a:r>
          </a:p>
        </p:txBody>
      </p:sp>
      <p:sp>
        <p:nvSpPr>
          <p:cNvPr id="95" name="TextBox 70">
            <a:extLst>
              <a:ext uri="{FF2B5EF4-FFF2-40B4-BE49-F238E27FC236}">
                <a16:creationId xmlns:a16="http://schemas.microsoft.com/office/drawing/2014/main" id="{30592411-B1CA-3444-7C17-DE067F2C72FF}"/>
              </a:ext>
            </a:extLst>
          </p:cNvPr>
          <p:cNvSpPr txBox="1"/>
          <p:nvPr/>
        </p:nvSpPr>
        <p:spPr>
          <a:xfrm>
            <a:off x="5184648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96" name="Rectangle 71">
            <a:extLst>
              <a:ext uri="{FF2B5EF4-FFF2-40B4-BE49-F238E27FC236}">
                <a16:creationId xmlns:a16="http://schemas.microsoft.com/office/drawing/2014/main" id="{B4103239-C892-655F-277C-BF4CE8C1CE2E}"/>
              </a:ext>
            </a:extLst>
          </p:cNvPr>
          <p:cNvSpPr/>
          <p:nvPr/>
        </p:nvSpPr>
        <p:spPr>
          <a:xfrm>
            <a:off x="5916168" y="3417352"/>
            <a:ext cx="420624" cy="194527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72">
            <a:extLst>
              <a:ext uri="{FF2B5EF4-FFF2-40B4-BE49-F238E27FC236}">
                <a16:creationId xmlns:a16="http://schemas.microsoft.com/office/drawing/2014/main" id="{B6A3F101-D9C7-D38C-BD25-FE7D52D67365}"/>
              </a:ext>
            </a:extLst>
          </p:cNvPr>
          <p:cNvSpPr txBox="1"/>
          <p:nvPr/>
        </p:nvSpPr>
        <p:spPr>
          <a:xfrm>
            <a:off x="5788152" y="3216184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E2761"/>
                </a:solidFill>
                <a:latin typeface="Calibri"/>
              </a:rPr>
              <a:t>1.0</a:t>
            </a:r>
          </a:p>
        </p:txBody>
      </p:sp>
      <p:sp>
        <p:nvSpPr>
          <p:cNvPr id="98" name="TextBox 73">
            <a:extLst>
              <a:ext uri="{FF2B5EF4-FFF2-40B4-BE49-F238E27FC236}">
                <a16:creationId xmlns:a16="http://schemas.microsoft.com/office/drawing/2014/main" id="{76C6E43D-6469-70E9-E845-9F9738BC8443}"/>
              </a:ext>
            </a:extLst>
          </p:cNvPr>
          <p:cNvSpPr txBox="1"/>
          <p:nvPr/>
        </p:nvSpPr>
        <p:spPr>
          <a:xfrm>
            <a:off x="5788152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99" name="Rectangle 74">
            <a:extLst>
              <a:ext uri="{FF2B5EF4-FFF2-40B4-BE49-F238E27FC236}">
                <a16:creationId xmlns:a16="http://schemas.microsoft.com/office/drawing/2014/main" id="{1678AD52-7BC3-49D8-D17D-3474A006BB69}"/>
              </a:ext>
            </a:extLst>
          </p:cNvPr>
          <p:cNvSpPr/>
          <p:nvPr/>
        </p:nvSpPr>
        <p:spPr>
          <a:xfrm>
            <a:off x="6519672" y="3257880"/>
            <a:ext cx="420624" cy="353999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75">
            <a:extLst>
              <a:ext uri="{FF2B5EF4-FFF2-40B4-BE49-F238E27FC236}">
                <a16:creationId xmlns:a16="http://schemas.microsoft.com/office/drawing/2014/main" id="{B9283208-EF99-F3ED-91C0-26380EE8BB57}"/>
              </a:ext>
            </a:extLst>
          </p:cNvPr>
          <p:cNvSpPr txBox="1"/>
          <p:nvPr/>
        </p:nvSpPr>
        <p:spPr>
          <a:xfrm>
            <a:off x="6391656" y="3056712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E2761"/>
                </a:solidFill>
                <a:latin typeface="Calibri"/>
              </a:rPr>
              <a:t>1.8</a:t>
            </a:r>
          </a:p>
        </p:txBody>
      </p:sp>
      <p:sp>
        <p:nvSpPr>
          <p:cNvPr id="101" name="TextBox 76">
            <a:extLst>
              <a:ext uri="{FF2B5EF4-FFF2-40B4-BE49-F238E27FC236}">
                <a16:creationId xmlns:a16="http://schemas.microsoft.com/office/drawing/2014/main" id="{280A4472-3C06-4892-A9A9-343293FB522C}"/>
              </a:ext>
            </a:extLst>
          </p:cNvPr>
          <p:cNvSpPr txBox="1"/>
          <p:nvPr/>
        </p:nvSpPr>
        <p:spPr>
          <a:xfrm>
            <a:off x="6391656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02" name="Rectangle 77">
            <a:extLst>
              <a:ext uri="{FF2B5EF4-FFF2-40B4-BE49-F238E27FC236}">
                <a16:creationId xmlns:a16="http://schemas.microsoft.com/office/drawing/2014/main" id="{033A1711-6BE1-A498-5D76-1B12304B16CD}"/>
              </a:ext>
            </a:extLst>
          </p:cNvPr>
          <p:cNvSpPr/>
          <p:nvPr/>
        </p:nvSpPr>
        <p:spPr>
          <a:xfrm>
            <a:off x="5312664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ounded Rectangle 167"/>
          <p:cNvSpPr/>
          <p:nvPr/>
        </p:nvSpPr>
        <p:spPr>
          <a:xfrm>
            <a:off x="5385816" y="3986784"/>
            <a:ext cx="1554480" cy="274320"/>
          </a:xfrm>
          <a:prstGeom prst="roundRect">
            <a:avLst>
              <a:gd name="adj" fmla="val 17903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3" name="TextBox 78">
            <a:extLst>
              <a:ext uri="{FF2B5EF4-FFF2-40B4-BE49-F238E27FC236}">
                <a16:creationId xmlns:a16="http://schemas.microsoft.com/office/drawing/2014/main" id="{75BC7BF9-D14D-1F50-703D-E50E66E18816}"/>
              </a:ext>
            </a:extLst>
          </p:cNvPr>
          <p:cNvSpPr txBox="1"/>
          <p:nvPr/>
        </p:nvSpPr>
        <p:spPr>
          <a:xfrm>
            <a:off x="5385816" y="405993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Dotación  4 → 3</a:t>
            </a:r>
          </a:p>
        </p:txBody>
      </p:sp>
      <p:sp>
        <p:nvSpPr>
          <p:cNvPr id="104" name="TextBox 79">
            <a:extLst>
              <a:ext uri="{FF2B5EF4-FFF2-40B4-BE49-F238E27FC236}">
                <a16:creationId xmlns:a16="http://schemas.microsoft.com/office/drawing/2014/main" id="{F83A5C5D-A0CA-22FF-29ED-C9B7941D87C7}"/>
              </a:ext>
            </a:extLst>
          </p:cNvPr>
          <p:cNvSpPr txBox="1"/>
          <p:nvPr/>
        </p:nvSpPr>
        <p:spPr>
          <a:xfrm>
            <a:off x="5394960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05" name="Rectangle 80">
            <a:extLst>
              <a:ext uri="{FF2B5EF4-FFF2-40B4-BE49-F238E27FC236}">
                <a16:creationId xmlns:a16="http://schemas.microsoft.com/office/drawing/2014/main" id="{7DD07682-52B5-8BB9-98C2-7ADF76102F4E}"/>
              </a:ext>
            </a:extLst>
          </p:cNvPr>
          <p:cNvSpPr/>
          <p:nvPr/>
        </p:nvSpPr>
        <p:spPr>
          <a:xfrm>
            <a:off x="5504688" y="5727687"/>
            <a:ext cx="566928" cy="182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81">
            <a:extLst>
              <a:ext uri="{FF2B5EF4-FFF2-40B4-BE49-F238E27FC236}">
                <a16:creationId xmlns:a16="http://schemas.microsoft.com/office/drawing/2014/main" id="{67692F2E-6DF6-2D5E-7CC1-1E6F5CDC253A}"/>
              </a:ext>
            </a:extLst>
          </p:cNvPr>
          <p:cNvSpPr/>
          <p:nvPr/>
        </p:nvSpPr>
        <p:spPr>
          <a:xfrm>
            <a:off x="5504688" y="5683453"/>
            <a:ext cx="566928" cy="44234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82">
            <a:extLst>
              <a:ext uri="{FF2B5EF4-FFF2-40B4-BE49-F238E27FC236}">
                <a16:creationId xmlns:a16="http://schemas.microsoft.com/office/drawing/2014/main" id="{43F18E2E-B310-1AE3-558B-514AA08C5DFC}"/>
              </a:ext>
            </a:extLst>
          </p:cNvPr>
          <p:cNvSpPr txBox="1"/>
          <p:nvPr/>
        </p:nvSpPr>
        <p:spPr>
          <a:xfrm>
            <a:off x="5394960" y="5510448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108" name="TextBox 83">
            <a:extLst>
              <a:ext uri="{FF2B5EF4-FFF2-40B4-BE49-F238E27FC236}">
                <a16:creationId xmlns:a16="http://schemas.microsoft.com/office/drawing/2014/main" id="{D5AADAFF-8910-2F7B-829F-A415FCB77EAD}"/>
              </a:ext>
            </a:extLst>
          </p:cNvPr>
          <p:cNvSpPr txBox="1"/>
          <p:nvPr/>
        </p:nvSpPr>
        <p:spPr>
          <a:xfrm>
            <a:off x="6144768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109" name="Rectangle 84">
            <a:extLst>
              <a:ext uri="{FF2B5EF4-FFF2-40B4-BE49-F238E27FC236}">
                <a16:creationId xmlns:a16="http://schemas.microsoft.com/office/drawing/2014/main" id="{E6B4DA3F-250B-6386-B88A-F5C0F6757339}"/>
              </a:ext>
            </a:extLst>
          </p:cNvPr>
          <p:cNvSpPr/>
          <p:nvPr/>
        </p:nvSpPr>
        <p:spPr>
          <a:xfrm>
            <a:off x="6254496" y="5727687"/>
            <a:ext cx="566928" cy="18288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85">
            <a:extLst>
              <a:ext uri="{FF2B5EF4-FFF2-40B4-BE49-F238E27FC236}">
                <a16:creationId xmlns:a16="http://schemas.microsoft.com/office/drawing/2014/main" id="{9D6B1086-0973-E284-9EA6-5734532A8BDB}"/>
              </a:ext>
            </a:extLst>
          </p:cNvPr>
          <p:cNvSpPr/>
          <p:nvPr/>
        </p:nvSpPr>
        <p:spPr>
          <a:xfrm>
            <a:off x="6254496" y="5698197"/>
            <a:ext cx="566928" cy="29488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86">
            <a:extLst>
              <a:ext uri="{FF2B5EF4-FFF2-40B4-BE49-F238E27FC236}">
                <a16:creationId xmlns:a16="http://schemas.microsoft.com/office/drawing/2014/main" id="{3405F1B6-11FC-A54F-15B3-174268C92708}"/>
              </a:ext>
            </a:extLst>
          </p:cNvPr>
          <p:cNvSpPr txBox="1"/>
          <p:nvPr/>
        </p:nvSpPr>
        <p:spPr>
          <a:xfrm>
            <a:off x="6144768" y="5525193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12" name="Rectangle 87">
            <a:extLst>
              <a:ext uri="{FF2B5EF4-FFF2-40B4-BE49-F238E27FC236}">
                <a16:creationId xmlns:a16="http://schemas.microsoft.com/office/drawing/2014/main" id="{9FAEE7BA-7B4F-3D2B-EBD9-D540A446571C}"/>
              </a:ext>
            </a:extLst>
          </p:cNvPr>
          <p:cNvSpPr/>
          <p:nvPr/>
        </p:nvSpPr>
        <p:spPr>
          <a:xfrm>
            <a:off x="7342631" y="1828800"/>
            <a:ext cx="9144" cy="416052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88">
            <a:extLst>
              <a:ext uri="{FF2B5EF4-FFF2-40B4-BE49-F238E27FC236}">
                <a16:creationId xmlns:a16="http://schemas.microsoft.com/office/drawing/2014/main" id="{A5E5996B-5F66-9174-6D36-9A746A365293}"/>
              </a:ext>
            </a:extLst>
          </p:cNvPr>
          <p:cNvSpPr txBox="1"/>
          <p:nvPr/>
        </p:nvSpPr>
        <p:spPr>
          <a:xfrm>
            <a:off x="7397496" y="1783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sp>
        <p:nvSpPr>
          <p:cNvPr id="114" name="Rounded Rectangle 89">
            <a:extLst>
              <a:ext uri="{FF2B5EF4-FFF2-40B4-BE49-F238E27FC236}">
                <a16:creationId xmlns:a16="http://schemas.microsoft.com/office/drawing/2014/main" id="{2CE63346-1131-1BE7-CCB7-E52238CD3077}"/>
              </a:ext>
            </a:extLst>
          </p:cNvPr>
          <p:cNvSpPr/>
          <p:nvPr/>
        </p:nvSpPr>
        <p:spPr>
          <a:xfrm>
            <a:off x="7744968" y="2103120"/>
            <a:ext cx="1554480" cy="27432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90">
            <a:extLst>
              <a:ext uri="{FF2B5EF4-FFF2-40B4-BE49-F238E27FC236}">
                <a16:creationId xmlns:a16="http://schemas.microsoft.com/office/drawing/2014/main" id="{3EA0A3E9-6A50-6FA4-E4B6-377DCBD7697A}"/>
              </a:ext>
            </a:extLst>
          </p:cNvPr>
          <p:cNvSpPr txBox="1"/>
          <p:nvPr/>
        </p:nvSpPr>
        <p:spPr>
          <a:xfrm>
            <a:off x="7751642" y="2173789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FFFFFF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×16  </a:t>
            </a:r>
            <a:r>
              <a:rPr sz="1000" i="0" dirty="0">
                <a:solidFill>
                  <a:srgbClr val="FFFFFF"/>
                </a:solidFill>
                <a:latin typeface="Calibri"/>
              </a:rPr>
              <a:t>’23→’25</a:t>
            </a:r>
          </a:p>
        </p:txBody>
      </p:sp>
      <p:sp>
        <p:nvSpPr>
          <p:cNvPr id="116" name="Rectangle 91">
            <a:extLst>
              <a:ext uri="{FF2B5EF4-FFF2-40B4-BE49-F238E27FC236}">
                <a16:creationId xmlns:a16="http://schemas.microsoft.com/office/drawing/2014/main" id="{E355DCB6-A97C-2290-0B37-D4BB3CF7B96C}"/>
              </a:ext>
            </a:extLst>
          </p:cNvPr>
          <p:cNvSpPr/>
          <p:nvPr/>
        </p:nvSpPr>
        <p:spPr>
          <a:xfrm>
            <a:off x="7671816" y="3592115"/>
            <a:ext cx="420624" cy="19764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92">
            <a:extLst>
              <a:ext uri="{FF2B5EF4-FFF2-40B4-BE49-F238E27FC236}">
                <a16:creationId xmlns:a16="http://schemas.microsoft.com/office/drawing/2014/main" id="{AE5A4045-D5C8-01F5-4030-E7D5A40B175C}"/>
              </a:ext>
            </a:extLst>
          </p:cNvPr>
          <p:cNvSpPr txBox="1"/>
          <p:nvPr/>
        </p:nvSpPr>
        <p:spPr>
          <a:xfrm>
            <a:off x="7543800" y="3390947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0.1</a:t>
            </a:r>
          </a:p>
        </p:txBody>
      </p:sp>
      <p:sp>
        <p:nvSpPr>
          <p:cNvPr id="118" name="TextBox 93">
            <a:extLst>
              <a:ext uri="{FF2B5EF4-FFF2-40B4-BE49-F238E27FC236}">
                <a16:creationId xmlns:a16="http://schemas.microsoft.com/office/drawing/2014/main" id="{45711558-2809-6357-6E22-562686970140}"/>
              </a:ext>
            </a:extLst>
          </p:cNvPr>
          <p:cNvSpPr txBox="1"/>
          <p:nvPr/>
        </p:nvSpPr>
        <p:spPr>
          <a:xfrm>
            <a:off x="7543800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119" name="Rectangle 94">
            <a:extLst>
              <a:ext uri="{FF2B5EF4-FFF2-40B4-BE49-F238E27FC236}">
                <a16:creationId xmlns:a16="http://schemas.microsoft.com/office/drawing/2014/main" id="{D94C5358-6424-75A4-F42F-FA8720C21B25}"/>
              </a:ext>
            </a:extLst>
          </p:cNvPr>
          <p:cNvSpPr/>
          <p:nvPr/>
        </p:nvSpPr>
        <p:spPr>
          <a:xfrm>
            <a:off x="8275320" y="3310007"/>
            <a:ext cx="420624" cy="30187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95">
            <a:extLst>
              <a:ext uri="{FF2B5EF4-FFF2-40B4-BE49-F238E27FC236}">
                <a16:creationId xmlns:a16="http://schemas.microsoft.com/office/drawing/2014/main" id="{A53D30FC-810B-3612-8F66-974B8852744D}"/>
              </a:ext>
            </a:extLst>
          </p:cNvPr>
          <p:cNvSpPr txBox="1"/>
          <p:nvPr/>
        </p:nvSpPr>
        <p:spPr>
          <a:xfrm>
            <a:off x="8147304" y="3108839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E2761"/>
                </a:solidFill>
                <a:latin typeface="Calibri"/>
              </a:rPr>
              <a:t>1.6</a:t>
            </a:r>
          </a:p>
        </p:txBody>
      </p:sp>
      <p:sp>
        <p:nvSpPr>
          <p:cNvPr id="121" name="TextBox 96">
            <a:extLst>
              <a:ext uri="{FF2B5EF4-FFF2-40B4-BE49-F238E27FC236}">
                <a16:creationId xmlns:a16="http://schemas.microsoft.com/office/drawing/2014/main" id="{A3967C1F-4FB3-9318-9741-0582EEB565AA}"/>
              </a:ext>
            </a:extLst>
          </p:cNvPr>
          <p:cNvSpPr txBox="1"/>
          <p:nvPr/>
        </p:nvSpPr>
        <p:spPr>
          <a:xfrm>
            <a:off x="8147304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122" name="Rectangle 97">
            <a:extLst>
              <a:ext uri="{FF2B5EF4-FFF2-40B4-BE49-F238E27FC236}">
                <a16:creationId xmlns:a16="http://schemas.microsoft.com/office/drawing/2014/main" id="{D83D3AEA-B64A-CC99-9E85-8522C5F661B4}"/>
              </a:ext>
            </a:extLst>
          </p:cNvPr>
          <p:cNvSpPr/>
          <p:nvPr/>
        </p:nvSpPr>
        <p:spPr>
          <a:xfrm>
            <a:off x="8878824" y="3293034"/>
            <a:ext cx="420624" cy="318845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98">
            <a:extLst>
              <a:ext uri="{FF2B5EF4-FFF2-40B4-BE49-F238E27FC236}">
                <a16:creationId xmlns:a16="http://schemas.microsoft.com/office/drawing/2014/main" id="{363DF533-6FD8-4D33-D06B-8133F8FB7024}"/>
              </a:ext>
            </a:extLst>
          </p:cNvPr>
          <p:cNvSpPr txBox="1"/>
          <p:nvPr/>
        </p:nvSpPr>
        <p:spPr>
          <a:xfrm>
            <a:off x="8750808" y="3091866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E2761"/>
                </a:solidFill>
                <a:latin typeface="Calibri"/>
              </a:rPr>
              <a:t>1.7</a:t>
            </a:r>
          </a:p>
        </p:txBody>
      </p:sp>
      <p:sp>
        <p:nvSpPr>
          <p:cNvPr id="124" name="TextBox 99">
            <a:extLst>
              <a:ext uri="{FF2B5EF4-FFF2-40B4-BE49-F238E27FC236}">
                <a16:creationId xmlns:a16="http://schemas.microsoft.com/office/drawing/2014/main" id="{BE5B7872-20DA-08D6-01F4-A73BC21C3EE3}"/>
              </a:ext>
            </a:extLst>
          </p:cNvPr>
          <p:cNvSpPr txBox="1"/>
          <p:nvPr/>
        </p:nvSpPr>
        <p:spPr>
          <a:xfrm>
            <a:off x="8750808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25" name="Rectangle 100">
            <a:extLst>
              <a:ext uri="{FF2B5EF4-FFF2-40B4-BE49-F238E27FC236}">
                <a16:creationId xmlns:a16="http://schemas.microsoft.com/office/drawing/2014/main" id="{122FAC84-28E6-1DD6-D4C7-CFAE6F53D22E}"/>
              </a:ext>
            </a:extLst>
          </p:cNvPr>
          <p:cNvSpPr/>
          <p:nvPr/>
        </p:nvSpPr>
        <p:spPr>
          <a:xfrm>
            <a:off x="7671816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ounded Rectangle 168"/>
          <p:cNvSpPr/>
          <p:nvPr/>
        </p:nvSpPr>
        <p:spPr>
          <a:xfrm>
            <a:off x="7744968" y="3986784"/>
            <a:ext cx="1554480" cy="274320"/>
          </a:xfrm>
          <a:prstGeom prst="roundRect">
            <a:avLst>
              <a:gd name="adj" fmla="val 17903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6" name="TextBox 101">
            <a:extLst>
              <a:ext uri="{FF2B5EF4-FFF2-40B4-BE49-F238E27FC236}">
                <a16:creationId xmlns:a16="http://schemas.microsoft.com/office/drawing/2014/main" id="{17062702-EEAC-B1D3-11E3-DEB9FAF42E57}"/>
              </a:ext>
            </a:extLst>
          </p:cNvPr>
          <p:cNvSpPr txBox="1"/>
          <p:nvPr/>
        </p:nvSpPr>
        <p:spPr>
          <a:xfrm>
            <a:off x="7744968" y="405993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Dotación  1 → 3</a:t>
            </a:r>
          </a:p>
        </p:txBody>
      </p:sp>
      <p:sp>
        <p:nvSpPr>
          <p:cNvPr id="127" name="TextBox 102">
            <a:extLst>
              <a:ext uri="{FF2B5EF4-FFF2-40B4-BE49-F238E27FC236}">
                <a16:creationId xmlns:a16="http://schemas.microsoft.com/office/drawing/2014/main" id="{A48AB925-7239-E250-B36E-B9AD1A27BF91}"/>
              </a:ext>
            </a:extLst>
          </p:cNvPr>
          <p:cNvSpPr txBox="1"/>
          <p:nvPr/>
        </p:nvSpPr>
        <p:spPr>
          <a:xfrm>
            <a:off x="7754112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28" name="Rectangle 103">
            <a:extLst>
              <a:ext uri="{FF2B5EF4-FFF2-40B4-BE49-F238E27FC236}">
                <a16:creationId xmlns:a16="http://schemas.microsoft.com/office/drawing/2014/main" id="{E5864901-00CA-445D-C0F9-1458E2E2BD03}"/>
              </a:ext>
            </a:extLst>
          </p:cNvPr>
          <p:cNvSpPr/>
          <p:nvPr/>
        </p:nvSpPr>
        <p:spPr>
          <a:xfrm>
            <a:off x="7863840" y="5727687"/>
            <a:ext cx="566928" cy="18288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04">
            <a:extLst>
              <a:ext uri="{FF2B5EF4-FFF2-40B4-BE49-F238E27FC236}">
                <a16:creationId xmlns:a16="http://schemas.microsoft.com/office/drawing/2014/main" id="{12DDED58-4565-E2FD-C3FF-31416098BF9F}"/>
              </a:ext>
            </a:extLst>
          </p:cNvPr>
          <p:cNvSpPr txBox="1"/>
          <p:nvPr/>
        </p:nvSpPr>
        <p:spPr>
          <a:xfrm>
            <a:off x="7754112" y="5554682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130" name="TextBox 105">
            <a:extLst>
              <a:ext uri="{FF2B5EF4-FFF2-40B4-BE49-F238E27FC236}">
                <a16:creationId xmlns:a16="http://schemas.microsoft.com/office/drawing/2014/main" id="{B8992B66-1AFB-ABC0-CDFF-1139051B3609}"/>
              </a:ext>
            </a:extLst>
          </p:cNvPr>
          <p:cNvSpPr txBox="1"/>
          <p:nvPr/>
        </p:nvSpPr>
        <p:spPr>
          <a:xfrm>
            <a:off x="8503920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131" name="Rectangle 106">
            <a:extLst>
              <a:ext uri="{FF2B5EF4-FFF2-40B4-BE49-F238E27FC236}">
                <a16:creationId xmlns:a16="http://schemas.microsoft.com/office/drawing/2014/main" id="{A626D2AE-2DCE-3111-4A42-80154CD0D20B}"/>
              </a:ext>
            </a:extLst>
          </p:cNvPr>
          <p:cNvSpPr/>
          <p:nvPr/>
        </p:nvSpPr>
        <p:spPr>
          <a:xfrm>
            <a:off x="8613648" y="5712942"/>
            <a:ext cx="566928" cy="29488"/>
          </a:xfrm>
          <a:prstGeom prst="rect">
            <a:avLst/>
          </a:prstGeom>
          <a:solidFill>
            <a:srgbClr val="1E2761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07">
            <a:extLst>
              <a:ext uri="{FF2B5EF4-FFF2-40B4-BE49-F238E27FC236}">
                <a16:creationId xmlns:a16="http://schemas.microsoft.com/office/drawing/2014/main" id="{B76B4180-80FE-97DF-ACD8-B762C552C6B2}"/>
              </a:ext>
            </a:extLst>
          </p:cNvPr>
          <p:cNvSpPr/>
          <p:nvPr/>
        </p:nvSpPr>
        <p:spPr>
          <a:xfrm>
            <a:off x="8613648" y="5698197"/>
            <a:ext cx="566928" cy="18288"/>
          </a:xfrm>
          <a:prstGeom prst="rect">
            <a:avLst/>
          </a:prstGeom>
          <a:solidFill>
            <a:srgbClr val="2E7D5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08">
            <a:extLst>
              <a:ext uri="{FF2B5EF4-FFF2-40B4-BE49-F238E27FC236}">
                <a16:creationId xmlns:a16="http://schemas.microsoft.com/office/drawing/2014/main" id="{5418A431-95F4-869E-C197-5312027101EC}"/>
              </a:ext>
            </a:extLst>
          </p:cNvPr>
          <p:cNvSpPr txBox="1"/>
          <p:nvPr/>
        </p:nvSpPr>
        <p:spPr>
          <a:xfrm>
            <a:off x="8503920" y="5525193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134" name="Rectangle 109">
            <a:extLst>
              <a:ext uri="{FF2B5EF4-FFF2-40B4-BE49-F238E27FC236}">
                <a16:creationId xmlns:a16="http://schemas.microsoft.com/office/drawing/2014/main" id="{ACA11EB2-56F3-3CEB-78C4-E284B0E07647}"/>
              </a:ext>
            </a:extLst>
          </p:cNvPr>
          <p:cNvSpPr/>
          <p:nvPr/>
        </p:nvSpPr>
        <p:spPr>
          <a:xfrm>
            <a:off x="9701784" y="1828800"/>
            <a:ext cx="9144" cy="416052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10">
            <a:extLst>
              <a:ext uri="{FF2B5EF4-FFF2-40B4-BE49-F238E27FC236}">
                <a16:creationId xmlns:a16="http://schemas.microsoft.com/office/drawing/2014/main" id="{60152B8D-DB12-B3F9-9D06-45918A8262A9}"/>
              </a:ext>
            </a:extLst>
          </p:cNvPr>
          <p:cNvSpPr txBox="1"/>
          <p:nvPr/>
        </p:nvSpPr>
        <p:spPr>
          <a:xfrm>
            <a:off x="9756648" y="1783080"/>
            <a:ext cx="2249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Rusia</a:t>
            </a:r>
          </a:p>
        </p:txBody>
      </p:sp>
      <p:sp>
        <p:nvSpPr>
          <p:cNvPr id="136" name="Rounded Rectangle 111">
            <a:extLst>
              <a:ext uri="{FF2B5EF4-FFF2-40B4-BE49-F238E27FC236}">
                <a16:creationId xmlns:a16="http://schemas.microsoft.com/office/drawing/2014/main" id="{E21CF9D2-5D65-77DE-CBEA-82504065A56A}"/>
              </a:ext>
            </a:extLst>
          </p:cNvPr>
          <p:cNvSpPr/>
          <p:nvPr/>
        </p:nvSpPr>
        <p:spPr>
          <a:xfrm>
            <a:off x="10104120" y="2103120"/>
            <a:ext cx="1554480" cy="274320"/>
          </a:xfrm>
          <a:prstGeom prst="round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12">
            <a:extLst>
              <a:ext uri="{FF2B5EF4-FFF2-40B4-BE49-F238E27FC236}">
                <a16:creationId xmlns:a16="http://schemas.microsoft.com/office/drawing/2014/main" id="{284BCC58-C765-2EC9-B807-F3AB3DFBAA4B}"/>
              </a:ext>
            </a:extLst>
          </p:cNvPr>
          <p:cNvSpPr txBox="1"/>
          <p:nvPr/>
        </p:nvSpPr>
        <p:spPr>
          <a:xfrm>
            <a:off x="10131552" y="2173789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FFFFFF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×0.0  </a:t>
            </a:r>
            <a:r>
              <a:rPr sz="1000" i="0" dirty="0">
                <a:solidFill>
                  <a:srgbClr val="FFFFFF"/>
                </a:solidFill>
                <a:latin typeface="Calibri"/>
              </a:rPr>
              <a:t>’23→’25</a:t>
            </a:r>
          </a:p>
        </p:txBody>
      </p:sp>
      <p:sp>
        <p:nvSpPr>
          <p:cNvPr id="138" name="Rectangle 113">
            <a:extLst>
              <a:ext uri="{FF2B5EF4-FFF2-40B4-BE49-F238E27FC236}">
                <a16:creationId xmlns:a16="http://schemas.microsoft.com/office/drawing/2014/main" id="{280A44CC-5774-784B-23B8-9B51851CC866}"/>
              </a:ext>
            </a:extLst>
          </p:cNvPr>
          <p:cNvSpPr/>
          <p:nvPr/>
        </p:nvSpPr>
        <p:spPr>
          <a:xfrm>
            <a:off x="10030968" y="3549979"/>
            <a:ext cx="420624" cy="61900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14">
            <a:extLst>
              <a:ext uri="{FF2B5EF4-FFF2-40B4-BE49-F238E27FC236}">
                <a16:creationId xmlns:a16="http://schemas.microsoft.com/office/drawing/2014/main" id="{0275B0B7-9DB5-2499-2C21-5F34A639E5E0}"/>
              </a:ext>
            </a:extLst>
          </p:cNvPr>
          <p:cNvSpPr txBox="1"/>
          <p:nvPr/>
        </p:nvSpPr>
        <p:spPr>
          <a:xfrm>
            <a:off x="9902952" y="3348811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E2761"/>
                </a:solidFill>
                <a:latin typeface="Calibri"/>
              </a:rPr>
              <a:t>0.3</a:t>
            </a:r>
          </a:p>
        </p:txBody>
      </p:sp>
      <p:sp>
        <p:nvSpPr>
          <p:cNvPr id="140" name="TextBox 115">
            <a:extLst>
              <a:ext uri="{FF2B5EF4-FFF2-40B4-BE49-F238E27FC236}">
                <a16:creationId xmlns:a16="http://schemas.microsoft.com/office/drawing/2014/main" id="{F84BEA3B-9F39-D558-3B9E-7D26C7E7148E}"/>
              </a:ext>
            </a:extLst>
          </p:cNvPr>
          <p:cNvSpPr txBox="1"/>
          <p:nvPr/>
        </p:nvSpPr>
        <p:spPr>
          <a:xfrm>
            <a:off x="9902952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2023</a:t>
            </a:r>
          </a:p>
        </p:txBody>
      </p:sp>
      <p:sp>
        <p:nvSpPr>
          <p:cNvPr id="141" name="Rectangle 116">
            <a:extLst>
              <a:ext uri="{FF2B5EF4-FFF2-40B4-BE49-F238E27FC236}">
                <a16:creationId xmlns:a16="http://schemas.microsoft.com/office/drawing/2014/main" id="{823486FE-6B5D-1937-DBB1-45BC898C3B3C}"/>
              </a:ext>
            </a:extLst>
          </p:cNvPr>
          <p:cNvSpPr/>
          <p:nvPr/>
        </p:nvSpPr>
        <p:spPr>
          <a:xfrm>
            <a:off x="10634472" y="3582518"/>
            <a:ext cx="420624" cy="29361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17">
            <a:extLst>
              <a:ext uri="{FF2B5EF4-FFF2-40B4-BE49-F238E27FC236}">
                <a16:creationId xmlns:a16="http://schemas.microsoft.com/office/drawing/2014/main" id="{6D97AA71-BA8A-569F-5788-67EF71E35986}"/>
              </a:ext>
            </a:extLst>
          </p:cNvPr>
          <p:cNvSpPr txBox="1"/>
          <p:nvPr/>
        </p:nvSpPr>
        <p:spPr>
          <a:xfrm>
            <a:off x="10506456" y="3381350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 dirty="0">
                <a:solidFill>
                  <a:srgbClr val="1E2761"/>
                </a:solidFill>
                <a:latin typeface="Calibri"/>
              </a:rPr>
              <a:t>0.2</a:t>
            </a:r>
          </a:p>
        </p:txBody>
      </p:sp>
      <p:sp>
        <p:nvSpPr>
          <p:cNvPr id="143" name="TextBox 118">
            <a:extLst>
              <a:ext uri="{FF2B5EF4-FFF2-40B4-BE49-F238E27FC236}">
                <a16:creationId xmlns:a16="http://schemas.microsoft.com/office/drawing/2014/main" id="{41C9FB4F-A775-19B1-8061-C2508911132D}"/>
              </a:ext>
            </a:extLst>
          </p:cNvPr>
          <p:cNvSpPr txBox="1"/>
          <p:nvPr/>
        </p:nvSpPr>
        <p:spPr>
          <a:xfrm>
            <a:off x="10506456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2024</a:t>
            </a:r>
          </a:p>
        </p:txBody>
      </p:sp>
      <p:sp>
        <p:nvSpPr>
          <p:cNvPr id="144" name="Rectangle 119">
            <a:extLst>
              <a:ext uri="{FF2B5EF4-FFF2-40B4-BE49-F238E27FC236}">
                <a16:creationId xmlns:a16="http://schemas.microsoft.com/office/drawing/2014/main" id="{A64FDB30-A33F-B8A2-0A54-97C9437DE787}"/>
              </a:ext>
            </a:extLst>
          </p:cNvPr>
          <p:cNvSpPr/>
          <p:nvPr/>
        </p:nvSpPr>
        <p:spPr>
          <a:xfrm>
            <a:off x="11237976" y="3606393"/>
            <a:ext cx="420624" cy="5486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20">
            <a:extLst>
              <a:ext uri="{FF2B5EF4-FFF2-40B4-BE49-F238E27FC236}">
                <a16:creationId xmlns:a16="http://schemas.microsoft.com/office/drawing/2014/main" id="{7BD6F499-17B7-3297-9B7B-41FCC4C1D37B}"/>
              </a:ext>
            </a:extLst>
          </p:cNvPr>
          <p:cNvSpPr txBox="1"/>
          <p:nvPr/>
        </p:nvSpPr>
        <p:spPr>
          <a:xfrm>
            <a:off x="11109960" y="3405225"/>
            <a:ext cx="676656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E2761"/>
                </a:solidFill>
                <a:latin typeface="Calibri"/>
              </a:rPr>
              <a:t>0.0</a:t>
            </a:r>
          </a:p>
        </p:txBody>
      </p:sp>
      <p:sp>
        <p:nvSpPr>
          <p:cNvPr id="146" name="TextBox 121">
            <a:extLst>
              <a:ext uri="{FF2B5EF4-FFF2-40B4-BE49-F238E27FC236}">
                <a16:creationId xmlns:a16="http://schemas.microsoft.com/office/drawing/2014/main" id="{CF881BA9-6A9B-7A83-9280-13E316116C63}"/>
              </a:ext>
            </a:extLst>
          </p:cNvPr>
          <p:cNvSpPr txBox="1"/>
          <p:nvPr/>
        </p:nvSpPr>
        <p:spPr>
          <a:xfrm>
            <a:off x="11109960" y="3630168"/>
            <a:ext cx="67665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47" name="Rectangle 122">
            <a:extLst>
              <a:ext uri="{FF2B5EF4-FFF2-40B4-BE49-F238E27FC236}">
                <a16:creationId xmlns:a16="http://schemas.microsoft.com/office/drawing/2014/main" id="{C1AD7ADF-C276-3E58-2403-38AAEF3DFC60}"/>
              </a:ext>
            </a:extLst>
          </p:cNvPr>
          <p:cNvSpPr/>
          <p:nvPr/>
        </p:nvSpPr>
        <p:spPr>
          <a:xfrm>
            <a:off x="10030968" y="3611880"/>
            <a:ext cx="1700784" cy="914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ounded Rectangle 169"/>
          <p:cNvSpPr/>
          <p:nvPr/>
        </p:nvSpPr>
        <p:spPr>
          <a:xfrm>
            <a:off x="10104120" y="3986784"/>
            <a:ext cx="1554480" cy="274320"/>
          </a:xfrm>
          <a:prstGeom prst="roundRect">
            <a:avLst>
              <a:gd name="adj" fmla="val 2192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8" name="TextBox 123">
            <a:extLst>
              <a:ext uri="{FF2B5EF4-FFF2-40B4-BE49-F238E27FC236}">
                <a16:creationId xmlns:a16="http://schemas.microsoft.com/office/drawing/2014/main" id="{CAAECE3F-BEA3-B955-8EDD-4B84E413EEB9}"/>
              </a:ext>
            </a:extLst>
          </p:cNvPr>
          <p:cNvSpPr txBox="1"/>
          <p:nvPr/>
        </p:nvSpPr>
        <p:spPr>
          <a:xfrm>
            <a:off x="10104120" y="4059936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Dotación  0 → 1</a:t>
            </a:r>
          </a:p>
        </p:txBody>
      </p:sp>
      <p:sp>
        <p:nvSpPr>
          <p:cNvPr id="149" name="TextBox 124">
            <a:extLst>
              <a:ext uri="{FF2B5EF4-FFF2-40B4-BE49-F238E27FC236}">
                <a16:creationId xmlns:a16="http://schemas.microsoft.com/office/drawing/2014/main" id="{302DA17B-3B42-B41B-2977-75F492EBD311}"/>
              </a:ext>
            </a:extLst>
          </p:cNvPr>
          <p:cNvSpPr txBox="1"/>
          <p:nvPr/>
        </p:nvSpPr>
        <p:spPr>
          <a:xfrm>
            <a:off x="10113264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2025</a:t>
            </a:r>
          </a:p>
        </p:txBody>
      </p:sp>
      <p:sp>
        <p:nvSpPr>
          <p:cNvPr id="150" name="TextBox 125">
            <a:extLst>
              <a:ext uri="{FF2B5EF4-FFF2-40B4-BE49-F238E27FC236}">
                <a16:creationId xmlns:a16="http://schemas.microsoft.com/office/drawing/2014/main" id="{057B3820-764E-1A22-7674-05438D0B1EC8}"/>
              </a:ext>
            </a:extLst>
          </p:cNvPr>
          <p:cNvSpPr txBox="1"/>
          <p:nvPr/>
        </p:nvSpPr>
        <p:spPr>
          <a:xfrm>
            <a:off x="10113264" y="5553699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B7280"/>
                </a:solidFill>
                <a:latin typeface="Calibri"/>
              </a:rPr>
              <a:t>0</a:t>
            </a:r>
          </a:p>
        </p:txBody>
      </p:sp>
      <p:sp>
        <p:nvSpPr>
          <p:cNvPr id="151" name="TextBox 126">
            <a:extLst>
              <a:ext uri="{FF2B5EF4-FFF2-40B4-BE49-F238E27FC236}">
                <a16:creationId xmlns:a16="http://schemas.microsoft.com/office/drawing/2014/main" id="{E3EA4AB1-FAB9-167B-FAC5-AD3AB81034D6}"/>
              </a:ext>
            </a:extLst>
          </p:cNvPr>
          <p:cNvSpPr txBox="1"/>
          <p:nvPr/>
        </p:nvSpPr>
        <p:spPr>
          <a:xfrm>
            <a:off x="10863072" y="5797296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50" b="0" i="0">
                <a:solidFill>
                  <a:srgbClr val="6B7280"/>
                </a:solidFill>
                <a:latin typeface="Calibri"/>
              </a:rPr>
              <a:t>2026</a:t>
            </a:r>
          </a:p>
        </p:txBody>
      </p:sp>
      <p:sp>
        <p:nvSpPr>
          <p:cNvPr id="152" name="Rectangle 127">
            <a:extLst>
              <a:ext uri="{FF2B5EF4-FFF2-40B4-BE49-F238E27FC236}">
                <a16:creationId xmlns:a16="http://schemas.microsoft.com/office/drawing/2014/main" id="{5C3C6858-409A-7076-12D0-8E6DBAD3D133}"/>
              </a:ext>
            </a:extLst>
          </p:cNvPr>
          <p:cNvSpPr/>
          <p:nvPr/>
        </p:nvSpPr>
        <p:spPr>
          <a:xfrm>
            <a:off x="10972800" y="5727687"/>
            <a:ext cx="566928" cy="18288"/>
          </a:xfrm>
          <a:prstGeom prst="rect">
            <a:avLst/>
          </a:prstGeom>
          <a:solidFill>
            <a:srgbClr val="C8862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28">
            <a:extLst>
              <a:ext uri="{FF2B5EF4-FFF2-40B4-BE49-F238E27FC236}">
                <a16:creationId xmlns:a16="http://schemas.microsoft.com/office/drawing/2014/main" id="{F816EF36-090F-C3B9-D7D9-33E88593CF52}"/>
              </a:ext>
            </a:extLst>
          </p:cNvPr>
          <p:cNvSpPr txBox="1"/>
          <p:nvPr/>
        </p:nvSpPr>
        <p:spPr>
          <a:xfrm>
            <a:off x="10863072" y="5554682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154" name="Rectangle 129">
            <a:extLst>
              <a:ext uri="{FF2B5EF4-FFF2-40B4-BE49-F238E27FC236}">
                <a16:creationId xmlns:a16="http://schemas.microsoft.com/office/drawing/2014/main" id="{B2262656-2CFE-0C59-E705-309DE877362F}"/>
              </a:ext>
            </a:extLst>
          </p:cNvPr>
          <p:cNvSpPr/>
          <p:nvPr/>
        </p:nvSpPr>
        <p:spPr>
          <a:xfrm>
            <a:off x="1280160" y="6172200"/>
            <a:ext cx="23774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30">
            <a:extLst>
              <a:ext uri="{FF2B5EF4-FFF2-40B4-BE49-F238E27FC236}">
                <a16:creationId xmlns:a16="http://schemas.microsoft.com/office/drawing/2014/main" id="{8699A9C3-1389-639A-6593-2EEA8657512C}"/>
              </a:ext>
            </a:extLst>
          </p:cNvPr>
          <p:cNvSpPr txBox="1"/>
          <p:nvPr/>
        </p:nvSpPr>
        <p:spPr>
          <a:xfrm>
            <a:off x="1572768" y="61447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Ingeniería</a:t>
            </a:r>
          </a:p>
        </p:txBody>
      </p:sp>
      <p:sp>
        <p:nvSpPr>
          <p:cNvPr id="156" name="Rectangle 131">
            <a:extLst>
              <a:ext uri="{FF2B5EF4-FFF2-40B4-BE49-F238E27FC236}">
                <a16:creationId xmlns:a16="http://schemas.microsoft.com/office/drawing/2014/main" id="{578BCC97-6B6B-C308-74D9-73300DD15AEC}"/>
              </a:ext>
            </a:extLst>
          </p:cNvPr>
          <p:cNvSpPr/>
          <p:nvPr/>
        </p:nvSpPr>
        <p:spPr>
          <a:xfrm>
            <a:off x="3246120" y="6172200"/>
            <a:ext cx="237744" cy="146304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32">
            <a:extLst>
              <a:ext uri="{FF2B5EF4-FFF2-40B4-BE49-F238E27FC236}">
                <a16:creationId xmlns:a16="http://schemas.microsoft.com/office/drawing/2014/main" id="{EFD674C4-6766-06E8-3DEB-67302621BB27}"/>
              </a:ext>
            </a:extLst>
          </p:cNvPr>
          <p:cNvSpPr txBox="1"/>
          <p:nvPr/>
        </p:nvSpPr>
        <p:spPr>
          <a:xfrm>
            <a:off x="3538727" y="61447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Geomecánica</a:t>
            </a:r>
          </a:p>
        </p:txBody>
      </p:sp>
      <p:sp>
        <p:nvSpPr>
          <p:cNvPr id="158" name="Rectangle 133">
            <a:extLst>
              <a:ext uri="{FF2B5EF4-FFF2-40B4-BE49-F238E27FC236}">
                <a16:creationId xmlns:a16="http://schemas.microsoft.com/office/drawing/2014/main" id="{1A24D114-6926-5EC7-E58B-486FF3F77744}"/>
              </a:ext>
            </a:extLst>
          </p:cNvPr>
          <p:cNvSpPr/>
          <p:nvPr/>
        </p:nvSpPr>
        <p:spPr>
          <a:xfrm>
            <a:off x="5212079" y="6172200"/>
            <a:ext cx="237744" cy="146304"/>
          </a:xfrm>
          <a:prstGeom prst="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34">
            <a:extLst>
              <a:ext uri="{FF2B5EF4-FFF2-40B4-BE49-F238E27FC236}">
                <a16:creationId xmlns:a16="http://schemas.microsoft.com/office/drawing/2014/main" id="{441829A9-FA3B-524A-18ED-B270638C5802}"/>
              </a:ext>
            </a:extLst>
          </p:cNvPr>
          <p:cNvSpPr txBox="1"/>
          <p:nvPr/>
        </p:nvSpPr>
        <p:spPr>
          <a:xfrm>
            <a:off x="5504688" y="61447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Comercial</a:t>
            </a:r>
          </a:p>
        </p:txBody>
      </p:sp>
      <p:sp>
        <p:nvSpPr>
          <p:cNvPr id="160" name="Rectangle 135">
            <a:extLst>
              <a:ext uri="{FF2B5EF4-FFF2-40B4-BE49-F238E27FC236}">
                <a16:creationId xmlns:a16="http://schemas.microsoft.com/office/drawing/2014/main" id="{0125F6F7-FD93-34D2-D5D5-418DF03CC593}"/>
              </a:ext>
            </a:extLst>
          </p:cNvPr>
          <p:cNvSpPr/>
          <p:nvPr/>
        </p:nvSpPr>
        <p:spPr>
          <a:xfrm>
            <a:off x="7178040" y="6172200"/>
            <a:ext cx="23774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36">
            <a:extLst>
              <a:ext uri="{FF2B5EF4-FFF2-40B4-BE49-F238E27FC236}">
                <a16:creationId xmlns:a16="http://schemas.microsoft.com/office/drawing/2014/main" id="{8998075D-BFF4-BDBE-F549-8EBCC9719FB0}"/>
              </a:ext>
            </a:extLst>
          </p:cNvPr>
          <p:cNvSpPr txBox="1"/>
          <p:nvPr/>
        </p:nvSpPr>
        <p:spPr>
          <a:xfrm>
            <a:off x="7470648" y="61447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Administración</a:t>
            </a:r>
          </a:p>
        </p:txBody>
      </p:sp>
      <p:sp>
        <p:nvSpPr>
          <p:cNvPr id="162" name="Rectangle 137">
            <a:extLst>
              <a:ext uri="{FF2B5EF4-FFF2-40B4-BE49-F238E27FC236}">
                <a16:creationId xmlns:a16="http://schemas.microsoft.com/office/drawing/2014/main" id="{E67C097F-D4B6-5B2F-D276-820870C79AA6}"/>
              </a:ext>
            </a:extLst>
          </p:cNvPr>
          <p:cNvSpPr/>
          <p:nvPr/>
        </p:nvSpPr>
        <p:spPr>
          <a:xfrm>
            <a:off x="9144000" y="6172200"/>
            <a:ext cx="237744" cy="14630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38">
            <a:extLst>
              <a:ext uri="{FF2B5EF4-FFF2-40B4-BE49-F238E27FC236}">
                <a16:creationId xmlns:a16="http://schemas.microsoft.com/office/drawing/2014/main" id="{01930256-F055-0FBE-C4CF-8EFC24C405CE}"/>
              </a:ext>
            </a:extLst>
          </p:cNvPr>
          <p:cNvSpPr txBox="1"/>
          <p:nvPr/>
        </p:nvSpPr>
        <p:spPr>
          <a:xfrm>
            <a:off x="9436608" y="61447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Gestión</a:t>
            </a:r>
          </a:p>
        </p:txBody>
      </p:sp>
      <p:sp>
        <p:nvSpPr>
          <p:cNvPr id="164" name="TextBox 139">
            <a:extLst>
              <a:ext uri="{FF2B5EF4-FFF2-40B4-BE49-F238E27FC236}">
                <a16:creationId xmlns:a16="http://schemas.microsoft.com/office/drawing/2014/main" id="{BE437AB5-2168-3474-A93F-0B516B67BE8A}"/>
              </a:ext>
            </a:extLst>
          </p:cNvPr>
          <p:cNvSpPr txBox="1"/>
          <p:nvPr/>
        </p:nvSpPr>
        <p:spPr>
          <a:xfrm>
            <a:off x="457200" y="6473952"/>
            <a:ext cx="112471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>
                <a:solidFill>
                  <a:srgbClr val="6B7280"/>
                </a:solidFill>
                <a:latin typeface="Calibri"/>
              </a:rPr>
              <a:t>Fuente: 00_Ciclo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Mensual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EdP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2023_v0.xlsx (EDP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USD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país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/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) y Dotación_Comparativo_Estandarizado_2025-2026.xlsx (headcount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categoría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).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7200" y="614476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Categorías:</a:t>
            </a:r>
          </a:p>
        </p:txBody>
      </p:sp>
    </p:spTree>
    <p:extLst>
      <p:ext uri="{BB962C8B-B14F-4D97-AF65-F5344CB8AC3E}">
        <p14:creationId xmlns:p14="http://schemas.microsoft.com/office/powerpoint/2010/main" val="80185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Producción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· Chile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350" b="0" i="1" dirty="0">
                <a:solidFill>
                  <a:srgbClr val="6B7280"/>
                </a:solidFill>
                <a:latin typeface="Calibri"/>
              </a:rPr>
              <a:t>Producción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anual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(EDP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) y ranking Top 4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clientes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Chile, 2023–2025.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10144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$4.3M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$2.3M · 53%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AMSA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$766k · 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Lundin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$391k · 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Codelco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$350k · 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88536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17136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$3.5M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C8102E"/>
                </a:solidFill>
                <a:latin typeface="Calibri"/>
              </a:rPr>
              <a:t>▼ 18% vs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8536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2024</a:t>
            </a:r>
          </a:p>
        </p:txBody>
      </p:sp>
      <p:sp>
        <p:nvSpPr>
          <p:cNvPr id="38" name="Oval 37"/>
          <p:cNvSpPr/>
          <p:nvPr/>
        </p:nvSpPr>
        <p:spPr>
          <a:xfrm>
            <a:off x="4288536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88536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CMP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$1.7M · 47%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8536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288536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88536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AMSA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$391k · 11%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288536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88536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Capstone Copper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$355k · 10%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88536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288536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88536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Lundin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8816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$313k · 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88536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119872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48472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48472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$3.3M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48472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C8102E"/>
                </a:solidFill>
                <a:latin typeface="Calibri"/>
              </a:rPr>
              <a:t>▼ 8% vs 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19872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2025</a:t>
            </a:r>
          </a:p>
        </p:txBody>
      </p:sp>
      <p:sp>
        <p:nvSpPr>
          <p:cNvPr id="63" name="Oval 62"/>
          <p:cNvSpPr/>
          <p:nvPr/>
        </p:nvSpPr>
        <p:spPr>
          <a:xfrm>
            <a:off x="8119872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19872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0496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BHP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$1.2M · 35%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119872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119872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40496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CMP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60152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$423k · 13%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19872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119872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119872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40496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AMSA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60152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$376k · 12%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19872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8119872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19872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40496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AngloAmerican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60152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$341k · 10%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19872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cliente; clientes consolidados. Venta = Emitido.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Producción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· Perú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350" b="0" i="1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anual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(EDP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) y ranking Top 4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clientes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Perú, 2023–2025.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10144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$1.6M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Minsur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$934k · 57%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CD Capitals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$222k · 14%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7200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Marcobre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$138k · 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Raura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$97k · 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88536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17136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$2.1M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17136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29% vs 2023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8536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2024</a:t>
            </a:r>
          </a:p>
        </p:txBody>
      </p:sp>
      <p:sp>
        <p:nvSpPr>
          <p:cNvPr id="38" name="Oval 37"/>
          <p:cNvSpPr/>
          <p:nvPr/>
        </p:nvSpPr>
        <p:spPr>
          <a:xfrm>
            <a:off x="4288536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88536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CD Capitals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$818k · 39%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8536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288536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88536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60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Minsur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8816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$406k · 19%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88536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288536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88536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Glencore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8816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$198k · 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88536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4288536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88536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Las Bambas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8816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$190k · 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88536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119872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348472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48472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$2.5M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48472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17% vs 2024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19872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2025</a:t>
            </a:r>
          </a:p>
        </p:txBody>
      </p:sp>
      <p:sp>
        <p:nvSpPr>
          <p:cNvPr id="63" name="Oval 62"/>
          <p:cNvSpPr/>
          <p:nvPr/>
        </p:nvSpPr>
        <p:spPr>
          <a:xfrm>
            <a:off x="8119872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19872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0496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Las Bambas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$1.1M · 44%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119872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119872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40496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Minsur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60152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$356k · 14%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19872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119872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119872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40496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CD Capitals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60152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$337k · 14%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19872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8119872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119872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40496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Alpayana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60152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$131k · 5%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19872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cliente; clientes consolidados. Venta = Emitido.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Producción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· </a:t>
            </a:r>
            <a:r>
              <a:rPr sz="2600" b="1" i="0" dirty="0" err="1">
                <a:solidFill>
                  <a:srgbClr val="232733"/>
                </a:solidFill>
                <a:latin typeface="Calibri"/>
              </a:rPr>
              <a:t>Brasil</a:t>
            </a:r>
            <a:endParaRPr sz="2600" b="1" i="0" dirty="0">
              <a:solidFill>
                <a:srgbClr val="232733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350" b="0" i="1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anual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(EDP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) y ranking Top 4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clientes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Brasil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, 2023–2025.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10144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$0.7M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Mosaic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$600k · 82%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7200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NEXA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$129k · 18%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88536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17136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38% vs 2023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88536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2024</a:t>
            </a:r>
          </a:p>
        </p:txBody>
      </p:sp>
      <p:sp>
        <p:nvSpPr>
          <p:cNvPr id="28" name="Oval 27"/>
          <p:cNvSpPr/>
          <p:nvPr/>
        </p:nvSpPr>
        <p:spPr>
          <a:xfrm>
            <a:off x="4288536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88536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Mosaic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$613k · 61%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8536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288536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88536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J&amp;F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$319k · 32%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88536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288536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88536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NEXA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$76k · 8%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8536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19872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48472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$1.8M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82% vs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2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2025</a:t>
            </a:r>
          </a:p>
        </p:txBody>
      </p:sp>
      <p:sp>
        <p:nvSpPr>
          <p:cNvPr id="48" name="Oval 47"/>
          <p:cNvSpPr/>
          <p:nvPr/>
        </p:nvSpPr>
        <p:spPr>
          <a:xfrm>
            <a:off x="8119872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19872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0496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EroCopper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0152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$406k · 22%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9872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119872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19872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0496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Mosaic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0152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$404k · 22%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19872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119872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119872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AuraMinerals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0152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$343k · 19%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19872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19872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19872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0496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EQUINOX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$307k · 17%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cliente; clientes consolidados. Venta = Emitido.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2600" b="1" i="0" dirty="0">
                <a:solidFill>
                  <a:srgbClr val="232733"/>
                </a:solidFill>
                <a:latin typeface="Calibri"/>
              </a:rPr>
              <a:t>Producción</a:t>
            </a:r>
            <a:r>
              <a:rPr sz="2600" b="1" i="0" dirty="0">
                <a:solidFill>
                  <a:srgbClr val="232733"/>
                </a:solidFill>
                <a:latin typeface="Calibri"/>
              </a:rPr>
              <a:t> · 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350" b="0" i="1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anual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(EDP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) y ranking Top 4 de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clientes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año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</a:t>
            </a:r>
            <a:r>
              <a:rPr sz="1350" b="0" i="1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1350" b="0" i="1" dirty="0">
                <a:solidFill>
                  <a:srgbClr val="6B7280"/>
                </a:solidFill>
                <a:latin typeface="Calibri"/>
              </a:rPr>
              <a:t> USA, 2023–2025.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8808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10144" y="1783080"/>
            <a:ext cx="12801" cy="4251960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$0.1M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Ivanhoe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$102k · 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88536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17136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dirty="0">
                <a:solidFill>
                  <a:srgbClr val="2E7D5B"/>
                </a:solidFill>
                <a:latin typeface="Calibri"/>
              </a:rPr>
              <a:t>▲ 1427% vs 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8536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2024</a:t>
            </a:r>
          </a:p>
        </p:txBody>
      </p:sp>
      <p:sp>
        <p:nvSpPr>
          <p:cNvPr id="23" name="Oval 22"/>
          <p:cNvSpPr/>
          <p:nvPr/>
        </p:nvSpPr>
        <p:spPr>
          <a:xfrm>
            <a:off x="4288536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88536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Ivanhoe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$602k · 38%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88536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288536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88536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McCarthy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$572k · 37%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88536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288536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88536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EMX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$175k · 11%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88536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288536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88536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TwinMetals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8816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$113k · 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88536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19872" y="1783080"/>
            <a:ext cx="3611880" cy="137160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48472" y="1947672"/>
            <a:ext cx="31546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s-419" sz="1000" b="1" i="0" dirty="0">
                <a:solidFill>
                  <a:srgbClr val="6B7280"/>
                </a:solidFill>
                <a:latin typeface="Calibri"/>
              </a:rPr>
              <a:t>Producción</a:t>
            </a:r>
            <a:r>
              <a:rPr sz="1000" b="1" i="0" dirty="0">
                <a:solidFill>
                  <a:srgbClr val="6B7280"/>
                </a:solidFill>
                <a:latin typeface="Calibri"/>
              </a:rPr>
              <a:t> 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225856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E2761"/>
                </a:solidFill>
                <a:latin typeface="Calibri"/>
              </a:rPr>
              <a:t>$1.7M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2" y="282549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▲ 6% vs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2" y="3337560"/>
            <a:ext cx="36118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6B7280"/>
                </a:solidFill>
                <a:latin typeface="Calibri"/>
              </a:rPr>
              <a:t>TOP 4 CLIENTES 2025</a:t>
            </a:r>
          </a:p>
        </p:txBody>
      </p:sp>
      <p:sp>
        <p:nvSpPr>
          <p:cNvPr id="48" name="Oval 47"/>
          <p:cNvSpPr/>
          <p:nvPr/>
        </p:nvSpPr>
        <p:spPr>
          <a:xfrm>
            <a:off x="8119872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19872" y="375818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0496" y="3721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ThreeCrowns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0152" y="3721608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$646k · 39%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9872" y="4160520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119872" y="43068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19872" y="432511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40496" y="428853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TwinMetals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60152" y="4288536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$453k · 27%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19872" y="4727448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119872" y="48737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119872" y="489204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8554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VP Mining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0152" y="4855464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$302k · 18%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19872" y="5294376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119872" y="544068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119872" y="545896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40496" y="542239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32733"/>
                </a:solidFill>
                <a:latin typeface="Calibri"/>
              </a:rPr>
              <a:t>Resolution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0152" y="5422392"/>
            <a:ext cx="13716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C4A7C"/>
                </a:solidFill>
                <a:latin typeface="Calibri"/>
              </a:rPr>
              <a:t>$155k · 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5861304"/>
            <a:ext cx="3611880" cy="731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57200" y="6510528"/>
            <a:ext cx="11277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EDP Emitido USD por país y cliente; clientes consolidados. Venta = Emitido.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6616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Flujo de Caja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434840"/>
            <a:ext cx="2926080" cy="27432"/>
          </a:xfrm>
          <a:prstGeom prst="rect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61772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CADCFC"/>
                </a:solidFill>
                <a:latin typeface="Calibri"/>
              </a:rPr>
              <a:t>Velocidad de cobro (turnover) por etapa y país, y la evolución de la caja consolidada.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REDCO</a:t>
            </a:r>
            <a:r>
              <a:rPr sz="900" b="0" i="1">
                <a:solidFill>
                  <a:srgbClr val="CADCFC"/>
                </a:solidFill>
                <a:latin typeface="Calibri"/>
              </a:rPr>
              <a:t>  · Mining Consultants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Flujo: días del ciclo de cobro por país, fase y 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Una matriz por país: cada celda es el promedio de días de una fase del ciclo EdP. Más oscuro = más lento.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468112" cy="2066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5133" y="2212848"/>
            <a:ext cx="10972" cy="140817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11680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4056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6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14015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Facturado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9112" y="2446020"/>
            <a:ext cx="667512" cy="344423"/>
          </a:xfrm>
          <a:prstGeom prst="rect">
            <a:avLst/>
          </a:prstGeom>
          <a:solidFill>
            <a:srgbClr val="96A6C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11680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32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1488" y="2446020"/>
            <a:ext cx="667512" cy="344423"/>
          </a:xfrm>
          <a:prstGeom prst="rect">
            <a:avLst/>
          </a:prstGeom>
          <a:solidFill>
            <a:srgbClr val="96A5C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34056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33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83864" y="2446020"/>
            <a:ext cx="667512" cy="344423"/>
          </a:xfrm>
          <a:prstGeom prst="rect">
            <a:avLst/>
          </a:prstGeom>
          <a:solidFill>
            <a:srgbClr val="8796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40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446020"/>
            <a:ext cx="667512" cy="344423"/>
          </a:xfrm>
          <a:prstGeom prst="rect">
            <a:avLst/>
          </a:prstGeom>
          <a:solidFill>
            <a:srgbClr val="8A99C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78808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47488" y="2446020"/>
            <a:ext cx="667512" cy="344423"/>
          </a:xfrm>
          <a:prstGeom prst="rect">
            <a:avLst/>
          </a:prstGeom>
          <a:solidFill>
            <a:srgbClr val="91A0C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0056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35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822448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Facturado → Ingresado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39112" y="2854452"/>
            <a:ext cx="667512" cy="344423"/>
          </a:xfrm>
          <a:prstGeom prst="rect">
            <a:avLst/>
          </a:prstGeom>
          <a:solidFill>
            <a:srgbClr val="B9CAE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011680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16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61488" y="2854452"/>
            <a:ext cx="667512" cy="344423"/>
          </a:xfrm>
          <a:prstGeom prst="rect">
            <a:avLst/>
          </a:prstGeom>
          <a:solidFill>
            <a:srgbClr val="9FAFD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34056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83864" y="2854452"/>
            <a:ext cx="667512" cy="344423"/>
          </a:xfrm>
          <a:prstGeom prst="rect">
            <a:avLst/>
          </a:prstGeom>
          <a:solidFill>
            <a:srgbClr val="B4C5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56432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854452"/>
            <a:ext cx="667512" cy="344423"/>
          </a:xfrm>
          <a:prstGeom prst="rect">
            <a:avLst/>
          </a:prstGeom>
          <a:solidFill>
            <a:srgbClr val="B2C3E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78808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47488" y="2854452"/>
            <a:ext cx="667512" cy="344423"/>
          </a:xfrm>
          <a:prstGeom prst="rect">
            <a:avLst/>
          </a:prstGeom>
          <a:solidFill>
            <a:srgbClr val="AEBFE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0056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296501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→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Ingresado</a:t>
            </a:r>
            <a:endParaRPr sz="85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039112" y="3349752"/>
            <a:ext cx="667512" cy="344423"/>
          </a:xfrm>
          <a:prstGeom prst="rect">
            <a:avLst/>
          </a:prstGeom>
          <a:solidFill>
            <a:srgbClr val="7583B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024938" y="3311499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232733"/>
                </a:solidFill>
                <a:latin typeface="Calibri"/>
              </a:rPr>
              <a:t>48</a:t>
            </a:r>
            <a:r>
              <a:rPr sz="750" b="0" i="0" dirty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3349752"/>
            <a:ext cx="667512" cy="344423"/>
          </a:xfrm>
          <a:prstGeom prst="rect">
            <a:avLst/>
          </a:prstGeom>
          <a:solidFill>
            <a:srgbClr val="6470A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34056" y="331149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57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83864" y="3349752"/>
            <a:ext cx="667512" cy="344423"/>
          </a:xfrm>
          <a:prstGeom prst="rect">
            <a:avLst/>
          </a:prstGeom>
          <a:solidFill>
            <a:srgbClr val="616D9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56432" y="3309822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58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349752"/>
            <a:ext cx="667512" cy="344423"/>
          </a:xfrm>
          <a:prstGeom prst="rect">
            <a:avLst/>
          </a:prstGeom>
          <a:solidFill>
            <a:srgbClr val="6975A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78808" y="330814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54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47488" y="3349752"/>
            <a:ext cx="667512" cy="344423"/>
          </a:xfrm>
          <a:prstGeom prst="rect">
            <a:avLst/>
          </a:prstGeom>
          <a:solidFill>
            <a:srgbClr val="6976A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0056" y="330814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54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1737360"/>
            <a:ext cx="5468112" cy="2066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46520" y="1847088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761573" y="2212848"/>
            <a:ext cx="10972" cy="140817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818120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0496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62872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85248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26496" y="219456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Prom.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2414015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Facturado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45552" y="2446020"/>
            <a:ext cx="667512" cy="344423"/>
          </a:xfrm>
          <a:prstGeom prst="rect">
            <a:avLst/>
          </a:prstGeom>
          <a:solidFill>
            <a:srgbClr val="8F9EC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818120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36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67928" y="2446020"/>
            <a:ext cx="667512" cy="344423"/>
          </a:xfrm>
          <a:prstGeom prst="rect">
            <a:avLst/>
          </a:prstGeom>
          <a:solidFill>
            <a:srgbClr val="ACBDE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40496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22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90304" y="2446020"/>
            <a:ext cx="667512" cy="344423"/>
          </a:xfrm>
          <a:prstGeom prst="rect">
            <a:avLst/>
          </a:prstGeom>
          <a:solidFill>
            <a:srgbClr val="8896C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62872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12680" y="2446020"/>
            <a:ext cx="667512" cy="344423"/>
          </a:xfrm>
          <a:prstGeom prst="rect">
            <a:avLst/>
          </a:prstGeom>
          <a:solidFill>
            <a:srgbClr val="A2B2D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985248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27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53928" y="2446020"/>
            <a:ext cx="667512" cy="344423"/>
          </a:xfrm>
          <a:prstGeom prst="rect">
            <a:avLst/>
          </a:prstGeom>
          <a:solidFill>
            <a:srgbClr val="97A6C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826496" y="241401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32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2822448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Facturado → Ingresado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45552" y="2854452"/>
            <a:ext cx="667512" cy="344423"/>
          </a:xfrm>
          <a:prstGeom prst="rect">
            <a:avLst/>
          </a:prstGeom>
          <a:solidFill>
            <a:srgbClr val="AFC0E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818120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567928" y="2854452"/>
            <a:ext cx="667512" cy="344423"/>
          </a:xfrm>
          <a:prstGeom prst="rect">
            <a:avLst/>
          </a:prstGeom>
          <a:solidFill>
            <a:srgbClr val="8B9AC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540496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90304" y="2854452"/>
            <a:ext cx="667512" cy="344423"/>
          </a:xfrm>
          <a:prstGeom prst="rect">
            <a:avLst/>
          </a:prstGeom>
          <a:solidFill>
            <a:srgbClr val="99A9D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262872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12680" y="2854452"/>
            <a:ext cx="667512" cy="344423"/>
          </a:xfrm>
          <a:prstGeom prst="rect">
            <a:avLst/>
          </a:prstGeom>
          <a:solidFill>
            <a:srgbClr val="A8B9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985248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24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53928" y="2854452"/>
            <a:ext cx="667512" cy="344423"/>
          </a:xfrm>
          <a:prstGeom prst="rect">
            <a:avLst/>
          </a:prstGeom>
          <a:solidFill>
            <a:srgbClr val="9DACD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826496" y="282244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46520" y="3304031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→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Ingresado</a:t>
            </a:r>
            <a:endParaRPr sz="85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7845552" y="3354434"/>
            <a:ext cx="667512" cy="344423"/>
          </a:xfrm>
          <a:prstGeom prst="rect">
            <a:avLst/>
          </a:prstGeom>
          <a:solidFill>
            <a:srgbClr val="6C79A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818120" y="3312092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53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67928" y="3354434"/>
            <a:ext cx="667512" cy="344423"/>
          </a:xfrm>
          <a:prstGeom prst="rect">
            <a:avLst/>
          </a:prstGeom>
          <a:solidFill>
            <a:srgbClr val="5E6A9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40496" y="331149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59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290304" y="3354434"/>
            <a:ext cx="667512" cy="344423"/>
          </a:xfrm>
          <a:prstGeom prst="rect">
            <a:avLst/>
          </a:prstGeom>
          <a:solidFill>
            <a:srgbClr val="4752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262872" y="3312092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70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12680" y="3354434"/>
            <a:ext cx="667512" cy="344423"/>
          </a:xfrm>
          <a:prstGeom prst="rect">
            <a:avLst/>
          </a:prstGeom>
          <a:solidFill>
            <a:srgbClr val="707DA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985246" y="3312092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51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853928" y="3354434"/>
            <a:ext cx="667512" cy="344423"/>
          </a:xfrm>
          <a:prstGeom prst="rect">
            <a:avLst/>
          </a:prstGeom>
          <a:solidFill>
            <a:srgbClr val="5B689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826496" y="3312157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60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3931920"/>
            <a:ext cx="5468112" cy="2066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0080" y="4041648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55133" y="4407407"/>
            <a:ext cx="10972" cy="140817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011680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34056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6432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78808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020056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Prom.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0080" y="4608576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Facturado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39112" y="4640580"/>
            <a:ext cx="667512" cy="344423"/>
          </a:xfrm>
          <a:prstGeom prst="rect">
            <a:avLst/>
          </a:prstGeom>
          <a:solidFill>
            <a:srgbClr val="B4C5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011680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61488" y="4640580"/>
            <a:ext cx="667512" cy="344423"/>
          </a:xfrm>
          <a:prstGeom prst="rect">
            <a:avLst/>
          </a:prstGeom>
          <a:solidFill>
            <a:srgbClr val="9EAED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734056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483864" y="4640580"/>
            <a:ext cx="667512" cy="344423"/>
          </a:xfrm>
          <a:prstGeom prst="rect">
            <a:avLst/>
          </a:prstGeom>
          <a:solidFill>
            <a:srgbClr val="BFD0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3456432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13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06240" y="4640580"/>
            <a:ext cx="667512" cy="344423"/>
          </a:xfrm>
          <a:prstGeom prst="rect">
            <a:avLst/>
          </a:prstGeom>
          <a:solidFill>
            <a:srgbClr val="C9DB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178808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47488" y="4640580"/>
            <a:ext cx="667512" cy="344423"/>
          </a:xfrm>
          <a:prstGeom prst="rect">
            <a:avLst/>
          </a:prstGeom>
          <a:solidFill>
            <a:srgbClr val="B6C7E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020056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17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" y="5017008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Facturado → Ingresado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039112" y="5049012"/>
            <a:ext cx="667512" cy="344423"/>
          </a:xfrm>
          <a:prstGeom prst="rect">
            <a:avLst/>
          </a:prstGeom>
          <a:solidFill>
            <a:srgbClr val="59669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011680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61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761488" y="5049012"/>
            <a:ext cx="667512" cy="344423"/>
          </a:xfrm>
          <a:prstGeom prst="rect">
            <a:avLst/>
          </a:prstGeom>
          <a:solidFill>
            <a:srgbClr val="515D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734056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65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483864" y="5049012"/>
            <a:ext cx="667512" cy="344423"/>
          </a:xfrm>
          <a:prstGeom prst="rect">
            <a:avLst/>
          </a:prstGeom>
          <a:solidFill>
            <a:srgbClr val="636F9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456432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57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206240" y="5049012"/>
            <a:ext cx="667512" cy="344423"/>
          </a:xfrm>
          <a:prstGeom prst="rect">
            <a:avLst/>
          </a:prstGeom>
          <a:solidFill>
            <a:srgbClr val="616D9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178808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58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047488" y="5049012"/>
            <a:ext cx="667512" cy="344423"/>
          </a:xfrm>
          <a:prstGeom prst="rect">
            <a:avLst/>
          </a:prstGeom>
          <a:solidFill>
            <a:srgbClr val="5C689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5020056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60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40080" y="5523282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→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Ingresado</a:t>
            </a:r>
            <a:endParaRPr sz="85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2039112" y="5559552"/>
            <a:ext cx="667512" cy="344423"/>
          </a:xfrm>
          <a:prstGeom prst="rect">
            <a:avLst/>
          </a:prstGeom>
          <a:solidFill>
            <a:srgbClr val="39447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011680" y="5510851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77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61488" y="5559552"/>
            <a:ext cx="667512" cy="344423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2734056" y="5510851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90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483864" y="5559552"/>
            <a:ext cx="667512" cy="344423"/>
          </a:xfrm>
          <a:prstGeom prst="rect">
            <a:avLst/>
          </a:prstGeom>
          <a:solidFill>
            <a:srgbClr val="48538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3456432" y="551587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70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06240" y="5559552"/>
            <a:ext cx="667512" cy="344423"/>
          </a:xfrm>
          <a:prstGeom prst="rect">
            <a:avLst/>
          </a:prstGeom>
          <a:solidFill>
            <a:srgbClr val="4F5B8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178808" y="5510851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66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47488" y="5559552"/>
            <a:ext cx="667512" cy="344423"/>
          </a:xfrm>
          <a:prstGeom prst="rect">
            <a:avLst/>
          </a:prstGeom>
          <a:solidFill>
            <a:srgbClr val="3A457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5020056" y="5515875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76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63640" y="3931920"/>
            <a:ext cx="5468112" cy="206654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6446520" y="4041648"/>
            <a:ext cx="5102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761573" y="4407407"/>
            <a:ext cx="10972" cy="140817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818120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540496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2024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262872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985248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32733"/>
                </a:solidFill>
                <a:latin typeface="Calibri"/>
              </a:rPr>
              <a:t>2026 *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826496" y="4389120"/>
            <a:ext cx="72237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2761"/>
                </a:solidFill>
                <a:latin typeface="Calibri"/>
              </a:rPr>
              <a:t>Prom.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46520" y="4608576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Emitido → Facturado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845552" y="4640580"/>
            <a:ext cx="667512" cy="344423"/>
          </a:xfrm>
          <a:prstGeom prst="rect">
            <a:avLst/>
          </a:prstGeom>
          <a:solidFill>
            <a:srgbClr val="C3D5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818120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567928" y="4640580"/>
            <a:ext cx="667512" cy="344423"/>
          </a:xfrm>
          <a:prstGeom prst="rect">
            <a:avLst/>
          </a:prstGeom>
          <a:solidFill>
            <a:srgbClr val="C4D6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8540496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290304" y="4640580"/>
            <a:ext cx="667512" cy="344423"/>
          </a:xfrm>
          <a:prstGeom prst="rect">
            <a:avLst/>
          </a:prstGeom>
          <a:solidFill>
            <a:srgbClr val="C4D6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9262872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11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012680" y="4640580"/>
            <a:ext cx="667512" cy="344423"/>
          </a:xfrm>
          <a:prstGeom prst="rect">
            <a:avLst/>
          </a:prstGeom>
          <a:solidFill>
            <a:srgbClr val="C9DB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9985248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8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853928" y="4640580"/>
            <a:ext cx="667512" cy="344423"/>
          </a:xfrm>
          <a:prstGeom prst="rect">
            <a:avLst/>
          </a:prstGeom>
          <a:solidFill>
            <a:srgbClr val="C5D7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826496" y="4608576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10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446520" y="5017008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Facturado → Ingresado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845552" y="5049012"/>
            <a:ext cx="667512" cy="344423"/>
          </a:xfrm>
          <a:prstGeom prst="rect">
            <a:avLst/>
          </a:prstGeom>
          <a:solidFill>
            <a:srgbClr val="55619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818120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64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567928" y="5049012"/>
            <a:ext cx="667512" cy="344423"/>
          </a:xfrm>
          <a:prstGeom prst="rect">
            <a:avLst/>
          </a:prstGeom>
          <a:solidFill>
            <a:srgbClr val="9BAAD1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540496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30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290304" y="5049012"/>
            <a:ext cx="667512" cy="344423"/>
          </a:xfrm>
          <a:prstGeom prst="rect">
            <a:avLst/>
          </a:prstGeom>
          <a:solidFill>
            <a:srgbClr val="5F6C9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9262872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59</a:t>
            </a:r>
            <a:r>
              <a:rPr sz="750" b="0" i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012680" y="5049012"/>
            <a:ext cx="667512" cy="344423"/>
          </a:xfrm>
          <a:prstGeom prst="rect">
            <a:avLst/>
          </a:prstGeom>
          <a:solidFill>
            <a:srgbClr val="9DACD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985248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29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0853928" y="5049012"/>
            <a:ext cx="667512" cy="344423"/>
          </a:xfrm>
          <a:prstGeom prst="rect">
            <a:avLst/>
          </a:prstGeom>
          <a:solidFill>
            <a:srgbClr val="7E8CB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0826496" y="5017008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32733"/>
                </a:solidFill>
                <a:latin typeface="Calibri"/>
              </a:rPr>
              <a:t>44</a:t>
            </a:r>
            <a:r>
              <a:rPr sz="750" b="0" i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446520" y="5559552"/>
            <a:ext cx="1344168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 dirty="0" err="1">
                <a:solidFill>
                  <a:srgbClr val="6B7280"/>
                </a:solidFill>
                <a:latin typeface="Calibri"/>
              </a:rPr>
              <a:t>Emitido</a:t>
            </a:r>
            <a:r>
              <a:rPr sz="850" b="0" i="0" dirty="0">
                <a:solidFill>
                  <a:srgbClr val="6B7280"/>
                </a:solidFill>
                <a:latin typeface="Calibri"/>
              </a:rPr>
              <a:t> → </a:t>
            </a:r>
            <a:r>
              <a:rPr sz="850" b="0" i="0" dirty="0" err="1">
                <a:solidFill>
                  <a:srgbClr val="6B7280"/>
                </a:solidFill>
                <a:latin typeface="Calibri"/>
              </a:rPr>
              <a:t>Ingresado</a:t>
            </a:r>
            <a:endParaRPr sz="850" b="0" i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7845552" y="5559552"/>
            <a:ext cx="667512" cy="344423"/>
          </a:xfrm>
          <a:prstGeom prst="rect">
            <a:avLst/>
          </a:prstGeom>
          <a:solidFill>
            <a:srgbClr val="3E497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7818120" y="5511357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74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567928" y="5559552"/>
            <a:ext cx="667512" cy="344423"/>
          </a:xfrm>
          <a:prstGeom prst="rect">
            <a:avLst/>
          </a:prstGeom>
          <a:solidFill>
            <a:srgbClr val="8493B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8540496" y="5511357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232733"/>
                </a:solidFill>
                <a:latin typeface="Calibri"/>
              </a:rPr>
              <a:t>41</a:t>
            </a:r>
            <a:r>
              <a:rPr sz="750" b="0" i="0" dirty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290304" y="5559552"/>
            <a:ext cx="667512" cy="344423"/>
          </a:xfrm>
          <a:prstGeom prst="rect">
            <a:avLst/>
          </a:prstGeom>
          <a:solidFill>
            <a:srgbClr val="4B5689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9262872" y="5511357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68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012680" y="5559552"/>
            <a:ext cx="667512" cy="344423"/>
          </a:xfrm>
          <a:prstGeom prst="rect">
            <a:avLst/>
          </a:prstGeom>
          <a:solidFill>
            <a:srgbClr val="8B9AC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9985248" y="5511357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232733"/>
                </a:solidFill>
                <a:latin typeface="Calibri"/>
              </a:rPr>
              <a:t>38</a:t>
            </a:r>
            <a:r>
              <a:rPr sz="750" b="0" i="0" dirty="0">
                <a:solidFill>
                  <a:srgbClr val="232733"/>
                </a:solidFill>
                <a:latin typeface="Calibri"/>
              </a:rPr>
              <a:t> d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853928" y="5559552"/>
            <a:ext cx="667512" cy="344423"/>
          </a:xfrm>
          <a:prstGeom prst="rect">
            <a:avLst/>
          </a:prstGeom>
          <a:solidFill>
            <a:srgbClr val="6D7A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0826496" y="5511357"/>
            <a:ext cx="722376" cy="4084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52</a:t>
            </a:r>
            <a:r>
              <a:rPr sz="750" b="0" i="0" dirty="0">
                <a:solidFill>
                  <a:srgbClr val="FFFFFF"/>
                </a:solidFill>
                <a:latin typeface="Calibri"/>
              </a:rPr>
              <a:t> d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57200" y="6163056"/>
            <a:ext cx="141732" cy="11887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598932" y="6163056"/>
            <a:ext cx="141732" cy="118872"/>
          </a:xfrm>
          <a:prstGeom prst="rect">
            <a:avLst/>
          </a:prstGeom>
          <a:solidFill>
            <a:srgbClr val="B8C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740664" y="6163056"/>
            <a:ext cx="141732" cy="118872"/>
          </a:xfrm>
          <a:prstGeom prst="rect">
            <a:avLst/>
          </a:prstGeom>
          <a:solidFill>
            <a:srgbClr val="A7B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882396" y="6163056"/>
            <a:ext cx="141732" cy="118872"/>
          </a:xfrm>
          <a:prstGeom prst="rect">
            <a:avLst/>
          </a:prstGeom>
          <a:solidFill>
            <a:srgbClr val="96A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1024128" y="6163056"/>
            <a:ext cx="141732" cy="118872"/>
          </a:xfrm>
          <a:prstGeom prst="rect">
            <a:avLst/>
          </a:prstGeom>
          <a:solidFill>
            <a:srgbClr val="8593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1165860" y="6163056"/>
            <a:ext cx="141732" cy="118872"/>
          </a:xfrm>
          <a:prstGeom prst="rect">
            <a:avLst/>
          </a:prstGeom>
          <a:solidFill>
            <a:srgbClr val="7481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307592" y="6163056"/>
            <a:ext cx="141732" cy="118872"/>
          </a:xfrm>
          <a:prstGeom prst="rect">
            <a:avLst/>
          </a:prstGeom>
          <a:solidFill>
            <a:srgbClr val="62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449324" y="6163056"/>
            <a:ext cx="141732" cy="118872"/>
          </a:xfrm>
          <a:prstGeom prst="rect">
            <a:avLst/>
          </a:prstGeom>
          <a:solidFill>
            <a:srgbClr val="515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591056" y="6163056"/>
            <a:ext cx="141732" cy="118872"/>
          </a:xfrm>
          <a:prstGeom prst="rect">
            <a:avLst/>
          </a:prstGeom>
          <a:solidFill>
            <a:srgbClr val="404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732788" y="6163056"/>
            <a:ext cx="141732" cy="118872"/>
          </a:xfrm>
          <a:prstGeom prst="rect">
            <a:avLst/>
          </a:prstGeom>
          <a:solidFill>
            <a:srgbClr val="2F39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874519" y="6163056"/>
            <a:ext cx="141732" cy="11887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2125980" y="6135624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B7280"/>
                </a:solidFill>
                <a:latin typeface="Calibri"/>
              </a:rPr>
              <a:t>menos  →  más días de cobro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00_Ciclo Mensual EdP 2023_v0.xlsx (CicloEdP_2023_v1) — días promedio por país, fase y año de emisión.  2026 * = año parcial.  Prom. = promedio histórico (todos los EdP).</a:t>
            </a:r>
          </a:p>
        </p:txBody>
      </p:sp>
      <p:cxnSp>
        <p:nvCxnSpPr>
          <p:cNvPr id="185" name="Conector recto 184">
            <a:extLst>
              <a:ext uri="{FF2B5EF4-FFF2-40B4-BE49-F238E27FC236}">
                <a16:creationId xmlns:a16="http://schemas.microsoft.com/office/drawing/2014/main" id="{2EF13DA7-59BA-0C1C-DAFC-62DC1EE41EFF}"/>
              </a:ext>
            </a:extLst>
          </p:cNvPr>
          <p:cNvCxnSpPr/>
          <p:nvPr/>
        </p:nvCxnSpPr>
        <p:spPr>
          <a:xfrm>
            <a:off x="1984248" y="3268419"/>
            <a:ext cx="3758184" cy="0"/>
          </a:xfrm>
          <a:prstGeom prst="line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ector recto 185">
            <a:extLst>
              <a:ext uri="{FF2B5EF4-FFF2-40B4-BE49-F238E27FC236}">
                <a16:creationId xmlns:a16="http://schemas.microsoft.com/office/drawing/2014/main" id="{16F89900-FEB1-1DE6-01E8-EA3E3BD67C11}"/>
              </a:ext>
            </a:extLst>
          </p:cNvPr>
          <p:cNvCxnSpPr/>
          <p:nvPr/>
        </p:nvCxnSpPr>
        <p:spPr>
          <a:xfrm>
            <a:off x="7799676" y="3269147"/>
            <a:ext cx="3758184" cy="0"/>
          </a:xfrm>
          <a:prstGeom prst="line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B80EE752-C587-BEBF-87D9-F54F1150B115}"/>
              </a:ext>
            </a:extLst>
          </p:cNvPr>
          <p:cNvCxnSpPr/>
          <p:nvPr/>
        </p:nvCxnSpPr>
        <p:spPr>
          <a:xfrm>
            <a:off x="1984248" y="5465377"/>
            <a:ext cx="3758184" cy="0"/>
          </a:xfrm>
          <a:prstGeom prst="line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ector recto 187">
            <a:extLst>
              <a:ext uri="{FF2B5EF4-FFF2-40B4-BE49-F238E27FC236}">
                <a16:creationId xmlns:a16="http://schemas.microsoft.com/office/drawing/2014/main" id="{0A716C86-64CC-2F3F-962C-78381974398B}"/>
              </a:ext>
            </a:extLst>
          </p:cNvPr>
          <p:cNvCxnSpPr/>
          <p:nvPr/>
        </p:nvCxnSpPr>
        <p:spPr>
          <a:xfrm>
            <a:off x="7790688" y="5463665"/>
            <a:ext cx="3758184" cy="0"/>
          </a:xfrm>
          <a:prstGeom prst="line">
            <a:avLst/>
          </a:prstGeom>
          <a:ln w="12700">
            <a:solidFill>
              <a:srgbClr val="E2E5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Flujo de caja consolidado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La caja crece de forma sostenida en el año: los ingresos superan a los egresos casi todos los meses.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547182"/>
              </p:ext>
            </p:extLst>
          </p:nvPr>
        </p:nvGraphicFramePr>
        <p:xfrm>
          <a:off x="457200" y="1828800"/>
          <a:ext cx="7772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0" y="1828800"/>
            <a:ext cx="329184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41080" y="20299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37744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7D5B"/>
                </a:solidFill>
                <a:latin typeface="Calibri"/>
              </a:rPr>
              <a:t>+1,7M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090672"/>
            <a:ext cx="2834640" cy="2715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La caja consolidada pasa de ~0,25M (ene) a ~1,95M (dic). Ingresos &gt; egresos en 10 de 12 meses; el 2º semestre acumula la mayor holgura.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202601_FLUJO REDCO 2025 - Cierre diciembre.xlsx — flujo de caja real 2025 consolidado (hojas 'Flujo Redco &lt;país&gt;').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788C1-C2C2-65C1-24BA-BDEE2F230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1">
            <a:extLst>
              <a:ext uri="{FF2B5EF4-FFF2-40B4-BE49-F238E27FC236}">
                <a16:creationId xmlns:a16="http://schemas.microsoft.com/office/drawing/2014/main" id="{CA426F5F-7F55-E446-D9CC-E8E0520E180F}"/>
              </a:ext>
            </a:extLst>
          </p:cNvPr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54" name="Oval 2">
            <a:extLst>
              <a:ext uri="{FF2B5EF4-FFF2-40B4-BE49-F238E27FC236}">
                <a16:creationId xmlns:a16="http://schemas.microsoft.com/office/drawing/2014/main" id="{07CE867F-6360-A0D5-45E9-A0BC91439F2C}"/>
              </a:ext>
            </a:extLst>
          </p:cNvPr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3">
            <a:extLst>
              <a:ext uri="{FF2B5EF4-FFF2-40B4-BE49-F238E27FC236}">
                <a16:creationId xmlns:a16="http://schemas.microsoft.com/office/drawing/2014/main" id="{E0B90390-C54E-DD92-3D58-D69C0ACB33B6}"/>
              </a:ext>
            </a:extLst>
          </p:cNvPr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4">
            <a:extLst>
              <a:ext uri="{FF2B5EF4-FFF2-40B4-BE49-F238E27FC236}">
                <a16:creationId xmlns:a16="http://schemas.microsoft.com/office/drawing/2014/main" id="{879361D3-000C-AB31-0047-3839F94505F7}"/>
              </a:ext>
            </a:extLst>
          </p:cNvPr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Flujo de caja por entidad 2025 — quién genera y quién drena caja</a:t>
            </a:r>
          </a:p>
        </p:txBody>
      </p:sp>
      <p:sp>
        <p:nvSpPr>
          <p:cNvPr id="57" name="TextBox 5">
            <a:extLst>
              <a:ext uri="{FF2B5EF4-FFF2-40B4-BE49-F238E27FC236}">
                <a16:creationId xmlns:a16="http://schemas.microsoft.com/office/drawing/2014/main" id="{E8A80BA8-AA3D-B137-9291-D5B907010853}"/>
              </a:ext>
            </a:extLst>
          </p:cNvPr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Chile y Perú mueven el mayor volumen pero cierran neutros; BVI (y algo Brasil) genera casi toda la caja del grupo.</a:t>
            </a:r>
          </a:p>
        </p:txBody>
      </p:sp>
      <p:sp>
        <p:nvSpPr>
          <p:cNvPr id="58" name="Rectangle 6">
            <a:extLst>
              <a:ext uri="{FF2B5EF4-FFF2-40B4-BE49-F238E27FC236}">
                <a16:creationId xmlns:a16="http://schemas.microsoft.com/office/drawing/2014/main" id="{0B39BAEF-FAB0-2D83-F805-59FD6C0E4CCA}"/>
              </a:ext>
            </a:extLst>
          </p:cNvPr>
          <p:cNvSpPr/>
          <p:nvPr/>
        </p:nvSpPr>
        <p:spPr>
          <a:xfrm>
            <a:off x="365760" y="17373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7">
            <a:extLst>
              <a:ext uri="{FF2B5EF4-FFF2-40B4-BE49-F238E27FC236}">
                <a16:creationId xmlns:a16="http://schemas.microsoft.com/office/drawing/2014/main" id="{5B0E1089-2E0A-EEFB-9096-A55ABDED3461}"/>
              </a:ext>
            </a:extLst>
          </p:cNvPr>
          <p:cNvSpPr txBox="1"/>
          <p:nvPr/>
        </p:nvSpPr>
        <p:spPr>
          <a:xfrm>
            <a:off x="530352" y="1856231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Chile</a:t>
            </a:r>
          </a:p>
        </p:txBody>
      </p:sp>
      <p:sp>
        <p:nvSpPr>
          <p:cNvPr id="60" name="Rounded Rectangle 8">
            <a:extLst>
              <a:ext uri="{FF2B5EF4-FFF2-40B4-BE49-F238E27FC236}">
                <a16:creationId xmlns:a16="http://schemas.microsoft.com/office/drawing/2014/main" id="{8CD117BC-938F-8EF6-A6FB-E0DFADC277DB}"/>
              </a:ext>
            </a:extLst>
          </p:cNvPr>
          <p:cNvSpPr/>
          <p:nvPr/>
        </p:nvSpPr>
        <p:spPr>
          <a:xfrm>
            <a:off x="2505456" y="1865376"/>
            <a:ext cx="1280160" cy="292608"/>
          </a:xfrm>
          <a:prstGeom prst="round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9">
            <a:extLst>
              <a:ext uri="{FF2B5EF4-FFF2-40B4-BE49-F238E27FC236}">
                <a16:creationId xmlns:a16="http://schemas.microsoft.com/office/drawing/2014/main" id="{D0A9C889-AB81-4528-8DF1-272D2CCD2195}"/>
              </a:ext>
            </a:extLst>
          </p:cNvPr>
          <p:cNvSpPr txBox="1"/>
          <p:nvPr/>
        </p:nvSpPr>
        <p:spPr>
          <a:xfrm>
            <a:off x="2505456" y="190652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dirty="0" err="1">
                <a:solidFill>
                  <a:srgbClr val="FFFFFF"/>
                </a:solidFill>
                <a:latin typeface="Calibri"/>
              </a:rPr>
              <a:t>neto</a:t>
            </a:r>
            <a:r>
              <a:rPr sz="950" b="1" i="0" dirty="0">
                <a:solidFill>
                  <a:srgbClr val="FFFFFF"/>
                </a:solidFill>
                <a:latin typeface="Calibri"/>
              </a:rPr>
              <a:t> -0,03M</a:t>
            </a:r>
          </a:p>
        </p:txBody>
      </p:sp>
      <p:graphicFrame>
        <p:nvGraphicFramePr>
          <p:cNvPr id="62" name="Chart 10">
            <a:extLst>
              <a:ext uri="{FF2B5EF4-FFF2-40B4-BE49-F238E27FC236}">
                <a16:creationId xmlns:a16="http://schemas.microsoft.com/office/drawing/2014/main" id="{547FF0F3-3A36-43CB-089B-A11C6952D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730991"/>
              </p:ext>
            </p:extLst>
          </p:nvPr>
        </p:nvGraphicFramePr>
        <p:xfrm>
          <a:off x="475488" y="2212848"/>
          <a:ext cx="3346704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3" name="TextBox 11">
            <a:extLst>
              <a:ext uri="{FF2B5EF4-FFF2-40B4-BE49-F238E27FC236}">
                <a16:creationId xmlns:a16="http://schemas.microsoft.com/office/drawing/2014/main" id="{8724335A-8ADE-C89C-36AB-69F7AF3FFC66}"/>
              </a:ext>
            </a:extLst>
          </p:cNvPr>
          <p:cNvSpPr txBox="1"/>
          <p:nvPr/>
        </p:nvSpPr>
        <p:spPr>
          <a:xfrm>
            <a:off x="530352" y="3511295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Gasta ≈ lo que ingresa; 7 de 12 meses en rojo.</a:t>
            </a:r>
          </a:p>
        </p:txBody>
      </p:sp>
      <p:sp>
        <p:nvSpPr>
          <p:cNvPr id="64" name="Rectangle 12">
            <a:extLst>
              <a:ext uri="{FF2B5EF4-FFF2-40B4-BE49-F238E27FC236}">
                <a16:creationId xmlns:a16="http://schemas.microsoft.com/office/drawing/2014/main" id="{2A908D09-7B3C-5D93-3B2F-B240429122F0}"/>
              </a:ext>
            </a:extLst>
          </p:cNvPr>
          <p:cNvSpPr/>
          <p:nvPr/>
        </p:nvSpPr>
        <p:spPr>
          <a:xfrm>
            <a:off x="4315968" y="17373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13">
            <a:extLst>
              <a:ext uri="{FF2B5EF4-FFF2-40B4-BE49-F238E27FC236}">
                <a16:creationId xmlns:a16="http://schemas.microsoft.com/office/drawing/2014/main" id="{465B9F30-7315-BE48-6C24-C2CCEF4E089F}"/>
              </a:ext>
            </a:extLst>
          </p:cNvPr>
          <p:cNvSpPr txBox="1"/>
          <p:nvPr/>
        </p:nvSpPr>
        <p:spPr>
          <a:xfrm>
            <a:off x="4480559" y="1856231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Perú</a:t>
            </a:r>
          </a:p>
        </p:txBody>
      </p:sp>
      <p:sp>
        <p:nvSpPr>
          <p:cNvPr id="66" name="Rounded Rectangle 14">
            <a:extLst>
              <a:ext uri="{FF2B5EF4-FFF2-40B4-BE49-F238E27FC236}">
                <a16:creationId xmlns:a16="http://schemas.microsoft.com/office/drawing/2014/main" id="{625C0942-ACC0-6FD2-9A50-860CEF2418F3}"/>
              </a:ext>
            </a:extLst>
          </p:cNvPr>
          <p:cNvSpPr/>
          <p:nvPr/>
        </p:nvSpPr>
        <p:spPr>
          <a:xfrm>
            <a:off x="6455663" y="1865376"/>
            <a:ext cx="1280160" cy="292608"/>
          </a:xfrm>
          <a:prstGeom prst="roundRect">
            <a:avLst/>
          </a:prstGeom>
          <a:solidFill>
            <a:srgbClr val="C88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15">
            <a:extLst>
              <a:ext uri="{FF2B5EF4-FFF2-40B4-BE49-F238E27FC236}">
                <a16:creationId xmlns:a16="http://schemas.microsoft.com/office/drawing/2014/main" id="{EC72D0F1-B255-D873-283E-766D5423EEAD}"/>
              </a:ext>
            </a:extLst>
          </p:cNvPr>
          <p:cNvSpPr txBox="1"/>
          <p:nvPr/>
        </p:nvSpPr>
        <p:spPr>
          <a:xfrm>
            <a:off x="6455663" y="190652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-0,06M</a:t>
            </a:r>
          </a:p>
        </p:txBody>
      </p:sp>
      <p:graphicFrame>
        <p:nvGraphicFramePr>
          <p:cNvPr id="68" name="Chart 16">
            <a:extLst>
              <a:ext uri="{FF2B5EF4-FFF2-40B4-BE49-F238E27FC236}">
                <a16:creationId xmlns:a16="http://schemas.microsoft.com/office/drawing/2014/main" id="{5D92F76E-A990-CBAD-A681-878423731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966339"/>
              </p:ext>
            </p:extLst>
          </p:nvPr>
        </p:nvGraphicFramePr>
        <p:xfrm>
          <a:off x="4425696" y="2212848"/>
          <a:ext cx="3346704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9" name="TextBox 17">
            <a:extLst>
              <a:ext uri="{FF2B5EF4-FFF2-40B4-BE49-F238E27FC236}">
                <a16:creationId xmlns:a16="http://schemas.microsoft.com/office/drawing/2014/main" id="{91323D70-BC0D-1735-1E77-9EDC074F3A4D}"/>
              </a:ext>
            </a:extLst>
          </p:cNvPr>
          <p:cNvSpPr txBox="1"/>
          <p:nvPr/>
        </p:nvSpPr>
        <p:spPr>
          <a:xfrm>
            <a:off x="4480559" y="3511295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2° en volumen, pero cierra levemente negativo.</a:t>
            </a:r>
          </a:p>
        </p:txBody>
      </p:sp>
      <p:sp>
        <p:nvSpPr>
          <p:cNvPr id="70" name="Rectangle 18">
            <a:extLst>
              <a:ext uri="{FF2B5EF4-FFF2-40B4-BE49-F238E27FC236}">
                <a16:creationId xmlns:a16="http://schemas.microsoft.com/office/drawing/2014/main" id="{F3BC0F88-7311-E665-4BF0-42B5FBB1A711}"/>
              </a:ext>
            </a:extLst>
          </p:cNvPr>
          <p:cNvSpPr/>
          <p:nvPr/>
        </p:nvSpPr>
        <p:spPr>
          <a:xfrm>
            <a:off x="8266175" y="173736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1" name="TextBox 19">
            <a:extLst>
              <a:ext uri="{FF2B5EF4-FFF2-40B4-BE49-F238E27FC236}">
                <a16:creationId xmlns:a16="http://schemas.microsoft.com/office/drawing/2014/main" id="{4A53F6C4-6E1D-559F-B0AE-EE9BD781A860}"/>
              </a:ext>
            </a:extLst>
          </p:cNvPr>
          <p:cNvSpPr txBox="1"/>
          <p:nvPr/>
        </p:nvSpPr>
        <p:spPr>
          <a:xfrm>
            <a:off x="8430767" y="1856231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Brasil</a:t>
            </a:r>
          </a:p>
        </p:txBody>
      </p:sp>
      <p:sp>
        <p:nvSpPr>
          <p:cNvPr id="72" name="Rounded Rectangle 20">
            <a:extLst>
              <a:ext uri="{FF2B5EF4-FFF2-40B4-BE49-F238E27FC236}">
                <a16:creationId xmlns:a16="http://schemas.microsoft.com/office/drawing/2014/main" id="{88C1AC31-CB30-8ACC-24ED-CEDDDB382D08}"/>
              </a:ext>
            </a:extLst>
          </p:cNvPr>
          <p:cNvSpPr/>
          <p:nvPr/>
        </p:nvSpPr>
        <p:spPr>
          <a:xfrm>
            <a:off x="10405872" y="1865376"/>
            <a:ext cx="1280160" cy="29260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21">
            <a:extLst>
              <a:ext uri="{FF2B5EF4-FFF2-40B4-BE49-F238E27FC236}">
                <a16:creationId xmlns:a16="http://schemas.microsoft.com/office/drawing/2014/main" id="{0F1E7F91-EB8F-894B-708B-FD75411F65C5}"/>
              </a:ext>
            </a:extLst>
          </p:cNvPr>
          <p:cNvSpPr txBox="1"/>
          <p:nvPr/>
        </p:nvSpPr>
        <p:spPr>
          <a:xfrm>
            <a:off x="10405872" y="190652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+0,37M</a:t>
            </a:r>
          </a:p>
        </p:txBody>
      </p:sp>
      <p:graphicFrame>
        <p:nvGraphicFramePr>
          <p:cNvPr id="74" name="Chart 22">
            <a:extLst>
              <a:ext uri="{FF2B5EF4-FFF2-40B4-BE49-F238E27FC236}">
                <a16:creationId xmlns:a16="http://schemas.microsoft.com/office/drawing/2014/main" id="{8CC4742B-9309-304A-B88C-F42A6116E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951884"/>
              </p:ext>
            </p:extLst>
          </p:nvPr>
        </p:nvGraphicFramePr>
        <p:xfrm>
          <a:off x="8375903" y="2212848"/>
          <a:ext cx="3346704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5" name="TextBox 23">
            <a:extLst>
              <a:ext uri="{FF2B5EF4-FFF2-40B4-BE49-F238E27FC236}">
                <a16:creationId xmlns:a16="http://schemas.microsoft.com/office/drawing/2014/main" id="{C332E170-C080-DD11-B567-FA10A5183F76}"/>
              </a:ext>
            </a:extLst>
          </p:cNvPr>
          <p:cNvSpPr txBox="1"/>
          <p:nvPr/>
        </p:nvSpPr>
        <p:spPr>
          <a:xfrm>
            <a:off x="8430767" y="3511295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Genera caja de forma sostenida.</a:t>
            </a:r>
          </a:p>
        </p:txBody>
      </p:sp>
      <p:sp>
        <p:nvSpPr>
          <p:cNvPr id="76" name="Rectangle 24">
            <a:extLst>
              <a:ext uri="{FF2B5EF4-FFF2-40B4-BE49-F238E27FC236}">
                <a16:creationId xmlns:a16="http://schemas.microsoft.com/office/drawing/2014/main" id="{D1273A95-1243-1747-D22C-A7C888C54905}"/>
              </a:ext>
            </a:extLst>
          </p:cNvPr>
          <p:cNvSpPr/>
          <p:nvPr/>
        </p:nvSpPr>
        <p:spPr>
          <a:xfrm>
            <a:off x="365760" y="404164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25">
            <a:extLst>
              <a:ext uri="{FF2B5EF4-FFF2-40B4-BE49-F238E27FC236}">
                <a16:creationId xmlns:a16="http://schemas.microsoft.com/office/drawing/2014/main" id="{779D4F08-1306-3F29-BCC6-6C7128E306A3}"/>
              </a:ext>
            </a:extLst>
          </p:cNvPr>
          <p:cNvSpPr txBox="1"/>
          <p:nvPr/>
        </p:nvSpPr>
        <p:spPr>
          <a:xfrm>
            <a:off x="530352" y="4160520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USA</a:t>
            </a:r>
          </a:p>
        </p:txBody>
      </p:sp>
      <p:sp>
        <p:nvSpPr>
          <p:cNvPr id="78" name="Rounded Rectangle 26">
            <a:extLst>
              <a:ext uri="{FF2B5EF4-FFF2-40B4-BE49-F238E27FC236}">
                <a16:creationId xmlns:a16="http://schemas.microsoft.com/office/drawing/2014/main" id="{DAFC60E6-909A-5E26-AF1A-443F6D77CD23}"/>
              </a:ext>
            </a:extLst>
          </p:cNvPr>
          <p:cNvSpPr/>
          <p:nvPr/>
        </p:nvSpPr>
        <p:spPr>
          <a:xfrm>
            <a:off x="2505456" y="4169663"/>
            <a:ext cx="1280160" cy="292608"/>
          </a:xfrm>
          <a:prstGeom prst="round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27">
            <a:extLst>
              <a:ext uri="{FF2B5EF4-FFF2-40B4-BE49-F238E27FC236}">
                <a16:creationId xmlns:a16="http://schemas.microsoft.com/office/drawing/2014/main" id="{9AA04A1D-9F0D-AE3B-95DA-DB6165FF378E}"/>
              </a:ext>
            </a:extLst>
          </p:cNvPr>
          <p:cNvSpPr txBox="1"/>
          <p:nvPr/>
        </p:nvSpPr>
        <p:spPr>
          <a:xfrm>
            <a:off x="2505456" y="421081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+0,01M</a:t>
            </a:r>
          </a:p>
        </p:txBody>
      </p:sp>
      <p:graphicFrame>
        <p:nvGraphicFramePr>
          <p:cNvPr id="80" name="Chart 28">
            <a:extLst>
              <a:ext uri="{FF2B5EF4-FFF2-40B4-BE49-F238E27FC236}">
                <a16:creationId xmlns:a16="http://schemas.microsoft.com/office/drawing/2014/main" id="{026A747D-05FB-B990-958A-3984E1D8F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547928"/>
              </p:ext>
            </p:extLst>
          </p:nvPr>
        </p:nvGraphicFramePr>
        <p:xfrm>
          <a:off x="475488" y="4517136"/>
          <a:ext cx="3346704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1" name="TextBox 29">
            <a:extLst>
              <a:ext uri="{FF2B5EF4-FFF2-40B4-BE49-F238E27FC236}">
                <a16:creationId xmlns:a16="http://schemas.microsoft.com/office/drawing/2014/main" id="{0FBD3F39-419F-28B0-F163-0702851576D9}"/>
              </a:ext>
            </a:extLst>
          </p:cNvPr>
          <p:cNvSpPr txBox="1"/>
          <p:nvPr/>
        </p:nvSpPr>
        <p:spPr>
          <a:xfrm>
            <a:off x="530352" y="5815583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Prácticamente en equilibrio.</a:t>
            </a:r>
          </a:p>
        </p:txBody>
      </p:sp>
      <p:sp>
        <p:nvSpPr>
          <p:cNvPr id="82" name="Rectangle 30">
            <a:extLst>
              <a:ext uri="{FF2B5EF4-FFF2-40B4-BE49-F238E27FC236}">
                <a16:creationId xmlns:a16="http://schemas.microsoft.com/office/drawing/2014/main" id="{DDEEBA4B-350D-FBA4-49F9-AE5A043E4826}"/>
              </a:ext>
            </a:extLst>
          </p:cNvPr>
          <p:cNvSpPr/>
          <p:nvPr/>
        </p:nvSpPr>
        <p:spPr>
          <a:xfrm>
            <a:off x="4315968" y="4041648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31">
            <a:extLst>
              <a:ext uri="{FF2B5EF4-FFF2-40B4-BE49-F238E27FC236}">
                <a16:creationId xmlns:a16="http://schemas.microsoft.com/office/drawing/2014/main" id="{14F76448-C709-BEEB-2422-574E02B5C840}"/>
              </a:ext>
            </a:extLst>
          </p:cNvPr>
          <p:cNvSpPr txBox="1"/>
          <p:nvPr/>
        </p:nvSpPr>
        <p:spPr>
          <a:xfrm>
            <a:off x="4480559" y="4160520"/>
            <a:ext cx="16047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E2761"/>
                </a:solidFill>
                <a:latin typeface="Calibri"/>
              </a:rPr>
              <a:t>BVI</a:t>
            </a:r>
          </a:p>
        </p:txBody>
      </p:sp>
      <p:sp>
        <p:nvSpPr>
          <p:cNvPr id="84" name="Rounded Rectangle 32">
            <a:extLst>
              <a:ext uri="{FF2B5EF4-FFF2-40B4-BE49-F238E27FC236}">
                <a16:creationId xmlns:a16="http://schemas.microsoft.com/office/drawing/2014/main" id="{80DE55D9-BCB2-6A12-FA64-641121B1FCD8}"/>
              </a:ext>
            </a:extLst>
          </p:cNvPr>
          <p:cNvSpPr/>
          <p:nvPr/>
        </p:nvSpPr>
        <p:spPr>
          <a:xfrm>
            <a:off x="6455663" y="4169663"/>
            <a:ext cx="1280160" cy="29260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33">
            <a:extLst>
              <a:ext uri="{FF2B5EF4-FFF2-40B4-BE49-F238E27FC236}">
                <a16:creationId xmlns:a16="http://schemas.microsoft.com/office/drawing/2014/main" id="{8EDAA350-C98D-9F15-FB17-ACD85289A62A}"/>
              </a:ext>
            </a:extLst>
          </p:cNvPr>
          <p:cNvSpPr txBox="1"/>
          <p:nvPr/>
        </p:nvSpPr>
        <p:spPr>
          <a:xfrm>
            <a:off x="6455663" y="421081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neto +1,40M</a:t>
            </a:r>
          </a:p>
        </p:txBody>
      </p:sp>
      <p:graphicFrame>
        <p:nvGraphicFramePr>
          <p:cNvPr id="86" name="Chart 34">
            <a:extLst>
              <a:ext uri="{FF2B5EF4-FFF2-40B4-BE49-F238E27FC236}">
                <a16:creationId xmlns:a16="http://schemas.microsoft.com/office/drawing/2014/main" id="{33EE9E18-7215-E8DE-8058-68EF4C7DB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964021"/>
              </p:ext>
            </p:extLst>
          </p:nvPr>
        </p:nvGraphicFramePr>
        <p:xfrm>
          <a:off x="4425696" y="4517136"/>
          <a:ext cx="3346704" cy="1170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7" name="TextBox 35">
            <a:extLst>
              <a:ext uri="{FF2B5EF4-FFF2-40B4-BE49-F238E27FC236}">
                <a16:creationId xmlns:a16="http://schemas.microsoft.com/office/drawing/2014/main" id="{AE7A4B57-9AD1-A63A-6ED7-DA75F0942F1A}"/>
              </a:ext>
            </a:extLst>
          </p:cNvPr>
          <p:cNvSpPr txBox="1"/>
          <p:nvPr/>
        </p:nvSpPr>
        <p:spPr>
          <a:xfrm>
            <a:off x="4480559" y="5815583"/>
            <a:ext cx="32369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Egresos casi nulos: concentra la caja del grupo.</a:t>
            </a:r>
          </a:p>
        </p:txBody>
      </p:sp>
      <p:sp>
        <p:nvSpPr>
          <p:cNvPr id="88" name="Rectangle 36">
            <a:extLst>
              <a:ext uri="{FF2B5EF4-FFF2-40B4-BE49-F238E27FC236}">
                <a16:creationId xmlns:a16="http://schemas.microsoft.com/office/drawing/2014/main" id="{9AC9AF03-2132-C993-9F6B-1C1ECF3FA0EE}"/>
              </a:ext>
            </a:extLst>
          </p:cNvPr>
          <p:cNvSpPr/>
          <p:nvPr/>
        </p:nvSpPr>
        <p:spPr>
          <a:xfrm>
            <a:off x="8266175" y="4041648"/>
            <a:ext cx="3566160" cy="210312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37">
            <a:extLst>
              <a:ext uri="{FF2B5EF4-FFF2-40B4-BE49-F238E27FC236}">
                <a16:creationId xmlns:a16="http://schemas.microsoft.com/office/drawing/2014/main" id="{46E98708-F461-0CE2-7B0C-5EF7EF631164}"/>
              </a:ext>
            </a:extLst>
          </p:cNvPr>
          <p:cNvSpPr txBox="1"/>
          <p:nvPr/>
        </p:nvSpPr>
        <p:spPr>
          <a:xfrm>
            <a:off x="8449055" y="418795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LECTURA</a:t>
            </a:r>
          </a:p>
        </p:txBody>
      </p:sp>
      <p:sp>
        <p:nvSpPr>
          <p:cNvPr id="90" name="Rectangle 38">
            <a:extLst>
              <a:ext uri="{FF2B5EF4-FFF2-40B4-BE49-F238E27FC236}">
                <a16:creationId xmlns:a16="http://schemas.microsoft.com/office/drawing/2014/main" id="{BF7A8868-60B4-F856-CCD6-EB84B1E2D8F0}"/>
              </a:ext>
            </a:extLst>
          </p:cNvPr>
          <p:cNvSpPr/>
          <p:nvPr/>
        </p:nvSpPr>
        <p:spPr>
          <a:xfrm>
            <a:off x="8467344" y="4553712"/>
            <a:ext cx="237744" cy="14630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39">
            <a:extLst>
              <a:ext uri="{FF2B5EF4-FFF2-40B4-BE49-F238E27FC236}">
                <a16:creationId xmlns:a16="http://schemas.microsoft.com/office/drawing/2014/main" id="{B9A8CB6C-3D33-BC10-7AA6-F38DAEC65B23}"/>
              </a:ext>
            </a:extLst>
          </p:cNvPr>
          <p:cNvSpPr txBox="1"/>
          <p:nvPr/>
        </p:nvSpPr>
        <p:spPr>
          <a:xfrm>
            <a:off x="8759951" y="4526280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Superávit (ingresos &gt; egresos)</a:t>
            </a:r>
          </a:p>
        </p:txBody>
      </p:sp>
      <p:sp>
        <p:nvSpPr>
          <p:cNvPr id="92" name="Rectangle 40">
            <a:extLst>
              <a:ext uri="{FF2B5EF4-FFF2-40B4-BE49-F238E27FC236}">
                <a16:creationId xmlns:a16="http://schemas.microsoft.com/office/drawing/2014/main" id="{4EE8949E-86E2-0554-D97E-2983BEE9690C}"/>
              </a:ext>
            </a:extLst>
          </p:cNvPr>
          <p:cNvSpPr/>
          <p:nvPr/>
        </p:nvSpPr>
        <p:spPr>
          <a:xfrm>
            <a:off x="8467344" y="4791456"/>
            <a:ext cx="237744" cy="1463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41">
            <a:extLst>
              <a:ext uri="{FF2B5EF4-FFF2-40B4-BE49-F238E27FC236}">
                <a16:creationId xmlns:a16="http://schemas.microsoft.com/office/drawing/2014/main" id="{2AF8FD71-83A5-9186-F2AD-9CEACEEC939E}"/>
              </a:ext>
            </a:extLst>
          </p:cNvPr>
          <p:cNvSpPr txBox="1"/>
          <p:nvPr/>
        </p:nvSpPr>
        <p:spPr>
          <a:xfrm>
            <a:off x="8759951" y="4764024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Déficit (egresos &gt; ingresos)</a:t>
            </a:r>
          </a:p>
        </p:txBody>
      </p:sp>
      <p:sp>
        <p:nvSpPr>
          <p:cNvPr id="94" name="Oval 42">
            <a:extLst>
              <a:ext uri="{FF2B5EF4-FFF2-40B4-BE49-F238E27FC236}">
                <a16:creationId xmlns:a16="http://schemas.microsoft.com/office/drawing/2014/main" id="{C2DEDEEE-3163-3F24-8C54-8DC59D80140C}"/>
              </a:ext>
            </a:extLst>
          </p:cNvPr>
          <p:cNvSpPr/>
          <p:nvPr/>
        </p:nvSpPr>
        <p:spPr>
          <a:xfrm>
            <a:off x="8485632" y="5102351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43">
            <a:extLst>
              <a:ext uri="{FF2B5EF4-FFF2-40B4-BE49-F238E27FC236}">
                <a16:creationId xmlns:a16="http://schemas.microsoft.com/office/drawing/2014/main" id="{9E3AD2A8-687F-7139-670B-64A70C29D331}"/>
              </a:ext>
            </a:extLst>
          </p:cNvPr>
          <p:cNvSpPr/>
          <p:nvPr/>
        </p:nvSpPr>
        <p:spPr>
          <a:xfrm>
            <a:off x="8570671" y="5187391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44">
            <a:extLst>
              <a:ext uri="{FF2B5EF4-FFF2-40B4-BE49-F238E27FC236}">
                <a16:creationId xmlns:a16="http://schemas.microsoft.com/office/drawing/2014/main" id="{93F1CD27-8BC6-D101-A196-ED8A7F122839}"/>
              </a:ext>
            </a:extLst>
          </p:cNvPr>
          <p:cNvSpPr txBox="1"/>
          <p:nvPr/>
        </p:nvSpPr>
        <p:spPr>
          <a:xfrm>
            <a:off x="8814815" y="5065776"/>
            <a:ext cx="28346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Chile y Perú: gran volumen, caja neutra.</a:t>
            </a:r>
          </a:p>
        </p:txBody>
      </p:sp>
      <p:sp>
        <p:nvSpPr>
          <p:cNvPr id="97" name="Oval 45">
            <a:extLst>
              <a:ext uri="{FF2B5EF4-FFF2-40B4-BE49-F238E27FC236}">
                <a16:creationId xmlns:a16="http://schemas.microsoft.com/office/drawing/2014/main" id="{04B72C4B-9711-B25F-A3A0-D62F342A322F}"/>
              </a:ext>
            </a:extLst>
          </p:cNvPr>
          <p:cNvSpPr/>
          <p:nvPr/>
        </p:nvSpPr>
        <p:spPr>
          <a:xfrm>
            <a:off x="8485632" y="5431536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46">
            <a:extLst>
              <a:ext uri="{FF2B5EF4-FFF2-40B4-BE49-F238E27FC236}">
                <a16:creationId xmlns:a16="http://schemas.microsoft.com/office/drawing/2014/main" id="{5C1127B3-B121-47B0-09F7-FC256738C5B9}"/>
              </a:ext>
            </a:extLst>
          </p:cNvPr>
          <p:cNvSpPr/>
          <p:nvPr/>
        </p:nvSpPr>
        <p:spPr>
          <a:xfrm>
            <a:off x="8570671" y="5516575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47">
            <a:extLst>
              <a:ext uri="{FF2B5EF4-FFF2-40B4-BE49-F238E27FC236}">
                <a16:creationId xmlns:a16="http://schemas.microsoft.com/office/drawing/2014/main" id="{F9008A2E-EA3E-3F10-F322-23891A8473CC}"/>
              </a:ext>
            </a:extLst>
          </p:cNvPr>
          <p:cNvSpPr txBox="1"/>
          <p:nvPr/>
        </p:nvSpPr>
        <p:spPr>
          <a:xfrm>
            <a:off x="8814815" y="5394960"/>
            <a:ext cx="28346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Brasil y BVI: generan caja.</a:t>
            </a:r>
          </a:p>
        </p:txBody>
      </p:sp>
      <p:sp>
        <p:nvSpPr>
          <p:cNvPr id="100" name="Oval 48">
            <a:extLst>
              <a:ext uri="{FF2B5EF4-FFF2-40B4-BE49-F238E27FC236}">
                <a16:creationId xmlns:a16="http://schemas.microsoft.com/office/drawing/2014/main" id="{4BAEFD28-5102-F6EE-E48E-9ADD4BC3D052}"/>
              </a:ext>
            </a:extLst>
          </p:cNvPr>
          <p:cNvSpPr/>
          <p:nvPr/>
        </p:nvSpPr>
        <p:spPr>
          <a:xfrm>
            <a:off x="8485632" y="5760719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49">
            <a:extLst>
              <a:ext uri="{FF2B5EF4-FFF2-40B4-BE49-F238E27FC236}">
                <a16:creationId xmlns:a16="http://schemas.microsoft.com/office/drawing/2014/main" id="{B6700463-55E9-B1A6-3704-8F9FB9444F29}"/>
              </a:ext>
            </a:extLst>
          </p:cNvPr>
          <p:cNvSpPr/>
          <p:nvPr/>
        </p:nvSpPr>
        <p:spPr>
          <a:xfrm>
            <a:off x="8570671" y="5845759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50">
            <a:extLst>
              <a:ext uri="{FF2B5EF4-FFF2-40B4-BE49-F238E27FC236}">
                <a16:creationId xmlns:a16="http://schemas.microsoft.com/office/drawing/2014/main" id="{5E1A014F-F020-BCBD-0601-7466A428AF8E}"/>
              </a:ext>
            </a:extLst>
          </p:cNvPr>
          <p:cNvSpPr txBox="1"/>
          <p:nvPr/>
        </p:nvSpPr>
        <p:spPr>
          <a:xfrm>
            <a:off x="8814815" y="5724144"/>
            <a:ext cx="28346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32733"/>
                </a:solidFill>
                <a:latin typeface="Calibri"/>
              </a:rPr>
              <a:t>La caja del grupo la sostiene BVI.</a:t>
            </a:r>
          </a:p>
        </p:txBody>
      </p:sp>
      <p:sp>
        <p:nvSpPr>
          <p:cNvPr id="103" name="TextBox 51">
            <a:extLst>
              <a:ext uri="{FF2B5EF4-FFF2-40B4-BE49-F238E27FC236}">
                <a16:creationId xmlns:a16="http://schemas.microsoft.com/office/drawing/2014/main" id="{E99BD784-62B5-4852-EB3E-48F4255A8DD4}"/>
              </a:ext>
            </a:extLst>
          </p:cNvPr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202601_FLUJO REDCO 2025 - Cierre diciembre.xlsx (hojas 'Flujo Redco &lt;país&gt;'). Barras = delta mensual (ingresos − egresos); verde = superávit, rojo = déficit. neto = suma del año.</a:t>
            </a:r>
          </a:p>
        </p:txBody>
      </p:sp>
    </p:spTree>
    <p:extLst>
      <p:ext uri="{BB962C8B-B14F-4D97-AF65-F5344CB8AC3E}">
        <p14:creationId xmlns:p14="http://schemas.microsoft.com/office/powerpoint/2010/main" val="1421543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REDCO</a:t>
            </a:r>
            <a:r>
              <a:rPr sz="900" b="0" i="1">
                <a:solidFill>
                  <a:srgbClr val="6B7280"/>
                </a:solidFill>
                <a:latin typeface="Calibri"/>
              </a:rPr>
              <a:t>  · Mining Consultants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841248"/>
            <a:ext cx="237744" cy="237744"/>
          </a:xfrm>
          <a:prstGeom prst="ellipse">
            <a:avLst/>
          </a:prstGeom>
          <a:solidFill>
            <a:srgbClr val="2C4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33679" y="926287"/>
            <a:ext cx="67665" cy="676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758952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32733"/>
                </a:solidFill>
                <a:latin typeface="Calibri"/>
              </a:rPr>
              <a:t>Resultado operacional consolidado por 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29844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6B7280"/>
                </a:solidFill>
                <a:latin typeface="Calibri"/>
              </a:rPr>
              <a:t>El negocio es rentable en ambos años, con margen operacional de dos dígitos.</a:t>
            </a:r>
          </a:p>
        </p:txBody>
      </p:sp>
      <p:pic>
        <p:nvPicPr>
          <p:cNvPr id="7" name="Picture 6" descr="t4_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7635240" cy="40504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4F6F9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0" y="198424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B7280"/>
                </a:solidFill>
                <a:latin typeface="Calibri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331720"/>
            <a:ext cx="2880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E7D5B"/>
                </a:solidFill>
                <a:latin typeface="Calibri"/>
              </a:rPr>
              <a:t>+2,3M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044952"/>
            <a:ext cx="2880360" cy="2852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32733"/>
                </a:solidFill>
                <a:latin typeface="Calibri"/>
              </a:rPr>
              <a:t>Beneficio operacional 2024 = +2,3 MUSD (28%) y 2025 = +1,4 MUSD (16%). La compresión de margen 2024→2025 es el foco de atención.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B7280"/>
                </a:solidFill>
                <a:latin typeface="Calibri"/>
              </a:rPr>
              <a:t>Fuente: Hoja 03 / 01 — Ingreso − Costo operacional consolidado (2024 gestión; 2025 Tabla datos unidades).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</TotalTime>
  <Words>3172</Words>
  <Application>Microsoft Macintosh PowerPoint</Application>
  <PresentationFormat>Panorámica</PresentationFormat>
  <Paragraphs>616</Paragraphs>
  <Slides>23</Slides>
  <Notes>2</Notes>
  <HiddenSlides>5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Cuero</cp:lastModifiedBy>
  <cp:revision>6</cp:revision>
  <dcterms:created xsi:type="dcterms:W3CDTF">2013-01-27T09:14:16Z</dcterms:created>
  <dcterms:modified xsi:type="dcterms:W3CDTF">2026-07-27T19:55:28Z</dcterms:modified>
  <cp:category/>
</cp:coreProperties>
</file>