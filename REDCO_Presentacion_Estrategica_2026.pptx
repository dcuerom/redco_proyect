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[MUSD]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8.12274817</c:v>
                </c:pt>
                <c:pt idx="1">
                  <c:v>8.81188734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[MUSD]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2.15490513</c:v>
                </c:pt>
                <c:pt idx="1">
                  <c:v>1.1866766199999992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2327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Administración</c:v>
                </c:pt>
              </c:strCache>
            </c:strRef>
          </c:tx>
          <c:spPr>
            <a:solidFill>
              <a:srgbClr val="A8AEB8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Comercial</c:v>
                </c:pt>
              </c:strCache>
            </c:strRef>
          </c:tx>
          <c:spPr>
            <a:solidFill>
              <a:srgbClr val="7FA3D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Geomecánica</c:v>
                </c:pt>
              </c:strCache>
            </c:strRef>
          </c:tx>
          <c:spPr>
            <a:solidFill>
              <a:srgbClr val="3E6FB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Gestión</c:v>
                </c:pt>
              </c:strCache>
            </c:strRef>
          </c:tx>
          <c:spPr>
            <a:solidFill>
              <a:srgbClr val="6B72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Ingeniería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61</c:v>
                </c:pt>
                <c:pt idx="1">
                  <c:v>73</c:v>
                </c:pt>
              </c:numCache>
            </c:numRef>
          </c:val>
        </c:ser>
        <c:gapWidth val="11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Chile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4.292176</c:v>
                </c:pt>
                <c:pt idx="1">
                  <c:v>3.522359</c:v>
                </c:pt>
                <c:pt idx="2">
                  <c:v>3.253433</c:v>
                </c:pt>
                <c:pt idx="3">
                  <c:v>0.942963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Perú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1.626997</c:v>
                </c:pt>
                <c:pt idx="1">
                  <c:v>2.105737</c:v>
                </c:pt>
                <c:pt idx="2">
                  <c:v>2.465054</c:v>
                </c:pt>
                <c:pt idx="3">
                  <c:v>0.835151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3E6FB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0.728918</c:v>
                </c:pt>
                <c:pt idx="1">
                  <c:v>1.007708</c:v>
                </c:pt>
                <c:pt idx="2">
                  <c:v>1.833813</c:v>
                </c:pt>
                <c:pt idx="3">
                  <c:v>0.46717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rgbClr val="7FA3D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0.102384</c:v>
                </c:pt>
                <c:pt idx="1">
                  <c:v>1.56378</c:v>
                </c:pt>
                <c:pt idx="2">
                  <c:v>1.651706</c:v>
                </c:pt>
                <c:pt idx="3">
                  <c:v>0.514628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Rusia</c:v>
                </c:pt>
              </c:strCache>
            </c:strRef>
          </c:tx>
          <c:spPr>
            <a:solidFill>
              <a:srgbClr val="CADCF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*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0.320662</c:v>
                </c:pt>
                <c:pt idx="1">
                  <c:v>0.1521</c:v>
                </c:pt>
                <c:pt idx="2">
                  <c:v>0.0</c:v>
                </c:pt>
                <c:pt idx="3">
                  <c:v>0.747434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BVI</c:v>
                </c:pt>
              </c:strCache>
            </c:strRef>
          </c:tx>
          <c:spPr>
            <a:solidFill>
              <a:srgbClr val="6B728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*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0.0</c:v>
                </c:pt>
                <c:pt idx="1">
                  <c:v>0.06716</c:v>
                </c:pt>
                <c:pt idx="2">
                  <c:v>0.272031</c:v>
                </c:pt>
                <c:pt idx="3">
                  <c:v>0.0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Canadá</c:v>
                </c:pt>
              </c:strCache>
            </c:strRef>
          </c:tx>
          <c:spPr>
            <a:solidFill>
              <a:srgbClr val="A8AEB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*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0.047121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1E2761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C4A7C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3E6FB0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A3D4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2E5EA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CMP</c:v>
                </c:pt>
                <c:pt idx="1">
                  <c:v>Minsur</c:v>
                </c:pt>
                <c:pt idx="2">
                  <c:v>AMSA</c:v>
                </c:pt>
                <c:pt idx="3">
                  <c:v>Mosaic</c:v>
                </c:pt>
                <c:pt idx="4">
                  <c:v>Otros (17)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2283983</c:v>
                </c:pt>
                <c:pt idx="1">
                  <c:v>933598</c:v>
                </c:pt>
                <c:pt idx="2">
                  <c:v>765923</c:v>
                </c:pt>
                <c:pt idx="3">
                  <c:v>600368</c:v>
                </c:pt>
                <c:pt idx="4">
                  <c:v>2487265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6B7280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1E2761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C4A7C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3E6FB0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A3D4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2E5EA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CMP</c:v>
                </c:pt>
                <c:pt idx="1">
                  <c:v>CD Capitals</c:v>
                </c:pt>
                <c:pt idx="2">
                  <c:v>Mosaic</c:v>
                </c:pt>
                <c:pt idx="3">
                  <c:v>Ivanhoe</c:v>
                </c:pt>
                <c:pt idx="4">
                  <c:v>Otros (24)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1652261</c:v>
                </c:pt>
                <c:pt idx="1">
                  <c:v>817713</c:v>
                </c:pt>
                <c:pt idx="2">
                  <c:v>612782</c:v>
                </c:pt>
                <c:pt idx="3">
                  <c:v>601598</c:v>
                </c:pt>
                <c:pt idx="4">
                  <c:v>4734491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6B7280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1E2761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C4A7C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3E6FB0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A3D4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2E5EA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BHP</c:v>
                </c:pt>
                <c:pt idx="1">
                  <c:v>Las Bambas</c:v>
                </c:pt>
                <c:pt idx="2">
                  <c:v>ThreeCrowns</c:v>
                </c:pt>
                <c:pt idx="3">
                  <c:v>TwinMetals</c:v>
                </c:pt>
                <c:pt idx="4">
                  <c:v>Otros (36)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1153726</c:v>
                </c:pt>
                <c:pt idx="1">
                  <c:v>1085730</c:v>
                </c:pt>
                <c:pt idx="2">
                  <c:v>645700</c:v>
                </c:pt>
                <c:pt idx="3">
                  <c:v>453025</c:v>
                </c:pt>
                <c:pt idx="4">
                  <c:v>6137856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6B7280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3.3704285400000003</c:v>
                </c:pt>
                <c:pt idx="1">
                  <c:v>3.5921269200000006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-0.40003316000000017</c:v>
                </c:pt>
                <c:pt idx="1">
                  <c:v>-1.40714061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-2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8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2.07790126</c:v>
                </c:pt>
                <c:pt idx="1">
                  <c:v>2.417353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0.6494903999999999</c:v>
                </c:pt>
                <c:pt idx="1">
                  <c:v>0.68549021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-2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1.2109443700000002</c:v>
                </c:pt>
                <c:pt idx="1">
                  <c:v>1.59709221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0.8525568900000001</c:v>
                </c:pt>
                <c:pt idx="1">
                  <c:v>1.14537481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-2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1.463474</c:v>
                </c:pt>
                <c:pt idx="1">
                  <c:v>1.20531521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1.052891</c:v>
                </c:pt>
                <c:pt idx="1">
                  <c:v>0.7629522099999999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-2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existente y planificada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34.435483870967744</c:v>
                </c:pt>
                <c:pt idx="1">
                  <c:v>34.11193548387097</c:v>
                </c:pt>
                <c:pt idx="2">
                  <c:v>33.788387096774194</c:v>
                </c:pt>
                <c:pt idx="3">
                  <c:v>33.46483870967742</c:v>
                </c:pt>
                <c:pt idx="4">
                  <c:v>33.141290322580645</c:v>
                </c:pt>
                <c:pt idx="5">
                  <c:v>32.81774193548387</c:v>
                </c:pt>
                <c:pt idx="6">
                  <c:v>32.4941935483871</c:v>
                </c:pt>
                <c:pt idx="7">
                  <c:v>32.170645161290324</c:v>
                </c:pt>
                <c:pt idx="8">
                  <c:v>31.847096774193552</c:v>
                </c:pt>
                <c:pt idx="9">
                  <c:v>31.523548387096778</c:v>
                </c:pt>
                <c:pt idx="10">
                  <c:v>31.200000000000003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Nueva capacidad requerida</c:v>
                </c:pt>
              </c:strCache>
            </c:strRef>
          </c:tx>
          <c:spPr>
            <a:solidFill>
              <a:srgbClr val="3E6FB0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</c:v>
                </c:pt>
                <c:pt idx="1">
                  <c:v>0.8</c:v>
                </c:pt>
                <c:pt idx="2">
                  <c:v>1.6</c:v>
                </c:pt>
                <c:pt idx="3">
                  <c:v>2.4</c:v>
                </c:pt>
                <c:pt idx="4">
                  <c:v>3.2</c:v>
                </c:pt>
                <c:pt idx="5">
                  <c:v>4.0</c:v>
                </c:pt>
                <c:pt idx="6">
                  <c:v>4.8</c:v>
                </c:pt>
                <c:pt idx="7">
                  <c:v>5.6</c:v>
                </c:pt>
                <c:pt idx="8">
                  <c:v>6.4</c:v>
                </c:pt>
                <c:pt idx="9">
                  <c:v>7.2</c:v>
                </c:pt>
                <c:pt idx="10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Chatarra directa</c:v>
                </c:pt>
              </c:strCache>
            </c:strRef>
          </c:tx>
          <c:spPr>
            <a:solidFill>
              <a:srgbClr val="7FA3D4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0.0</c:v>
                </c:pt>
                <c:pt idx="1">
                  <c:v>0.35</c:v>
                </c:pt>
                <c:pt idx="2">
                  <c:v>0.7</c:v>
                </c:pt>
                <c:pt idx="3">
                  <c:v>1.05</c:v>
                </c:pt>
                <c:pt idx="4">
                  <c:v>1.4</c:v>
                </c:pt>
                <c:pt idx="5">
                  <c:v>1.75</c:v>
                </c:pt>
                <c:pt idx="6">
                  <c:v>2.1</c:v>
                </c:pt>
                <c:pt idx="7">
                  <c:v>2.45</c:v>
                </c:pt>
                <c:pt idx="8">
                  <c:v>2.8</c:v>
                </c:pt>
                <c:pt idx="9">
                  <c:v>3.15</c:v>
                </c:pt>
                <c:pt idx="10">
                  <c:v>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25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850">
          <a:solidFill>
            <a:srgbClr val="6B7280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bUS$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Requerido
a 2035</c:v>
                </c:pt>
                <c:pt idx="1">
                  <c:v>Referencia:
financiamiento
chino 2019–25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210.0</c:v>
                </c:pt>
                <c:pt idx="1">
                  <c:v>76.0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 b="1">
                  <a:solidFill>
                    <a:srgbClr val="1E276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existente y planificada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34.435483870967744</c:v>
                </c:pt>
                <c:pt idx="1">
                  <c:v>34.11193548387097</c:v>
                </c:pt>
                <c:pt idx="2">
                  <c:v>33.788387096774194</c:v>
                </c:pt>
                <c:pt idx="3">
                  <c:v>33.46483870967742</c:v>
                </c:pt>
                <c:pt idx="4">
                  <c:v>33.141290322580645</c:v>
                </c:pt>
                <c:pt idx="5">
                  <c:v>32.81774193548387</c:v>
                </c:pt>
                <c:pt idx="6">
                  <c:v>32.4941935483871</c:v>
                </c:pt>
                <c:pt idx="7">
                  <c:v>32.170645161290324</c:v>
                </c:pt>
                <c:pt idx="8">
                  <c:v>31.847096774193552</c:v>
                </c:pt>
                <c:pt idx="9">
                  <c:v>31.523548387096778</c:v>
                </c:pt>
                <c:pt idx="10">
                  <c:v>31.200000000000003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Nueva capacidad requerida</c:v>
                </c:pt>
              </c:strCache>
            </c:strRef>
          </c:tx>
          <c:spPr>
            <a:solidFill>
              <a:srgbClr val="3E6FB0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</c:v>
                </c:pt>
                <c:pt idx="1">
                  <c:v>0.8</c:v>
                </c:pt>
                <c:pt idx="2">
                  <c:v>1.6</c:v>
                </c:pt>
                <c:pt idx="3">
                  <c:v>2.4</c:v>
                </c:pt>
                <c:pt idx="4">
                  <c:v>3.2</c:v>
                </c:pt>
                <c:pt idx="5">
                  <c:v>4.0</c:v>
                </c:pt>
                <c:pt idx="6">
                  <c:v>4.8</c:v>
                </c:pt>
                <c:pt idx="7">
                  <c:v>5.6</c:v>
                </c:pt>
                <c:pt idx="8">
                  <c:v>6.4</c:v>
                </c:pt>
                <c:pt idx="9">
                  <c:v>7.2</c:v>
                </c:pt>
                <c:pt idx="10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Chatarra directa</c:v>
                </c:pt>
              </c:strCache>
            </c:strRef>
          </c:tx>
          <c:spPr>
            <a:solidFill>
              <a:srgbClr val="7FA3D4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0.0</c:v>
                </c:pt>
                <c:pt idx="1">
                  <c:v>0.35</c:v>
                </c:pt>
                <c:pt idx="2">
                  <c:v>0.7</c:v>
                </c:pt>
                <c:pt idx="3">
                  <c:v>1.05</c:v>
                </c:pt>
                <c:pt idx="4">
                  <c:v>1.4</c:v>
                </c:pt>
                <c:pt idx="5">
                  <c:v>1.75</c:v>
                </c:pt>
                <c:pt idx="6">
                  <c:v>2.1</c:v>
                </c:pt>
                <c:pt idx="7">
                  <c:v>2.45</c:v>
                </c:pt>
                <c:pt idx="8">
                  <c:v>2.8</c:v>
                </c:pt>
                <c:pt idx="9">
                  <c:v>3.15</c:v>
                </c:pt>
                <c:pt idx="10">
                  <c:v>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25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850">
          <a:solidFill>
            <a:srgbClr val="6B7280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bUS$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Requerido
a 2035</c:v>
                </c:pt>
                <c:pt idx="1">
                  <c:v>Referencia:
financiamiento
chino 2019–25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210.0</c:v>
                </c:pt>
                <c:pt idx="1">
                  <c:v>76.0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 b="1">
                  <a:solidFill>
                    <a:srgbClr val="1E276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6313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Gestión Estratégica REDCO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18607" y="3822191"/>
            <a:ext cx="1554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133087"/>
            <a:ext cx="9631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ADCFC"/>
                </a:solidFill>
                <a:latin typeface="Calibri"/>
              </a:rPr>
              <a:t>Actualización 2026 · Resultados, metodología de decisión y metas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626864"/>
            <a:ext cx="9631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Capítulos 2 – 4  ·  Horizonte REDCO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943600"/>
            <a:ext cx="9631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Documento interno · Data: pilar_a (ciclo EdP 2023–2026) · Mercado: ETC, Wood Mackenzie e IEA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Tres bloques: dónde estamos, cómo decidimos dónde crecer, y qué comprometemos.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77295" cy="11887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" cy="118872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2258568"/>
            <a:ext cx="420624" cy="42062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148839"/>
            <a:ext cx="9052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32733"/>
                </a:solidFill>
                <a:latin typeface="Calibri"/>
              </a:rPr>
              <a:t>Primeros resultados obtenidos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514600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La evidencia 2023–2026 de rentabilidad, venta y cartera, y lo que el mercado minero proyecta a 2035.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82696"/>
            <a:ext cx="11277295" cy="11887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82696"/>
            <a:ext cx="45720" cy="118872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" y="3666744"/>
            <a:ext cx="420624" cy="42062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3557015"/>
            <a:ext cx="9052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32733"/>
                </a:solidFill>
                <a:latin typeface="Calibri"/>
              </a:rPr>
              <a:t>Metodología para la toma de decisiones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922776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El marco de atractivo de mercado y habilidad de ganar, y la disciplina de distancia al CORE.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90872"/>
            <a:ext cx="11277295" cy="11887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90872"/>
            <a:ext cx="45720" cy="118872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" y="5074920"/>
            <a:ext cx="420624" cy="42062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4965192"/>
            <a:ext cx="9052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32733"/>
                </a:solidFill>
                <a:latin typeface="Calibri"/>
              </a:rPr>
              <a:t>Propósito, misión y habilitadores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5330952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El propósito y la misión vigentes, los motores de crecimiento y las ocho metas al 2028.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Los tres bloques corresponden 1:1 con los capítulos 2, 3 y 4 del cuerpo del documento: ningún tema queda fuera y ningún ítem está de 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31136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01568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Primeros resultados obtenidos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61104"/>
            <a:ext cx="128016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17136"/>
            <a:ext cx="90827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Qué muestra la data real de REDCO 2023–2026 y qué proyecta el mercado minero hacia 2035.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199632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REDCO  ·  Mining Consultants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REDCO creció y se diversificó; falta sostener la rentabilidad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El relato 2024 sigue siendo válido en dirección, pero la data 2025 cambia el énfasis.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6537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REDCO, consultora boutique especializada en Consultoría, Estudios e Ingeniería minera, lleva más de 20 años en el mercado con presencia en Chile, Perú, Brasil, USA y operaciones intermitentes en Rusia.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Lo que en 2024 se describía como “un nuevo mercado como lo es EEUU” hoy es una operación consolidada: USA aporta 1,65 MUSD y es el cuarto país por venta. El equipo pasó de 81 a 113 personas en un año.</a:t>
            </a:r>
          </a:p>
          <a:p>
            <a:pPr algn="l"/>
            <a:r>
              <a:rPr sz="1250" b="0" i="0">
                <a:solidFill>
                  <a:srgbClr val="232733"/>
                </a:solidFill>
                <a:latin typeface="Calibri"/>
              </a:rPr>
              <a:t>El mercado minero —y en particular los minerales de la transición energética— sigue siendo un escenario promisorio. La restricción ya no es la demanda: es la capacidad de ejecutar con rentabilidad.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572768"/>
            <a:ext cx="45564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1572768"/>
            <a:ext cx="4572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2631" y="165506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VENTA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1847088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2733"/>
                </a:solidFill>
                <a:latin typeface="Calibri"/>
              </a:rPr>
              <a:t>9,5 MUSD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01952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2E7D5B"/>
                </a:solidFill>
                <a:latin typeface="Calibri"/>
              </a:rPr>
              <a:t>+34% vs 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2359152"/>
            <a:ext cx="45564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2359152"/>
            <a:ext cx="4572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244144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PAÍSES EFECTIVOS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633472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2733"/>
                </a:solidFill>
                <a:latin typeface="Calibri"/>
              </a:rPr>
              <a:t>3,93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688336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2E7D5B"/>
                </a:solidFill>
                <a:latin typeface="Calibri"/>
              </a:rPr>
              <a:t>desde 2,3 en 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3145536"/>
            <a:ext cx="45564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3145536"/>
            <a:ext cx="45720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1" y="3227832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MARGEN OPERACIONAL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3419856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2733"/>
                </a:solidFill>
                <a:latin typeface="Calibri"/>
              </a:rPr>
              <a:t>13,5%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747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8102E"/>
                </a:solidFill>
                <a:latin typeface="Calibri"/>
              </a:rPr>
              <a:t>desde 26,5% en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3931920"/>
            <a:ext cx="45564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3931920"/>
            <a:ext cx="45720" cy="676656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1" y="4014215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DOTACIÓN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1" y="4206240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2733"/>
                </a:solidFill>
                <a:latin typeface="Calibri"/>
              </a:rPr>
              <a:t>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26110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8862D"/>
                </a:solidFill>
                <a:latin typeface="Calibri"/>
              </a:rPr>
              <a:t>desde 81 en 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43984"/>
            <a:ext cx="6537960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43984"/>
            <a:ext cx="45720" cy="1207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62856"/>
            <a:ext cx="6172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LO QUE CAMBIÓ RESPECTO DE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617220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32733"/>
                </a:solidFill>
                <a:latin typeface="Calibri"/>
              </a:rPr>
              <a:t>El crecimiento se consiguió: la venta subió 34% en tres años y la dependencia de Chile bajó de 61% a 34%. Lo que no acompañó fue el resultado: la utilidad operacional se redujo a la mitad. Por eso este capítulo parte por la rentabilidad y no por la venta.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Fuente: pilar_a · REDCO_Rentabilidad_Ventas_FlujoCaja_historico.xlsx (ledger CicloEdP_2023_v1, cierre 2025 y KPI 2026).  Dotación: Dotación_Comparativo_Estandarizado_2025-2026.xlsx. Margen operacional sobre perímetro de 4 países (Chile+Perú+Brasil+USA).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01091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32733"/>
                </a:solidFill>
                <a:latin typeface="Calibri"/>
              </a:rPr>
              <a:t>La venta creció, pero la utilidad operacional se redujo a la mitad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Dos paneles: el resultado del negocio y el tamaño de la organización que lo 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Ingreso, margen y utilidad operacional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548640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847088"/>
          <a:ext cx="5486400" cy="27614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1645920" y="4700016"/>
            <a:ext cx="1417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754880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7D5B"/>
                </a:solidFill>
                <a:latin typeface="Calibri"/>
              </a:rPr>
              <a:t>Utilidad  26,5%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4700016"/>
            <a:ext cx="1417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4754880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8102E"/>
                </a:solidFill>
                <a:latin typeface="Calibri"/>
              </a:rPr>
              <a:t>Utilidad  13,5%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444752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Dotación y productividad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82512" y="1737360"/>
            <a:ext cx="5349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82512" y="1847088"/>
          <a:ext cx="5349240" cy="276148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ectangle 16"/>
          <p:cNvSpPr/>
          <p:nvPr/>
        </p:nvSpPr>
        <p:spPr>
          <a:xfrm>
            <a:off x="7589520" y="4700016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75488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7D5B"/>
                </a:solidFill>
                <a:latin typeface="Calibri"/>
              </a:rPr>
              <a:t>2025 · $113k / persona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20" y="4700016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475488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8102E"/>
                </a:solidFill>
                <a:latin typeface="Calibri"/>
              </a:rPr>
              <a:t>2026 · $81k / persona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77295" cy="113385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45720" cy="11338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30952"/>
            <a:ext cx="109115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LECTURA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22976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C8102E"/>
                </a:solidFill>
                <a:latin typeface="Calibri"/>
              </a:rPr>
              <a:t>26,5% → 13,5%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11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La organización creció 40% en dotación (81 → 113) mientras la utilidad operacional caía a la mitad. A venta constante, el ingreso por persona baja de $113k a $81k: la nueva capacidad todavía no está pagada por venta nueva.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Fuente: pilar_a · REDCO_Rentabilidad_Ventas_FlujoCaja_historico.xlsx (ledger CicloEdP_2023_v1, cierre 2025 y KPI 2026).  Perímetro: 4 países (Chile+Perú+Brasil+USA), igual que el análisis histórico. Utilidad = Margen ÷ Ingreso. Ingreso por persona = ingreso operacional 2025 ÷ dotación del año. Nota: la serie 'dotación senior' del deck 2024 no es reproducible — el comparativo 2026 solo trae categoría, no cargo.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01091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32733"/>
                </a:solidFill>
                <a:latin typeface="Calibri"/>
              </a:rPr>
              <a:t>La receta cambió: de 3–4 clientes clave a una cartera diversificada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Venta por país y concentración de clientes a nivel grupo, 2023–2026.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81328"/>
          <a:ext cx="5074920" cy="26700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07822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32733"/>
                </a:solidFill>
                <a:latin typeface="Calibri"/>
              </a:rPr>
              <a:t>7,1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407822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32733"/>
                </a:solidFill>
                <a:latin typeface="Calibri"/>
              </a:rPr>
              <a:t>8,4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407822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32733"/>
                </a:solidFill>
                <a:latin typeface="Calibri"/>
              </a:rPr>
              <a:t>9,5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816" y="407822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32733"/>
                </a:solidFill>
                <a:latin typeface="Calibri"/>
              </a:rPr>
              <a:t>3,6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481328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Composición de la venta por cliente (grupo)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60720" y="1773936"/>
          <a:ext cx="2103120" cy="15727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998464" y="334670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354787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top-1  32%   ·   top-3  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373075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21 clientes  ·  efect. 6,6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35824" y="1773936"/>
          <a:ext cx="2103120" cy="157276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73568" y="334670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54787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top-1  20%   ·   top-3  37%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373075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28 clientes  ·  efect. 12,7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9710928" y="1773936"/>
          <a:ext cx="2103120" cy="157276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948672" y="334670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354787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top-1  12%   ·   top-3  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373075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40 clientes  ·  efect. 18,5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4005072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Top 2025:  BHP 12.2%   ·   Las Bambas 11.5%   ·   ThreeCrowns 6.8%   ·   TwinMetals 4.8%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43984"/>
            <a:ext cx="11277295" cy="18653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43984"/>
            <a:ext cx="45720" cy="186537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62856"/>
            <a:ext cx="109115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LO QUE ESTO SIGNIFICA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32% → 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75504"/>
            <a:ext cx="10911535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32733"/>
                </a:solidFill>
                <a:latin typeface="Calibri"/>
              </a:rPr>
              <a:t>En 2023 un solo cliente (CMP) explicaba el 32% de la venta del grupo y el top-3 el 56%. En 2025 el mayor cliente (BHP) pesa 12% y el top-3 solo 30%: los clientes efectivos pasan de 6,6 a 18,5 y los países efectivos de 2,3 a 3,9. La concentración que el deck 2024 describía como “la receta” ya no es el motor — el crecimiento vino de diversificar. Riesgo a vigilar: en 2026 parcial, Rusia reaparece con 0,75 MUSD emitidos que no convierten a caja (efecto Seligdar).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Fuente: pilar_a · REDCO_Rentabilidad_Ventas_FlujoCaja_historico.xlsx (ledger CicloEdP_2023_v1, cierre 2025 y KPI 2026).  VENTA = 'Emitido USD' del ledger, atribuido por año de proyecto (criterio que reproduce la hoja 02_Ventas). Clientes consolidados (Cliente_Cons). Clientes/países efectivos = 1/HHI.  * 2026 = enero–junio.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La rentabilidad del grupo vive fuera del país-sede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Un panel por país en MUSD, todos a la misma escala para que sean comparables.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269748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Chile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938528"/>
          <a:ext cx="2697480" cy="21396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169663"/>
            <a:ext cx="2697480" cy="5486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33672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UTILIDAD SOBRE INGRESO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25696"/>
            <a:ext cx="2514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Calibri"/>
              </a:rPr>
              <a:t>-12%  →  -39%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81328"/>
            <a:ext cx="269748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554480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Perú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337560" y="1938528"/>
          <a:ext cx="2697480" cy="213969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3337560" y="4169663"/>
            <a:ext cx="2697480" cy="5486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4233672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UTILIDAD SOBRE INGRESO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425696"/>
            <a:ext cx="2514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7D5B"/>
                </a:solidFill>
                <a:latin typeface="Calibri"/>
              </a:rPr>
              <a:t>31%  →  28%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81328"/>
            <a:ext cx="269748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Brasil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17920" y="1938528"/>
          <a:ext cx="2697480" cy="213969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Rectangle 21"/>
          <p:cNvSpPr/>
          <p:nvPr/>
        </p:nvSpPr>
        <p:spPr>
          <a:xfrm>
            <a:off x="6217920" y="4169663"/>
            <a:ext cx="2697480" cy="5486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4233672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UTILIDAD SOBRE INGRESO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425696"/>
            <a:ext cx="2514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7D5B"/>
                </a:solidFill>
                <a:latin typeface="Calibri"/>
              </a:rPr>
              <a:t>70%  →  72%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481328"/>
            <a:ext cx="269748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554480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USA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9098280" y="1938528"/>
          <a:ext cx="2697480" cy="213969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8" name="Rectangle 27"/>
          <p:cNvSpPr/>
          <p:nvPr/>
        </p:nvSpPr>
        <p:spPr>
          <a:xfrm>
            <a:off x="9098280" y="4169663"/>
            <a:ext cx="2697480" cy="5486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19" y="4233672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UTILIDAD SOBRE INGRESO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4425696"/>
            <a:ext cx="2514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7D5B"/>
                </a:solidFill>
                <a:latin typeface="Calibri"/>
              </a:rPr>
              <a:t>72%  →  63%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01184"/>
            <a:ext cx="11277295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901184"/>
            <a:ext cx="45720" cy="13898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20056"/>
            <a:ext cx="109115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C8102E"/>
                </a:solidFill>
                <a:latin typeface="Calibri"/>
              </a:rPr>
              <a:t>−39%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32733"/>
                </a:solidFill>
                <a:latin typeface="Calibri"/>
              </a:rPr>
              <a:t>Chile concentra el mayor ingreso del grupo (3,59 MUSD) pero opera en pérdida, y la pérdida se profundiza: de −12% en 2024 a −39% en 2025. Absorbe la nómina de la operación regional — los sueldos son el 75% de su costo total. Perú (28%), USA (63%) y Brasil (72%) sostienen la rentabilidad del grupo. Con Chile en break-even, el margen consolidado pasaría de 15,6% a ~31% sin mover nada más.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 2024: Gastos a Diciembre 2024_v0.xlsx  ·  Fuente 2025: 202601_FLUJO REDCO 2025 - Cierre diciembre.xlsx (Tabla datos unidades_Dic), vía pilar_a. Margen = Ingreso − Costo Op.; Utilidad = Margen ÷ Ingreso. Valores en MUSD.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Los estudios largos e intensivos no recuperan su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Rentabilidad estimada por nivel de estudio: ingreso cobrado menos costo modelado.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9105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Permisos / MEIA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2 proyectos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9344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609344"/>
            <a:ext cx="2081593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5145" y="1627631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1,19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572768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1848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7D5B"/>
                </a:solidFill>
                <a:latin typeface="Calibri"/>
              </a:rPr>
              <a:t>67,4%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87584" y="1609344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87584" y="1627631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Adyacencia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25395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Consultoria y Due Dilligence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0827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2 proyectos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043684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2043684"/>
            <a:ext cx="1322013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5565" y="206197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0,75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007107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052827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7D5B"/>
                </a:solidFill>
                <a:latin typeface="Calibri"/>
              </a:rPr>
              <a:t>56,1%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87584" y="2043684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87584" y="206197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45973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Estudio Conceptual / LOM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42615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10 proyectos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478024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2478024"/>
            <a:ext cx="2613564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7116" y="249631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1,49 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2441448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48716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7D5B"/>
                </a:solidFill>
                <a:latin typeface="Calibri"/>
              </a:rPr>
              <a:t>40,9%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87584" y="2478024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87584" y="249631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89407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PEA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07695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1 proyectos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2912364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2912364"/>
            <a:ext cx="787726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1278" y="293065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0,45 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2875788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292150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7D5B"/>
                </a:solidFill>
                <a:latin typeface="Calibri"/>
              </a:rPr>
              <a:t>33,6%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87584" y="2912364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87584" y="293065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28415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PFS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51129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4 proyectos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3346703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0" y="3346703"/>
            <a:ext cx="3340337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3889" y="3364991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1,90 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3310127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355847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7D5B"/>
                </a:solidFill>
                <a:latin typeface="Calibri"/>
              </a:rPr>
              <a:t>32,6%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87584" y="3346703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87584" y="3364991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76275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FS e Ing. Basica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94563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5 proyectos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3781044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0" y="3781044"/>
            <a:ext cx="4617720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91272" y="37993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2,63 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52560" y="3744468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C88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379018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8862D"/>
                </a:solidFill>
                <a:latin typeface="Calibri"/>
              </a:rPr>
              <a:t>20,3%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87584" y="3781044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87584" y="379933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Adyacencia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19709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Scoping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37997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6 proyectos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0" y="4215383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0" y="4215383"/>
            <a:ext cx="2085447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58999" y="423367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1,19 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4178807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560" y="42245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8102E"/>
                </a:solidFill>
                <a:latin typeface="Calibri"/>
              </a:rPr>
              <a:t>5,8%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387584" y="4215383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87584" y="423367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63143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Confiabilidad Planes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481431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2 proyectos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4649723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0" y="4649723"/>
            <a:ext cx="194919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68471" y="466801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0,11 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560" y="4613147"/>
            <a:ext cx="1188720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52560" y="465886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C8102E"/>
                </a:solidFill>
                <a:latin typeface="Calibri"/>
              </a:rPr>
              <a:t>-8,0%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87584" y="4649723"/>
            <a:ext cx="13258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87584" y="466801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1280160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NIVEL DE ESTUDIO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0" y="1280160"/>
            <a:ext cx="4617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INGRESO COBRADO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0" y="12801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Calibri"/>
              </a:rPr>
              <a:t>MARGEN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87584" y="1280160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CLASIFICACIÓN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120640"/>
            <a:ext cx="11277295" cy="11887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57200" y="5120640"/>
            <a:ext cx="45720" cy="1188720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5239512"/>
            <a:ext cx="109115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C8862D"/>
                </a:solidFill>
                <a:latin typeface="Calibri"/>
              </a:rPr>
              <a:t>5,8% vs 67%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5852159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Scoping (5,8%) y Confiabilidad de Planes (−8,0%) no recuperan su costo, y entre ambos explican 1,3 MUSD de ingreso. En el otro extremo, Permisos/MEIA (67%) y Consultoría/Due Diligence (56%) son los de mayor margen. La cartera rinde 32,9% en conjunto: el problema no es el precio promedio, es el mix.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Fuente: 202601_Proyeccion_Ing+Modulos 1_Edu.xlsx (Gantt + Listas) y 00_Ciclo Mensual EdP 2023_v0.xlsx (Ingresado), vía pilar_a hoja 06. 32 proyectos con código mapeado. Ingreso = cobrado real; costo = modelado (módulos × costo/módulo × meses), tarifas estándar, no nómina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01091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32733"/>
                </a:solidFill>
                <a:latin typeface="Calibri"/>
              </a:rPr>
              <a:t>El mercado es promisorio: no falta mineral, falta capacidad de producirlo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Dos lecturas del mismo estudio: cuánto material exige la transición y en qué materiales el suministro no alcanza a escalar.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Necesidad de materiales se incrementa hacia 2030+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53949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1883664"/>
            <a:ext cx="5394960" cy="12435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48256"/>
            <a:ext cx="4892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6.500 millones de toneladas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de materiales de uso final requiere la transición energética entre 2022 y 2050 para turbinas eólicas, paneles solares y vehículos eléctricos.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55264"/>
            <a:ext cx="5394960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3310128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CONCENTRACIÓN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474720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392424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es acero, cobre y aluminio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22191"/>
            <a:ext cx="5394960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877055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ESCALA COMPARADA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041648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8.000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959352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de carbón se extraen hoy cada año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394960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443983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DISPONIBILIDAD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608576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Sin escasez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52628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los recursos geológicos superan la demanda 22–50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444752"/>
            <a:ext cx="54041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Dónde el suministro no alcanza a escalar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27648" y="1737360"/>
            <a:ext cx="5404104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27648" y="1792224"/>
            <a:ext cx="5404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Seis materiales con riesgo de brecha de suministro si no se actúa sobre eficiencia, reciclaje y oferta minada: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2212848"/>
            <a:ext cx="2615184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55664" y="2359152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226771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Litio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45973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Baterías EV y almacenamiento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9136" y="2212848"/>
            <a:ext cx="2615184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17152" y="2359152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226771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Níquel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245973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Baterías y acero inoxidable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2761488"/>
            <a:ext cx="2615184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55664" y="2907792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4" y="281635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Grafito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300837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Ánodos de batería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89136" y="2761488"/>
            <a:ext cx="2615184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17152" y="2907792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1472" y="281635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Cobalto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300837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Baterías NMC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7648" y="3310128"/>
            <a:ext cx="2615184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55664" y="3456432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9984" y="33649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Neodimio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355701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Imanes: EV y eólica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89136" y="3310128"/>
            <a:ext cx="2615184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3456432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33649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Cobre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355701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Redes, EV y electrificación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3895344"/>
            <a:ext cx="54041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8102E"/>
                </a:solidFill>
                <a:latin typeface="Calibri"/>
              </a:rPr>
              <a:t>En rojo: litio y cobre — los más difíciles de escalar en la próxima década.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7648" y="4206240"/>
            <a:ext cx="5404104" cy="786384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27648" y="4206240"/>
            <a:ext cx="45720" cy="78638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0528" y="4279392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Y EUROPA PERDIÓ SU BASE PRODUCTIVA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4462272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La participación europea en la producción mundial de minerales cayó de 25% a menos de 7% en 40 años — el mismo vacío que empuja el friend-shoring hacia las Américas.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120640"/>
            <a:ext cx="11277295" cy="9692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5230368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REDCO tiene y tendrá la oportunidad de capturar la necesidad de pasar de Recursos a Reservas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5596128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El cuello de botella no es geológico sino de ejecución: estudios, ingeniería y permisos. Ese es exactamente el CORE de REDCO.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Fuente: Energy Transitions Commission, «Material and Resource Requirements for the Energy Transition» (julio 2023) y «A Critical Raw Material Supply-Side Innovation Roadmap for the EU Energy Transition» (diciembre 2024) — energy-transitions.org. Misma fuente citada en el deck 2024, en su versión vigente.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En cobre faltan más de 210 bUS$ para cubrir la demanda al 2035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La capacidad instalada y planificada no alcanza: la brecha se cierra con nueva mina y con chatarra.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Oferta vs. demanda de cobre  ·  Mt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682496"/>
          <a:ext cx="6675120" cy="28529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960120" y="1755648"/>
            <a:ext cx="27889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2C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810512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BRECHA A 2035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975104"/>
            <a:ext cx="2606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8,0 Mt nueva mina + 3,5 Mt chatarra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6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El tope de la pila es la demanda total: 34,4 Mt (2025) → 42,7 Mt (2035).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426464"/>
            <a:ext cx="4325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Inversión de capital  ·  bUS$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360920" y="1682496"/>
          <a:ext cx="4370832" cy="28529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901184"/>
            <a:ext cx="3712463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95604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DEMANDA 2035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12064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42,7 Mt  ·  +24%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4901184"/>
            <a:ext cx="3712463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495604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COBERTURA DE MINAS ACTUALES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512064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~70% de la demanda 2035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4464" y="4901184"/>
            <a:ext cx="3712463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95604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DÉFICIT REFINADO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2064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304 kt, mayor en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49824"/>
            <a:ext cx="112772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522976"/>
            <a:ext cx="7818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Si consideramos el 10% en gastos de ingeniería ≈ 21 bUS$ de mercado potencial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870448"/>
            <a:ext cx="7818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Calibri"/>
              </a:rPr>
              <a:t>Mismo criterio que el deck 2024 (10% del CAPEX). Simple y comparable año contra año, pero es un supuesto propio: no proviene de Wood Mackenzie ni de IEA.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5742432"/>
            <a:ext cx="2944368" cy="29260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5797296"/>
            <a:ext cx="2944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VERSIÓN A · SUPUESTO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Fuente: Wood Mackenzie, «High-wire act: is soaring copper demand an obstacle to future growth?» (octubre 2025) — demanda 42,7 Mtpa a 2035 (+24%), 8 Mtpa de nueva capacidad, 3,5 Mtpa de chatarra, &gt;210 bUS$ de inversión, 76 bUS$ de financiamiento chino 2019-25. IEA, «Global Critical Minerals Outlook» — minas existentes y planificadas cubren ~70% de la demanda 2035. Los puntos 2025 y 2035 son de fuente; la trayectoria intermedia es interpolación lineal.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En cobre faltan más de 210 bUS$ para cubrir la demanda al 2035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La capacidad instalada y planificada no alcanza: la brecha se cierra con nueva mina y con chatarra.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Oferta vs. demanda de cobre  ·  Mt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682496"/>
          <a:ext cx="6675120" cy="28529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960120" y="1755648"/>
            <a:ext cx="27889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2C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810512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BRECHA A 2035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975104"/>
            <a:ext cx="2606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8,0 Mt nueva mina + 3,5 Mt chatarra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6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El tope de la pila es la demanda total: 34,4 Mt (2025) → 42,7 Mt (2035).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426464"/>
            <a:ext cx="4325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Inversión de capital  ·  bUS$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360920" y="1682496"/>
          <a:ext cx="4370832" cy="28529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901184"/>
            <a:ext cx="3712463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95604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DEMANDA 2035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12064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42,7 Mt  ·  +24%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4901184"/>
            <a:ext cx="3712463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495604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COBERTURA DE MINAS ACTUALES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512064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~70% de la demanda 2035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4464" y="4901184"/>
            <a:ext cx="3712463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95604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DÉFICIT REFINADO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2064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32733"/>
                </a:solidFill>
                <a:latin typeface="Calibri"/>
              </a:rPr>
              <a:t>304 kt, mayor en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49824"/>
            <a:ext cx="112772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522976"/>
            <a:ext cx="7818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Con el 4–7% de ingeniería sobre CAPEX ≈ 8,4 a 14,7 bUS$ de mercado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870448"/>
            <a:ext cx="7818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Calibri"/>
              </a:rPr>
              <a:t>Se aplica el rango θ de ingeniería+consultoría sobre CAPEX minero usado en el informe de demanda REDCO. Se presenta como rango, no como punto: es más defendible ante el cliente que un porcentaje único.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5742432"/>
            <a:ext cx="2944368" cy="29260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5797296"/>
            <a:ext cx="2944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VERSIÓN B · FRACCIÓN DE INGENIERÍA 4–7%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Fuente: Wood Mackenzie, «High-wire act: is soaring copper demand an obstacle to future growth?» (octubre 2025) — demanda 42,7 Mtpa a 2035 (+24%), 8 Mtpa de nueva capacidad, 3,5 Mtpa de chatarra, &gt;210 bUS$ de inversión, 76 bUS$ de financiamiento chino 2019-25. IEA, «Global Critical Minerals Outlook» — minas existentes y planificadas cubren ~70% de la demanda 2035. Los puntos 2025 y 2035 son de fuente; la trayectoria intermedia es interpolación lineal.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Los principales fundamentos de la estrategia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Cinco fundamentos definidos en 2024; la data 2025–2026 confirma cuatro y obliga a revisar uno.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7295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764792"/>
            <a:ext cx="292608" cy="29260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609344"/>
            <a:ext cx="6537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32733"/>
                </a:solidFill>
                <a:latin typeface="Calibri"/>
              </a:rPr>
              <a:t>Nuevas tendencias de mercado garantizan una creciente demanda de minerales de nuestros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029968"/>
            <a:ext cx="6537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ETC: 6.500 Mt de materiales a 2050; brecha en litio y cobre.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737360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792224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Calibri"/>
              </a:rPr>
              <a:t>Confirmado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1792224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Evidencia mercado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50592"/>
            <a:ext cx="11277295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734056"/>
            <a:ext cx="292608" cy="29260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578608"/>
            <a:ext cx="6537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32733"/>
                </a:solidFill>
                <a:latin typeface="Calibri"/>
              </a:rPr>
              <a:t>La Transición Energética requerirá a nuestros clientes nuevos estándares ambientales y sociales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999232"/>
            <a:ext cx="6537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Permisos/MEIA es el nivel de mayor margen de la cartera (67%).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2706624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7614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Calibri"/>
              </a:rPr>
              <a:t>Confirmado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2761488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Evidencia mercado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19856"/>
            <a:ext cx="11277295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703320"/>
            <a:ext cx="292608" cy="29260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3547872"/>
            <a:ext cx="6537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32733"/>
                </a:solidFill>
                <a:latin typeface="Calibri"/>
              </a:rPr>
              <a:t>El contexto está demandando a nuestros clientes y generará un ciclo de escasez de profesionales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968496"/>
            <a:ext cx="6537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La dotación creció 40% en un año (81 → 113 personas).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3675888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730752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Calibri"/>
              </a:rPr>
              <a:t>Confirmado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730752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Evidencia pilar_a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11277295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4672584"/>
            <a:ext cx="292608" cy="29260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517136"/>
            <a:ext cx="6537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32733"/>
                </a:solidFill>
                <a:latin typeface="Calibri"/>
              </a:rPr>
              <a:t>Ejecución de calidad de proyectos es esencial para sólidas relaciones con clientes clave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937760"/>
            <a:ext cx="6537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Los clientes efectivos pasaron de 6,6 a 18,5 sin perder los históricos.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4645152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700016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Calibri"/>
              </a:rPr>
              <a:t>Confirmado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4700016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Evidencia pilar_a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58384"/>
            <a:ext cx="11277295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5641848"/>
            <a:ext cx="292608" cy="29260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5486400"/>
            <a:ext cx="6537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32733"/>
                </a:solidFill>
                <a:latin typeface="Calibri"/>
              </a:rPr>
              <a:t>Financieramente es una compañía sana y con capacidad de autosoportar su crecimiento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5907024"/>
            <a:ext cx="6537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El margen cayó de 26,5% a 13,5% y Chile opera a −39%.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5614416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566928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C8102E"/>
                </a:solidFill>
                <a:latin typeface="Calibri"/>
              </a:rPr>
              <a:t>Requiere revisión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5669280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Evidencia pilar_a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Texto de los cinco fundamentos: deck de Gestión Estratégica REDCO, junio 2024 (diapositiva 21), conservado literal. La columna de estado es contraste contra la data 2025–2026 de pilar_a y las fuentes de mercado de este capítulo.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01091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32733"/>
                </a:solidFill>
                <a:latin typeface="Calibri"/>
              </a:rPr>
              <a:t>Para crecer con rentabilidad sostenible, lo primordial es cuidar el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El CORE es el activo y las capacidades más distintivas y potentes — y desde ahí se desarrollan las adyacencias.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7295" cy="6766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El CORE es el activo y las capacidades más distintivas y potentes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32304"/>
            <a:ext cx="5504688" cy="221284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596896"/>
            <a:ext cx="274320" cy="27432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87752"/>
            <a:ext cx="4809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Por qué el CORE define dónde ganas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138927" cy="14538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•  Define dónde y por qué puedes ganar y generar utilidades.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•  Es la razón por la que tus clientes más leales y rentables te eligen.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•  Te da una mirada correcta de quiénes son tus verdaderos competidores.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432304"/>
            <a:ext cx="5504688" cy="221284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96896"/>
            <a:ext cx="274320" cy="27432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87752"/>
            <a:ext cx="48097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Por qué el CORE te protege y te habilita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63240"/>
            <a:ext cx="5138927" cy="14538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•  Es tu refugio en condiciones adversas de mercado.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•  Habilita tus mejores oportunidades de crecimiento.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•  Da claridad para asignar recursos y transparencia en las decisiones.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28032"/>
            <a:ext cx="11277295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28032"/>
            <a:ext cx="45720" cy="138988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46904"/>
            <a:ext cx="109115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CÓMO SE APLICA ESTO EN REDCO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38928"/>
            <a:ext cx="1091153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32733"/>
                </a:solidFill>
                <a:latin typeface="Calibri"/>
              </a:rPr>
              <a:t>La cartera 2024–25 muestra el CORE (FEL 0-1-2A-2B) en 9,23 MUSD emitidos, un 52% del total, y la adyacencia (FEL 3-4) en 2,08 MUSD, un 12%. El 33% restante entra sin fase asignada. Dentro del CORE conviven los niveles de mayor margen (Permisos 67%, Consultoría 56%, Conceptual/LOM 41%) y los de menor (Scoping 5,8%): cuidar el CORE no es solo defender la fase, es corregir el mix dentro de ella.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Texto conservado del deck de Gestión Estratégica REDCO, junio 2024 (diapositiva 22). Cifras de cartera: Fuente: pilar_a · REDCO_Rentabilidad_Ventas_FlujoCaja_historico.xlsx (ledger CicloEdP_2023_v1, cierre 2025 y KPI 2026).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31136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45459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Metodología para la toma de decisiones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61104"/>
            <a:ext cx="128016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17136"/>
            <a:ext cx="90827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Cómo se elige dónde crecer: atractivo del mercado, habilidad de ganar y disciplina de distancia al 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199632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REDCO  ·  Mining Consultants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01091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32733"/>
                </a:solidFill>
                <a:latin typeface="Calibri"/>
              </a:rPr>
              <a:t>Las mejores estrategias aplican una estricta revisión de estos elementos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Dos dimensiones de revisión: cuán atractivo es el mercado y cuán capaces somos de ganar en él.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404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32733"/>
                </a:solidFill>
                <a:latin typeface="Calibri"/>
              </a:rPr>
              <a:t>Atractivo del mercado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755648"/>
            <a:ext cx="5404104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1865376"/>
            <a:ext cx="5404104" cy="1371599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011680"/>
            <a:ext cx="256032" cy="256032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993392"/>
            <a:ext cx="4709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Apuntar a posibilidades futuras grandes y con expectativa de crecimiento rentable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64991"/>
            <a:ext cx="5404104" cy="1371599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3511296"/>
            <a:ext cx="256032" cy="256032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493008"/>
            <a:ext cx="4709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Moverse por las corrientes digitales y de sostenibilidad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224527"/>
            <a:ext cx="47091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Cambian los límites comerciales y crean nuevas palancas de ventaja competitiva.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444752"/>
            <a:ext cx="5404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32733"/>
                </a:solidFill>
                <a:latin typeface="Calibri"/>
              </a:rPr>
              <a:t>Habilidad de ganar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7648" y="1755648"/>
            <a:ext cx="5404104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27648" y="1865376"/>
            <a:ext cx="5404104" cy="871727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2011680"/>
            <a:ext cx="256032" cy="256032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1993392"/>
            <a:ext cx="4709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Construir sobre las fortalezas principales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2225040"/>
            <a:ext cx="47091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Aprovechar los activos, las capacidades diferenciadoras y las relaciones íntimas con los clientes.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2865120"/>
            <a:ext cx="5404104" cy="871727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3011424"/>
            <a:ext cx="256032" cy="256032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993136"/>
            <a:ext cx="4709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Crear un camino para ser líderes de manera rentable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224783"/>
            <a:ext cx="47091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Muchos seguidores en mercados atractivos se suman a una buena estrategia.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3864864"/>
            <a:ext cx="5404104" cy="871727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92240" y="4011168"/>
            <a:ext cx="256032" cy="256032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3992879"/>
            <a:ext cx="4709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32733"/>
                </a:solidFill>
                <a:latin typeface="Calibri"/>
              </a:rPr>
              <a:t>Construir con una fórmula repetible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4224527"/>
            <a:ext cx="47091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Crear una plataforma de crecimiento, invirtiendo con múltiples movimientos y construyendo un negocio a escala.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82896"/>
            <a:ext cx="11277295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992624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El atractivo de REDCO está en los clientes y países donde su CORE tiene la mayor capacidad de generar ventaja competitiva en ciclos sostenibles.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742432" y="5358384"/>
            <a:ext cx="475488" cy="384048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992624"/>
            <a:ext cx="507492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•  REDCO apalanca desde las especialidades diferenciadoras en planificación y desarrollo minero.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•  Genera relaciones desde la confianza, la eficiencia y la flexibilidad, con estructura de costos rentable.</a:t>
            </a:r>
          </a:p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•  En la reiteración es capaz de generar una plataforma sistemática de crecimiento rentable.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Contenido conservado del deck de Gestión Estratégica REDCO, junio 2024 (diapositiva 31). Rediseñado bajo el Estándar de Presentaciones REDCO v1.0.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El flujo de decisiones para crecer y cuidar el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Cuatro movimientos ordenados: primero país, después producto, después reconocimiento, y por último tipo de cliente.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6464"/>
            <a:ext cx="6903720" cy="48463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39111" y="1965960"/>
            <a:ext cx="3749039" cy="3749039"/>
          </a:xfrm>
          <a:prstGeom prst="ellipse">
            <a:avLst/>
          </a:prstGeom>
          <a:noFill/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51506" y="2378354"/>
            <a:ext cx="2924251" cy="2924251"/>
          </a:xfrm>
          <a:prstGeom prst="ellipse">
            <a:avLst/>
          </a:prstGeom>
          <a:noFill/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63900" y="2790748"/>
            <a:ext cx="2099462" cy="2099462"/>
          </a:xfrm>
          <a:prstGeom prst="ellipse">
            <a:avLst/>
          </a:prstGeom>
          <a:noFill/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63823" y="3090672"/>
            <a:ext cx="1499616" cy="14996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6295" y="3353104"/>
            <a:ext cx="1274673" cy="10309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1E2761"/>
                </a:solidFill>
                <a:latin typeface="Calibri"/>
              </a:rPr>
              <a:t>Consultora boutique de confianza, reconocida por su eficiencia y flexibilidad. Destacados en planificación y desarrollo minero en Chile, Perú y Brasil.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13631" y="3840480"/>
            <a:ext cx="2118208" cy="0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79668" y="3712464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733"/>
                </a:solidFill>
                <a:latin typeface="Calibri"/>
              </a:rPr>
              <a:t>Países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913631" y="2105345"/>
            <a:ext cx="1214954" cy="1735135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88487" y="1808423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Alianzas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2698678" y="2105345"/>
            <a:ext cx="1214953" cy="1735135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2040" y="1808423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733"/>
                </a:solidFill>
                <a:latin typeface="Calibri"/>
              </a:rPr>
              <a:t>Tipo de cliente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795424" y="3840480"/>
            <a:ext cx="2118207" cy="0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0859" y="3712464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Ámbitos de acción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698678" y="3840480"/>
            <a:ext cx="1214953" cy="1735134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22040" y="5616504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Especialidades Técnicas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13631" y="3840480"/>
            <a:ext cx="1214954" cy="1735134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88487" y="5616504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733"/>
                </a:solidFill>
                <a:latin typeface="Calibri"/>
              </a:rPr>
              <a:t>Tipo de producto</a:t>
            </a:r>
          </a:p>
        </p:txBody>
      </p:sp>
      <p:sp>
        <p:nvSpPr>
          <p:cNvPr id="25" name="Oval 24"/>
          <p:cNvSpPr/>
          <p:nvPr/>
        </p:nvSpPr>
        <p:spPr>
          <a:xfrm>
            <a:off x="5507107" y="3486167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4913763" y="4729618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2806832" y="4996522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2691425" y="2308123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4514539" y="2581608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1.1
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1444752"/>
            <a:ext cx="40325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Hipótesis de la dinámica estratégica entre CORE y adyacencia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99248" y="1975104"/>
            <a:ext cx="4032504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699248" y="2103120"/>
            <a:ext cx="4032504" cy="10058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0" y="2267712"/>
            <a:ext cx="274320" cy="27432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231136"/>
            <a:ext cx="33649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Ingresar a un país nuevo con un cliente minero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761487"/>
            <a:ext cx="3364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1.1  Evaluar las alianzas necesarias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99248" y="3209544"/>
            <a:ext cx="4032504" cy="7315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63840" y="3374136"/>
            <a:ext cx="274320" cy="27432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337560"/>
            <a:ext cx="33649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Crecer en ese país con el set de productos del CORE de REDCO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4041648"/>
            <a:ext cx="4032504" cy="10058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63840" y="4206240"/>
            <a:ext cx="274320" cy="27432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169663"/>
            <a:ext cx="33649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Fortalecer el set de productos en ese país hasta ser boutique reconocida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700016"/>
            <a:ext cx="3364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Fortalecer la experiencia del equipo para ese país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99248" y="5148072"/>
            <a:ext cx="4032504" cy="10058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63840" y="5312664"/>
            <a:ext cx="274320" cy="27432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276088"/>
            <a:ext cx="33649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32733"/>
                </a:solidFill>
                <a:latin typeface="Calibri"/>
              </a:rPr>
              <a:t>Crecer en cliente más allá de los mineros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806440"/>
            <a:ext cx="3364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4.1  Evaluar las alianzas necesarias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Contenido conservado del deck de Gestión Estratégica REDCO, junio 2024 (diapositiva 32). El diagrama se reconstruyó como formas nativas.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17550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2733"/>
                </a:solidFill>
                <a:latin typeface="Calibri"/>
              </a:rPr>
              <a:t>Ser disciplinados y mantenerse conectados con el CORE es crucial para el éxito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 mayor distancia económica desde el CORE, menos atributos conocidos y menor probabilidad de éxito.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1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RELACIÓN CON EL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7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Probabilidades de éxito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2424" y="1536191"/>
            <a:ext cx="1380744" cy="3840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1600199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36191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32733"/>
                </a:solidFill>
                <a:latin typeface="Calibri"/>
              </a:rPr>
              <a:t>1 paso de la adyacencia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83663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7D5B"/>
                </a:solidFill>
                <a:latin typeface="Calibri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36191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32733"/>
                </a:solidFill>
                <a:latin typeface="Calibri"/>
              </a:rPr>
              <a:t>2 pasos de la adyacencia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83663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8862D"/>
                </a:solidFill>
                <a:latin typeface="Calibri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36191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32733"/>
                </a:solidFill>
                <a:latin typeface="Calibri"/>
              </a:rPr>
              <a:t>3 pasos de la adyacencia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83663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8102E"/>
                </a:solidFill>
                <a:latin typeface="Calibri"/>
              </a:rPr>
              <a:t>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536191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32733"/>
                </a:solidFill>
                <a:latin typeface="Calibri"/>
              </a:rPr>
              <a:t>Diversificación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883663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8102E"/>
                </a:solidFill>
                <a:latin typeface="Calibri"/>
              </a:rPr>
              <a:t>-5%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2212848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194560"/>
            <a:ext cx="2386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Tipo de clientes conocidos</a:t>
            </a:r>
          </a:p>
        </p:txBody>
      </p:sp>
      <p:sp>
        <p:nvSpPr>
          <p:cNvPr id="21" name="Oval 20"/>
          <p:cNvSpPr/>
          <p:nvPr/>
        </p:nvSpPr>
        <p:spPr>
          <a:xfrm>
            <a:off x="3909059" y="2176272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00700" y="217627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600815" y="2176272"/>
            <a:ext cx="274192" cy="274268"/>
          </a:xfrm>
          <a:custGeom>
            <a:avLst/>
            <a:gdLst/>
            <a:ahLst/>
            <a:cxnLst/>
            <a:rect l="l" t="t" r="r" b="b"/>
            <a:pathLst>
              <a:path w="274192" h="274268">
                <a:moveTo>
                  <a:pt x="137045" y="137160"/>
                </a:moveTo>
                <a:lnTo>
                  <a:pt x="137045" y="0"/>
                </a:lnTo>
                <a:lnTo>
                  <a:pt x="154793" y="1153"/>
                </a:lnTo>
                <a:lnTo>
                  <a:pt x="172242" y="4593"/>
                </a:lnTo>
                <a:lnTo>
                  <a:pt x="189100" y="10262"/>
                </a:lnTo>
                <a:lnTo>
                  <a:pt x="205083" y="18064"/>
                </a:lnTo>
                <a:lnTo>
                  <a:pt x="219922" y="27870"/>
                </a:lnTo>
                <a:lnTo>
                  <a:pt x="233367" y="39513"/>
                </a:lnTo>
                <a:lnTo>
                  <a:pt x="245192" y="52797"/>
                </a:lnTo>
                <a:lnTo>
                  <a:pt x="255199" y="67501"/>
                </a:lnTo>
                <a:lnTo>
                  <a:pt x="263219" y="83375"/>
                </a:lnTo>
                <a:lnTo>
                  <a:pt x="269118" y="100154"/>
                </a:lnTo>
                <a:lnTo>
                  <a:pt x="272796" y="117555"/>
                </a:lnTo>
                <a:lnTo>
                  <a:pt x="274192" y="135286"/>
                </a:lnTo>
                <a:lnTo>
                  <a:pt x="273281" y="153048"/>
                </a:lnTo>
                <a:lnTo>
                  <a:pt x="270080" y="170543"/>
                </a:lnTo>
                <a:lnTo>
                  <a:pt x="264641" y="187477"/>
                </a:lnTo>
                <a:lnTo>
                  <a:pt x="257058" y="203565"/>
                </a:lnTo>
                <a:lnTo>
                  <a:pt x="247456" y="218536"/>
                </a:lnTo>
                <a:lnTo>
                  <a:pt x="235998" y="232139"/>
                </a:lnTo>
                <a:lnTo>
                  <a:pt x="222876" y="244145"/>
                </a:lnTo>
                <a:lnTo>
                  <a:pt x="208311" y="254352"/>
                </a:lnTo>
                <a:lnTo>
                  <a:pt x="192547" y="262588"/>
                </a:lnTo>
                <a:lnTo>
                  <a:pt x="175850" y="268715"/>
                </a:lnTo>
                <a:lnTo>
                  <a:pt x="158501" y="272631"/>
                </a:lnTo>
                <a:lnTo>
                  <a:pt x="140791" y="274268"/>
                </a:lnTo>
                <a:lnTo>
                  <a:pt x="123018" y="273600"/>
                </a:lnTo>
                <a:lnTo>
                  <a:pt x="105481" y="270638"/>
                </a:lnTo>
                <a:lnTo>
                  <a:pt x="88474" y="265432"/>
                </a:lnTo>
                <a:lnTo>
                  <a:pt x="72284" y="258069"/>
                </a:lnTo>
                <a:lnTo>
                  <a:pt x="57184" y="248672"/>
                </a:lnTo>
                <a:lnTo>
                  <a:pt x="43426" y="237401"/>
                </a:lnTo>
                <a:lnTo>
                  <a:pt x="31242" y="224444"/>
                </a:lnTo>
                <a:lnTo>
                  <a:pt x="20837" y="210020"/>
                </a:lnTo>
                <a:lnTo>
                  <a:pt x="12386" y="194370"/>
                </a:lnTo>
                <a:lnTo>
                  <a:pt x="6031" y="177759"/>
                </a:lnTo>
                <a:lnTo>
                  <a:pt x="1879" y="160464"/>
                </a:lnTo>
                <a:lnTo>
                  <a:pt x="0" y="142778"/>
                </a:lnTo>
                <a:lnTo>
                  <a:pt x="425" y="124998"/>
                </a:lnTo>
                <a:lnTo>
                  <a:pt x="3147" y="107422"/>
                </a:lnTo>
                <a:lnTo>
                  <a:pt x="8121" y="90346"/>
                </a:lnTo>
                <a:lnTo>
                  <a:pt x="15262" y="74057"/>
                </a:lnTo>
                <a:lnTo>
                  <a:pt x="24451" y="58829"/>
                </a:lnTo>
                <a:lnTo>
                  <a:pt x="35534" y="44918"/>
                </a:lnTo>
                <a:lnTo>
                  <a:pt x="48323" y="32559"/>
                </a:lnTo>
                <a:lnTo>
                  <a:pt x="62604" y="21958"/>
                </a:lnTo>
                <a:lnTo>
                  <a:pt x="78137" y="13294"/>
                </a:lnTo>
                <a:lnTo>
                  <a:pt x="94660" y="6713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00700" y="2176272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92340" y="217627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429500" y="2176272"/>
            <a:ext cx="137160" cy="274319"/>
          </a:xfrm>
          <a:custGeom>
            <a:avLst/>
            <a:gdLst/>
            <a:ahLst/>
            <a:cxnLst/>
            <a:rect l="l" t="t" r="r" b="b"/>
            <a:pathLst>
              <a:path w="137160" h="274319">
                <a:moveTo>
                  <a:pt x="0" y="137160"/>
                </a:moveTo>
                <a:lnTo>
                  <a:pt x="0" y="0"/>
                </a:lnTo>
                <a:lnTo>
                  <a:pt x="17902" y="1173"/>
                </a:lnTo>
                <a:lnTo>
                  <a:pt x="35499" y="4673"/>
                </a:lnTo>
                <a:lnTo>
                  <a:pt x="52488" y="10440"/>
                </a:lnTo>
                <a:lnTo>
                  <a:pt x="68579" y="18375"/>
                </a:lnTo>
                <a:lnTo>
                  <a:pt x="83497" y="28343"/>
                </a:lnTo>
                <a:lnTo>
                  <a:pt x="96986" y="40173"/>
                </a:lnTo>
                <a:lnTo>
                  <a:pt x="108816" y="53662"/>
                </a:lnTo>
                <a:lnTo>
                  <a:pt x="118784" y="68579"/>
                </a:lnTo>
                <a:lnTo>
                  <a:pt x="126719" y="84671"/>
                </a:lnTo>
                <a:lnTo>
                  <a:pt x="132486" y="101660"/>
                </a:lnTo>
                <a:lnTo>
                  <a:pt x="135986" y="119257"/>
                </a:lnTo>
                <a:lnTo>
                  <a:pt x="137160" y="137160"/>
                </a:lnTo>
                <a:lnTo>
                  <a:pt x="135986" y="155062"/>
                </a:lnTo>
                <a:lnTo>
                  <a:pt x="132486" y="172659"/>
                </a:lnTo>
                <a:lnTo>
                  <a:pt x="126719" y="189648"/>
                </a:lnTo>
                <a:lnTo>
                  <a:pt x="118784" y="205740"/>
                </a:lnTo>
                <a:lnTo>
                  <a:pt x="108816" y="220657"/>
                </a:lnTo>
                <a:lnTo>
                  <a:pt x="96986" y="234146"/>
                </a:lnTo>
                <a:lnTo>
                  <a:pt x="83497" y="245976"/>
                </a:lnTo>
                <a:lnTo>
                  <a:pt x="68579" y="255944"/>
                </a:lnTo>
                <a:lnTo>
                  <a:pt x="52488" y="263879"/>
                </a:lnTo>
                <a:lnTo>
                  <a:pt x="35499" y="269646"/>
                </a:lnTo>
                <a:lnTo>
                  <a:pt x="17902" y="273146"/>
                </a:lnTo>
                <a:lnTo>
                  <a:pt x="0" y="274319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92340" y="2176272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83980" y="217627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121140" y="2176272"/>
            <a:ext cx="42384" cy="137160"/>
          </a:xfrm>
          <a:custGeom>
            <a:avLst/>
            <a:gdLst/>
            <a:ahLst/>
            <a:cxnLst/>
            <a:rect l="l" t="t" r="r" b="b"/>
            <a:pathLst>
              <a:path w="42384" h="137160">
                <a:moveTo>
                  <a:pt x="0" y="137160"/>
                </a:moveTo>
                <a:lnTo>
                  <a:pt x="0" y="0"/>
                </a:lnTo>
                <a:lnTo>
                  <a:pt x="14337" y="751"/>
                </a:lnTo>
                <a:lnTo>
                  <a:pt x="28517" y="2997"/>
                </a:lnTo>
                <a:lnTo>
                  <a:pt x="42384" y="6713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83980" y="2176272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75619" y="217627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812780" y="2176272"/>
            <a:ext cx="17190" cy="137160"/>
          </a:xfrm>
          <a:custGeom>
            <a:avLst/>
            <a:gdLst/>
            <a:ahLst/>
            <a:cxnLst/>
            <a:rect l="l" t="t" r="r" b="b"/>
            <a:pathLst>
              <a:path w="17190" h="137160">
                <a:moveTo>
                  <a:pt x="0" y="137160"/>
                </a:moveTo>
                <a:lnTo>
                  <a:pt x="0" y="0"/>
                </a:lnTo>
                <a:lnTo>
                  <a:pt x="5743" y="120"/>
                </a:lnTo>
                <a:lnTo>
                  <a:pt x="11477" y="481"/>
                </a:lnTo>
                <a:lnTo>
                  <a:pt x="17190" y="1081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75619" y="2176272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2761488"/>
            <a:ext cx="2386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Estructura de costos conocidos</a:t>
            </a:r>
          </a:p>
        </p:txBody>
      </p:sp>
      <p:sp>
        <p:nvSpPr>
          <p:cNvPr id="36" name="Oval 35"/>
          <p:cNvSpPr/>
          <p:nvPr/>
        </p:nvSpPr>
        <p:spPr>
          <a:xfrm>
            <a:off x="3909059" y="2743200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00700" y="274320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657239" y="2743200"/>
            <a:ext cx="217772" cy="274287"/>
          </a:xfrm>
          <a:custGeom>
            <a:avLst/>
            <a:gdLst/>
            <a:ahLst/>
            <a:cxnLst/>
            <a:rect l="l" t="t" r="r" b="b"/>
            <a:pathLst>
              <a:path w="217772" h="274287">
                <a:moveTo>
                  <a:pt x="80621" y="137160"/>
                </a:moveTo>
                <a:lnTo>
                  <a:pt x="80621" y="0"/>
                </a:lnTo>
                <a:lnTo>
                  <a:pt x="98401" y="1157"/>
                </a:lnTo>
                <a:lnTo>
                  <a:pt x="115881" y="4609"/>
                </a:lnTo>
                <a:lnTo>
                  <a:pt x="132766" y="10298"/>
                </a:lnTo>
                <a:lnTo>
                  <a:pt x="148771" y="18129"/>
                </a:lnTo>
                <a:lnTo>
                  <a:pt x="163626" y="27967"/>
                </a:lnTo>
                <a:lnTo>
                  <a:pt x="177081" y="39649"/>
                </a:lnTo>
                <a:lnTo>
                  <a:pt x="188907" y="52976"/>
                </a:lnTo>
                <a:lnTo>
                  <a:pt x="198906" y="67723"/>
                </a:lnTo>
                <a:lnTo>
                  <a:pt x="206909" y="83643"/>
                </a:lnTo>
                <a:lnTo>
                  <a:pt x="212781" y="100465"/>
                </a:lnTo>
                <a:lnTo>
                  <a:pt x="216423" y="117907"/>
                </a:lnTo>
                <a:lnTo>
                  <a:pt x="217772" y="135674"/>
                </a:lnTo>
                <a:lnTo>
                  <a:pt x="216808" y="153465"/>
                </a:lnTo>
                <a:lnTo>
                  <a:pt x="213545" y="170982"/>
                </a:lnTo>
                <a:lnTo>
                  <a:pt x="208039" y="187928"/>
                </a:lnTo>
                <a:lnTo>
                  <a:pt x="200383" y="204017"/>
                </a:lnTo>
                <a:lnTo>
                  <a:pt x="190705" y="218977"/>
                </a:lnTo>
                <a:lnTo>
                  <a:pt x="179170" y="232558"/>
                </a:lnTo>
                <a:lnTo>
                  <a:pt x="165972" y="244528"/>
                </a:lnTo>
                <a:lnTo>
                  <a:pt x="151334" y="254686"/>
                </a:lnTo>
                <a:lnTo>
                  <a:pt x="135502" y="262861"/>
                </a:lnTo>
                <a:lnTo>
                  <a:pt x="118744" y="268915"/>
                </a:lnTo>
                <a:lnTo>
                  <a:pt x="101343" y="272745"/>
                </a:lnTo>
                <a:lnTo>
                  <a:pt x="83592" y="274287"/>
                </a:lnTo>
                <a:lnTo>
                  <a:pt x="65791" y="273515"/>
                </a:lnTo>
                <a:lnTo>
                  <a:pt x="48240" y="270443"/>
                </a:lnTo>
                <a:lnTo>
                  <a:pt x="31236" y="265120"/>
                </a:lnTo>
                <a:lnTo>
                  <a:pt x="15065" y="257639"/>
                </a:lnTo>
                <a:lnTo>
                  <a:pt x="0" y="248124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00700" y="2743200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92340" y="274320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429500" y="2743200"/>
            <a:ext cx="137104" cy="267606"/>
          </a:xfrm>
          <a:custGeom>
            <a:avLst/>
            <a:gdLst/>
            <a:ahLst/>
            <a:cxnLst/>
            <a:rect l="l" t="t" r="r" b="b"/>
            <a:pathLst>
              <a:path w="137104" h="267606">
                <a:moveTo>
                  <a:pt x="0" y="137160"/>
                </a:moveTo>
                <a:lnTo>
                  <a:pt x="0" y="0"/>
                </a:lnTo>
                <a:lnTo>
                  <a:pt x="17579" y="1131"/>
                </a:lnTo>
                <a:lnTo>
                  <a:pt x="34868" y="4506"/>
                </a:lnTo>
                <a:lnTo>
                  <a:pt x="51582" y="10069"/>
                </a:lnTo>
                <a:lnTo>
                  <a:pt x="67446" y="17728"/>
                </a:lnTo>
                <a:lnTo>
                  <a:pt x="82196" y="27357"/>
                </a:lnTo>
                <a:lnTo>
                  <a:pt x="95591" y="38798"/>
                </a:lnTo>
                <a:lnTo>
                  <a:pt x="107410" y="51861"/>
                </a:lnTo>
                <a:lnTo>
                  <a:pt x="117456" y="66330"/>
                </a:lnTo>
                <a:lnTo>
                  <a:pt x="125566" y="81969"/>
                </a:lnTo>
                <a:lnTo>
                  <a:pt x="131604" y="98517"/>
                </a:lnTo>
                <a:lnTo>
                  <a:pt x="135471" y="115703"/>
                </a:lnTo>
                <a:lnTo>
                  <a:pt x="137104" y="133243"/>
                </a:lnTo>
                <a:lnTo>
                  <a:pt x="136475" y="150847"/>
                </a:lnTo>
                <a:lnTo>
                  <a:pt x="133595" y="168226"/>
                </a:lnTo>
                <a:lnTo>
                  <a:pt x="128512" y="185092"/>
                </a:lnTo>
                <a:lnTo>
                  <a:pt x="121308" y="201168"/>
                </a:lnTo>
                <a:lnTo>
                  <a:pt x="112104" y="216187"/>
                </a:lnTo>
                <a:lnTo>
                  <a:pt x="101051" y="229904"/>
                </a:lnTo>
                <a:lnTo>
                  <a:pt x="88331" y="242090"/>
                </a:lnTo>
                <a:lnTo>
                  <a:pt x="74154" y="252546"/>
                </a:lnTo>
                <a:lnTo>
                  <a:pt x="58754" y="261098"/>
                </a:lnTo>
                <a:lnTo>
                  <a:pt x="42384" y="267606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92340" y="2743200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83980" y="274320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121140" y="2743200"/>
            <a:ext cx="137104" cy="267606"/>
          </a:xfrm>
          <a:custGeom>
            <a:avLst/>
            <a:gdLst/>
            <a:ahLst/>
            <a:cxnLst/>
            <a:rect l="l" t="t" r="r" b="b"/>
            <a:pathLst>
              <a:path w="137104" h="267606">
                <a:moveTo>
                  <a:pt x="0" y="137160"/>
                </a:moveTo>
                <a:lnTo>
                  <a:pt x="0" y="0"/>
                </a:lnTo>
                <a:lnTo>
                  <a:pt x="17579" y="1131"/>
                </a:lnTo>
                <a:lnTo>
                  <a:pt x="34868" y="4506"/>
                </a:lnTo>
                <a:lnTo>
                  <a:pt x="51582" y="10069"/>
                </a:lnTo>
                <a:lnTo>
                  <a:pt x="67446" y="17728"/>
                </a:lnTo>
                <a:lnTo>
                  <a:pt x="82196" y="27357"/>
                </a:lnTo>
                <a:lnTo>
                  <a:pt x="95591" y="38798"/>
                </a:lnTo>
                <a:lnTo>
                  <a:pt x="107410" y="51861"/>
                </a:lnTo>
                <a:lnTo>
                  <a:pt x="117456" y="66330"/>
                </a:lnTo>
                <a:lnTo>
                  <a:pt x="125566" y="81969"/>
                </a:lnTo>
                <a:lnTo>
                  <a:pt x="131604" y="98517"/>
                </a:lnTo>
                <a:lnTo>
                  <a:pt x="135471" y="115703"/>
                </a:lnTo>
                <a:lnTo>
                  <a:pt x="137104" y="133243"/>
                </a:lnTo>
                <a:lnTo>
                  <a:pt x="136475" y="150847"/>
                </a:lnTo>
                <a:lnTo>
                  <a:pt x="133595" y="168226"/>
                </a:lnTo>
                <a:lnTo>
                  <a:pt x="128512" y="185092"/>
                </a:lnTo>
                <a:lnTo>
                  <a:pt x="121308" y="201168"/>
                </a:lnTo>
                <a:lnTo>
                  <a:pt x="112104" y="216187"/>
                </a:lnTo>
                <a:lnTo>
                  <a:pt x="101051" y="229904"/>
                </a:lnTo>
                <a:lnTo>
                  <a:pt x="88331" y="242090"/>
                </a:lnTo>
                <a:lnTo>
                  <a:pt x="74154" y="252546"/>
                </a:lnTo>
                <a:lnTo>
                  <a:pt x="58754" y="261098"/>
                </a:lnTo>
                <a:lnTo>
                  <a:pt x="42384" y="267606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83980" y="2743200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75619" y="274320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812780" y="2743200"/>
            <a:ext cx="17190" cy="137160"/>
          </a:xfrm>
          <a:custGeom>
            <a:avLst/>
            <a:gdLst/>
            <a:ahLst/>
            <a:cxnLst/>
            <a:rect l="l" t="t" r="r" b="b"/>
            <a:pathLst>
              <a:path w="17190" h="137160">
                <a:moveTo>
                  <a:pt x="0" y="137160"/>
                </a:moveTo>
                <a:lnTo>
                  <a:pt x="0" y="0"/>
                </a:lnTo>
                <a:lnTo>
                  <a:pt x="5743" y="120"/>
                </a:lnTo>
                <a:lnTo>
                  <a:pt x="11477" y="481"/>
                </a:lnTo>
                <a:lnTo>
                  <a:pt x="17190" y="1081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75619" y="2743200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7200" y="3346703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3328415"/>
            <a:ext cx="2386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Ámbitos de acción conocidos</a:t>
            </a:r>
          </a:p>
        </p:txBody>
      </p:sp>
      <p:sp>
        <p:nvSpPr>
          <p:cNvPr id="51" name="Oval 50"/>
          <p:cNvSpPr/>
          <p:nvPr/>
        </p:nvSpPr>
        <p:spPr>
          <a:xfrm>
            <a:off x="3909059" y="3310127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00700" y="3310127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695475" y="3310127"/>
            <a:ext cx="179504" cy="274160"/>
          </a:xfrm>
          <a:custGeom>
            <a:avLst/>
            <a:gdLst/>
            <a:ahLst/>
            <a:cxnLst/>
            <a:rect l="l" t="t" r="r" b="b"/>
            <a:pathLst>
              <a:path w="179504" h="274160">
                <a:moveTo>
                  <a:pt x="42385" y="137160"/>
                </a:moveTo>
                <a:lnTo>
                  <a:pt x="42385" y="0"/>
                </a:lnTo>
                <a:lnTo>
                  <a:pt x="60561" y="1210"/>
                </a:lnTo>
                <a:lnTo>
                  <a:pt x="78417" y="4818"/>
                </a:lnTo>
                <a:lnTo>
                  <a:pt x="95638" y="10761"/>
                </a:lnTo>
                <a:lnTo>
                  <a:pt x="111919" y="18933"/>
                </a:lnTo>
                <a:lnTo>
                  <a:pt x="126974" y="29190"/>
                </a:lnTo>
                <a:lnTo>
                  <a:pt x="140536" y="41353"/>
                </a:lnTo>
                <a:lnTo>
                  <a:pt x="152367" y="55205"/>
                </a:lnTo>
                <a:lnTo>
                  <a:pt x="162258" y="70503"/>
                </a:lnTo>
                <a:lnTo>
                  <a:pt x="170034" y="86977"/>
                </a:lnTo>
                <a:lnTo>
                  <a:pt x="175559" y="104336"/>
                </a:lnTo>
                <a:lnTo>
                  <a:pt x="178734" y="122274"/>
                </a:lnTo>
                <a:lnTo>
                  <a:pt x="179504" y="140475"/>
                </a:lnTo>
                <a:lnTo>
                  <a:pt x="177856" y="158617"/>
                </a:lnTo>
                <a:lnTo>
                  <a:pt x="173817" y="176381"/>
                </a:lnTo>
                <a:lnTo>
                  <a:pt x="167461" y="193453"/>
                </a:lnTo>
                <a:lnTo>
                  <a:pt x="158898" y="209532"/>
                </a:lnTo>
                <a:lnTo>
                  <a:pt x="148279" y="224334"/>
                </a:lnTo>
                <a:lnTo>
                  <a:pt x="135793" y="237598"/>
                </a:lnTo>
                <a:lnTo>
                  <a:pt x="121658" y="249091"/>
                </a:lnTo>
                <a:lnTo>
                  <a:pt x="106126" y="258610"/>
                </a:lnTo>
                <a:lnTo>
                  <a:pt x="89469" y="265986"/>
                </a:lnTo>
                <a:lnTo>
                  <a:pt x="71981" y="271089"/>
                </a:lnTo>
                <a:lnTo>
                  <a:pt x="53972" y="273830"/>
                </a:lnTo>
                <a:lnTo>
                  <a:pt x="35758" y="274160"/>
                </a:lnTo>
                <a:lnTo>
                  <a:pt x="17661" y="272074"/>
                </a:lnTo>
                <a:lnTo>
                  <a:pt x="0" y="267607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600700" y="3310127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2340" y="3310127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7429500" y="3310127"/>
            <a:ext cx="137149" cy="257355"/>
          </a:xfrm>
          <a:custGeom>
            <a:avLst/>
            <a:gdLst/>
            <a:ahLst/>
            <a:cxnLst/>
            <a:rect l="l" t="t" r="r" b="b"/>
            <a:pathLst>
              <a:path w="137149" h="257355">
                <a:moveTo>
                  <a:pt x="0" y="137160"/>
                </a:moveTo>
                <a:lnTo>
                  <a:pt x="0" y="0"/>
                </a:lnTo>
                <a:lnTo>
                  <a:pt x="18045" y="1193"/>
                </a:lnTo>
                <a:lnTo>
                  <a:pt x="35777" y="4749"/>
                </a:lnTo>
                <a:lnTo>
                  <a:pt x="52886" y="10607"/>
                </a:lnTo>
                <a:lnTo>
                  <a:pt x="69076" y="18665"/>
                </a:lnTo>
                <a:lnTo>
                  <a:pt x="84066" y="28783"/>
                </a:lnTo>
                <a:lnTo>
                  <a:pt x="97594" y="40785"/>
                </a:lnTo>
                <a:lnTo>
                  <a:pt x="109425" y="54463"/>
                </a:lnTo>
                <a:lnTo>
                  <a:pt x="119354" y="69578"/>
                </a:lnTo>
                <a:lnTo>
                  <a:pt x="127208" y="85868"/>
                </a:lnTo>
                <a:lnTo>
                  <a:pt x="132850" y="103050"/>
                </a:lnTo>
                <a:lnTo>
                  <a:pt x="136183" y="120825"/>
                </a:lnTo>
                <a:lnTo>
                  <a:pt x="137149" y="138884"/>
                </a:lnTo>
                <a:lnTo>
                  <a:pt x="135730" y="156913"/>
                </a:lnTo>
                <a:lnTo>
                  <a:pt x="131951" y="174599"/>
                </a:lnTo>
                <a:lnTo>
                  <a:pt x="125879" y="191633"/>
                </a:lnTo>
                <a:lnTo>
                  <a:pt x="117618" y="207721"/>
                </a:lnTo>
                <a:lnTo>
                  <a:pt x="107312" y="222582"/>
                </a:lnTo>
                <a:lnTo>
                  <a:pt x="95141" y="235958"/>
                </a:lnTo>
                <a:lnTo>
                  <a:pt x="81316" y="247617"/>
                </a:lnTo>
                <a:lnTo>
                  <a:pt x="66077" y="257355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2340" y="3310127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983980" y="3310127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121140" y="3310127"/>
            <a:ext cx="137159" cy="273239"/>
          </a:xfrm>
          <a:custGeom>
            <a:avLst/>
            <a:gdLst/>
            <a:ahLst/>
            <a:cxnLst/>
            <a:rect l="l" t="t" r="r" b="b"/>
            <a:pathLst>
              <a:path w="137159" h="273239">
                <a:moveTo>
                  <a:pt x="0" y="137160"/>
                </a:moveTo>
                <a:lnTo>
                  <a:pt x="0" y="0"/>
                </a:lnTo>
                <a:lnTo>
                  <a:pt x="17933" y="1178"/>
                </a:lnTo>
                <a:lnTo>
                  <a:pt x="35559" y="4690"/>
                </a:lnTo>
                <a:lnTo>
                  <a:pt x="52575" y="10477"/>
                </a:lnTo>
                <a:lnTo>
                  <a:pt x="68688" y="18439"/>
                </a:lnTo>
                <a:lnTo>
                  <a:pt x="83621" y="28439"/>
                </a:lnTo>
                <a:lnTo>
                  <a:pt x="97119" y="40306"/>
                </a:lnTo>
                <a:lnTo>
                  <a:pt x="108949" y="53836"/>
                </a:lnTo>
                <a:lnTo>
                  <a:pt x="118908" y="68797"/>
                </a:lnTo>
                <a:lnTo>
                  <a:pt x="126826" y="84931"/>
                </a:lnTo>
                <a:lnTo>
                  <a:pt x="132566" y="101963"/>
                </a:lnTo>
                <a:lnTo>
                  <a:pt x="136030" y="119598"/>
                </a:lnTo>
                <a:lnTo>
                  <a:pt x="137159" y="137535"/>
                </a:lnTo>
                <a:lnTo>
                  <a:pt x="135932" y="155466"/>
                </a:lnTo>
                <a:lnTo>
                  <a:pt x="132372" y="173082"/>
                </a:lnTo>
                <a:lnTo>
                  <a:pt x="126539" y="190082"/>
                </a:lnTo>
                <a:lnTo>
                  <a:pt x="118533" y="206173"/>
                </a:lnTo>
                <a:lnTo>
                  <a:pt x="108492" y="221079"/>
                </a:lnTo>
                <a:lnTo>
                  <a:pt x="96588" y="234544"/>
                </a:lnTo>
                <a:lnTo>
                  <a:pt x="83026" y="246337"/>
                </a:lnTo>
                <a:lnTo>
                  <a:pt x="68038" y="256256"/>
                </a:lnTo>
                <a:lnTo>
                  <a:pt x="51882" y="264129"/>
                </a:lnTo>
                <a:lnTo>
                  <a:pt x="34835" y="269823"/>
                </a:lnTo>
                <a:lnTo>
                  <a:pt x="17190" y="273239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983980" y="3310127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675619" y="3310127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812780" y="3310127"/>
            <a:ext cx="17190" cy="137160"/>
          </a:xfrm>
          <a:custGeom>
            <a:avLst/>
            <a:gdLst/>
            <a:ahLst/>
            <a:cxnLst/>
            <a:rect l="l" t="t" r="r" b="b"/>
            <a:pathLst>
              <a:path w="17190" h="137160">
                <a:moveTo>
                  <a:pt x="0" y="137160"/>
                </a:moveTo>
                <a:lnTo>
                  <a:pt x="0" y="0"/>
                </a:lnTo>
                <a:lnTo>
                  <a:pt x="5743" y="121"/>
                </a:lnTo>
                <a:lnTo>
                  <a:pt x="11477" y="482"/>
                </a:lnTo>
                <a:lnTo>
                  <a:pt x="17190" y="1082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675619" y="3310127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57200" y="3913631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" y="3895344"/>
            <a:ext cx="2386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Especialidades técnicas conocidas</a:t>
            </a:r>
          </a:p>
        </p:txBody>
      </p:sp>
      <p:sp>
        <p:nvSpPr>
          <p:cNvPr id="66" name="Oval 65"/>
          <p:cNvSpPr/>
          <p:nvPr/>
        </p:nvSpPr>
        <p:spPr>
          <a:xfrm>
            <a:off x="3909059" y="3877056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00700" y="387705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5643967" y="3877056"/>
            <a:ext cx="231042" cy="274276"/>
          </a:xfrm>
          <a:custGeom>
            <a:avLst/>
            <a:gdLst/>
            <a:ahLst/>
            <a:cxnLst/>
            <a:rect l="l" t="t" r="r" b="b"/>
            <a:pathLst>
              <a:path w="231042" h="274276">
                <a:moveTo>
                  <a:pt x="93893" y="137160"/>
                </a:moveTo>
                <a:lnTo>
                  <a:pt x="93893" y="0"/>
                </a:lnTo>
                <a:lnTo>
                  <a:pt x="111653" y="1154"/>
                </a:lnTo>
                <a:lnTo>
                  <a:pt x="129115" y="4599"/>
                </a:lnTo>
                <a:lnTo>
                  <a:pt x="145983" y="10276"/>
                </a:lnTo>
                <a:lnTo>
                  <a:pt x="161974" y="18089"/>
                </a:lnTo>
                <a:lnTo>
                  <a:pt x="176819" y="27907"/>
                </a:lnTo>
                <a:lnTo>
                  <a:pt x="190268" y="39565"/>
                </a:lnTo>
                <a:lnTo>
                  <a:pt x="202094" y="52866"/>
                </a:lnTo>
                <a:lnTo>
                  <a:pt x="212098" y="67587"/>
                </a:lnTo>
                <a:lnTo>
                  <a:pt x="220112" y="83479"/>
                </a:lnTo>
                <a:lnTo>
                  <a:pt x="226000" y="100274"/>
                </a:lnTo>
                <a:lnTo>
                  <a:pt x="229664" y="117691"/>
                </a:lnTo>
                <a:lnTo>
                  <a:pt x="231042" y="135436"/>
                </a:lnTo>
                <a:lnTo>
                  <a:pt x="230110" y="153210"/>
                </a:lnTo>
                <a:lnTo>
                  <a:pt x="226885" y="170713"/>
                </a:lnTo>
                <a:lnTo>
                  <a:pt x="221421" y="187651"/>
                </a:lnTo>
                <a:lnTo>
                  <a:pt x="213809" y="203740"/>
                </a:lnTo>
                <a:lnTo>
                  <a:pt x="204178" y="218707"/>
                </a:lnTo>
                <a:lnTo>
                  <a:pt x="192690" y="232301"/>
                </a:lnTo>
                <a:lnTo>
                  <a:pt x="179539" y="244293"/>
                </a:lnTo>
                <a:lnTo>
                  <a:pt x="164945" y="254481"/>
                </a:lnTo>
                <a:lnTo>
                  <a:pt x="149155" y="262694"/>
                </a:lnTo>
                <a:lnTo>
                  <a:pt x="132435" y="268793"/>
                </a:lnTo>
                <a:lnTo>
                  <a:pt x="115065" y="272675"/>
                </a:lnTo>
                <a:lnTo>
                  <a:pt x="97339" y="274276"/>
                </a:lnTo>
                <a:lnTo>
                  <a:pt x="79555" y="273568"/>
                </a:lnTo>
                <a:lnTo>
                  <a:pt x="62013" y="270563"/>
                </a:lnTo>
                <a:lnTo>
                  <a:pt x="45007" y="265312"/>
                </a:lnTo>
                <a:lnTo>
                  <a:pt x="28824" y="257903"/>
                </a:lnTo>
                <a:lnTo>
                  <a:pt x="13737" y="248461"/>
                </a:lnTo>
                <a:lnTo>
                  <a:pt x="0" y="237145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600700" y="3877056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292340" y="387705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294769" y="3877056"/>
            <a:ext cx="271864" cy="274213"/>
          </a:xfrm>
          <a:custGeom>
            <a:avLst/>
            <a:gdLst/>
            <a:ahLst/>
            <a:cxnLst/>
            <a:rect l="l" t="t" r="r" b="b"/>
            <a:pathLst>
              <a:path w="271864" h="274213">
                <a:moveTo>
                  <a:pt x="134731" y="137160"/>
                </a:moveTo>
                <a:lnTo>
                  <a:pt x="134731" y="0"/>
                </a:lnTo>
                <a:lnTo>
                  <a:pt x="152410" y="1144"/>
                </a:lnTo>
                <a:lnTo>
                  <a:pt x="169794" y="4557"/>
                </a:lnTo>
                <a:lnTo>
                  <a:pt x="186593" y="10183"/>
                </a:lnTo>
                <a:lnTo>
                  <a:pt x="202527" y="17927"/>
                </a:lnTo>
                <a:lnTo>
                  <a:pt x="217330" y="27660"/>
                </a:lnTo>
                <a:lnTo>
                  <a:pt x="230755" y="39220"/>
                </a:lnTo>
                <a:lnTo>
                  <a:pt x="242578" y="52414"/>
                </a:lnTo>
                <a:lnTo>
                  <a:pt x="252601" y="67022"/>
                </a:lnTo>
                <a:lnTo>
                  <a:pt x="260659" y="82800"/>
                </a:lnTo>
                <a:lnTo>
                  <a:pt x="266615" y="99485"/>
                </a:lnTo>
                <a:lnTo>
                  <a:pt x="270371" y="116798"/>
                </a:lnTo>
                <a:lnTo>
                  <a:pt x="271864" y="134451"/>
                </a:lnTo>
                <a:lnTo>
                  <a:pt x="271069" y="152149"/>
                </a:lnTo>
                <a:lnTo>
                  <a:pt x="268000" y="169598"/>
                </a:lnTo>
                <a:lnTo>
                  <a:pt x="262707" y="186505"/>
                </a:lnTo>
                <a:lnTo>
                  <a:pt x="255279" y="202589"/>
                </a:lnTo>
                <a:lnTo>
                  <a:pt x="245840" y="217581"/>
                </a:lnTo>
                <a:lnTo>
                  <a:pt x="234547" y="231231"/>
                </a:lnTo>
                <a:lnTo>
                  <a:pt x="221589" y="243312"/>
                </a:lnTo>
                <a:lnTo>
                  <a:pt x="207182" y="253623"/>
                </a:lnTo>
                <a:lnTo>
                  <a:pt x="191566" y="261990"/>
                </a:lnTo>
                <a:lnTo>
                  <a:pt x="175002" y="268274"/>
                </a:lnTo>
                <a:lnTo>
                  <a:pt x="157766" y="272371"/>
                </a:lnTo>
                <a:lnTo>
                  <a:pt x="140146" y="274213"/>
                </a:lnTo>
                <a:lnTo>
                  <a:pt x="122436" y="273767"/>
                </a:lnTo>
                <a:lnTo>
                  <a:pt x="104930" y="271043"/>
                </a:lnTo>
                <a:lnTo>
                  <a:pt x="87922" y="266085"/>
                </a:lnTo>
                <a:lnTo>
                  <a:pt x="71695" y="258976"/>
                </a:lnTo>
                <a:lnTo>
                  <a:pt x="56519" y="249835"/>
                </a:lnTo>
                <a:lnTo>
                  <a:pt x="42648" y="238814"/>
                </a:lnTo>
                <a:lnTo>
                  <a:pt x="30313" y="226097"/>
                </a:lnTo>
                <a:lnTo>
                  <a:pt x="19721" y="211897"/>
                </a:lnTo>
                <a:lnTo>
                  <a:pt x="11047" y="196449"/>
                </a:lnTo>
                <a:lnTo>
                  <a:pt x="4437" y="180012"/>
                </a:lnTo>
                <a:lnTo>
                  <a:pt x="0" y="162861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2340" y="3877056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983980" y="387705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9121140" y="3877056"/>
            <a:ext cx="137104" cy="267606"/>
          </a:xfrm>
          <a:custGeom>
            <a:avLst/>
            <a:gdLst/>
            <a:ahLst/>
            <a:cxnLst/>
            <a:rect l="l" t="t" r="r" b="b"/>
            <a:pathLst>
              <a:path w="137104" h="267606">
                <a:moveTo>
                  <a:pt x="0" y="137160"/>
                </a:moveTo>
                <a:lnTo>
                  <a:pt x="0" y="0"/>
                </a:lnTo>
                <a:lnTo>
                  <a:pt x="17579" y="1131"/>
                </a:lnTo>
                <a:lnTo>
                  <a:pt x="34868" y="4506"/>
                </a:lnTo>
                <a:lnTo>
                  <a:pt x="51582" y="10069"/>
                </a:lnTo>
                <a:lnTo>
                  <a:pt x="67446" y="17728"/>
                </a:lnTo>
                <a:lnTo>
                  <a:pt x="82196" y="27357"/>
                </a:lnTo>
                <a:lnTo>
                  <a:pt x="95591" y="38798"/>
                </a:lnTo>
                <a:lnTo>
                  <a:pt x="107410" y="51861"/>
                </a:lnTo>
                <a:lnTo>
                  <a:pt x="117456" y="66330"/>
                </a:lnTo>
                <a:lnTo>
                  <a:pt x="125566" y="81969"/>
                </a:lnTo>
                <a:lnTo>
                  <a:pt x="131604" y="98517"/>
                </a:lnTo>
                <a:lnTo>
                  <a:pt x="135471" y="115703"/>
                </a:lnTo>
                <a:lnTo>
                  <a:pt x="137104" y="133243"/>
                </a:lnTo>
                <a:lnTo>
                  <a:pt x="136475" y="150847"/>
                </a:lnTo>
                <a:lnTo>
                  <a:pt x="133595" y="168226"/>
                </a:lnTo>
                <a:lnTo>
                  <a:pt x="128512" y="185092"/>
                </a:lnTo>
                <a:lnTo>
                  <a:pt x="121308" y="201168"/>
                </a:lnTo>
                <a:lnTo>
                  <a:pt x="112104" y="216187"/>
                </a:lnTo>
                <a:lnTo>
                  <a:pt x="101051" y="229904"/>
                </a:lnTo>
                <a:lnTo>
                  <a:pt x="88331" y="242090"/>
                </a:lnTo>
                <a:lnTo>
                  <a:pt x="74154" y="252546"/>
                </a:lnTo>
                <a:lnTo>
                  <a:pt x="58754" y="261098"/>
                </a:lnTo>
                <a:lnTo>
                  <a:pt x="42384" y="267606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983980" y="3877056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675619" y="387705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0812780" y="3877056"/>
            <a:ext cx="17190" cy="137160"/>
          </a:xfrm>
          <a:custGeom>
            <a:avLst/>
            <a:gdLst/>
            <a:ahLst/>
            <a:cxnLst/>
            <a:rect l="l" t="t" r="r" b="b"/>
            <a:pathLst>
              <a:path w="17190" h="137160">
                <a:moveTo>
                  <a:pt x="0" y="137160"/>
                </a:moveTo>
                <a:lnTo>
                  <a:pt x="0" y="0"/>
                </a:lnTo>
                <a:lnTo>
                  <a:pt x="5743" y="120"/>
                </a:lnTo>
                <a:lnTo>
                  <a:pt x="11477" y="481"/>
                </a:lnTo>
                <a:lnTo>
                  <a:pt x="17190" y="1081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675619" y="3877056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" y="4480559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8096" y="4462272"/>
            <a:ext cx="2386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Tipo de competidores conocidos</a:t>
            </a:r>
          </a:p>
        </p:txBody>
      </p:sp>
      <p:sp>
        <p:nvSpPr>
          <p:cNvPr id="81" name="Oval 80"/>
          <p:cNvSpPr/>
          <p:nvPr/>
        </p:nvSpPr>
        <p:spPr>
          <a:xfrm>
            <a:off x="3909059" y="4443984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600700" y="44439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5737860" y="4443984"/>
            <a:ext cx="137149" cy="257354"/>
          </a:xfrm>
          <a:custGeom>
            <a:avLst/>
            <a:gdLst/>
            <a:ahLst/>
            <a:cxnLst/>
            <a:rect l="l" t="t" r="r" b="b"/>
            <a:pathLst>
              <a:path w="137149" h="257354">
                <a:moveTo>
                  <a:pt x="0" y="137160"/>
                </a:moveTo>
                <a:lnTo>
                  <a:pt x="0" y="0"/>
                </a:lnTo>
                <a:lnTo>
                  <a:pt x="18045" y="1192"/>
                </a:lnTo>
                <a:lnTo>
                  <a:pt x="35777" y="4748"/>
                </a:lnTo>
                <a:lnTo>
                  <a:pt x="52886" y="10606"/>
                </a:lnTo>
                <a:lnTo>
                  <a:pt x="69076" y="18664"/>
                </a:lnTo>
                <a:lnTo>
                  <a:pt x="84066" y="28782"/>
                </a:lnTo>
                <a:lnTo>
                  <a:pt x="97594" y="40784"/>
                </a:lnTo>
                <a:lnTo>
                  <a:pt x="109425" y="54462"/>
                </a:lnTo>
                <a:lnTo>
                  <a:pt x="119354" y="69577"/>
                </a:lnTo>
                <a:lnTo>
                  <a:pt x="127208" y="85867"/>
                </a:lnTo>
                <a:lnTo>
                  <a:pt x="132850" y="103049"/>
                </a:lnTo>
                <a:lnTo>
                  <a:pt x="136183" y="120824"/>
                </a:lnTo>
                <a:lnTo>
                  <a:pt x="137149" y="138883"/>
                </a:lnTo>
                <a:lnTo>
                  <a:pt x="135730" y="156912"/>
                </a:lnTo>
                <a:lnTo>
                  <a:pt x="131951" y="174598"/>
                </a:lnTo>
                <a:lnTo>
                  <a:pt x="125879" y="191632"/>
                </a:lnTo>
                <a:lnTo>
                  <a:pt x="117618" y="207720"/>
                </a:lnTo>
                <a:lnTo>
                  <a:pt x="107312" y="222581"/>
                </a:lnTo>
                <a:lnTo>
                  <a:pt x="95141" y="235957"/>
                </a:lnTo>
                <a:lnTo>
                  <a:pt x="81316" y="247616"/>
                </a:lnTo>
                <a:lnTo>
                  <a:pt x="66077" y="257354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600700" y="4443984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292340" y="44439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7429500" y="4443984"/>
            <a:ext cx="137104" cy="267606"/>
          </a:xfrm>
          <a:custGeom>
            <a:avLst/>
            <a:gdLst/>
            <a:ahLst/>
            <a:cxnLst/>
            <a:rect l="l" t="t" r="r" b="b"/>
            <a:pathLst>
              <a:path w="137104" h="267606">
                <a:moveTo>
                  <a:pt x="0" y="137160"/>
                </a:moveTo>
                <a:lnTo>
                  <a:pt x="0" y="0"/>
                </a:lnTo>
                <a:lnTo>
                  <a:pt x="17579" y="1131"/>
                </a:lnTo>
                <a:lnTo>
                  <a:pt x="34868" y="4506"/>
                </a:lnTo>
                <a:lnTo>
                  <a:pt x="51582" y="10069"/>
                </a:lnTo>
                <a:lnTo>
                  <a:pt x="67446" y="17728"/>
                </a:lnTo>
                <a:lnTo>
                  <a:pt x="82196" y="27357"/>
                </a:lnTo>
                <a:lnTo>
                  <a:pt x="95591" y="38798"/>
                </a:lnTo>
                <a:lnTo>
                  <a:pt x="107410" y="51861"/>
                </a:lnTo>
                <a:lnTo>
                  <a:pt x="117456" y="66330"/>
                </a:lnTo>
                <a:lnTo>
                  <a:pt x="125566" y="81969"/>
                </a:lnTo>
                <a:lnTo>
                  <a:pt x="131604" y="98517"/>
                </a:lnTo>
                <a:lnTo>
                  <a:pt x="135471" y="115703"/>
                </a:lnTo>
                <a:lnTo>
                  <a:pt x="137104" y="133243"/>
                </a:lnTo>
                <a:lnTo>
                  <a:pt x="136475" y="150847"/>
                </a:lnTo>
                <a:lnTo>
                  <a:pt x="133595" y="168226"/>
                </a:lnTo>
                <a:lnTo>
                  <a:pt x="128512" y="185092"/>
                </a:lnTo>
                <a:lnTo>
                  <a:pt x="121308" y="201168"/>
                </a:lnTo>
                <a:lnTo>
                  <a:pt x="112104" y="216187"/>
                </a:lnTo>
                <a:lnTo>
                  <a:pt x="101051" y="229904"/>
                </a:lnTo>
                <a:lnTo>
                  <a:pt x="88331" y="242090"/>
                </a:lnTo>
                <a:lnTo>
                  <a:pt x="74154" y="252546"/>
                </a:lnTo>
                <a:lnTo>
                  <a:pt x="58754" y="261098"/>
                </a:lnTo>
                <a:lnTo>
                  <a:pt x="42384" y="267606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292340" y="4443984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983980" y="44439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9121140" y="4443984"/>
            <a:ext cx="42384" cy="137160"/>
          </a:xfrm>
          <a:custGeom>
            <a:avLst/>
            <a:gdLst/>
            <a:ahLst/>
            <a:cxnLst/>
            <a:rect l="l" t="t" r="r" b="b"/>
            <a:pathLst>
              <a:path w="42384" h="137160">
                <a:moveTo>
                  <a:pt x="0" y="137160"/>
                </a:moveTo>
                <a:lnTo>
                  <a:pt x="0" y="0"/>
                </a:lnTo>
                <a:lnTo>
                  <a:pt x="14337" y="751"/>
                </a:lnTo>
                <a:lnTo>
                  <a:pt x="28517" y="2997"/>
                </a:lnTo>
                <a:lnTo>
                  <a:pt x="42384" y="6713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983980" y="4443984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675619" y="44439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0812780" y="4443984"/>
            <a:ext cx="17190" cy="137160"/>
          </a:xfrm>
          <a:custGeom>
            <a:avLst/>
            <a:gdLst/>
            <a:ahLst/>
            <a:cxnLst/>
            <a:rect l="l" t="t" r="r" b="b"/>
            <a:pathLst>
              <a:path w="17190" h="137160">
                <a:moveTo>
                  <a:pt x="0" y="137160"/>
                </a:moveTo>
                <a:lnTo>
                  <a:pt x="0" y="0"/>
                </a:lnTo>
                <a:lnTo>
                  <a:pt x="5743" y="120"/>
                </a:lnTo>
                <a:lnTo>
                  <a:pt x="11477" y="481"/>
                </a:lnTo>
                <a:lnTo>
                  <a:pt x="17190" y="1081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675619" y="4443984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57200" y="5230368"/>
            <a:ext cx="11277295" cy="93268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3232" y="53583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Distancia económica desde el CORE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7760" y="5321808"/>
            <a:ext cx="67665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•  Menor ventaja competitiva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•  Menor potencial de generar valor</a:t>
            </a:r>
          </a:p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•  Menor participación y lealtad con clientes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Contenido conservado del deck de Gestión Estratégica REDCO, junio 2024 (diapositiva 33). Probabilidades de éxito por grado de adyacencia según el marco de Bain &amp; Company sobre crecimiento adyacente al núcleo.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01091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32733"/>
                </a:solidFill>
                <a:latin typeface="Calibri"/>
              </a:rPr>
              <a:t>Aplicado a USA: la entrada se hizo a un solo paso de adyacencia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Los cinco criterios del CORE se mantuvieron conocidos, y el resultado lo confirma.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1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RELACIÓN CON EL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7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Probabilidades de éxito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9544" y="1536191"/>
            <a:ext cx="1609344" cy="3840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1600199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5361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32733"/>
                </a:solidFill>
                <a:latin typeface="Calibri"/>
              </a:rPr>
              <a:t>USA · 1 paso de la adyacencia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883663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7D5B"/>
                </a:solidFill>
                <a:latin typeface="Calibri"/>
              </a:rPr>
              <a:t>35%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212848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94560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Tipo de clientes conocidos</a:t>
            </a:r>
          </a:p>
        </p:txBody>
      </p:sp>
      <p:sp>
        <p:nvSpPr>
          <p:cNvPr id="15" name="Oval 14"/>
          <p:cNvSpPr/>
          <p:nvPr/>
        </p:nvSpPr>
        <p:spPr>
          <a:xfrm>
            <a:off x="3840479" y="2176272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217627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760835" y="2176272"/>
            <a:ext cx="274192" cy="274268"/>
          </a:xfrm>
          <a:custGeom>
            <a:avLst/>
            <a:gdLst/>
            <a:ahLst/>
            <a:cxnLst/>
            <a:rect l="l" t="t" r="r" b="b"/>
            <a:pathLst>
              <a:path w="274192" h="274268">
                <a:moveTo>
                  <a:pt x="137045" y="137160"/>
                </a:moveTo>
                <a:lnTo>
                  <a:pt x="137045" y="0"/>
                </a:lnTo>
                <a:lnTo>
                  <a:pt x="154793" y="1153"/>
                </a:lnTo>
                <a:lnTo>
                  <a:pt x="172242" y="4593"/>
                </a:lnTo>
                <a:lnTo>
                  <a:pt x="189100" y="10262"/>
                </a:lnTo>
                <a:lnTo>
                  <a:pt x="205083" y="18064"/>
                </a:lnTo>
                <a:lnTo>
                  <a:pt x="219922" y="27870"/>
                </a:lnTo>
                <a:lnTo>
                  <a:pt x="233367" y="39513"/>
                </a:lnTo>
                <a:lnTo>
                  <a:pt x="245192" y="52797"/>
                </a:lnTo>
                <a:lnTo>
                  <a:pt x="255199" y="67501"/>
                </a:lnTo>
                <a:lnTo>
                  <a:pt x="263219" y="83375"/>
                </a:lnTo>
                <a:lnTo>
                  <a:pt x="269118" y="100154"/>
                </a:lnTo>
                <a:lnTo>
                  <a:pt x="272796" y="117555"/>
                </a:lnTo>
                <a:lnTo>
                  <a:pt x="274192" y="135286"/>
                </a:lnTo>
                <a:lnTo>
                  <a:pt x="273281" y="153048"/>
                </a:lnTo>
                <a:lnTo>
                  <a:pt x="270080" y="170543"/>
                </a:lnTo>
                <a:lnTo>
                  <a:pt x="264641" y="187477"/>
                </a:lnTo>
                <a:lnTo>
                  <a:pt x="257058" y="203565"/>
                </a:lnTo>
                <a:lnTo>
                  <a:pt x="247456" y="218536"/>
                </a:lnTo>
                <a:lnTo>
                  <a:pt x="235998" y="232139"/>
                </a:lnTo>
                <a:lnTo>
                  <a:pt x="222876" y="244145"/>
                </a:lnTo>
                <a:lnTo>
                  <a:pt x="208311" y="254352"/>
                </a:lnTo>
                <a:lnTo>
                  <a:pt x="192547" y="262588"/>
                </a:lnTo>
                <a:lnTo>
                  <a:pt x="175850" y="268715"/>
                </a:lnTo>
                <a:lnTo>
                  <a:pt x="158501" y="272631"/>
                </a:lnTo>
                <a:lnTo>
                  <a:pt x="140791" y="274268"/>
                </a:lnTo>
                <a:lnTo>
                  <a:pt x="123018" y="273600"/>
                </a:lnTo>
                <a:lnTo>
                  <a:pt x="105481" y="270638"/>
                </a:lnTo>
                <a:lnTo>
                  <a:pt x="88474" y="265432"/>
                </a:lnTo>
                <a:lnTo>
                  <a:pt x="72284" y="258069"/>
                </a:lnTo>
                <a:lnTo>
                  <a:pt x="57184" y="248672"/>
                </a:lnTo>
                <a:lnTo>
                  <a:pt x="43426" y="237401"/>
                </a:lnTo>
                <a:lnTo>
                  <a:pt x="31242" y="224444"/>
                </a:lnTo>
                <a:lnTo>
                  <a:pt x="20837" y="210020"/>
                </a:lnTo>
                <a:lnTo>
                  <a:pt x="12386" y="194370"/>
                </a:lnTo>
                <a:lnTo>
                  <a:pt x="6031" y="177759"/>
                </a:lnTo>
                <a:lnTo>
                  <a:pt x="1879" y="160464"/>
                </a:lnTo>
                <a:lnTo>
                  <a:pt x="0" y="142778"/>
                </a:lnTo>
                <a:lnTo>
                  <a:pt x="425" y="124998"/>
                </a:lnTo>
                <a:lnTo>
                  <a:pt x="3147" y="107422"/>
                </a:lnTo>
                <a:lnTo>
                  <a:pt x="8121" y="90346"/>
                </a:lnTo>
                <a:lnTo>
                  <a:pt x="15262" y="74057"/>
                </a:lnTo>
                <a:lnTo>
                  <a:pt x="24451" y="58829"/>
                </a:lnTo>
                <a:lnTo>
                  <a:pt x="35534" y="44918"/>
                </a:lnTo>
                <a:lnTo>
                  <a:pt x="48323" y="32559"/>
                </a:lnTo>
                <a:lnTo>
                  <a:pt x="62604" y="21958"/>
                </a:lnTo>
                <a:lnTo>
                  <a:pt x="78137" y="13294"/>
                </a:lnTo>
                <a:lnTo>
                  <a:pt x="94660" y="6713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0" y="2176272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761488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Estructura de costos conocidos</a:t>
            </a:r>
          </a:p>
        </p:txBody>
      </p:sp>
      <p:sp>
        <p:nvSpPr>
          <p:cNvPr id="21" name="Oval 20"/>
          <p:cNvSpPr/>
          <p:nvPr/>
        </p:nvSpPr>
        <p:spPr>
          <a:xfrm>
            <a:off x="3840479" y="2743200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0" y="274320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817259" y="2743200"/>
            <a:ext cx="217772" cy="274287"/>
          </a:xfrm>
          <a:custGeom>
            <a:avLst/>
            <a:gdLst/>
            <a:ahLst/>
            <a:cxnLst/>
            <a:rect l="l" t="t" r="r" b="b"/>
            <a:pathLst>
              <a:path w="217772" h="274287">
                <a:moveTo>
                  <a:pt x="80621" y="137160"/>
                </a:moveTo>
                <a:lnTo>
                  <a:pt x="80621" y="0"/>
                </a:lnTo>
                <a:lnTo>
                  <a:pt x="98401" y="1157"/>
                </a:lnTo>
                <a:lnTo>
                  <a:pt x="115881" y="4609"/>
                </a:lnTo>
                <a:lnTo>
                  <a:pt x="132766" y="10298"/>
                </a:lnTo>
                <a:lnTo>
                  <a:pt x="148771" y="18129"/>
                </a:lnTo>
                <a:lnTo>
                  <a:pt x="163626" y="27967"/>
                </a:lnTo>
                <a:lnTo>
                  <a:pt x="177081" y="39649"/>
                </a:lnTo>
                <a:lnTo>
                  <a:pt x="188907" y="52976"/>
                </a:lnTo>
                <a:lnTo>
                  <a:pt x="198906" y="67723"/>
                </a:lnTo>
                <a:lnTo>
                  <a:pt x="206909" y="83643"/>
                </a:lnTo>
                <a:lnTo>
                  <a:pt x="212781" y="100465"/>
                </a:lnTo>
                <a:lnTo>
                  <a:pt x="216423" y="117907"/>
                </a:lnTo>
                <a:lnTo>
                  <a:pt x="217772" y="135674"/>
                </a:lnTo>
                <a:lnTo>
                  <a:pt x="216808" y="153465"/>
                </a:lnTo>
                <a:lnTo>
                  <a:pt x="213545" y="170982"/>
                </a:lnTo>
                <a:lnTo>
                  <a:pt x="208039" y="187928"/>
                </a:lnTo>
                <a:lnTo>
                  <a:pt x="200383" y="204017"/>
                </a:lnTo>
                <a:lnTo>
                  <a:pt x="190705" y="218977"/>
                </a:lnTo>
                <a:lnTo>
                  <a:pt x="179170" y="232558"/>
                </a:lnTo>
                <a:lnTo>
                  <a:pt x="165972" y="244528"/>
                </a:lnTo>
                <a:lnTo>
                  <a:pt x="151334" y="254686"/>
                </a:lnTo>
                <a:lnTo>
                  <a:pt x="135502" y="262861"/>
                </a:lnTo>
                <a:lnTo>
                  <a:pt x="118744" y="268915"/>
                </a:lnTo>
                <a:lnTo>
                  <a:pt x="101343" y="272745"/>
                </a:lnTo>
                <a:lnTo>
                  <a:pt x="83592" y="274287"/>
                </a:lnTo>
                <a:lnTo>
                  <a:pt x="65791" y="273515"/>
                </a:lnTo>
                <a:lnTo>
                  <a:pt x="48240" y="270443"/>
                </a:lnTo>
                <a:lnTo>
                  <a:pt x="31236" y="265120"/>
                </a:lnTo>
                <a:lnTo>
                  <a:pt x="15065" y="257639"/>
                </a:lnTo>
                <a:lnTo>
                  <a:pt x="0" y="248124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0" y="2743200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3346703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328415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Ámbitos de acción conocidos</a:t>
            </a:r>
          </a:p>
        </p:txBody>
      </p:sp>
      <p:sp>
        <p:nvSpPr>
          <p:cNvPr id="27" name="Oval 26"/>
          <p:cNvSpPr/>
          <p:nvPr/>
        </p:nvSpPr>
        <p:spPr>
          <a:xfrm>
            <a:off x="3840479" y="3310127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60720" y="3310127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5855495" y="3310127"/>
            <a:ext cx="179504" cy="274160"/>
          </a:xfrm>
          <a:custGeom>
            <a:avLst/>
            <a:gdLst/>
            <a:ahLst/>
            <a:cxnLst/>
            <a:rect l="l" t="t" r="r" b="b"/>
            <a:pathLst>
              <a:path w="179504" h="274160">
                <a:moveTo>
                  <a:pt x="42385" y="137160"/>
                </a:moveTo>
                <a:lnTo>
                  <a:pt x="42385" y="0"/>
                </a:lnTo>
                <a:lnTo>
                  <a:pt x="60561" y="1210"/>
                </a:lnTo>
                <a:lnTo>
                  <a:pt x="78417" y="4818"/>
                </a:lnTo>
                <a:lnTo>
                  <a:pt x="95638" y="10761"/>
                </a:lnTo>
                <a:lnTo>
                  <a:pt x="111919" y="18933"/>
                </a:lnTo>
                <a:lnTo>
                  <a:pt x="126974" y="29190"/>
                </a:lnTo>
                <a:lnTo>
                  <a:pt x="140536" y="41353"/>
                </a:lnTo>
                <a:lnTo>
                  <a:pt x="152367" y="55205"/>
                </a:lnTo>
                <a:lnTo>
                  <a:pt x="162258" y="70503"/>
                </a:lnTo>
                <a:lnTo>
                  <a:pt x="170034" y="86977"/>
                </a:lnTo>
                <a:lnTo>
                  <a:pt x="175559" y="104336"/>
                </a:lnTo>
                <a:lnTo>
                  <a:pt x="178734" y="122274"/>
                </a:lnTo>
                <a:lnTo>
                  <a:pt x="179504" y="140475"/>
                </a:lnTo>
                <a:lnTo>
                  <a:pt x="177856" y="158617"/>
                </a:lnTo>
                <a:lnTo>
                  <a:pt x="173817" y="176381"/>
                </a:lnTo>
                <a:lnTo>
                  <a:pt x="167461" y="193453"/>
                </a:lnTo>
                <a:lnTo>
                  <a:pt x="158898" y="209532"/>
                </a:lnTo>
                <a:lnTo>
                  <a:pt x="148279" y="224334"/>
                </a:lnTo>
                <a:lnTo>
                  <a:pt x="135793" y="237598"/>
                </a:lnTo>
                <a:lnTo>
                  <a:pt x="121658" y="249091"/>
                </a:lnTo>
                <a:lnTo>
                  <a:pt x="106126" y="258610"/>
                </a:lnTo>
                <a:lnTo>
                  <a:pt x="89469" y="265986"/>
                </a:lnTo>
                <a:lnTo>
                  <a:pt x="71981" y="271089"/>
                </a:lnTo>
                <a:lnTo>
                  <a:pt x="53972" y="273830"/>
                </a:lnTo>
                <a:lnTo>
                  <a:pt x="35758" y="274160"/>
                </a:lnTo>
                <a:lnTo>
                  <a:pt x="17661" y="272074"/>
                </a:lnTo>
                <a:lnTo>
                  <a:pt x="0" y="267607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60720" y="3310127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3913631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895344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Especialidades técnicas conocidas</a:t>
            </a:r>
          </a:p>
        </p:txBody>
      </p:sp>
      <p:sp>
        <p:nvSpPr>
          <p:cNvPr id="33" name="Oval 32"/>
          <p:cNvSpPr/>
          <p:nvPr/>
        </p:nvSpPr>
        <p:spPr>
          <a:xfrm>
            <a:off x="3840479" y="3877056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60720" y="387705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803987" y="3877056"/>
            <a:ext cx="231042" cy="274276"/>
          </a:xfrm>
          <a:custGeom>
            <a:avLst/>
            <a:gdLst/>
            <a:ahLst/>
            <a:cxnLst/>
            <a:rect l="l" t="t" r="r" b="b"/>
            <a:pathLst>
              <a:path w="231042" h="274276">
                <a:moveTo>
                  <a:pt x="93893" y="137160"/>
                </a:moveTo>
                <a:lnTo>
                  <a:pt x="93893" y="0"/>
                </a:lnTo>
                <a:lnTo>
                  <a:pt x="111653" y="1154"/>
                </a:lnTo>
                <a:lnTo>
                  <a:pt x="129115" y="4599"/>
                </a:lnTo>
                <a:lnTo>
                  <a:pt x="145983" y="10276"/>
                </a:lnTo>
                <a:lnTo>
                  <a:pt x="161974" y="18089"/>
                </a:lnTo>
                <a:lnTo>
                  <a:pt x="176819" y="27907"/>
                </a:lnTo>
                <a:lnTo>
                  <a:pt x="190268" y="39565"/>
                </a:lnTo>
                <a:lnTo>
                  <a:pt x="202094" y="52866"/>
                </a:lnTo>
                <a:lnTo>
                  <a:pt x="212098" y="67587"/>
                </a:lnTo>
                <a:lnTo>
                  <a:pt x="220112" y="83479"/>
                </a:lnTo>
                <a:lnTo>
                  <a:pt x="226000" y="100274"/>
                </a:lnTo>
                <a:lnTo>
                  <a:pt x="229664" y="117691"/>
                </a:lnTo>
                <a:lnTo>
                  <a:pt x="231042" y="135436"/>
                </a:lnTo>
                <a:lnTo>
                  <a:pt x="230110" y="153210"/>
                </a:lnTo>
                <a:lnTo>
                  <a:pt x="226885" y="170713"/>
                </a:lnTo>
                <a:lnTo>
                  <a:pt x="221421" y="187651"/>
                </a:lnTo>
                <a:lnTo>
                  <a:pt x="213809" y="203740"/>
                </a:lnTo>
                <a:lnTo>
                  <a:pt x="204178" y="218707"/>
                </a:lnTo>
                <a:lnTo>
                  <a:pt x="192690" y="232301"/>
                </a:lnTo>
                <a:lnTo>
                  <a:pt x="179539" y="244293"/>
                </a:lnTo>
                <a:lnTo>
                  <a:pt x="164945" y="254481"/>
                </a:lnTo>
                <a:lnTo>
                  <a:pt x="149155" y="262694"/>
                </a:lnTo>
                <a:lnTo>
                  <a:pt x="132435" y="268793"/>
                </a:lnTo>
                <a:lnTo>
                  <a:pt x="115065" y="272675"/>
                </a:lnTo>
                <a:lnTo>
                  <a:pt x="97339" y="274276"/>
                </a:lnTo>
                <a:lnTo>
                  <a:pt x="79555" y="273568"/>
                </a:lnTo>
                <a:lnTo>
                  <a:pt x="62013" y="270563"/>
                </a:lnTo>
                <a:lnTo>
                  <a:pt x="45007" y="265312"/>
                </a:lnTo>
                <a:lnTo>
                  <a:pt x="28824" y="257903"/>
                </a:lnTo>
                <a:lnTo>
                  <a:pt x="13737" y="248461"/>
                </a:lnTo>
                <a:lnTo>
                  <a:pt x="0" y="237145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0720" y="3877056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200" y="4480559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462272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Tipo de competidores conocidos</a:t>
            </a:r>
          </a:p>
        </p:txBody>
      </p:sp>
      <p:sp>
        <p:nvSpPr>
          <p:cNvPr id="39" name="Oval 38"/>
          <p:cNvSpPr/>
          <p:nvPr/>
        </p:nvSpPr>
        <p:spPr>
          <a:xfrm>
            <a:off x="3840479" y="4443984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760720" y="444398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897880" y="4443984"/>
            <a:ext cx="137149" cy="257354"/>
          </a:xfrm>
          <a:custGeom>
            <a:avLst/>
            <a:gdLst/>
            <a:ahLst/>
            <a:cxnLst/>
            <a:rect l="l" t="t" r="r" b="b"/>
            <a:pathLst>
              <a:path w="137149" h="257354">
                <a:moveTo>
                  <a:pt x="0" y="137160"/>
                </a:moveTo>
                <a:lnTo>
                  <a:pt x="0" y="0"/>
                </a:lnTo>
                <a:lnTo>
                  <a:pt x="18045" y="1192"/>
                </a:lnTo>
                <a:lnTo>
                  <a:pt x="35777" y="4748"/>
                </a:lnTo>
                <a:lnTo>
                  <a:pt x="52886" y="10606"/>
                </a:lnTo>
                <a:lnTo>
                  <a:pt x="69076" y="18664"/>
                </a:lnTo>
                <a:lnTo>
                  <a:pt x="84066" y="28782"/>
                </a:lnTo>
                <a:lnTo>
                  <a:pt x="97594" y="40784"/>
                </a:lnTo>
                <a:lnTo>
                  <a:pt x="109425" y="54462"/>
                </a:lnTo>
                <a:lnTo>
                  <a:pt x="119354" y="69577"/>
                </a:lnTo>
                <a:lnTo>
                  <a:pt x="127208" y="85867"/>
                </a:lnTo>
                <a:lnTo>
                  <a:pt x="132850" y="103049"/>
                </a:lnTo>
                <a:lnTo>
                  <a:pt x="136183" y="120824"/>
                </a:lnTo>
                <a:lnTo>
                  <a:pt x="137149" y="138883"/>
                </a:lnTo>
                <a:lnTo>
                  <a:pt x="135730" y="156912"/>
                </a:lnTo>
                <a:lnTo>
                  <a:pt x="131951" y="174598"/>
                </a:lnTo>
                <a:lnTo>
                  <a:pt x="125879" y="191632"/>
                </a:lnTo>
                <a:lnTo>
                  <a:pt x="117618" y="207720"/>
                </a:lnTo>
                <a:lnTo>
                  <a:pt x="107312" y="222581"/>
                </a:lnTo>
                <a:lnTo>
                  <a:pt x="95141" y="235957"/>
                </a:lnTo>
                <a:lnTo>
                  <a:pt x="81316" y="247616"/>
                </a:lnTo>
                <a:lnTo>
                  <a:pt x="66077" y="257354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760720" y="4443984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1536192"/>
            <a:ext cx="4782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2733"/>
                </a:solidFill>
                <a:latin typeface="Calibri"/>
              </a:rPr>
              <a:t>Por qué USA calificó como un paso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49440" y="1828800"/>
            <a:ext cx="478231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949440" y="1956816"/>
            <a:ext cx="4782312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95744" y="2103120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20299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Entramos con clientes mineros, el tipo de cliente que ya conocemos.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523744"/>
            <a:ext cx="4782312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95744" y="2670048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259689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Mantenemos la estructura de costos conocida de Chile.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090672"/>
            <a:ext cx="4782312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095744" y="3236976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31638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Entramos con proyectos de planificación minera, nuestro ámbito de acción.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3657600"/>
            <a:ext cx="4782312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95744" y="3803904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7307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Entramos con proyectos en minería, nuestra especialidad técnica.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4224528"/>
            <a:ext cx="4782312" cy="49377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095744" y="4370832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4297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Percibimos espacio para ganar frente a los competidores presentes en licitaciones.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974336"/>
            <a:ext cx="11277295" cy="1243584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4974336"/>
            <a:ext cx="45720" cy="124358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093208"/>
            <a:ext cx="109115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LA HIPÓTESIS SE VALIDÓ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285232"/>
            <a:ext cx="109115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E7D5B"/>
                </a:solidFill>
                <a:latin typeface="Calibri"/>
              </a:rPr>
              <a:t>0,10 → 1,65 MUSD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705856"/>
            <a:ext cx="1091153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32733"/>
                </a:solidFill>
                <a:latin typeface="Calibri"/>
              </a:rPr>
              <a:t>USA pasó de 0,10 MUSD en 2023 a 1,65 MUSD en 2025 y opera con 63% de utilidad sobre ingreso, la segunda más alta del grupo. Con 3 personas de dotación en 2026, es la operación más eficiente por persona. La disciplina de entrar a un solo paso del CORE es exactamente lo que hizo replicable el movimiento.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Marco conservado del deck 2024 (diapositiva 34). Cifras de validación: Fuente: pilar_a · REDCO_Rentabilidad_Ventas_FlujoCaja_historico.xlsx (ledger CicloEdP_2023_v1, cierre 2025 y KPI 2026).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17550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2733"/>
                </a:solidFill>
                <a:latin typeface="Calibri"/>
              </a:rPr>
              <a:t>Las probabilidades de éxito son altas creciendo en países y tipo de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Los dos movimientos elegidos se mantienen a un paso del CORE; producto, especialidad y ámbito no se expanden.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91055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RELACIÓN CON EL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1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Probabilidades de éxito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72384" y="1499615"/>
            <a:ext cx="1472184" cy="3840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2384" y="1563623"/>
            <a:ext cx="1472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99615"/>
            <a:ext cx="1691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32733"/>
                </a:solidFill>
                <a:latin typeface="Calibri"/>
              </a:rPr>
              <a:t>USA · 1 paso de la adyacencia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47087"/>
            <a:ext cx="16916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7D5B"/>
                </a:solidFill>
                <a:latin typeface="Calibri"/>
              </a:rPr>
              <a:t>35%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176272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57984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Tipo de clientes conocidos</a:t>
            </a:r>
          </a:p>
        </p:txBody>
      </p:sp>
      <p:sp>
        <p:nvSpPr>
          <p:cNvPr id="15" name="Oval 14"/>
          <p:cNvSpPr/>
          <p:nvPr/>
        </p:nvSpPr>
        <p:spPr>
          <a:xfrm>
            <a:off x="3634740" y="2139696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17820" y="213969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417935" y="2139696"/>
            <a:ext cx="274192" cy="274268"/>
          </a:xfrm>
          <a:custGeom>
            <a:avLst/>
            <a:gdLst/>
            <a:ahLst/>
            <a:cxnLst/>
            <a:rect l="l" t="t" r="r" b="b"/>
            <a:pathLst>
              <a:path w="274192" h="274268">
                <a:moveTo>
                  <a:pt x="137045" y="137160"/>
                </a:moveTo>
                <a:lnTo>
                  <a:pt x="137045" y="0"/>
                </a:lnTo>
                <a:lnTo>
                  <a:pt x="154793" y="1153"/>
                </a:lnTo>
                <a:lnTo>
                  <a:pt x="172242" y="4593"/>
                </a:lnTo>
                <a:lnTo>
                  <a:pt x="189100" y="10262"/>
                </a:lnTo>
                <a:lnTo>
                  <a:pt x="205083" y="18064"/>
                </a:lnTo>
                <a:lnTo>
                  <a:pt x="219922" y="27870"/>
                </a:lnTo>
                <a:lnTo>
                  <a:pt x="233367" y="39513"/>
                </a:lnTo>
                <a:lnTo>
                  <a:pt x="245192" y="52797"/>
                </a:lnTo>
                <a:lnTo>
                  <a:pt x="255199" y="67501"/>
                </a:lnTo>
                <a:lnTo>
                  <a:pt x="263219" y="83375"/>
                </a:lnTo>
                <a:lnTo>
                  <a:pt x="269118" y="100154"/>
                </a:lnTo>
                <a:lnTo>
                  <a:pt x="272796" y="117555"/>
                </a:lnTo>
                <a:lnTo>
                  <a:pt x="274192" y="135286"/>
                </a:lnTo>
                <a:lnTo>
                  <a:pt x="273281" y="153048"/>
                </a:lnTo>
                <a:lnTo>
                  <a:pt x="270080" y="170543"/>
                </a:lnTo>
                <a:lnTo>
                  <a:pt x="264641" y="187477"/>
                </a:lnTo>
                <a:lnTo>
                  <a:pt x="257058" y="203565"/>
                </a:lnTo>
                <a:lnTo>
                  <a:pt x="247456" y="218536"/>
                </a:lnTo>
                <a:lnTo>
                  <a:pt x="235998" y="232139"/>
                </a:lnTo>
                <a:lnTo>
                  <a:pt x="222876" y="244145"/>
                </a:lnTo>
                <a:lnTo>
                  <a:pt x="208311" y="254352"/>
                </a:lnTo>
                <a:lnTo>
                  <a:pt x="192547" y="262588"/>
                </a:lnTo>
                <a:lnTo>
                  <a:pt x="175850" y="268715"/>
                </a:lnTo>
                <a:lnTo>
                  <a:pt x="158501" y="272631"/>
                </a:lnTo>
                <a:lnTo>
                  <a:pt x="140791" y="274268"/>
                </a:lnTo>
                <a:lnTo>
                  <a:pt x="123018" y="273600"/>
                </a:lnTo>
                <a:lnTo>
                  <a:pt x="105481" y="270638"/>
                </a:lnTo>
                <a:lnTo>
                  <a:pt x="88474" y="265432"/>
                </a:lnTo>
                <a:lnTo>
                  <a:pt x="72284" y="258069"/>
                </a:lnTo>
                <a:lnTo>
                  <a:pt x="57184" y="248672"/>
                </a:lnTo>
                <a:lnTo>
                  <a:pt x="43426" y="237401"/>
                </a:lnTo>
                <a:lnTo>
                  <a:pt x="31242" y="224444"/>
                </a:lnTo>
                <a:lnTo>
                  <a:pt x="20837" y="210020"/>
                </a:lnTo>
                <a:lnTo>
                  <a:pt x="12386" y="194370"/>
                </a:lnTo>
                <a:lnTo>
                  <a:pt x="6031" y="177759"/>
                </a:lnTo>
                <a:lnTo>
                  <a:pt x="1879" y="160464"/>
                </a:lnTo>
                <a:lnTo>
                  <a:pt x="0" y="142778"/>
                </a:lnTo>
                <a:lnTo>
                  <a:pt x="425" y="124998"/>
                </a:lnTo>
                <a:lnTo>
                  <a:pt x="3147" y="107422"/>
                </a:lnTo>
                <a:lnTo>
                  <a:pt x="8121" y="90346"/>
                </a:lnTo>
                <a:lnTo>
                  <a:pt x="15262" y="74057"/>
                </a:lnTo>
                <a:lnTo>
                  <a:pt x="24451" y="58829"/>
                </a:lnTo>
                <a:lnTo>
                  <a:pt x="35534" y="44918"/>
                </a:lnTo>
                <a:lnTo>
                  <a:pt x="48323" y="32559"/>
                </a:lnTo>
                <a:lnTo>
                  <a:pt x="62604" y="21958"/>
                </a:lnTo>
                <a:lnTo>
                  <a:pt x="78137" y="13294"/>
                </a:lnTo>
                <a:lnTo>
                  <a:pt x="94660" y="6713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7820" y="2139696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724912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Estructura de costos conocidos</a:t>
            </a:r>
          </a:p>
        </p:txBody>
      </p:sp>
      <p:sp>
        <p:nvSpPr>
          <p:cNvPr id="21" name="Oval 20"/>
          <p:cNvSpPr/>
          <p:nvPr/>
        </p:nvSpPr>
        <p:spPr>
          <a:xfrm>
            <a:off x="3634740" y="2706624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17820" y="270662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474359" y="2706624"/>
            <a:ext cx="217772" cy="274287"/>
          </a:xfrm>
          <a:custGeom>
            <a:avLst/>
            <a:gdLst/>
            <a:ahLst/>
            <a:cxnLst/>
            <a:rect l="l" t="t" r="r" b="b"/>
            <a:pathLst>
              <a:path w="217772" h="274287">
                <a:moveTo>
                  <a:pt x="80621" y="137160"/>
                </a:moveTo>
                <a:lnTo>
                  <a:pt x="80621" y="0"/>
                </a:lnTo>
                <a:lnTo>
                  <a:pt x="98401" y="1157"/>
                </a:lnTo>
                <a:lnTo>
                  <a:pt x="115881" y="4609"/>
                </a:lnTo>
                <a:lnTo>
                  <a:pt x="132766" y="10298"/>
                </a:lnTo>
                <a:lnTo>
                  <a:pt x="148771" y="18129"/>
                </a:lnTo>
                <a:lnTo>
                  <a:pt x="163626" y="27967"/>
                </a:lnTo>
                <a:lnTo>
                  <a:pt x="177081" y="39649"/>
                </a:lnTo>
                <a:lnTo>
                  <a:pt x="188907" y="52976"/>
                </a:lnTo>
                <a:lnTo>
                  <a:pt x="198906" y="67723"/>
                </a:lnTo>
                <a:lnTo>
                  <a:pt x="206909" y="83643"/>
                </a:lnTo>
                <a:lnTo>
                  <a:pt x="212781" y="100465"/>
                </a:lnTo>
                <a:lnTo>
                  <a:pt x="216423" y="117907"/>
                </a:lnTo>
                <a:lnTo>
                  <a:pt x="217772" y="135674"/>
                </a:lnTo>
                <a:lnTo>
                  <a:pt x="216808" y="153465"/>
                </a:lnTo>
                <a:lnTo>
                  <a:pt x="213545" y="170982"/>
                </a:lnTo>
                <a:lnTo>
                  <a:pt x="208039" y="187928"/>
                </a:lnTo>
                <a:lnTo>
                  <a:pt x="200383" y="204017"/>
                </a:lnTo>
                <a:lnTo>
                  <a:pt x="190705" y="218977"/>
                </a:lnTo>
                <a:lnTo>
                  <a:pt x="179170" y="232558"/>
                </a:lnTo>
                <a:lnTo>
                  <a:pt x="165972" y="244528"/>
                </a:lnTo>
                <a:lnTo>
                  <a:pt x="151334" y="254686"/>
                </a:lnTo>
                <a:lnTo>
                  <a:pt x="135502" y="262861"/>
                </a:lnTo>
                <a:lnTo>
                  <a:pt x="118744" y="268915"/>
                </a:lnTo>
                <a:lnTo>
                  <a:pt x="101343" y="272745"/>
                </a:lnTo>
                <a:lnTo>
                  <a:pt x="83592" y="274287"/>
                </a:lnTo>
                <a:lnTo>
                  <a:pt x="65791" y="273515"/>
                </a:lnTo>
                <a:lnTo>
                  <a:pt x="48240" y="270443"/>
                </a:lnTo>
                <a:lnTo>
                  <a:pt x="31236" y="265120"/>
                </a:lnTo>
                <a:lnTo>
                  <a:pt x="15065" y="257639"/>
                </a:lnTo>
                <a:lnTo>
                  <a:pt x="0" y="248124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17820" y="2706624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3310127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291839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Ámbitos de acción conocidos</a:t>
            </a:r>
          </a:p>
        </p:txBody>
      </p:sp>
      <p:sp>
        <p:nvSpPr>
          <p:cNvPr id="27" name="Oval 26"/>
          <p:cNvSpPr/>
          <p:nvPr/>
        </p:nvSpPr>
        <p:spPr>
          <a:xfrm>
            <a:off x="3634740" y="3273551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17820" y="3273551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5512595" y="3273551"/>
            <a:ext cx="179504" cy="274160"/>
          </a:xfrm>
          <a:custGeom>
            <a:avLst/>
            <a:gdLst/>
            <a:ahLst/>
            <a:cxnLst/>
            <a:rect l="l" t="t" r="r" b="b"/>
            <a:pathLst>
              <a:path w="179504" h="274160">
                <a:moveTo>
                  <a:pt x="42385" y="137160"/>
                </a:moveTo>
                <a:lnTo>
                  <a:pt x="42385" y="0"/>
                </a:lnTo>
                <a:lnTo>
                  <a:pt x="60561" y="1210"/>
                </a:lnTo>
                <a:lnTo>
                  <a:pt x="78417" y="4818"/>
                </a:lnTo>
                <a:lnTo>
                  <a:pt x="95638" y="10761"/>
                </a:lnTo>
                <a:lnTo>
                  <a:pt x="111919" y="18933"/>
                </a:lnTo>
                <a:lnTo>
                  <a:pt x="126974" y="29190"/>
                </a:lnTo>
                <a:lnTo>
                  <a:pt x="140536" y="41353"/>
                </a:lnTo>
                <a:lnTo>
                  <a:pt x="152367" y="55205"/>
                </a:lnTo>
                <a:lnTo>
                  <a:pt x="162258" y="70503"/>
                </a:lnTo>
                <a:lnTo>
                  <a:pt x="170034" y="86977"/>
                </a:lnTo>
                <a:lnTo>
                  <a:pt x="175559" y="104336"/>
                </a:lnTo>
                <a:lnTo>
                  <a:pt x="178734" y="122274"/>
                </a:lnTo>
                <a:lnTo>
                  <a:pt x="179504" y="140475"/>
                </a:lnTo>
                <a:lnTo>
                  <a:pt x="177856" y="158617"/>
                </a:lnTo>
                <a:lnTo>
                  <a:pt x="173817" y="176381"/>
                </a:lnTo>
                <a:lnTo>
                  <a:pt x="167461" y="193453"/>
                </a:lnTo>
                <a:lnTo>
                  <a:pt x="158898" y="209532"/>
                </a:lnTo>
                <a:lnTo>
                  <a:pt x="148279" y="224334"/>
                </a:lnTo>
                <a:lnTo>
                  <a:pt x="135793" y="237598"/>
                </a:lnTo>
                <a:lnTo>
                  <a:pt x="121658" y="249091"/>
                </a:lnTo>
                <a:lnTo>
                  <a:pt x="106126" y="258610"/>
                </a:lnTo>
                <a:lnTo>
                  <a:pt x="89469" y="265986"/>
                </a:lnTo>
                <a:lnTo>
                  <a:pt x="71981" y="271089"/>
                </a:lnTo>
                <a:lnTo>
                  <a:pt x="53972" y="273830"/>
                </a:lnTo>
                <a:lnTo>
                  <a:pt x="35758" y="274160"/>
                </a:lnTo>
                <a:lnTo>
                  <a:pt x="17661" y="272074"/>
                </a:lnTo>
                <a:lnTo>
                  <a:pt x="0" y="267607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17820" y="3273551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3877055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858768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Especialidades técnicas conocidas</a:t>
            </a:r>
          </a:p>
        </p:txBody>
      </p:sp>
      <p:sp>
        <p:nvSpPr>
          <p:cNvPr id="33" name="Oval 32"/>
          <p:cNvSpPr/>
          <p:nvPr/>
        </p:nvSpPr>
        <p:spPr>
          <a:xfrm>
            <a:off x="3634740" y="3840480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17820" y="384048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461087" y="3840480"/>
            <a:ext cx="231042" cy="274276"/>
          </a:xfrm>
          <a:custGeom>
            <a:avLst/>
            <a:gdLst/>
            <a:ahLst/>
            <a:cxnLst/>
            <a:rect l="l" t="t" r="r" b="b"/>
            <a:pathLst>
              <a:path w="231042" h="274276">
                <a:moveTo>
                  <a:pt x="93893" y="137160"/>
                </a:moveTo>
                <a:lnTo>
                  <a:pt x="93893" y="0"/>
                </a:lnTo>
                <a:lnTo>
                  <a:pt x="111653" y="1154"/>
                </a:lnTo>
                <a:lnTo>
                  <a:pt x="129115" y="4599"/>
                </a:lnTo>
                <a:lnTo>
                  <a:pt x="145983" y="10276"/>
                </a:lnTo>
                <a:lnTo>
                  <a:pt x="161974" y="18089"/>
                </a:lnTo>
                <a:lnTo>
                  <a:pt x="176819" y="27907"/>
                </a:lnTo>
                <a:lnTo>
                  <a:pt x="190268" y="39565"/>
                </a:lnTo>
                <a:lnTo>
                  <a:pt x="202094" y="52866"/>
                </a:lnTo>
                <a:lnTo>
                  <a:pt x="212098" y="67587"/>
                </a:lnTo>
                <a:lnTo>
                  <a:pt x="220112" y="83479"/>
                </a:lnTo>
                <a:lnTo>
                  <a:pt x="226000" y="100274"/>
                </a:lnTo>
                <a:lnTo>
                  <a:pt x="229664" y="117691"/>
                </a:lnTo>
                <a:lnTo>
                  <a:pt x="231042" y="135436"/>
                </a:lnTo>
                <a:lnTo>
                  <a:pt x="230110" y="153210"/>
                </a:lnTo>
                <a:lnTo>
                  <a:pt x="226885" y="170713"/>
                </a:lnTo>
                <a:lnTo>
                  <a:pt x="221421" y="187651"/>
                </a:lnTo>
                <a:lnTo>
                  <a:pt x="213809" y="203740"/>
                </a:lnTo>
                <a:lnTo>
                  <a:pt x="204178" y="218707"/>
                </a:lnTo>
                <a:lnTo>
                  <a:pt x="192690" y="232301"/>
                </a:lnTo>
                <a:lnTo>
                  <a:pt x="179539" y="244293"/>
                </a:lnTo>
                <a:lnTo>
                  <a:pt x="164945" y="254481"/>
                </a:lnTo>
                <a:lnTo>
                  <a:pt x="149155" y="262694"/>
                </a:lnTo>
                <a:lnTo>
                  <a:pt x="132435" y="268793"/>
                </a:lnTo>
                <a:lnTo>
                  <a:pt x="115065" y="272675"/>
                </a:lnTo>
                <a:lnTo>
                  <a:pt x="97339" y="274276"/>
                </a:lnTo>
                <a:lnTo>
                  <a:pt x="79555" y="273568"/>
                </a:lnTo>
                <a:lnTo>
                  <a:pt x="62013" y="270563"/>
                </a:lnTo>
                <a:lnTo>
                  <a:pt x="45007" y="265312"/>
                </a:lnTo>
                <a:lnTo>
                  <a:pt x="28824" y="257903"/>
                </a:lnTo>
                <a:lnTo>
                  <a:pt x="13737" y="248461"/>
                </a:lnTo>
                <a:lnTo>
                  <a:pt x="0" y="237145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17820" y="3840480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200" y="4443983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425696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2733"/>
                </a:solidFill>
                <a:latin typeface="Calibri"/>
              </a:rPr>
              <a:t>Tipo de competidores conocidos</a:t>
            </a:r>
          </a:p>
        </p:txBody>
      </p:sp>
      <p:sp>
        <p:nvSpPr>
          <p:cNvPr id="39" name="Oval 38"/>
          <p:cNvSpPr/>
          <p:nvPr/>
        </p:nvSpPr>
        <p:spPr>
          <a:xfrm>
            <a:off x="3634740" y="4407408"/>
            <a:ext cx="274320" cy="274320"/>
          </a:xfrm>
          <a:prstGeom prst="ellipse">
            <a:avLst/>
          </a:prstGeom>
          <a:solidFill>
            <a:srgbClr val="2C4A7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17820" y="440740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554980" y="4407408"/>
            <a:ext cx="137149" cy="257354"/>
          </a:xfrm>
          <a:custGeom>
            <a:avLst/>
            <a:gdLst/>
            <a:ahLst/>
            <a:cxnLst/>
            <a:rect l="l" t="t" r="r" b="b"/>
            <a:pathLst>
              <a:path w="137149" h="257354">
                <a:moveTo>
                  <a:pt x="0" y="137160"/>
                </a:moveTo>
                <a:lnTo>
                  <a:pt x="0" y="0"/>
                </a:lnTo>
                <a:lnTo>
                  <a:pt x="18045" y="1192"/>
                </a:lnTo>
                <a:lnTo>
                  <a:pt x="35777" y="4748"/>
                </a:lnTo>
                <a:lnTo>
                  <a:pt x="52886" y="10606"/>
                </a:lnTo>
                <a:lnTo>
                  <a:pt x="69076" y="18664"/>
                </a:lnTo>
                <a:lnTo>
                  <a:pt x="84066" y="28782"/>
                </a:lnTo>
                <a:lnTo>
                  <a:pt x="97594" y="40784"/>
                </a:lnTo>
                <a:lnTo>
                  <a:pt x="109425" y="54462"/>
                </a:lnTo>
                <a:lnTo>
                  <a:pt x="119354" y="69577"/>
                </a:lnTo>
                <a:lnTo>
                  <a:pt x="127208" y="85867"/>
                </a:lnTo>
                <a:lnTo>
                  <a:pt x="132850" y="103049"/>
                </a:lnTo>
                <a:lnTo>
                  <a:pt x="136183" y="120824"/>
                </a:lnTo>
                <a:lnTo>
                  <a:pt x="137149" y="138883"/>
                </a:lnTo>
                <a:lnTo>
                  <a:pt x="135730" y="156912"/>
                </a:lnTo>
                <a:lnTo>
                  <a:pt x="131951" y="174598"/>
                </a:lnTo>
                <a:lnTo>
                  <a:pt x="125879" y="191632"/>
                </a:lnTo>
                <a:lnTo>
                  <a:pt x="117618" y="207720"/>
                </a:lnTo>
                <a:lnTo>
                  <a:pt x="107312" y="222581"/>
                </a:lnTo>
                <a:lnTo>
                  <a:pt x="95141" y="235957"/>
                </a:lnTo>
                <a:lnTo>
                  <a:pt x="81316" y="247616"/>
                </a:lnTo>
                <a:lnTo>
                  <a:pt x="66077" y="257354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17820" y="4407408"/>
            <a:ext cx="274320" cy="274320"/>
          </a:xfrm>
          <a:prstGeom prst="ellipse">
            <a:avLst/>
          </a:pr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75120" y="1481328"/>
            <a:ext cx="5056632" cy="3803904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73568" y="2066543"/>
            <a:ext cx="2450592" cy="2450592"/>
          </a:xfrm>
          <a:prstGeom prst="ellipse">
            <a:avLst/>
          </a:prstGeom>
          <a:noFill/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43133" y="2336109"/>
            <a:ext cx="1911461" cy="1911461"/>
          </a:xfrm>
          <a:prstGeom prst="ellipse">
            <a:avLst/>
          </a:prstGeom>
          <a:noFill/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12698" y="2605674"/>
            <a:ext cx="1372331" cy="1372331"/>
          </a:xfrm>
          <a:prstGeom prst="ellipse">
            <a:avLst/>
          </a:prstGeom>
          <a:noFill/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08745" y="2801721"/>
            <a:ext cx="980236" cy="9802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82263" y="3182112"/>
            <a:ext cx="83320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CORE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198864" y="3291840"/>
            <a:ext cx="1384584" cy="0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059863" y="3163824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733"/>
                </a:solidFill>
                <a:latin typeface="Calibri"/>
              </a:rPr>
              <a:t>Países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9198864" y="2157654"/>
            <a:ext cx="794165" cy="1134186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411969" y="1919231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Alianzas</a:t>
            </a:r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8404698" y="2157654"/>
            <a:ext cx="794166" cy="1134186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669022" y="1919231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733"/>
                </a:solidFill>
                <a:latin typeface="Calibri"/>
              </a:rPr>
              <a:t>Tipo de cliente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7814279" y="3291840"/>
            <a:ext cx="1384585" cy="0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021128" y="3163824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Ámbitos de acción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8404698" y="3291840"/>
            <a:ext cx="794166" cy="1134185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669022" y="4408416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Especialidades Técnicas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98864" y="3291840"/>
            <a:ext cx="794165" cy="1134185"/>
          </a:xfrm>
          <a:prstGeom prst="line">
            <a:avLst/>
          </a:prstGeom>
          <a:ln w="9525">
            <a:solidFill>
              <a:srgbClr val="2C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411969" y="4408416"/>
            <a:ext cx="1316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Tipo de producto</a:t>
            </a:r>
          </a:p>
        </p:txBody>
      </p:sp>
      <p:sp>
        <p:nvSpPr>
          <p:cNvPr id="61" name="Oval 60"/>
          <p:cNvSpPr/>
          <p:nvPr/>
        </p:nvSpPr>
        <p:spPr>
          <a:xfrm>
            <a:off x="10200865" y="3020654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62" name="Oval 61"/>
          <p:cNvSpPr/>
          <p:nvPr/>
        </p:nvSpPr>
        <p:spPr>
          <a:xfrm>
            <a:off x="9813021" y="3833446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63" name="Oval 62"/>
          <p:cNvSpPr/>
          <p:nvPr/>
        </p:nvSpPr>
        <p:spPr>
          <a:xfrm>
            <a:off x="8435807" y="4007909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64" name="Oval 63"/>
          <p:cNvSpPr/>
          <p:nvPr/>
        </p:nvSpPr>
        <p:spPr>
          <a:xfrm>
            <a:off x="8360371" y="2250615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21424" y="486460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Se crece en países y en tipo de cliente; las alianzas son el habilitador.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431536"/>
            <a:ext cx="3712463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5431536"/>
            <a:ext cx="4572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3504" y="54772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E2761"/>
                </a:solidFill>
                <a:latin typeface="Calibri"/>
              </a:rPr>
              <a:t>SE CRECE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504" y="5623560"/>
            <a:ext cx="3383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32733"/>
                </a:solidFill>
                <a:latin typeface="Calibri"/>
              </a:rPr>
              <a:t>Países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70832" y="5431536"/>
            <a:ext cx="3712463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70832" y="5431536"/>
            <a:ext cx="4572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17136" y="54772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E2761"/>
                </a:solidFill>
                <a:latin typeface="Calibri"/>
              </a:rPr>
              <a:t>SE CRECE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17136" y="5623560"/>
            <a:ext cx="3383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32733"/>
                </a:solidFill>
                <a:latin typeface="Calibri"/>
              </a:rPr>
              <a:t>Tipo de cliente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84464" y="5431536"/>
            <a:ext cx="3712463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84464" y="5431536"/>
            <a:ext cx="45720" cy="3840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30768" y="54772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2C4A7C"/>
                </a:solidFill>
                <a:latin typeface="Calibri"/>
              </a:rPr>
              <a:t>HABILITADOR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30768" y="5623560"/>
            <a:ext cx="3383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32733"/>
                </a:solidFill>
                <a:latin typeface="Calibri"/>
              </a:rPr>
              <a:t>Alianzas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888736"/>
            <a:ext cx="3712463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7200" y="5888736"/>
            <a:ext cx="45720" cy="384048"/>
          </a:xfrm>
          <a:prstGeom prst="rect">
            <a:avLst/>
          </a:prstGeom>
          <a:solidFill>
            <a:srgbClr val="A8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3504" y="59344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A8AEB8"/>
                </a:solidFill>
                <a:latin typeface="Calibri"/>
              </a:rPr>
              <a:t>NO SE EXPANDE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3504" y="6080760"/>
            <a:ext cx="3383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32733"/>
                </a:solidFill>
                <a:latin typeface="Calibri"/>
              </a:rPr>
              <a:t>Tipo de producto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70832" y="5888736"/>
            <a:ext cx="3712463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370832" y="5888736"/>
            <a:ext cx="45720" cy="384048"/>
          </a:xfrm>
          <a:prstGeom prst="rect">
            <a:avLst/>
          </a:prstGeom>
          <a:solidFill>
            <a:srgbClr val="A8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17136" y="59344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A8AEB8"/>
                </a:solidFill>
                <a:latin typeface="Calibri"/>
              </a:rPr>
              <a:t>NO SE EXPANDE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17136" y="6080760"/>
            <a:ext cx="3383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32733"/>
                </a:solidFill>
                <a:latin typeface="Calibri"/>
              </a:rPr>
              <a:t>Especialidades técnicas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84464" y="5888736"/>
            <a:ext cx="3712463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84464" y="5888736"/>
            <a:ext cx="45720" cy="384048"/>
          </a:xfrm>
          <a:prstGeom prst="rect">
            <a:avLst/>
          </a:prstGeom>
          <a:solidFill>
            <a:srgbClr val="A8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30768" y="59344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A8AEB8"/>
                </a:solidFill>
                <a:latin typeface="Calibri"/>
              </a:rPr>
              <a:t>NO SE EXPANDE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30768" y="6080760"/>
            <a:ext cx="3383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32733"/>
                </a:solidFill>
                <a:latin typeface="Calibri"/>
              </a:rPr>
              <a:t>Ámbitos de acción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Contenido conservado del deck de Gestión Estratégica REDCO, junio 2024 (diapositiva 35). Rediseñado como formas nativas.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31136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45459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Propósito, misión y habilitadores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61104"/>
            <a:ext cx="128016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17136"/>
            <a:ext cx="90827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El propósito y la misión vigentes, los motores de crecimiento y las ocho metas al horizonte 2028.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199632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REDCO  ·  Mining Consultants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517550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2733"/>
                </a:solidFill>
                <a:latin typeface="Calibri"/>
              </a:rPr>
              <a:t>Aplicando estos conceptos al crecimiento de REDCO con mayor probabilidad de ganar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El equilibrio entre ampliar horizontes y consolidar el CORE se descompone en cuatro palancas de crecimiento.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846320" cy="405993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42416" y="4663440"/>
            <a:ext cx="3895344" cy="0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42416" y="1883664"/>
            <a:ext cx="0" cy="2779776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arallelogram 9"/>
          <p:cNvSpPr/>
          <p:nvPr/>
        </p:nvSpPr>
        <p:spPr>
          <a:xfrm>
            <a:off x="1188720" y="2011680"/>
            <a:ext cx="3639312" cy="2487168"/>
          </a:xfrm>
          <a:prstGeom prst="parallelogram">
            <a:avLst/>
          </a:prstGeom>
          <a:noFill/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316736" y="2103120"/>
            <a:ext cx="3364992" cy="2432304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6384" y="184708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32733"/>
                </a:solidFill>
                <a:latin typeface="Calibri"/>
              </a:rPr>
              <a:t>Velocidad de crecimiento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4736592"/>
            <a:ext cx="15179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232733"/>
                </a:solidFill>
                <a:latin typeface="Calibri"/>
              </a:rPr>
              <a:t>Velocidad de consolidación del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7550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Ampliar horizontes  ·  consolidar el 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1481328"/>
            <a:ext cx="294436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108192" y="2962656"/>
            <a:ext cx="2432304" cy="0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08192" y="1719072"/>
            <a:ext cx="0" cy="1243584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rallelogram 17"/>
          <p:cNvSpPr/>
          <p:nvPr/>
        </p:nvSpPr>
        <p:spPr>
          <a:xfrm>
            <a:off x="6254496" y="1847088"/>
            <a:ext cx="2176272" cy="950976"/>
          </a:xfrm>
          <a:prstGeom prst="parallelogram">
            <a:avLst/>
          </a:prstGeom>
          <a:noFill/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6382512" y="1938528"/>
            <a:ext cx="1901951" cy="896112"/>
          </a:xfrm>
          <a:prstGeom prst="line">
            <a:avLst/>
          </a:prstGeom>
          <a:ln w="28575">
            <a:solidFill>
              <a:srgbClr val="2C4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2159" y="1682496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32733"/>
                </a:solidFill>
                <a:latin typeface="Calibri"/>
              </a:rPr>
              <a:t>Ventas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035808"/>
            <a:ext cx="15179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232733"/>
                </a:solidFill>
                <a:latin typeface="Calibri"/>
              </a:rPr>
              <a:t>Tipo cliente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96528" y="1481328"/>
            <a:ext cx="294436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162288" y="2962656"/>
            <a:ext cx="2432304" cy="0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162288" y="1719072"/>
            <a:ext cx="0" cy="1243584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/>
          <p:cNvSpPr/>
          <p:nvPr/>
        </p:nvSpPr>
        <p:spPr>
          <a:xfrm>
            <a:off x="9308592" y="1847088"/>
            <a:ext cx="2176272" cy="950976"/>
          </a:xfrm>
          <a:prstGeom prst="parallelogram">
            <a:avLst/>
          </a:prstGeom>
          <a:noFill/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9436608" y="1938528"/>
            <a:ext cx="1901951" cy="896112"/>
          </a:xfrm>
          <a:prstGeom prst="line">
            <a:avLst/>
          </a:prstGeom>
          <a:ln w="28575">
            <a:solidFill>
              <a:srgbClr val="2C4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06256" y="1682496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32733"/>
                </a:solidFill>
                <a:latin typeface="Calibri"/>
              </a:rPr>
              <a:t>Ventas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3263" y="3035808"/>
            <a:ext cx="15179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232733"/>
                </a:solidFill>
                <a:latin typeface="Calibri"/>
              </a:rPr>
              <a:t>N. Países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42432" y="3529584"/>
            <a:ext cx="294436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108192" y="5010912"/>
            <a:ext cx="2432304" cy="0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108192" y="3767328"/>
            <a:ext cx="0" cy="1243584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arallelogram 31"/>
          <p:cNvSpPr/>
          <p:nvPr/>
        </p:nvSpPr>
        <p:spPr>
          <a:xfrm>
            <a:off x="6254496" y="3895344"/>
            <a:ext cx="2176272" cy="950976"/>
          </a:xfrm>
          <a:prstGeom prst="parallelogram">
            <a:avLst/>
          </a:prstGeom>
          <a:noFill/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6382512" y="3986784"/>
            <a:ext cx="1901951" cy="896112"/>
          </a:xfrm>
          <a:prstGeom prst="line">
            <a:avLst/>
          </a:prstGeom>
          <a:ln w="28575">
            <a:solidFill>
              <a:srgbClr val="2C4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52159" y="37307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32733"/>
                </a:solidFill>
                <a:latin typeface="Calibri"/>
              </a:rPr>
              <a:t>$ Ventas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084064"/>
            <a:ext cx="15179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232733"/>
                </a:solidFill>
                <a:latin typeface="Calibri"/>
              </a:rPr>
              <a:t>Alianzas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6528" y="3529584"/>
            <a:ext cx="294436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9162288" y="5010912"/>
            <a:ext cx="2432304" cy="0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162288" y="3767328"/>
            <a:ext cx="0" cy="1243584"/>
          </a:xfrm>
          <a:prstGeom prst="line">
            <a:avLst/>
          </a:prstGeom>
          <a:ln w="12700">
            <a:solidFill>
              <a:srgbClr val="23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arallelogram 38"/>
          <p:cNvSpPr/>
          <p:nvPr/>
        </p:nvSpPr>
        <p:spPr>
          <a:xfrm>
            <a:off x="9308592" y="3895344"/>
            <a:ext cx="2176272" cy="950976"/>
          </a:xfrm>
          <a:prstGeom prst="parallelogram">
            <a:avLst/>
          </a:prstGeom>
          <a:noFill/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9436608" y="3986784"/>
            <a:ext cx="1901951" cy="896112"/>
          </a:xfrm>
          <a:prstGeom prst="line">
            <a:avLst/>
          </a:prstGeom>
          <a:ln w="28575">
            <a:solidFill>
              <a:srgbClr val="2C4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906256" y="37307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32733"/>
                </a:solidFill>
                <a:latin typeface="Calibri"/>
              </a:rPr>
              <a:t>$ Ventas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3263" y="5084064"/>
            <a:ext cx="15179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232733"/>
                </a:solidFill>
                <a:latin typeface="Calibri"/>
              </a:rPr>
              <a:t>Profesionales senior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42432" y="5614416"/>
            <a:ext cx="5989320" cy="65836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07024" y="5705856"/>
            <a:ext cx="5669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Cada palanca sube la venta sin alejarse del CORE: por eso la probabilidad de ganar se mantiene alta.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28232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Contenido conservado del deck de Gestión Estratégica REDCO, junio 2024 (diapositiva 37). Rediseñado como formas nativas.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8415" y="2743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82880" cy="18288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79" y="629107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8463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2733"/>
                </a:solidFill>
                <a:latin typeface="Calibri"/>
              </a:rPr>
              <a:t>Propósito, misión, metas y habilitadores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969264"/>
            <a:ext cx="10966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Seis niveles encadenados: del propósito a los habilitadores, con ocho metas al 2028 que hacen medible la aspiración.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08176"/>
            <a:ext cx="969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PROPÓSITO
EMERGENTE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371600"/>
            <a:ext cx="41148" cy="36576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9344" y="1371600"/>
            <a:ext cx="10122408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2224" y="1435608"/>
            <a:ext cx="9756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Creemos en un camino de excelencia y aprendizaje creando soluciones para un mundo mejor.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969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MISIÓN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1792224"/>
            <a:ext cx="41148" cy="47548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09344" y="1792224"/>
            <a:ext cx="10122408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2224" y="1847088"/>
            <a:ext cx="975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32733"/>
                </a:solidFill>
                <a:latin typeface="Calibri"/>
              </a:rPr>
              <a:t>Somos una consultora boutique que proporciona soluciones a medida e integradas, logrando una nueva manera de hacer minería, con un gran equipo de profesionales que maximiza el valor de nuestros clientes.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59152"/>
            <a:ext cx="969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MOTORES DE
CRECIMIENTO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1328" y="2322576"/>
            <a:ext cx="41148" cy="76809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9344" y="2322576"/>
            <a:ext cx="3300984" cy="76809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09344" y="2322576"/>
            <a:ext cx="3300984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2432304"/>
            <a:ext cx="3044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Primera prioridad ·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0048"/>
            <a:ext cx="30449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32733"/>
                </a:solidFill>
                <a:latin typeface="Calibri"/>
              </a:rPr>
              <a:t>Equipos ágiles y autónomos, mayor calidad/precio y valor agregado a la experiencia del cliente.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0056" y="2322576"/>
            <a:ext cx="3300984" cy="76809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0056" y="2322576"/>
            <a:ext cx="3300984" cy="411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8072" y="2432304"/>
            <a:ext cx="3044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7C"/>
                </a:solidFill>
                <a:latin typeface="Calibri"/>
              </a:rPr>
              <a:t>Segunda prioridad · Adyacencias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2670048"/>
            <a:ext cx="30449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32733"/>
                </a:solidFill>
                <a:latin typeface="Calibri"/>
              </a:rPr>
              <a:t>Consolidar y hacer crecer la boutique en Chile, Brasil y Perú.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0768" y="2322576"/>
            <a:ext cx="3300984" cy="768096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30768" y="2322576"/>
            <a:ext cx="3300984" cy="411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2432304"/>
            <a:ext cx="3044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Tercera prioridad · Nuevas adyacencias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2670048"/>
            <a:ext cx="30449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32733"/>
                </a:solidFill>
                <a:latin typeface="Calibri"/>
              </a:rPr>
              <a:t>Crecer y convertirse en boutique en USA y Rusia.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00400"/>
            <a:ext cx="969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METAS
2028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81328" y="3163824"/>
            <a:ext cx="41148" cy="177393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09344" y="3163824"/>
            <a:ext cx="1012240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00784" y="3236976"/>
            <a:ext cx="4924044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92224" y="3273552"/>
            <a:ext cx="47411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VELOCIDAD DE CRECIMIENTO · AMPLIAR HORIZONTES</a:t>
            </a:r>
          </a:p>
        </p:txBody>
      </p:sp>
      <p:sp>
        <p:nvSpPr>
          <p:cNvPr id="34" name="Oval 33"/>
          <p:cNvSpPr/>
          <p:nvPr/>
        </p:nvSpPr>
        <p:spPr>
          <a:xfrm>
            <a:off x="1737360" y="3557015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35112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Venta: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9,5 → 14 MUSD al 2028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3675887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CAGR ~14%. Base: 7,1 (’23) · 8,4 (’24) · 9,5 MUSD (’25).</a:t>
            </a:r>
          </a:p>
        </p:txBody>
      </p:sp>
      <p:sp>
        <p:nvSpPr>
          <p:cNvPr id="37" name="Oval 36"/>
          <p:cNvSpPr/>
          <p:nvPr/>
        </p:nvSpPr>
        <p:spPr>
          <a:xfrm>
            <a:off x="1737360" y="3899915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3392" y="38541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Diversificación: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Países efectivos 3,9 → ≥4,5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392" y="4018787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Ningún país sobre 40% del emitido (Chile ya bajó de 61% a 34%).</a:t>
            </a:r>
          </a:p>
        </p:txBody>
      </p:sp>
      <p:sp>
        <p:nvSpPr>
          <p:cNvPr id="40" name="Oval 39"/>
          <p:cNvSpPr/>
          <p:nvPr/>
        </p:nvSpPr>
        <p:spPr>
          <a:xfrm>
            <a:off x="1737360" y="4242816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3392" y="41970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Nuevos mercados: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USA 1,7 → ≥3,0 MUSD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4361688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Y al menos 2 clientes no mineros recurrentes (precedente: BVI 0,27 MUSD).</a:t>
            </a:r>
          </a:p>
        </p:txBody>
      </p:sp>
      <p:sp>
        <p:nvSpPr>
          <p:cNvPr id="43" name="Oval 42"/>
          <p:cNvSpPr/>
          <p:nvPr/>
        </p:nvSpPr>
        <p:spPr>
          <a:xfrm>
            <a:off x="1737360" y="4585716"/>
            <a:ext cx="201168" cy="20116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93392" y="45399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Autonomía de liderazgo: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1 líder con P&amp;L por país al 2027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93392" y="4704588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En Perú, Brasil y USA — reduce la dependencia del dueño-fundador.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16268" y="3236976"/>
            <a:ext cx="4924044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7707" y="3273552"/>
            <a:ext cx="47411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VELOCIDAD DE CONSOLIDACIÓN DEL CORE</a:t>
            </a:r>
          </a:p>
        </p:txBody>
      </p:sp>
      <p:sp>
        <p:nvSpPr>
          <p:cNvPr id="48" name="Oval 47"/>
          <p:cNvSpPr/>
          <p:nvPr/>
        </p:nvSpPr>
        <p:spPr>
          <a:xfrm>
            <a:off x="6752844" y="3557015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08876" y="35112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Rentabilidad: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Margen 15,6% → ≥25% al 2028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08876" y="3675887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Con Chile en break-even operacional al 2027 (hoy −1,41 MUSD).</a:t>
            </a:r>
          </a:p>
        </p:txBody>
      </p:sp>
      <p:sp>
        <p:nvSpPr>
          <p:cNvPr id="51" name="Oval 50"/>
          <p:cNvSpPr/>
          <p:nvPr/>
        </p:nvSpPr>
        <p:spPr>
          <a:xfrm>
            <a:off x="6752844" y="3899915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8876" y="38541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Conversión comercial: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Por valor 23,5% → ≥35%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08876" y="4018787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Y ticket adjudicado de $132k a ≥$200k (por número ya está en ~48%).</a:t>
            </a:r>
          </a:p>
        </p:txBody>
      </p:sp>
      <p:sp>
        <p:nvSpPr>
          <p:cNvPr id="54" name="Oval 53"/>
          <p:cNvSpPr/>
          <p:nvPr/>
        </p:nvSpPr>
        <p:spPr>
          <a:xfrm>
            <a:off x="6752844" y="4242816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08876" y="41970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Ciclo de cobro: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60 → ≤45 días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08876" y="4361688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Rotación de 6,1× a 8×/año; ningún país sobre 60 d (hoy Brasil 76, Rusia 80).</a:t>
            </a:r>
          </a:p>
        </p:txBody>
      </p:sp>
      <p:sp>
        <p:nvSpPr>
          <p:cNvPr id="57" name="Oval 56"/>
          <p:cNvSpPr/>
          <p:nvPr/>
        </p:nvSpPr>
        <p:spPr>
          <a:xfrm>
            <a:off x="6752844" y="4585716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8876" y="4539996"/>
            <a:ext cx="45582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Mix hacia el CORE:  </a:t>
            </a:r>
            <a:r>
              <a:rPr sz="950" b="1" i="0">
                <a:solidFill>
                  <a:srgbClr val="232733"/>
                </a:solidFill>
                <a:latin typeface="Calibri"/>
              </a:rPr>
              <a:t>Core FEL 0-2B 52% → ≥60%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08876" y="4704588"/>
            <a:ext cx="45582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Y los niveles con margen bajo 10% (Scoping, Confiabilidad) ≤15% del ingreso.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084064"/>
            <a:ext cx="969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PROCESO DE
GENERACIÓN
DE VALOR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81328" y="5047488"/>
            <a:ext cx="41148" cy="54864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Pentagon 61"/>
          <p:cNvSpPr/>
          <p:nvPr/>
        </p:nvSpPr>
        <p:spPr>
          <a:xfrm>
            <a:off x="1609344" y="5047488"/>
            <a:ext cx="2622042" cy="548640"/>
          </a:xfrm>
          <a:prstGeom prst="homePlat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Comercial</a:t>
            </a:r>
          </a:p>
          <a:p>
            <a:pPr algn="ctr">
              <a:spcAft>
                <a:spcPts val="0"/>
              </a:spcAft>
            </a:pPr>
            <a:r>
              <a:rPr sz="700" b="0" i="1">
                <a:solidFill>
                  <a:srgbClr val="CADCFC"/>
                </a:solidFill>
                <a:latin typeface="Calibri"/>
              </a:rPr>
              <a:t>Lograr calidad/precio mejor que la competencia</a:t>
            </a:r>
          </a:p>
        </p:txBody>
      </p:sp>
      <p:sp>
        <p:nvSpPr>
          <p:cNvPr id="63" name="Chevron 62"/>
          <p:cNvSpPr/>
          <p:nvPr/>
        </p:nvSpPr>
        <p:spPr>
          <a:xfrm>
            <a:off x="4139946" y="5047488"/>
            <a:ext cx="2622042" cy="548640"/>
          </a:xfrm>
          <a:prstGeom prst="chevron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Ejecución</a:t>
            </a:r>
          </a:p>
          <a:p>
            <a:pPr algn="ctr">
              <a:spcAft>
                <a:spcPts val="0"/>
              </a:spcAft>
            </a:pPr>
            <a:r>
              <a:rPr sz="700" b="0" i="1">
                <a:solidFill>
                  <a:srgbClr val="CADCFC"/>
                </a:solidFill>
                <a:latin typeface="Calibri"/>
              </a:rPr>
              <a:t>En calidad, tiempo y costo, con feedback continuo</a:t>
            </a:r>
          </a:p>
        </p:txBody>
      </p:sp>
      <p:sp>
        <p:nvSpPr>
          <p:cNvPr id="64" name="Chevron 63"/>
          <p:cNvSpPr/>
          <p:nvPr/>
        </p:nvSpPr>
        <p:spPr>
          <a:xfrm>
            <a:off x="6670548" y="5047488"/>
            <a:ext cx="2622042" cy="548640"/>
          </a:xfrm>
          <a:prstGeom prst="chevron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Gestión de alcance, entregables y cobranza</a:t>
            </a:r>
          </a:p>
          <a:p>
            <a:pPr algn="ctr">
              <a:spcAft>
                <a:spcPts val="0"/>
              </a:spcAft>
            </a:pPr>
            <a:r>
              <a:rPr sz="700" b="0" i="1">
                <a:solidFill>
                  <a:srgbClr val="CADCFC"/>
                </a:solidFill>
                <a:latin typeface="Calibri"/>
              </a:rPr>
              <a:t>Asegurar coherencia entre lo ejecutado y lo comprometido</a:t>
            </a:r>
          </a:p>
        </p:txBody>
      </p:sp>
      <p:sp>
        <p:nvSpPr>
          <p:cNvPr id="65" name="Chevron 64"/>
          <p:cNvSpPr/>
          <p:nvPr/>
        </p:nvSpPr>
        <p:spPr>
          <a:xfrm>
            <a:off x="9201150" y="5047488"/>
            <a:ext cx="2622042" cy="54864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Post evaluación</a:t>
            </a:r>
          </a:p>
          <a:p>
            <a:pPr algn="ctr">
              <a:spcAft>
                <a:spcPts val="0"/>
              </a:spcAft>
            </a:pPr>
            <a:r>
              <a:rPr sz="700" b="0" i="1">
                <a:solidFill>
                  <a:srgbClr val="CADCFC"/>
                </a:solidFill>
                <a:latin typeface="Calibri"/>
              </a:rPr>
              <a:t>Cliente y equipo reconocen una experiencia distintiva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742432"/>
            <a:ext cx="969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FOCO Y
HABILITADORES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81328" y="5705856"/>
            <a:ext cx="41148" cy="74980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09344" y="5705856"/>
            <a:ext cx="2448306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00784" y="5733288"/>
            <a:ext cx="226542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32733"/>
                </a:solidFill>
                <a:latin typeface="Calibri"/>
              </a:rPr>
              <a:t>Fortalecer talento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00784" y="5897880"/>
            <a:ext cx="2265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Equipos (módulos) autogestionados, de calidad, diversidad y pertenencia como base al trabajo técnico y administrativo.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67378" y="5705856"/>
            <a:ext cx="2448306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58818" y="5733288"/>
            <a:ext cx="226542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32733"/>
                </a:solidFill>
                <a:latin typeface="Calibri"/>
              </a:rPr>
              <a:t>Estandarizar productos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8818" y="5897880"/>
            <a:ext cx="2265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Estandarizar lo mínimo que garantice calidad y disponibilidad de experiencias.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25412" y="5705856"/>
            <a:ext cx="2448306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16852" y="5733288"/>
            <a:ext cx="226542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32733"/>
                </a:solidFill>
                <a:latin typeface="Calibri"/>
              </a:rPr>
              <a:t>Potenciar la experiencia con el cliente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6852" y="5897880"/>
            <a:ext cx="2265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Fortalecer de inicio a fin el acompañamiento para lograr el reconocimiento diferenciador.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83446" y="5705856"/>
            <a:ext cx="2448306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74886" y="5733288"/>
            <a:ext cx="226542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32733"/>
                </a:solidFill>
                <a:latin typeface="Calibri"/>
              </a:rPr>
              <a:t>Evolucionar talento, producto y experiencia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74886" y="5897880"/>
            <a:ext cx="2265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Gestionar los aprendizajes para lograr la adaptación constante a nuestro entorno.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9344" y="6217920"/>
            <a:ext cx="10122408" cy="23774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92224" y="6245352"/>
            <a:ext cx="97566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Sistema de Gestión Estratégica enfocado en el equilibrio entre fortalecimiento del CORE y crecimiento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52881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Propósito, misión, motores, cadena de valor y habilitadores: conservados del deck de Gestión Estratégica REDCO, junio 2024 (diapositiva 38). Las ocho metas son nuevas y su línea base sale de pilar_a. La meta 2024 («sostener ~12 MUS$ y ~18 MUS$ al 2026») no se cumplió: 2025 cerró en 9,5 MUSD emitidos.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REDCO  ·  MINING CONSULTANTS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6313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Gestión Estratégica REDCO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18607" y="3822191"/>
            <a:ext cx="1554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133087"/>
            <a:ext cx="9631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ADCFC"/>
                </a:solidFill>
                <a:latin typeface="Calibri"/>
              </a:rPr>
              <a:t>Ocho metas al 2028, con línea base medida y trazable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626864"/>
            <a:ext cx="9631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Capítulos 2 – 4  ·  Actualización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943600"/>
            <a:ext cx="9631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REDCO · Mining Consultants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exend Dec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 Dec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