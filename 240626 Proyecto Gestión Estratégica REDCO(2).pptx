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6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2.xml" ContentType="application/vnd.openxmlformats-officedocument.presentationml.notesSlide+xml"/>
  <Override PartName="/ppt/charts/chart8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9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0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11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notesSlides/notesSlide2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7.xml" ContentType="application/vnd.openxmlformats-officedocument.presentationml.notesSlide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notesSlides/notesSlide28.xml" ContentType="application/vnd.openxmlformats-officedocument.presentationml.notesSlide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notesSlides/notesSlide29.xml" ContentType="application/vnd.openxmlformats-officedocument.presentationml.notesSlide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notesSlides/notesSlide30.xml" ContentType="application/vnd.openxmlformats-officedocument.presentationml.notesSlide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notesSlides/notesSlide31.xml" ContentType="application/vnd.openxmlformats-officedocument.presentationml.notesSlide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147473631" r:id="rId3"/>
    <p:sldId id="2147473632" r:id="rId4"/>
    <p:sldId id="2147473633" r:id="rId5"/>
    <p:sldId id="2147473634" r:id="rId6"/>
    <p:sldId id="2147473636" r:id="rId7"/>
    <p:sldId id="2147473637" r:id="rId8"/>
    <p:sldId id="2147473638" r:id="rId9"/>
    <p:sldId id="2147473639" r:id="rId10"/>
    <p:sldId id="2147473672" r:id="rId11"/>
    <p:sldId id="2147473675" r:id="rId12"/>
    <p:sldId id="2147473674" r:id="rId13"/>
    <p:sldId id="2147473641" r:id="rId14"/>
    <p:sldId id="2147473642" r:id="rId15"/>
    <p:sldId id="2147473643" r:id="rId16"/>
    <p:sldId id="2147473644" r:id="rId17"/>
    <p:sldId id="2147473645" r:id="rId18"/>
    <p:sldId id="2147473646" r:id="rId19"/>
    <p:sldId id="2147473647" r:id="rId20"/>
    <p:sldId id="2147473648" r:id="rId21"/>
    <p:sldId id="2147473649" r:id="rId22"/>
    <p:sldId id="2147473650" r:id="rId23"/>
    <p:sldId id="2147473651" r:id="rId24"/>
    <p:sldId id="2147473652" r:id="rId25"/>
    <p:sldId id="2147473591" r:id="rId26"/>
    <p:sldId id="2147473577" r:id="rId27"/>
    <p:sldId id="2147473582" r:id="rId28"/>
    <p:sldId id="2147473581" r:id="rId29"/>
    <p:sldId id="2147473588" r:id="rId30"/>
    <p:sldId id="268" r:id="rId31"/>
    <p:sldId id="2147473601" r:id="rId32"/>
    <p:sldId id="2147473606" r:id="rId33"/>
    <p:sldId id="2147473598" r:id="rId34"/>
    <p:sldId id="2147473613" r:id="rId35"/>
    <p:sldId id="2147473609" r:id="rId36"/>
    <p:sldId id="2147473616" r:id="rId37"/>
    <p:sldId id="2147473654" r:id="rId38"/>
    <p:sldId id="2147473666" r:id="rId39"/>
    <p:sldId id="2147473570" r:id="rId40"/>
    <p:sldId id="2147473656" r:id="rId41"/>
    <p:sldId id="2147473657" r:id="rId42"/>
    <p:sldId id="2147473659" r:id="rId43"/>
    <p:sldId id="2147473658" r:id="rId44"/>
    <p:sldId id="2147473627" r:id="rId45"/>
    <p:sldId id="2147473667" r:id="rId46"/>
    <p:sldId id="2147473670" r:id="rId47"/>
    <p:sldId id="2147473673" r:id="rId48"/>
    <p:sldId id="2147473671" r:id="rId49"/>
    <p:sldId id="2147473668" r:id="rId50"/>
    <p:sldId id="2147473677" r:id="rId51"/>
  </p:sldIdLst>
  <p:sldSz cx="12192000" cy="6858000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2" userDrawn="1">
          <p15:clr>
            <a:srgbClr val="A4A3A4"/>
          </p15:clr>
        </p15:guide>
        <p15:guide id="3" orient="horz" pos="1797" userDrawn="1">
          <p15:clr>
            <a:srgbClr val="A4A3A4"/>
          </p15:clr>
        </p15:guide>
      </p15:sldGuideLst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62" roundtripDataSignature="AMtx7miOmbJGAd7ySiRfsSEw92yRZxvc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472C4"/>
    <a:srgbClr val="C4414A"/>
    <a:srgbClr val="FF7E79"/>
    <a:srgbClr val="C00000"/>
    <a:srgbClr val="000000"/>
    <a:srgbClr val="D9D9D9"/>
    <a:srgbClr val="0068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E26552-1C12-51DD-19D9-794FF9250B6C}" v="4" dt="2026-07-08T18:11:11.378"/>
  </p1510:revLst>
</p1510:revInfo>
</file>

<file path=ppt/tableStyles.xml><?xml version="1.0" encoding="utf-8"?>
<a:tblStyleLst xmlns:a="http://schemas.openxmlformats.org/drawingml/2006/main" def="{0DB49881-40FB-41A5-88A4-9070C3CC891A}">
  <a:tblStyle styleId="{0DB49881-40FB-41A5-88A4-9070C3CC891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/>
        <p:guide orient="horz" pos="1797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67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5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iana Emilia Sepulveda Silva" userId="S::lusepulvedas@udd.cl::5cd4fdeb-be6d-4d04-bcfb-90858b325bf4" providerId="AD" clId="Web-{CC4C2444-30AB-A97B-DDD1-DAA7C9A9B736}"/>
    <pc:docChg chg="modSld">
      <pc:chgData name="Luciana Emilia Sepulveda Silva" userId="S::lusepulvedas@udd.cl::5cd4fdeb-be6d-4d04-bcfb-90858b325bf4" providerId="AD" clId="Web-{CC4C2444-30AB-A97B-DDD1-DAA7C9A9B736}" dt="2026-07-03T18:47:16.159" v="1" actId="1076"/>
      <pc:docMkLst>
        <pc:docMk/>
      </pc:docMkLst>
      <pc:sldChg chg="modSp">
        <pc:chgData name="Luciana Emilia Sepulveda Silva" userId="S::lusepulvedas@udd.cl::5cd4fdeb-be6d-4d04-bcfb-90858b325bf4" providerId="AD" clId="Web-{CC4C2444-30AB-A97B-DDD1-DAA7C9A9B736}" dt="2026-07-03T18:47:16.159" v="1" actId="1076"/>
        <pc:sldMkLst>
          <pc:docMk/>
          <pc:sldMk cId="1059253568" sldId="2147473652"/>
        </pc:sldMkLst>
        <pc:spChg chg="mod">
          <ac:chgData name="Luciana Emilia Sepulveda Silva" userId="S::lusepulvedas@udd.cl::5cd4fdeb-be6d-4d04-bcfb-90858b325bf4" providerId="AD" clId="Web-{CC4C2444-30AB-A97B-DDD1-DAA7C9A9B736}" dt="2026-07-03T18:47:16.159" v="1" actId="1076"/>
          <ac:spMkLst>
            <pc:docMk/>
            <pc:sldMk cId="1059253568" sldId="2147473652"/>
            <ac:spMk id="589" creationId="{00000000-0000-0000-0000-000000000000}"/>
          </ac:spMkLst>
        </pc:spChg>
        <pc:spChg chg="mod">
          <ac:chgData name="Luciana Emilia Sepulveda Silva" userId="S::lusepulvedas@udd.cl::5cd4fdeb-be6d-4d04-bcfb-90858b325bf4" providerId="AD" clId="Web-{CC4C2444-30AB-A97B-DDD1-DAA7C9A9B736}" dt="2026-07-03T18:47:11.752" v="0" actId="1076"/>
          <ac:spMkLst>
            <pc:docMk/>
            <pc:sldMk cId="1059253568" sldId="2147473652"/>
            <ac:spMk id="590" creationId="{00000000-0000-0000-0000-000000000000}"/>
          </ac:spMkLst>
        </pc:spChg>
      </pc:sldChg>
    </pc:docChg>
  </pc:docChgLst>
  <pc:docChgLst>
    <pc:chgData name="Amaia León Vera" userId="S::aleonv@udd.cl::becf97f1-8098-4c43-89a5-86001bb9449d" providerId="AD" clId="Web-{2EE26552-1C12-51DD-19D9-794FF9250B6C}"/>
    <pc:docChg chg="modSld">
      <pc:chgData name="Amaia León Vera" userId="S::aleonv@udd.cl::becf97f1-8098-4c43-89a5-86001bb9449d" providerId="AD" clId="Web-{2EE26552-1C12-51DD-19D9-794FF9250B6C}" dt="2026-07-08T18:11:11.378" v="3" actId="1076"/>
      <pc:docMkLst>
        <pc:docMk/>
      </pc:docMkLst>
      <pc:sldChg chg="modSp">
        <pc:chgData name="Amaia León Vera" userId="S::aleonv@udd.cl::becf97f1-8098-4c43-89a5-86001bb9449d" providerId="AD" clId="Web-{2EE26552-1C12-51DD-19D9-794FF9250B6C}" dt="2026-07-08T18:11:11.378" v="3" actId="1076"/>
        <pc:sldMkLst>
          <pc:docMk/>
          <pc:sldMk cId="526788922" sldId="2147473588"/>
        </pc:sldMkLst>
        <pc:spChg chg="mod">
          <ac:chgData name="Amaia León Vera" userId="S::aleonv@udd.cl::becf97f1-8098-4c43-89a5-86001bb9449d" providerId="AD" clId="Web-{2EE26552-1C12-51DD-19D9-794FF9250B6C}" dt="2026-07-08T18:11:11.378" v="3" actId="1076"/>
          <ac:spMkLst>
            <pc:docMk/>
            <pc:sldMk cId="526788922" sldId="2147473588"/>
            <ac:spMk id="4" creationId="{00000000-0000-0000-0000-000000000000}"/>
          </ac:spMkLst>
        </pc:spChg>
        <pc:spChg chg="mod">
          <ac:chgData name="Amaia León Vera" userId="S::aleonv@udd.cl::becf97f1-8098-4c43-89a5-86001bb9449d" providerId="AD" clId="Web-{2EE26552-1C12-51DD-19D9-794FF9250B6C}" dt="2026-07-08T18:11:11.128" v="2" actId="14100"/>
          <ac:spMkLst>
            <pc:docMk/>
            <pc:sldMk cId="526788922" sldId="2147473588"/>
            <ac:spMk id="11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7FFFD8EC_5FC703E0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7FFFD8EC_5FC703E0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\\Users\cescobar\Library\Mobile%20Documents\com~apple~CloudDocs\M.%20Cristina%20Gu&#776;ell\Consultori&#769;a\2402%20Redco\Requerimiento%20de%20Informacion%20Ingresos%20V2.xls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\\Users\cescobar\Library\Mobile%20Documents\com~apple~CloudDocs\M.%20Cristina%20Gu&#776;ell\Consultori&#769;a\2402%20Redco\Requerimiento%20de%20Informacion%20Ingresos%20V2.xls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\\Users\cescobar\Library\Mobile%20Documents\com~apple~CloudDocs\M.%20Cristina%20Gu&#776;ell\Consultori&#769;a\2402%20Redco\Requerimiento%20de%20Informacion%20Ingresos%20V2.xls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\\Users\cescobar\Library\Mobile%20Documents\com~apple~CloudDocs\M.%20Cristina%20Gu&#776;ell\Consultori&#769;a\2402%20Redco\Requerimiento%20de%20Informacion%20Ingresos%20V2.xls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cescobar\Library\Mobile%20Documents\com~apple~CloudDocs\M.%20Cristina%20Gu&#776;ell\Consultori&#769;a\2402%20Redco\Requerimiento%20de%20Informacion%20Ingresos%20V2.xls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7FFFD8EE_3422C907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7FFFD8EE_3422C9072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claudiovalenciamontero\Desktop\Claudio%20Valencia\Claudio%20Valencia%204\Asesori&#769;as\Collahuasi\2023\Presentacio&#769;n%20PE%20Perumin%202023\Datos%20Presentacio&#769;n%20PE%20Perumin%2023ago2023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claudiovalenciamontero\Desktop\Claudio%20Valencia\Claudio%20Valencia%204\Asesori&#769;as\Collahuasi\2023\Presentacio&#769;n%20PE%20Perumin%202023\Datos%20Presentacio&#769;n%20PE%20Perumin%2029ago2023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Ingreso Op. [USD]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numRef>
              <c:f>Hoja1!$A$2:$A$5</c:f>
              <c:numCache>
                <c:formatCode>General</c:formatCode>
                <c:ptCount val="4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</c:numCache>
            </c:numRef>
          </c:cat>
          <c:val>
            <c:numRef>
              <c:f>Hoja1!$B$2:$B$5</c:f>
              <c:numCache>
                <c:formatCode>_ * #,##0.0_ ;_ * \-#,##0.0_ ;_ * "-"_ ;_ @_ </c:formatCode>
                <c:ptCount val="4"/>
                <c:pt idx="0">
                  <c:v>2.1395763320385872</c:v>
                </c:pt>
                <c:pt idx="1">
                  <c:v>4.8430952920253487</c:v>
                </c:pt>
                <c:pt idx="2">
                  <c:v>3.9048178713971322</c:v>
                </c:pt>
                <c:pt idx="3">
                  <c:v>5.9019912507857146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E7-4745-A9C4-6A26D9BFDC40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Margen Bruto [USD]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100000"/>
                    <a:shade val="100000"/>
                    <a:satMod val="130000"/>
                  </a:schemeClr>
                </a:gs>
                <a:gs pos="100000">
                  <a:schemeClr val="accent2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numRef>
              <c:f>Hoja1!$A$2:$A$5</c:f>
              <c:numCache>
                <c:formatCode>General</c:formatCode>
                <c:ptCount val="4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</c:numCache>
            </c:numRef>
          </c:cat>
          <c:val>
            <c:numRef>
              <c:f>Hoja1!$C$2:$C$5</c:f>
              <c:numCache>
                <c:formatCode>_ * #,##0.0_ ;_ * \-#,##0.0_ ;_ * "-"_ ;_ @_ </c:formatCode>
                <c:ptCount val="4"/>
                <c:pt idx="0">
                  <c:v>0.78868544862886003</c:v>
                </c:pt>
                <c:pt idx="1">
                  <c:v>2.9837483645471021</c:v>
                </c:pt>
                <c:pt idx="2">
                  <c:v>1.08216747282715</c:v>
                </c:pt>
                <c:pt idx="3">
                  <c:v>1.6209455517320319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8E7-4745-A9C4-6A26D9BFDC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600950512"/>
        <c:axId val="-600948224"/>
      </c:barChart>
      <c:lineChart>
        <c:grouping val="standard"/>
        <c:varyColors val="0"/>
        <c:ser>
          <c:idx val="2"/>
          <c:order val="2"/>
          <c:tx>
            <c:strRef>
              <c:f>Hoja1!$D$1</c:f>
              <c:strCache>
                <c:ptCount val="1"/>
                <c:pt idx="0">
                  <c:v>Utilidad bruta %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cat>
            <c:numRef>
              <c:f>Hoja1!$A$2:$A$5</c:f>
              <c:numCache>
                <c:formatCode>General</c:formatCode>
                <c:ptCount val="4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</c:numCache>
            </c:numRef>
          </c:cat>
          <c:val>
            <c:numRef>
              <c:f>Hoja1!$D$2:$D$5</c:f>
              <c:numCache>
                <c:formatCode>0.0%</c:formatCode>
                <c:ptCount val="4"/>
                <c:pt idx="0">
                  <c:v>0.36861757948004598</c:v>
                </c:pt>
                <c:pt idx="1">
                  <c:v>0.61608293552682103</c:v>
                </c:pt>
                <c:pt idx="2">
                  <c:v>0.27713647818353998</c:v>
                </c:pt>
                <c:pt idx="3">
                  <c:v>0.27464384185866803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8E7-4745-A9C4-6A26D9BFDC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600943584"/>
        <c:axId val="-600945904"/>
      </c:lineChart>
      <c:catAx>
        <c:axId val="-600950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_tradnl"/>
          </a:p>
        </c:txPr>
        <c:crossAx val="-600948224"/>
        <c:crosses val="autoZero"/>
        <c:auto val="1"/>
        <c:lblAlgn val="ctr"/>
        <c:lblOffset val="100"/>
        <c:noMultiLvlLbl val="0"/>
      </c:catAx>
      <c:valAx>
        <c:axId val="-600948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 * #,##0.0_ ;_ * \-#,##0.0_ ;_ * &quot;-&quot;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_tradnl"/>
          </a:p>
        </c:txPr>
        <c:crossAx val="-600950512"/>
        <c:crosses val="autoZero"/>
        <c:crossBetween val="between"/>
      </c:valAx>
      <c:valAx>
        <c:axId val="-600945904"/>
        <c:scaling>
          <c:orientation val="minMax"/>
        </c:scaling>
        <c:delete val="0"/>
        <c:axPos val="r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_tradnl"/>
          </a:p>
        </c:txPr>
        <c:crossAx val="-600943584"/>
        <c:crosses val="max"/>
        <c:crossBetween val="between"/>
      </c:valAx>
      <c:catAx>
        <c:axId val="-60094358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-60094590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_tradn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ES_trad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Dotación total 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hade val="76000"/>
                    <a:tint val="100000"/>
                    <a:shade val="100000"/>
                    <a:satMod val="130000"/>
                  </a:schemeClr>
                </a:gs>
                <a:gs pos="100000">
                  <a:schemeClr val="accent3">
                    <a:shade val="76000"/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numRef>
              <c:f>Hoja1!$A$2:$A$5</c:f>
              <c:numCache>
                <c:formatCode>General</c:formatCode>
                <c:ptCount val="4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</c:numCache>
            </c:numRef>
          </c:cat>
          <c:val>
            <c:numRef>
              <c:f>Hoja1!$B$2:$B$5</c:f>
              <c:numCache>
                <c:formatCode>_ * #,##0_ ;_ * \-#,##0_ ;_ * "-"_ ;_ @_ </c:formatCode>
                <c:ptCount val="4"/>
                <c:pt idx="0">
                  <c:v>35</c:v>
                </c:pt>
                <c:pt idx="1">
                  <c:v>45</c:v>
                </c:pt>
                <c:pt idx="2">
                  <c:v>52</c:v>
                </c:pt>
                <c:pt idx="3">
                  <c:v>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C6-4FA4-A6A0-9BD7F607573F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Dotacion Senior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77000"/>
                    <a:tint val="100000"/>
                    <a:shade val="100000"/>
                    <a:satMod val="130000"/>
                  </a:schemeClr>
                </a:gs>
                <a:gs pos="100000">
                  <a:schemeClr val="accent3">
                    <a:tint val="77000"/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numRef>
              <c:f>Hoja1!$A$2:$A$5</c:f>
              <c:numCache>
                <c:formatCode>General</c:formatCode>
                <c:ptCount val="4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</c:numCache>
            </c:numRef>
          </c:cat>
          <c:val>
            <c:numRef>
              <c:f>Hoja1!$C$2:$C$5</c:f>
              <c:numCache>
                <c:formatCode>_ * #,##0.0_ ;_ * \-#,##0.0_ ;_ * "-"_ ;_ @_ </c:formatCode>
                <c:ptCount val="4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C6-4FA4-A6A0-9BD7F60757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565154720"/>
        <c:axId val="-565152672"/>
      </c:barChart>
      <c:catAx>
        <c:axId val="-565154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_tradnl"/>
          </a:p>
        </c:txPr>
        <c:crossAx val="-565152672"/>
        <c:crosses val="autoZero"/>
        <c:auto val="1"/>
        <c:lblAlgn val="ctr"/>
        <c:lblOffset val="100"/>
        <c:noMultiLvlLbl val="0"/>
      </c:catAx>
      <c:valAx>
        <c:axId val="-565152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 * #,##0_ ;_ * \-#,##0_ ;_ * &quot;-&quot;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_tradnl"/>
          </a:p>
        </c:txPr>
        <c:crossAx val="-5651547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_tradn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ES_tradn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2665857260079101"/>
          <c:y val="0.17231731106336701"/>
          <c:w val="0.32406452512020101"/>
          <c:h val="0.53167755119539295"/>
        </c:manualLayout>
      </c:layout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C6C-4565-B463-03BFADCB5CF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C6C-4565-B463-03BFADCB5CF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C6C-4565-B463-03BFADCB5CF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C6C-4565-B463-03BFADCB5CF2}"/>
              </c:ext>
            </c:extLst>
          </c:dPt>
          <c:dLbls>
            <c:dLbl>
              <c:idx val="0"/>
              <c:layout>
                <c:manualLayout>
                  <c:x val="4.4247787610619503E-2"/>
                  <c:y val="-4.3321299638989098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C6C-4565-B463-03BFADCB5CF2}"/>
                </c:ext>
              </c:extLst>
            </c:dLbl>
            <c:dLbl>
              <c:idx val="1"/>
              <c:layout>
                <c:manualLayout>
                  <c:x val="6.85840707964602E-2"/>
                  <c:y val="3.6036036036036001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C6C-4565-B463-03BFADCB5CF2}"/>
                </c:ext>
              </c:extLst>
            </c:dLbl>
            <c:dLbl>
              <c:idx val="2"/>
              <c:layout>
                <c:manualLayout>
                  <c:x val="-3.5398230088495602E-2"/>
                  <c:y val="6.4981949458483707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C6C-4565-B463-03BFADCB5CF2}"/>
                </c:ext>
              </c:extLst>
            </c:dLbl>
            <c:dLbl>
              <c:idx val="3"/>
              <c:layout>
                <c:manualLayout>
                  <c:x val="-6.6371681415929196E-2"/>
                  <c:y val="-2.1621621621621599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C6C-4565-B463-03BFADCB5CF2}"/>
                </c:ext>
              </c:extLst>
            </c:dLbl>
            <c:spPr>
              <a:noFill/>
              <a:ln w="25400">
                <a:noFill/>
              </a:ln>
            </c:spPr>
            <c:txPr>
              <a:bodyPr rot="0" spcFirstLastPara="1" vertOverflow="ellipsis" vert="horz" wrap="square" lIns="38100" tIns="19050" rIns="38100" bIns="19050" anchor="t" anchorCtr="0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S_tradnl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('Ingresos Clientes y Paises CLP'!$B$123:$B$125,'Ingresos Clientes y Paises CLP'!$B$126)</c:f>
              <c:strCache>
                <c:ptCount val="4"/>
                <c:pt idx="0">
                  <c:v>MEL </c:v>
                </c:pt>
                <c:pt idx="1">
                  <c:v>Codelco</c:v>
                </c:pt>
                <c:pt idx="2">
                  <c:v>Minera Chungar </c:v>
                </c:pt>
                <c:pt idx="3">
                  <c:v>Otros (12)</c:v>
                </c:pt>
              </c:strCache>
            </c:strRef>
          </c:cat>
          <c:val>
            <c:numRef>
              <c:f>('Ingresos Clientes y Paises CLP'!$C$123:$C$125,'Ingresos Clientes y Paises CLP'!$C$126)</c:f>
              <c:numCache>
                <c:formatCode>0.0,,</c:formatCode>
                <c:ptCount val="4"/>
                <c:pt idx="0">
                  <c:v>316904064</c:v>
                </c:pt>
                <c:pt idx="1">
                  <c:v>422532417</c:v>
                </c:pt>
                <c:pt idx="2">
                  <c:v>493903509</c:v>
                </c:pt>
                <c:pt idx="3">
                  <c:v>576314678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C6C-4565-B463-03BFADCB5C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 w="25400">
          <a:noFill/>
        </a:ln>
      </c:spPr>
    </c:plotArea>
    <c:legend>
      <c:legendPos val="b"/>
      <c:layout>
        <c:manualLayout>
          <c:xMode val="edge"/>
          <c:yMode val="edge"/>
          <c:x val="0.208476111244951"/>
          <c:y val="0.82103528118486602"/>
          <c:w val="0.62028430074559304"/>
          <c:h val="0.143631202267407"/>
        </c:manualLayout>
      </c:layout>
      <c:overlay val="0"/>
      <c:spPr>
        <a:noFill/>
        <a:ln w="25400">
          <a:noFill/>
        </a:ln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entury Gothic" charset="0"/>
              <a:ea typeface="Century Gothic" charset="0"/>
              <a:cs typeface="Century Gothic" charset="0"/>
            </a:defRPr>
          </a:pPr>
          <a:endParaRPr lang="es-ES_tradnl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s-ES_tradnl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4121837313921999"/>
          <c:y val="0.183211683039712"/>
          <c:w val="0.32406452512020101"/>
          <c:h val="0.53167755119539295"/>
        </c:manualLayout>
      </c:layout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44A-41F6-BA70-BE10F35FACA2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44A-41F6-BA70-BE10F35FACA2}"/>
              </c:ext>
            </c:extLst>
          </c:dPt>
          <c:dPt>
            <c:idx val="2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44A-41F6-BA70-BE10F35FACA2}"/>
              </c:ext>
            </c:extLst>
          </c:dPt>
          <c:dPt>
            <c:idx val="3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44A-41F6-BA70-BE10F35FACA2}"/>
              </c:ext>
            </c:extLst>
          </c:dPt>
          <c:dPt>
            <c:idx val="4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644A-41F6-BA70-BE10F35FACA2}"/>
              </c:ext>
            </c:extLst>
          </c:dPt>
          <c:dPt>
            <c:idx val="5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644A-41F6-BA70-BE10F35FACA2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644A-41F6-BA70-BE10F35FACA2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644A-41F6-BA70-BE10F35FACA2}"/>
              </c:ext>
            </c:extLst>
          </c:dPt>
          <c:dLbls>
            <c:dLbl>
              <c:idx val="0"/>
              <c:layout>
                <c:manualLayout>
                  <c:x val="6.6371681415929307E-2"/>
                  <c:y val="-2.15827338129496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44A-41F6-BA70-BE10F35FACA2}"/>
                </c:ext>
              </c:extLst>
            </c:dLbl>
            <c:dLbl>
              <c:idx val="1"/>
              <c:layout>
                <c:manualLayout>
                  <c:x val="5.3097345132743397E-2"/>
                  <c:y val="1.07913669064748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44A-41F6-BA70-BE10F35FACA2}"/>
                </c:ext>
              </c:extLst>
            </c:dLbl>
            <c:dLbl>
              <c:idx val="2"/>
              <c:layout>
                <c:manualLayout>
                  <c:x val="-2.21238938053097E-3"/>
                  <c:y val="9.7122302158273402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44A-41F6-BA70-BE10F35FACA2}"/>
                </c:ext>
              </c:extLst>
            </c:dLbl>
            <c:dLbl>
              <c:idx val="3"/>
              <c:layout>
                <c:manualLayout>
                  <c:x val="-3.09734513274336E-2"/>
                  <c:y val="7.9136690647481994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44A-41F6-BA70-BE10F35FACA2}"/>
                </c:ext>
              </c:extLst>
            </c:dLbl>
            <c:dLbl>
              <c:idx val="4"/>
              <c:layout>
                <c:manualLayout>
                  <c:x val="-5.0884955752212399E-2"/>
                  <c:y val="6.4748201438848907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44A-41F6-BA70-BE10F35FACA2}"/>
                </c:ext>
              </c:extLst>
            </c:dLbl>
            <c:dLbl>
              <c:idx val="5"/>
              <c:layout>
                <c:manualLayout>
                  <c:x val="-5.97345132743363E-2"/>
                  <c:y val="3.2374100719424502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44A-41F6-BA70-BE10F35FACA2}"/>
                </c:ext>
              </c:extLst>
            </c:dLbl>
            <c:dLbl>
              <c:idx val="6"/>
              <c:layout>
                <c:manualLayout>
                  <c:x val="-5.30973451327433E-2"/>
                  <c:y val="3.5971223021582701E-3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644A-41F6-BA70-BE10F35FACA2}"/>
                </c:ext>
              </c:extLst>
            </c:dLbl>
            <c:dLbl>
              <c:idx val="7"/>
              <c:layout>
                <c:manualLayout>
                  <c:x val="-5.0884955752212399E-2"/>
                  <c:y val="-3.2374100719424502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644A-41F6-BA70-BE10F35FACA2}"/>
                </c:ext>
              </c:extLst>
            </c:dLbl>
            <c:spPr>
              <a:noFill/>
              <a:ln w="2540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S_tradnl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'Ingresos Clientes y Paises CLP'!$E$123:$E$130</c:f>
              <c:strCache>
                <c:ptCount val="8"/>
                <c:pt idx="0">
                  <c:v>Diabras</c:v>
                </c:pt>
                <c:pt idx="1">
                  <c:v>Minera Raura </c:v>
                </c:pt>
                <c:pt idx="2">
                  <c:v>MEL </c:v>
                </c:pt>
                <c:pt idx="3">
                  <c:v>Minsur</c:v>
                </c:pt>
                <c:pt idx="4">
                  <c:v>Norilsk Nickel </c:v>
                </c:pt>
                <c:pt idx="5">
                  <c:v>PFS Mayak</c:v>
                </c:pt>
                <c:pt idx="6">
                  <c:v>Volcan</c:v>
                </c:pt>
                <c:pt idx="7">
                  <c:v>Otros (14)</c:v>
                </c:pt>
              </c:strCache>
            </c:strRef>
          </c:cat>
          <c:val>
            <c:numRef>
              <c:f>'Ingresos Clientes y Paises CLP'!$F$123:$F$130</c:f>
              <c:numCache>
                <c:formatCode>0.0,,</c:formatCode>
                <c:ptCount val="8"/>
                <c:pt idx="0">
                  <c:v>927110219</c:v>
                </c:pt>
                <c:pt idx="1">
                  <c:v>667429011</c:v>
                </c:pt>
                <c:pt idx="2">
                  <c:v>317452675</c:v>
                </c:pt>
                <c:pt idx="3">
                  <c:v>299215953</c:v>
                </c:pt>
                <c:pt idx="4">
                  <c:v>271419338</c:v>
                </c:pt>
                <c:pt idx="5">
                  <c:v>198219046</c:v>
                </c:pt>
                <c:pt idx="6">
                  <c:v>186288627</c:v>
                </c:pt>
                <c:pt idx="7">
                  <c:v>817289135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644A-41F6-BA70-BE10F35FAC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 w="25400">
          <a:noFill/>
        </a:ln>
      </c:spPr>
    </c:plotArea>
    <c:legend>
      <c:legendPos val="b"/>
      <c:layout>
        <c:manualLayout>
          <c:xMode val="edge"/>
          <c:yMode val="edge"/>
          <c:x val="0.22424591156874599"/>
          <c:y val="0.82147510338186103"/>
          <c:w val="0.57984158784885598"/>
          <c:h val="0.16027813969297"/>
        </c:manualLayout>
      </c:layout>
      <c:overlay val="0"/>
      <c:spPr>
        <a:noFill/>
        <a:ln w="25400">
          <a:noFill/>
        </a:ln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entury Gothic" charset="0"/>
              <a:ea typeface="Century Gothic" charset="0"/>
              <a:cs typeface="Century Gothic" charset="0"/>
            </a:defRPr>
          </a:pPr>
          <a:endParaRPr lang="es-ES_tradnl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s-ES_tradnl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5295714412338203"/>
          <c:y val="0.19185891155250701"/>
          <c:w val="0.32406452512020101"/>
          <c:h val="0.53167755119539295"/>
        </c:manualLayout>
      </c:layout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9EA-4009-926E-DDA3C0B5939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9EA-4009-926E-DDA3C0B5939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9EA-4009-926E-DDA3C0B5939B}"/>
              </c:ext>
            </c:extLst>
          </c:dPt>
          <c:dPt>
            <c:idx val="3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9EA-4009-926E-DDA3C0B5939B}"/>
              </c:ext>
            </c:extLst>
          </c:dPt>
          <c:dPt>
            <c:idx val="4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9EA-4009-926E-DDA3C0B5939B}"/>
              </c:ext>
            </c:extLst>
          </c:dPt>
          <c:dPt>
            <c:idx val="5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19EA-4009-926E-DDA3C0B5939B}"/>
              </c:ext>
            </c:extLst>
          </c:dPt>
          <c:dPt>
            <c:idx val="6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19EA-4009-926E-DDA3C0B5939B}"/>
              </c:ext>
            </c:extLst>
          </c:dPt>
          <c:dPt>
            <c:idx val="7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19EA-4009-926E-DDA3C0B5939B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19EA-4009-926E-DDA3C0B5939B}"/>
              </c:ext>
            </c:extLst>
          </c:dPt>
          <c:dLbls>
            <c:dLbl>
              <c:idx val="0"/>
              <c:layout>
                <c:manualLayout>
                  <c:x val="5.0884955752212399E-2"/>
                  <c:y val="-3.9568345323740997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9EA-4009-926E-DDA3C0B5939B}"/>
                </c:ext>
              </c:extLst>
            </c:dLbl>
            <c:dLbl>
              <c:idx val="1"/>
              <c:layout>
                <c:manualLayout>
                  <c:x val="4.8672566371681297E-2"/>
                  <c:y val="3.5971223021582802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9EA-4009-926E-DDA3C0B5939B}"/>
                </c:ext>
              </c:extLst>
            </c:dLbl>
            <c:dLbl>
              <c:idx val="2"/>
              <c:layout>
                <c:manualLayout>
                  <c:x val="2.21238938053097E-2"/>
                  <c:y val="6.1151079136690503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9EA-4009-926E-DDA3C0B5939B}"/>
                </c:ext>
              </c:extLst>
            </c:dLbl>
            <c:dLbl>
              <c:idx val="3"/>
              <c:layout>
                <c:manualLayout>
                  <c:x val="-3.9823008849557598E-2"/>
                  <c:y val="5.7553956834532398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9EA-4009-926E-DDA3C0B5939B}"/>
                </c:ext>
              </c:extLst>
            </c:dLbl>
            <c:dLbl>
              <c:idx val="4"/>
              <c:layout>
                <c:manualLayout>
                  <c:x val="-5.0884955752212399E-2"/>
                  <c:y val="4.6762589928057499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9EA-4009-926E-DDA3C0B5939B}"/>
                </c:ext>
              </c:extLst>
            </c:dLbl>
            <c:dLbl>
              <c:idx val="5"/>
              <c:layout>
                <c:manualLayout>
                  <c:x val="-4.8672566371681401E-2"/>
                  <c:y val="1.07913669064748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9EA-4009-926E-DDA3C0B5939B}"/>
                </c:ext>
              </c:extLst>
            </c:dLbl>
            <c:dLbl>
              <c:idx val="6"/>
              <c:layout>
                <c:manualLayout>
                  <c:x val="-4.2035398230088498E-2"/>
                  <c:y val="-4.3165467625899297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19EA-4009-926E-DDA3C0B5939B}"/>
                </c:ext>
              </c:extLst>
            </c:dLbl>
            <c:dLbl>
              <c:idx val="7"/>
              <c:layout>
                <c:manualLayout>
                  <c:x val="-3.9823008849557598E-2"/>
                  <c:y val="-4.6762589928057499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19EA-4009-926E-DDA3C0B5939B}"/>
                </c:ext>
              </c:extLst>
            </c:dLbl>
            <c:dLbl>
              <c:idx val="8"/>
              <c:layout>
                <c:manualLayout>
                  <c:x val="-1.54867256637168E-2"/>
                  <c:y val="-6.11510791366906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19EA-4009-926E-DDA3C0B5939B}"/>
                </c:ext>
              </c:extLst>
            </c:dLbl>
            <c:spPr>
              <a:noFill/>
              <a:ln w="2540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S_tradnl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'Ingresos Clientes y Paises CLP'!$H$123:$H$131</c:f>
              <c:strCache>
                <c:ptCount val="9"/>
                <c:pt idx="0">
                  <c:v>CMP</c:v>
                </c:pt>
                <c:pt idx="1">
                  <c:v>PFS Mayak </c:v>
                </c:pt>
                <c:pt idx="2">
                  <c:v>MEL</c:v>
                </c:pt>
                <c:pt idx="3">
                  <c:v>Minera Raura </c:v>
                </c:pt>
                <c:pt idx="4">
                  <c:v>Minsur</c:v>
                </c:pt>
                <c:pt idx="5">
                  <c:v>BHP </c:v>
                </c:pt>
                <c:pt idx="6">
                  <c:v>Corona</c:v>
                </c:pt>
                <c:pt idx="7">
                  <c:v>Minera Agua Rica </c:v>
                </c:pt>
                <c:pt idx="8">
                  <c:v>Otros (5)</c:v>
                </c:pt>
              </c:strCache>
            </c:strRef>
          </c:cat>
          <c:val>
            <c:numRef>
              <c:f>'Ingresos Clientes y Paises CLP'!$I$123:$I$131</c:f>
              <c:numCache>
                <c:formatCode>0.0,,</c:formatCode>
                <c:ptCount val="9"/>
                <c:pt idx="0">
                  <c:v>722023960</c:v>
                </c:pt>
                <c:pt idx="1">
                  <c:v>557108741</c:v>
                </c:pt>
                <c:pt idx="2">
                  <c:v>433775608</c:v>
                </c:pt>
                <c:pt idx="3">
                  <c:v>410184149</c:v>
                </c:pt>
                <c:pt idx="4">
                  <c:v>285590662</c:v>
                </c:pt>
                <c:pt idx="5">
                  <c:v>244750962</c:v>
                </c:pt>
                <c:pt idx="6">
                  <c:v>180465909</c:v>
                </c:pt>
                <c:pt idx="7">
                  <c:v>164964880</c:v>
                </c:pt>
                <c:pt idx="8">
                  <c:v>375501396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19EA-4009-926E-DDA3C0B593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 w="25400">
          <a:noFill/>
        </a:ln>
      </c:spPr>
    </c:plotArea>
    <c:legend>
      <c:legendPos val="b"/>
      <c:layout>
        <c:manualLayout>
          <c:xMode val="edge"/>
          <c:yMode val="edge"/>
          <c:x val="0.18499093319742399"/>
          <c:y val="0.85503648212679695"/>
          <c:w val="0.70186700422501902"/>
          <c:h val="0.134884438905568"/>
        </c:manualLayout>
      </c:layout>
      <c:overlay val="0"/>
      <c:spPr>
        <a:noFill/>
        <a:ln w="25400">
          <a:noFill/>
        </a:ln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entury Gothic" charset="0"/>
              <a:ea typeface="Century Gothic" charset="0"/>
              <a:cs typeface="Century Gothic" charset="0"/>
            </a:defRPr>
          </a:pPr>
          <a:endParaRPr lang="es-ES_tradnl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s-ES_tradnl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41231238551084"/>
          <c:y val="0.187775151380488"/>
          <c:w val="0.32406452512020101"/>
          <c:h val="0.53167755119539295"/>
        </c:manualLayout>
      </c:layout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056-4E9F-8198-87A5B40828DD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2-9056-4E9F-8198-87A5B40828DD}"/>
              </c:ext>
            </c:extLst>
          </c:dPt>
          <c:dPt>
            <c:idx val="2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9056-4E9F-8198-87A5B40828DD}"/>
              </c:ext>
            </c:extLst>
          </c:dPt>
          <c:dPt>
            <c:idx val="3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9056-4E9F-8198-87A5B40828D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9056-4E9F-8198-87A5B40828DD}"/>
              </c:ext>
            </c:extLst>
          </c:dPt>
          <c:dPt>
            <c:idx val="5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9056-4E9F-8198-87A5B40828DD}"/>
              </c:ext>
            </c:extLst>
          </c:dPt>
          <c:dPt>
            <c:idx val="6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9056-4E9F-8198-87A5B40828DD}"/>
              </c:ext>
            </c:extLst>
          </c:dPt>
          <c:dPt>
            <c:idx val="7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E-9056-4E9F-8198-87A5B40828DD}"/>
              </c:ext>
            </c:extLst>
          </c:dPt>
          <c:dPt>
            <c:idx val="8"/>
            <c:bubble3D val="0"/>
            <c:extLst>
              <c:ext xmlns:c16="http://schemas.microsoft.com/office/drawing/2014/chart" uri="{C3380CC4-5D6E-409C-BE32-E72D297353CC}">
                <c16:uniqueId val="{0000000F-9056-4E9F-8198-87A5B40828DD}"/>
              </c:ext>
            </c:extLst>
          </c:dPt>
          <c:dPt>
            <c:idx val="9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9056-4E9F-8198-87A5B40828DD}"/>
              </c:ext>
            </c:extLst>
          </c:dPt>
          <c:dLbls>
            <c:dLbl>
              <c:idx val="0"/>
              <c:layout>
                <c:manualLayout>
                  <c:x val="5.7522123893805302E-2"/>
                  <c:y val="-4.3165467625899297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056-4E9F-8198-87A5B40828DD}"/>
                </c:ext>
              </c:extLst>
            </c:dLbl>
            <c:dLbl>
              <c:idx val="1"/>
              <c:layout>
                <c:manualLayout>
                  <c:x val="4.8672566371681401E-2"/>
                  <c:y val="4.6762589928057499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056-4E9F-8198-87A5B40828DD}"/>
                </c:ext>
              </c:extLst>
            </c:dLbl>
            <c:dLbl>
              <c:idx val="2"/>
              <c:layout>
                <c:manualLayout>
                  <c:x val="3.3185840707964598E-2"/>
                  <c:y val="5.3956834532374098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056-4E9F-8198-87A5B40828DD}"/>
                </c:ext>
              </c:extLst>
            </c:dLbl>
            <c:dLbl>
              <c:idx val="3"/>
              <c:layout>
                <c:manualLayout>
                  <c:x val="-1.10619469026549E-2"/>
                  <c:y val="6.83453237410072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056-4E9F-8198-87A5B40828DD}"/>
                </c:ext>
              </c:extLst>
            </c:dLbl>
            <c:dLbl>
              <c:idx val="4"/>
              <c:layout>
                <c:manualLayout>
                  <c:x val="-3.7610619469026503E-2"/>
                  <c:y val="7.1942446043165506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056-4E9F-8198-87A5B40828DD}"/>
                </c:ext>
              </c:extLst>
            </c:dLbl>
            <c:dLbl>
              <c:idx val="5"/>
              <c:layout>
                <c:manualLayout>
                  <c:x val="-5.3097345132743397E-2"/>
                  <c:y val="2.5179856115107799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056-4E9F-8198-87A5B40828DD}"/>
                </c:ext>
              </c:extLst>
            </c:dLbl>
            <c:dLbl>
              <c:idx val="6"/>
              <c:layout>
                <c:manualLayout>
                  <c:x val="-5.7522123893805302E-2"/>
                  <c:y val="1.07913669064748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9056-4E9F-8198-87A5B40828DD}"/>
                </c:ext>
              </c:extLst>
            </c:dLbl>
            <c:dLbl>
              <c:idx val="8"/>
              <c:layout>
                <c:manualLayout>
                  <c:x val="-5.3097345132743397E-2"/>
                  <c:y val="-1.4388489208633099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9056-4E9F-8198-87A5B40828DD}"/>
                </c:ext>
              </c:extLst>
            </c:dLbl>
            <c:dLbl>
              <c:idx val="9"/>
              <c:layout>
                <c:manualLayout>
                  <c:x val="-4.6460176991150397E-2"/>
                  <c:y val="-4.6762589928057603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9056-4E9F-8198-87A5B40828DD}"/>
                </c:ext>
              </c:extLst>
            </c:dLbl>
            <c:spPr>
              <a:noFill/>
              <a:ln w="2540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S_tradnl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'Ingresos Clientes y Paises CLP'!$K$122:$K$131</c:f>
              <c:strCache>
                <c:ptCount val="10"/>
                <c:pt idx="0">
                  <c:v>CMP</c:v>
                </c:pt>
                <c:pt idx="1">
                  <c:v>Mosaic</c:v>
                </c:pt>
                <c:pt idx="2">
                  <c:v>Pelambres</c:v>
                </c:pt>
                <c:pt idx="3">
                  <c:v>Minsur</c:v>
                </c:pt>
                <c:pt idx="4">
                  <c:v>Minera Raura </c:v>
                </c:pt>
                <c:pt idx="5">
                  <c:v>Candelaria</c:v>
                </c:pt>
                <c:pt idx="6">
                  <c:v>Lomas Bayas</c:v>
                </c:pt>
                <c:pt idx="7">
                  <c:v>Marcobre</c:v>
                </c:pt>
                <c:pt idx="8">
                  <c:v>Oktyabrsky</c:v>
                </c:pt>
                <c:pt idx="9">
                  <c:v>Otros (15)</c:v>
                </c:pt>
              </c:strCache>
            </c:strRef>
          </c:cat>
          <c:val>
            <c:numRef>
              <c:f>'Ingresos Clientes y Paises CLP'!$L$122:$L$131</c:f>
              <c:numCache>
                <c:formatCode>0.0,,</c:formatCode>
                <c:ptCount val="10"/>
                <c:pt idx="0">
                  <c:v>1738247543</c:v>
                </c:pt>
                <c:pt idx="1">
                  <c:v>547338946</c:v>
                </c:pt>
                <c:pt idx="2">
                  <c:v>421403003</c:v>
                </c:pt>
                <c:pt idx="3">
                  <c:v>457142216</c:v>
                </c:pt>
                <c:pt idx="4">
                  <c:v>448230698</c:v>
                </c:pt>
                <c:pt idx="5">
                  <c:v>259329818</c:v>
                </c:pt>
                <c:pt idx="6">
                  <c:v>211930353</c:v>
                </c:pt>
                <c:pt idx="7">
                  <c:v>182145879</c:v>
                </c:pt>
                <c:pt idx="8">
                  <c:v>181777834</c:v>
                </c:pt>
                <c:pt idx="9">
                  <c:v>979471891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9056-4E9F-8198-87A5B40828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 w="25400">
          <a:noFill/>
        </a:ln>
      </c:spPr>
    </c:plotArea>
    <c:legend>
      <c:legendPos val="b"/>
      <c:layout>
        <c:manualLayout>
          <c:xMode val="edge"/>
          <c:yMode val="edge"/>
          <c:x val="0.216573090247001"/>
          <c:y val="0.81454198057223404"/>
          <c:w val="0.64904536269249502"/>
          <c:h val="0.18545799580807801"/>
        </c:manualLayout>
      </c:layout>
      <c:overlay val="0"/>
      <c:spPr>
        <a:noFill/>
        <a:ln w="25400">
          <a:noFill/>
        </a:ln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entury Gothic" charset="0"/>
              <a:ea typeface="Century Gothic" charset="0"/>
              <a:cs typeface="Century Gothic" charset="0"/>
            </a:defRPr>
          </a:pPr>
          <a:endParaRPr lang="es-ES_tradnl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s-ES_tradnl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charset="0"/>
                <a:ea typeface="Century Gothic" charset="0"/>
                <a:cs typeface="Century Gothic" charset="0"/>
              </a:defRPr>
            </a:pPr>
            <a:r>
              <a:rPr lang="es-ES_tradnl" sz="1600" b="1" i="0">
                <a:latin typeface="Century Gothic" charset="0"/>
                <a:ea typeface="Century Gothic" charset="0"/>
                <a:cs typeface="Century Gothic" charset="0"/>
              </a:rPr>
              <a:t>Ingresos por país</a:t>
            </a:r>
          </a:p>
        </c:rich>
      </c:tx>
      <c:layout>
        <c:manualLayout>
          <c:xMode val="edge"/>
          <c:yMode val="edge"/>
          <c:x val="0.43508898618026298"/>
          <c:y val="0.3435114503816790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entury Gothic" charset="0"/>
              <a:ea typeface="Century Gothic" charset="0"/>
              <a:cs typeface="Century Gothic" charset="0"/>
            </a:defRPr>
          </a:pPr>
          <a:endParaRPr lang="es-ES_tradnl"/>
        </a:p>
      </c:txPr>
    </c:title>
    <c:autoTitleDeleted val="0"/>
    <c:plotArea>
      <c:layout>
        <c:manualLayout>
          <c:layoutTarget val="inner"/>
          <c:xMode val="edge"/>
          <c:yMode val="edge"/>
          <c:x val="3.5897338782019297E-2"/>
          <c:y val="0.11095930756746999"/>
          <c:w val="0.93333333333333302"/>
          <c:h val="0.7275485363947830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'Ingresos Clientes y Paises CLP'!$B$57</c:f>
              <c:strCache>
                <c:ptCount val="1"/>
                <c:pt idx="0">
                  <c:v>Chile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ES_trad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'Ingresos Clientes y Paises CLP'!$C$43:$F$43</c:f>
              <c:numCache>
                <c:formatCode>General</c:formatCode>
                <c:ptCount val="4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</c:numCache>
            </c:numRef>
          </c:cat>
          <c:val>
            <c:numRef>
              <c:f>'Ingresos Clientes y Paises CLP'!$C$57:$F$57</c:f>
              <c:numCache>
                <c:formatCode>0.0,,</c:formatCode>
                <c:ptCount val="4"/>
                <c:pt idx="0">
                  <c:v>1419677.91607756</c:v>
                </c:pt>
                <c:pt idx="1">
                  <c:v>1189159.9047075401</c:v>
                </c:pt>
                <c:pt idx="2">
                  <c:v>1924486.42618145</c:v>
                </c:pt>
                <c:pt idx="3">
                  <c:v>3620906.8665567199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68-4A93-8EBC-1E37370F8CAF}"/>
            </c:ext>
          </c:extLst>
        </c:ser>
        <c:ser>
          <c:idx val="1"/>
          <c:order val="1"/>
          <c:tx>
            <c:strRef>
              <c:f>'Ingresos Clientes y Paises CLP'!$B$58</c:f>
              <c:strCache>
                <c:ptCount val="1"/>
                <c:pt idx="0">
                  <c:v>Perú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S_trad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'Ingresos Clientes y Paises CLP'!$C$43:$F$43</c:f>
              <c:numCache>
                <c:formatCode>General</c:formatCode>
                <c:ptCount val="4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</c:numCache>
            </c:numRef>
          </c:cat>
          <c:val>
            <c:numRef>
              <c:f>'Ingresos Clientes y Paises CLP'!$C$58:$F$58</c:f>
              <c:numCache>
                <c:formatCode>0.0,,</c:formatCode>
                <c:ptCount val="4"/>
                <c:pt idx="0">
                  <c:v>864778.08776004845</c:v>
                </c:pt>
                <c:pt idx="1">
                  <c:v>3045363.83497277</c:v>
                </c:pt>
                <c:pt idx="2">
                  <c:v>1181678.96845469</c:v>
                </c:pt>
                <c:pt idx="3">
                  <c:v>1647914.4255443299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768-4A93-8EBC-1E37370F8CAF}"/>
            </c:ext>
          </c:extLst>
        </c:ser>
        <c:ser>
          <c:idx val="2"/>
          <c:order val="2"/>
          <c:tx>
            <c:strRef>
              <c:f>'Ingresos Clientes y Paises CLP'!$B$59</c:f>
              <c:strCache>
                <c:ptCount val="1"/>
                <c:pt idx="0">
                  <c:v>Brasil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768-4A93-8EBC-1E37370F8CAF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768-4A93-8EBC-1E37370F8CAF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768-4A93-8EBC-1E37370F8CAF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ES_tradn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4768-4A93-8EBC-1E37370F8CA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S_trad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'Ingresos Clientes y Paises CLP'!$C$43:$F$43</c:f>
              <c:numCache>
                <c:formatCode>General</c:formatCode>
                <c:ptCount val="4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</c:numCache>
            </c:numRef>
          </c:cat>
          <c:val>
            <c:numRef>
              <c:f>'Ingresos Clientes y Paises CLP'!$C$59:$F$59</c:f>
              <c:numCache>
                <c:formatCode>0.0,,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757347.07636982831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768-4A93-8EBC-1E37370F8CAF}"/>
            </c:ext>
          </c:extLst>
        </c:ser>
        <c:ser>
          <c:idx val="3"/>
          <c:order val="3"/>
          <c:tx>
            <c:strRef>
              <c:f>'Ingresos Clientes y Paises CLP'!$B$60</c:f>
              <c:strCache>
                <c:ptCount val="1"/>
                <c:pt idx="0">
                  <c:v>Rusia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768-4A93-8EBC-1E37370F8CA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S_trad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'Ingresos Clientes y Paises CLP'!$C$43:$F$43</c:f>
              <c:numCache>
                <c:formatCode>General</c:formatCode>
                <c:ptCount val="4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</c:numCache>
            </c:numRef>
          </c:cat>
          <c:val>
            <c:numRef>
              <c:f>'Ingresos Clientes y Paises CLP'!$C$60:$F$60</c:f>
              <c:numCache>
                <c:formatCode>0.0,,</c:formatCode>
                <c:ptCount val="4"/>
                <c:pt idx="0">
                  <c:v>0</c:v>
                </c:pt>
                <c:pt idx="1">
                  <c:v>618705.05533110804</c:v>
                </c:pt>
                <c:pt idx="2">
                  <c:v>758254.38536550931</c:v>
                </c:pt>
                <c:pt idx="3">
                  <c:v>436144.67340243747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768-4A93-8EBC-1E37370F8CAF}"/>
            </c:ext>
          </c:extLst>
        </c:ser>
        <c:ser>
          <c:idx val="4"/>
          <c:order val="4"/>
          <c:tx>
            <c:strRef>
              <c:f>'Ingresos Clientes y Paises CLP'!$B$61</c:f>
              <c:strCache>
                <c:ptCount val="1"/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'Ingresos Clientes y Paises CLP'!$C$43:$F$43</c:f>
              <c:numCache>
                <c:formatCode>General</c:formatCode>
                <c:ptCount val="4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</c:numCache>
            </c:numRef>
          </c:cat>
          <c:val>
            <c:numRef>
              <c:f>'Ingresos Clientes y Paises CLP'!$C$61:$F$61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9-4768-4A93-8EBC-1E37370F8CAF}"/>
            </c:ext>
          </c:extLst>
        </c:ser>
        <c:ser>
          <c:idx val="5"/>
          <c:order val="5"/>
          <c:tx>
            <c:strRef>
              <c:f>'Ingresos Clientes y Paises CLP'!$B$62</c:f>
              <c:strCache>
                <c:ptCount val="1"/>
                <c:pt idx="0">
                  <c:v>Total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S_tradnl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'Ingresos Clientes y Paises CLP'!$C$43:$F$43</c:f>
              <c:numCache>
                <c:formatCode>General</c:formatCode>
                <c:ptCount val="4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</c:numCache>
            </c:numRef>
          </c:cat>
          <c:val>
            <c:numRef>
              <c:f>'Ingresos Clientes y Paises CLP'!$C$62:$F$62</c:f>
              <c:numCache>
                <c:formatCode>0.0,,</c:formatCode>
                <c:ptCount val="4"/>
                <c:pt idx="0">
                  <c:v>2284456.0038376101</c:v>
                </c:pt>
                <c:pt idx="1">
                  <c:v>4853228.7950114198</c:v>
                </c:pt>
                <c:pt idx="2">
                  <c:v>3864419.7800016399</c:v>
                </c:pt>
                <c:pt idx="3">
                  <c:v>6462313.04187332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768-4A93-8EBC-1E37370F8C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598779808"/>
        <c:axId val="-598776816"/>
      </c:barChart>
      <c:catAx>
        <c:axId val="-598779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_tradnl"/>
          </a:p>
        </c:txPr>
        <c:crossAx val="-598776816"/>
        <c:crosses val="autoZero"/>
        <c:auto val="1"/>
        <c:lblAlgn val="ctr"/>
        <c:lblOffset val="100"/>
        <c:noMultiLvlLbl val="0"/>
      </c:catAx>
      <c:valAx>
        <c:axId val="-598776816"/>
        <c:scaling>
          <c:orientation val="minMax"/>
          <c:max val="10000000"/>
        </c:scaling>
        <c:delete val="1"/>
        <c:axPos val="l"/>
        <c:numFmt formatCode="0.0,," sourceLinked="1"/>
        <c:majorTickMark val="none"/>
        <c:minorTickMark val="none"/>
        <c:tickLblPos val="nextTo"/>
        <c:crossAx val="-598779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egendEntry>
        <c:idx val="5"/>
        <c:delete val="1"/>
      </c:legendEntry>
      <c:layout>
        <c:manualLayout>
          <c:xMode val="edge"/>
          <c:yMode val="edge"/>
          <c:x val="0.28862075151998401"/>
          <c:y val="0.91580873955640996"/>
          <c:w val="0.42275829761786099"/>
          <c:h val="7.65576726573300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entury Gothic" charset="0"/>
              <a:ea typeface="Century Gothic" charset="0"/>
              <a:cs typeface="Century Gothic" charset="0"/>
            </a:defRPr>
          </a:pPr>
          <a:endParaRPr lang="es-ES_tradn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_tradnl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Indice</c:v>
                </c:pt>
              </c:strCache>
            </c:strRef>
          </c:tx>
          <c:spPr>
            <a:pattFill prst="narHorz">
              <a:fgClr>
                <a:schemeClr val="accent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1"/>
              </a:innerShdw>
            </a:effectLst>
          </c:spPr>
          <c:invertIfNegative val="0"/>
          <c:trendline>
            <c:spPr>
              <a:ln w="19050" cap="rnd">
                <a:solidFill>
                  <a:schemeClr val="accent1"/>
                </a:solidFill>
              </a:ln>
              <a:effectLst/>
            </c:spPr>
            <c:trendlineType val="linear"/>
            <c:dispRSqr val="0"/>
            <c:dispEq val="0"/>
          </c:trendline>
          <c:cat>
            <c:numRef>
              <c:f>Hoja1!$A$2:$A$4</c:f>
              <c:numCache>
                <c:formatCode>General</c:formatCode>
                <c:ptCount val="3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</c:numCache>
            </c:numRef>
          </c:cat>
          <c:val>
            <c:numRef>
              <c:f>Hoja1!$B$2:$B$4</c:f>
              <c:numCache>
                <c:formatCode>_ * #,##0.0_ ;_ * \-#,##0.0_ ;_ * "-"?_ ;_ @_ </c:formatCode>
                <c:ptCount val="3"/>
                <c:pt idx="0">
                  <c:v>0.98564151199682004</c:v>
                </c:pt>
                <c:pt idx="1">
                  <c:v>0.68683234130050697</c:v>
                </c:pt>
                <c:pt idx="2">
                  <c:v>0.82513758739543797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D8-4A79-A347-FFC1496B03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4"/>
        <c:overlap val="-22"/>
        <c:axId val="-574541344"/>
        <c:axId val="-574539280"/>
      </c:barChart>
      <c:catAx>
        <c:axId val="-574541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_tradnl"/>
          </a:p>
        </c:txPr>
        <c:crossAx val="-574539280"/>
        <c:crosses val="autoZero"/>
        <c:auto val="1"/>
        <c:lblAlgn val="ctr"/>
        <c:lblOffset val="100"/>
        <c:noMultiLvlLbl val="0"/>
      </c:catAx>
      <c:valAx>
        <c:axId val="-574539280"/>
        <c:scaling>
          <c:orientation val="minMax"/>
        </c:scaling>
        <c:delete val="0"/>
        <c:axPos val="l"/>
        <c:numFmt formatCode="_ * #,##0.0_ ;_ * \-#,##0.0_ ;_ * &quot;-&quot;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_tradnl"/>
          </a:p>
        </c:txPr>
        <c:crossAx val="-5745413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ES_tradnl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133585699821201"/>
          <c:y val="2.8755161228221301E-2"/>
          <c:w val="0.942746805019675"/>
          <c:h val="0.7899390728034030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Patrimonio</c:v>
                </c:pt>
              </c:strCache>
            </c:strRef>
          </c:tx>
          <c:spPr>
            <a:pattFill prst="narHorz">
              <a:fgClr>
                <a:schemeClr val="accent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1"/>
              </a:innerShdw>
            </a:effectLst>
          </c:spPr>
          <c:invertIfNegative val="0"/>
          <c:dLbls>
            <c:dLbl>
              <c:idx val="0"/>
              <c:layout>
                <c:manualLayout>
                  <c:x val="0"/>
                  <c:y val="-8.6418587481383005E-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31D-43D9-9A9C-F05C79EA73EF}"/>
                </c:ext>
              </c:extLst>
            </c:dLbl>
            <c:dLbl>
              <c:idx val="1"/>
              <c:layout>
                <c:manualLayout>
                  <c:x val="5.4280022515523297E-3"/>
                  <c:y val="-8.6418587481386301E-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31D-43D9-9A9C-F05C79EA73EF}"/>
                </c:ext>
              </c:extLst>
            </c:dLbl>
            <c:dLbl>
              <c:idx val="2"/>
              <c:layout>
                <c:manualLayout>
                  <c:x val="-9.9512225038080505E-17"/>
                  <c:y val="-1.1666509309986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31D-43D9-9A9C-F05C79EA73EF}"/>
                </c:ext>
              </c:extLst>
            </c:dLbl>
            <c:spPr>
              <a:solidFill>
                <a:schemeClr val="bg2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S_tradn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Hoja1!$A$2:$A$4</c:f>
              <c:numCache>
                <c:formatCode>General</c:formatCode>
                <c:ptCount val="3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</c:numCache>
            </c:numRef>
          </c:cat>
          <c:val>
            <c:numRef>
              <c:f>Hoja1!$B$2:$B$4</c:f>
              <c:numCache>
                <c:formatCode>_(* #,##0_);_(* \(#,##0\);_(* "-"_);_(@_)</c:formatCode>
                <c:ptCount val="3"/>
                <c:pt idx="0">
                  <c:v>1101.026977437064</c:v>
                </c:pt>
                <c:pt idx="1">
                  <c:v>1828.4360342014611</c:v>
                </c:pt>
                <c:pt idx="2">
                  <c:v>2059.3915115540422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1D-43D9-9A9C-F05C79EA73E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64"/>
        <c:overlap val="-22"/>
        <c:axId val="-565093072"/>
        <c:axId val="-565090320"/>
      </c:barChart>
      <c:catAx>
        <c:axId val="-565093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_tradnl"/>
          </a:p>
        </c:txPr>
        <c:crossAx val="-565090320"/>
        <c:crosses val="autoZero"/>
        <c:auto val="1"/>
        <c:lblAlgn val="ctr"/>
        <c:lblOffset val="100"/>
        <c:noMultiLvlLbl val="0"/>
      </c:catAx>
      <c:valAx>
        <c:axId val="-565090320"/>
        <c:scaling>
          <c:orientation val="minMax"/>
        </c:scaling>
        <c:delete val="0"/>
        <c:axPos val="l"/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_tradnl"/>
          </a:p>
        </c:txPr>
        <c:crossAx val="-5650930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ES_tradnl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7025827757400901E-2"/>
          <c:y val="4.8245614035087703E-2"/>
          <c:w val="0.87870946495538804"/>
          <c:h val="0.70563206708962001"/>
        </c:manualLayout>
      </c:layout>
      <c:areaChart>
        <c:grouping val="stacked"/>
        <c:varyColors val="0"/>
        <c:ser>
          <c:idx val="0"/>
          <c:order val="0"/>
          <c:tx>
            <c:strRef>
              <c:f>'brechas de capacidad'!$D$3</c:f>
              <c:strCache>
                <c:ptCount val="1"/>
                <c:pt idx="0">
                  <c:v>Capacidad Base*</c:v>
                </c:pt>
              </c:strCache>
            </c:strRef>
          </c:tx>
          <c:spPr>
            <a:solidFill>
              <a:srgbClr val="A5AD3C"/>
            </a:solidFill>
            <a:ln>
              <a:noFill/>
            </a:ln>
            <a:effectLst/>
          </c:spPr>
          <c:cat>
            <c:numRef>
              <c:f>'brechas de capacidad'!$C$4:$C$14</c:f>
              <c:numCache>
                <c:formatCode>General</c:formatCode>
                <c:ptCount val="11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</c:numCache>
            </c:numRef>
          </c:cat>
          <c:val>
            <c:numRef>
              <c:f>'brechas de capacidad'!$D$4:$D$14</c:f>
              <c:numCache>
                <c:formatCode>_(* #,##0_);_(* \(#,##0\);_(* "-"_);_(@_)</c:formatCode>
                <c:ptCount val="11"/>
                <c:pt idx="0">
                  <c:v>21413.620220000001</c:v>
                </c:pt>
                <c:pt idx="1">
                  <c:v>22098.24339</c:v>
                </c:pt>
                <c:pt idx="2">
                  <c:v>22302.706891500009</c:v>
                </c:pt>
                <c:pt idx="3">
                  <c:v>24008.258716</c:v>
                </c:pt>
                <c:pt idx="4">
                  <c:v>24381.363697699999</c:v>
                </c:pt>
                <c:pt idx="5">
                  <c:v>24467.576763900001</c:v>
                </c:pt>
                <c:pt idx="6">
                  <c:v>23816.9996145</c:v>
                </c:pt>
                <c:pt idx="7">
                  <c:v>23323.9754355</c:v>
                </c:pt>
                <c:pt idx="8">
                  <c:v>22627.375233999999</c:v>
                </c:pt>
                <c:pt idx="9">
                  <c:v>22077.16992799989</c:v>
                </c:pt>
                <c:pt idx="10">
                  <c:v>21252.948541000009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DA-46F9-8159-FE345F079214}"/>
            </c:ext>
          </c:extLst>
        </c:ser>
        <c:ser>
          <c:idx val="1"/>
          <c:order val="1"/>
          <c:tx>
            <c:strRef>
              <c:f>'brechas de capacidad'!$E$3</c:f>
              <c:strCache>
                <c:ptCount val="1"/>
                <c:pt idx="0">
                  <c:v>Proyectos Probables*</c:v>
                </c:pt>
              </c:strCache>
            </c:strRef>
          </c:tx>
          <c:spPr>
            <a:solidFill>
              <a:srgbClr val="C7B299"/>
            </a:solidFill>
            <a:ln>
              <a:noFill/>
            </a:ln>
            <a:effectLst/>
          </c:spPr>
          <c:cat>
            <c:numRef>
              <c:f>'brechas de capacidad'!$C$4:$C$14</c:f>
              <c:numCache>
                <c:formatCode>General</c:formatCode>
                <c:ptCount val="11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</c:numCache>
            </c:numRef>
          </c:cat>
          <c:val>
            <c:numRef>
              <c:f>'brechas de capacidad'!$E$4:$E$14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 formatCode="_(* #,##0_);_(* \(#,##0\);_(* &quot;-&quot;_);_(@_)">
                  <c:v>24.34375</c:v>
                </c:pt>
                <c:pt idx="3" formatCode="_(* #,##0_);_(* \(#,##0\);_(* &quot;-&quot;_);_(@_)">
                  <c:v>180.41735</c:v>
                </c:pt>
                <c:pt idx="4" formatCode="_(* #,##0_);_(* \(#,##0\);_(* &quot;-&quot;_);_(@_)">
                  <c:v>541.26249999999936</c:v>
                </c:pt>
                <c:pt idx="5" formatCode="_(* #,##0_);_(* \(#,##0\);_(* &quot;-&quot;_);_(@_)">
                  <c:v>1001.78355</c:v>
                </c:pt>
                <c:pt idx="6" formatCode="_(* #,##0_);_(* \(#,##0\);_(* &quot;-&quot;_);_(@_)">
                  <c:v>1399.0906500000001</c:v>
                </c:pt>
                <c:pt idx="7" formatCode="_(* #,##0_);_(* \(#,##0\);_(* &quot;-&quot;_);_(@_)">
                  <c:v>1731.3142</c:v>
                </c:pt>
                <c:pt idx="8" formatCode="_(* #,##0_);_(* \(#,##0\);_(* &quot;-&quot;_);_(@_)">
                  <c:v>1881.2184999999999</c:v>
                </c:pt>
                <c:pt idx="9" formatCode="_(* #,##0_);_(* \(#,##0\);_(* &quot;-&quot;_);_(@_)">
                  <c:v>2056.6768499999998</c:v>
                </c:pt>
                <c:pt idx="10" formatCode="_(* #,##0_);_(* \(#,##0\);_(* &quot;-&quot;_);_(@_)">
                  <c:v>2275.1939499999999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CDA-46F9-8159-FE345F0792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600500816"/>
        <c:axId val="-600496064"/>
      </c:areaChart>
      <c:lineChart>
        <c:grouping val="standard"/>
        <c:varyColors val="0"/>
        <c:ser>
          <c:idx val="3"/>
          <c:order val="2"/>
          <c:tx>
            <c:strRef>
              <c:f>'brechas de capacidad'!$F$3</c:f>
              <c:strCache>
                <c:ptCount val="1"/>
                <c:pt idx="0">
                  <c:v>Demanda Primaria 1,9% (IEA)</c:v>
                </c:pt>
              </c:strCache>
            </c:strRef>
          </c:tx>
          <c:spPr>
            <a:ln w="28575" cap="rnd">
              <a:solidFill>
                <a:srgbClr val="C94200"/>
              </a:solidFill>
              <a:round/>
            </a:ln>
            <a:effectLst/>
          </c:spPr>
          <c:marker>
            <c:symbol val="none"/>
          </c:marker>
          <c:val>
            <c:numRef>
              <c:f>'brechas de capacidad'!$F$4:$F$14</c:f>
              <c:numCache>
                <c:formatCode>_(* #,##0_);_(* \(#,##0\);_(* "-"_);_(@_)</c:formatCode>
                <c:ptCount val="11"/>
                <c:pt idx="0">
                  <c:v>21746</c:v>
                </c:pt>
                <c:pt idx="1">
                  <c:v>22159.173999999999</c:v>
                </c:pt>
                <c:pt idx="2">
                  <c:v>22580.198305999998</c:v>
                </c:pt>
                <c:pt idx="3">
                  <c:v>23009.222073813999</c:v>
                </c:pt>
                <c:pt idx="4">
                  <c:v>23446.397293216462</c:v>
                </c:pt>
                <c:pt idx="5">
                  <c:v>23891.878841787569</c:v>
                </c:pt>
                <c:pt idx="6">
                  <c:v>24345.82453978153</c:v>
                </c:pt>
                <c:pt idx="7">
                  <c:v>24808.39520603729</c:v>
                </c:pt>
                <c:pt idx="8">
                  <c:v>25279.754714952101</c:v>
                </c:pt>
                <c:pt idx="9">
                  <c:v>25760.070054536169</c:v>
                </c:pt>
                <c:pt idx="10">
                  <c:v>26249.511385572361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CDA-46F9-8159-FE345F079214}"/>
            </c:ext>
          </c:extLst>
        </c:ser>
        <c:ser>
          <c:idx val="4"/>
          <c:order val="3"/>
          <c:tx>
            <c:strRef>
              <c:f>'brechas de capacidad'!$G$3</c:f>
              <c:strCache>
                <c:ptCount val="1"/>
                <c:pt idx="0">
                  <c:v>Demanda Primaria 2,2% (Woodmac)</c:v>
                </c:pt>
              </c:strCache>
            </c:strRef>
          </c:tx>
          <c:spPr>
            <a:ln w="28575" cap="rnd">
              <a:solidFill>
                <a:srgbClr val="004E59"/>
              </a:solidFill>
              <a:round/>
            </a:ln>
            <a:effectLst/>
          </c:spPr>
          <c:marker>
            <c:symbol val="none"/>
          </c:marker>
          <c:cat>
            <c:numRef>
              <c:f>'brechas de capacidad'!$C$4:$C$14</c:f>
              <c:numCache>
                <c:formatCode>General</c:formatCode>
                <c:ptCount val="11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</c:numCache>
            </c:numRef>
          </c:cat>
          <c:val>
            <c:numRef>
              <c:f>'brechas de capacidad'!$G$4:$G$14</c:f>
              <c:numCache>
                <c:formatCode>_(* #,##0_);_(* \(#,##0\);_(* "-"_);_(@_)</c:formatCode>
                <c:ptCount val="11"/>
                <c:pt idx="0">
                  <c:v>21746</c:v>
                </c:pt>
                <c:pt idx="1">
                  <c:v>22224.412</c:v>
                </c:pt>
                <c:pt idx="2">
                  <c:v>22713.349064000002</c:v>
                </c:pt>
                <c:pt idx="3">
                  <c:v>23213.042743408001</c:v>
                </c:pt>
                <c:pt idx="4">
                  <c:v>23723.72968376298</c:v>
                </c:pt>
                <c:pt idx="5">
                  <c:v>24245.651736805641</c:v>
                </c:pt>
                <c:pt idx="6">
                  <c:v>24779.056075015498</c:v>
                </c:pt>
                <c:pt idx="7">
                  <c:v>25324.195308665821</c:v>
                </c:pt>
                <c:pt idx="8">
                  <c:v>25881.327605456481</c:v>
                </c:pt>
                <c:pt idx="9">
                  <c:v>26450.716812776522</c:v>
                </c:pt>
                <c:pt idx="10">
                  <c:v>27032.63258265761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CDA-46F9-8159-FE345F079214}"/>
            </c:ext>
          </c:extLst>
        </c:ser>
        <c:ser>
          <c:idx val="2"/>
          <c:order val="4"/>
          <c:tx>
            <c:strRef>
              <c:f>'brechas de capacidad'!$H$3</c:f>
              <c:strCache>
                <c:ptCount val="1"/>
                <c:pt idx="0">
                  <c:v>Demanda Primaria 2,6% (20 años)</c:v>
                </c:pt>
              </c:strCache>
            </c:strRef>
          </c:tx>
          <c:spPr>
            <a:ln w="28575" cap="rnd">
              <a:solidFill>
                <a:srgbClr val="FFA80E"/>
              </a:solidFill>
              <a:round/>
            </a:ln>
            <a:effectLst/>
          </c:spPr>
          <c:marker>
            <c:symbol val="none"/>
          </c:marker>
          <c:cat>
            <c:numRef>
              <c:f>'brechas de capacidad'!$C$4:$C$14</c:f>
              <c:numCache>
                <c:formatCode>General</c:formatCode>
                <c:ptCount val="11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</c:numCache>
            </c:numRef>
          </c:cat>
          <c:val>
            <c:numRef>
              <c:f>'brechas de capacidad'!$H$4:$H$14</c:f>
              <c:numCache>
                <c:formatCode>_(* #,##0_);_(* \(#,##0\);_(* "-"_);_(@_)</c:formatCode>
                <c:ptCount val="11"/>
                <c:pt idx="0">
                  <c:v>21746</c:v>
                </c:pt>
                <c:pt idx="1">
                  <c:v>22311.396000000001</c:v>
                </c:pt>
                <c:pt idx="2">
                  <c:v>22891.492296</c:v>
                </c:pt>
                <c:pt idx="3">
                  <c:v>23486.671095696001</c:v>
                </c:pt>
                <c:pt idx="4">
                  <c:v>24097.324544184099</c:v>
                </c:pt>
                <c:pt idx="5">
                  <c:v>24723.854982332901</c:v>
                </c:pt>
                <c:pt idx="6">
                  <c:v>25366.675211873509</c:v>
                </c:pt>
                <c:pt idx="7">
                  <c:v>26026.20876738225</c:v>
                </c:pt>
                <c:pt idx="8">
                  <c:v>26702.890195334199</c:v>
                </c:pt>
                <c:pt idx="9">
                  <c:v>27397.165340412881</c:v>
                </c:pt>
                <c:pt idx="10">
                  <c:v>28109.491639263619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8CDA-46F9-8159-FE345F0792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600500816"/>
        <c:axId val="-600496064"/>
      </c:lineChart>
      <c:catAx>
        <c:axId val="-6005008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t" anchorCtr="1"/>
          <a:lstStyle/>
          <a:p>
            <a:pPr>
              <a:defRPr sz="700" b="0" i="0" u="none" strike="noStrike" kern="1200" baseline="0">
                <a:solidFill>
                  <a:srgbClr val="004E59"/>
                </a:solidFill>
                <a:latin typeface="+mn-lt"/>
                <a:ea typeface="+mn-ea"/>
                <a:cs typeface="+mn-cs"/>
              </a:defRPr>
            </a:pPr>
            <a:endParaRPr lang="es-ES_tradnl"/>
          </a:p>
        </c:txPr>
        <c:crossAx val="-600496064"/>
        <c:crosses val="autoZero"/>
        <c:auto val="1"/>
        <c:lblAlgn val="ctr"/>
        <c:lblOffset val="100"/>
        <c:noMultiLvlLbl val="0"/>
      </c:catAx>
      <c:valAx>
        <c:axId val="-600496064"/>
        <c:scaling>
          <c:orientation val="minMax"/>
          <c:max val="30000"/>
          <c:min val="16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rgbClr val="004E59"/>
                </a:solidFill>
                <a:latin typeface="+mn-lt"/>
                <a:ea typeface="+mn-ea"/>
                <a:cs typeface="+mn-cs"/>
              </a:defRPr>
            </a:pPr>
            <a:endParaRPr lang="es-ES_tradnl"/>
          </a:p>
        </c:txPr>
        <c:crossAx val="-6005008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4529106387114605"/>
          <c:w val="0.98650187712586201"/>
          <c:h val="0.154708936128854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rgbClr val="004E59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s-ES_tradnl"/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400" b="1">
          <a:solidFill>
            <a:schemeClr val="bg2">
              <a:lumMod val="10000"/>
            </a:schemeClr>
          </a:solidFill>
        </a:defRPr>
      </a:pPr>
      <a:endParaRPr lang="es-ES_tradnl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'Intensidad de capital promedio'!$K$121</c:f>
              <c:strCache>
                <c:ptCount val="1"/>
                <c:pt idx="0">
                  <c:v>Proyectos en construcción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4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5E6-4C4F-BC29-D86BAD20F3B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ES_tradnl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'Intensidad de capital promedio'!$J$122</c:f>
              <c:strCache>
                <c:ptCount val="1"/>
                <c:pt idx="0">
                  <c:v>Capex inicial</c:v>
                </c:pt>
              </c:strCache>
            </c:strRef>
          </c:cat>
          <c:val>
            <c:numRef>
              <c:f>'Intensidad de capital promedio'!$K$122</c:f>
              <c:numCache>
                <c:formatCode>_(* #,##0_);_(* \(#,##0\);_(* "-"_);_(@_)</c:formatCode>
                <c:ptCount val="1"/>
                <c:pt idx="0">
                  <c:v>21.132000000000001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5E6-4C4F-BC29-D86BAD20F3B9}"/>
            </c:ext>
          </c:extLst>
        </c:ser>
        <c:ser>
          <c:idx val="1"/>
          <c:order val="1"/>
          <c:tx>
            <c:strRef>
              <c:f>'Intensidad de capital promedio'!$L$121</c:f>
              <c:strCache>
                <c:ptCount val="1"/>
                <c:pt idx="0">
                  <c:v>Proyectos probables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61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5E6-4C4F-BC29-D86BAD20F3B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ES_tradnl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'Intensidad de capital promedio'!$J$122</c:f>
              <c:strCache>
                <c:ptCount val="1"/>
                <c:pt idx="0">
                  <c:v>Capex inicial</c:v>
                </c:pt>
              </c:strCache>
            </c:strRef>
          </c:cat>
          <c:val>
            <c:numRef>
              <c:f>'Intensidad de capital promedio'!$L$122</c:f>
              <c:numCache>
                <c:formatCode>_(* #,##0_);_(* \(#,##0\);_(* "-"_);_(@_)</c:formatCode>
                <c:ptCount val="1"/>
                <c:pt idx="0">
                  <c:v>60.713632514729042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5E6-4C4F-BC29-D86BAD20F3B9}"/>
            </c:ext>
          </c:extLst>
        </c:ser>
        <c:ser>
          <c:idx val="2"/>
          <c:order val="2"/>
          <c:tx>
            <c:strRef>
              <c:f>'Intensidad de capital promedio'!$M$121</c:f>
              <c:strCache>
                <c:ptCount val="1"/>
                <c:pt idx="0">
                  <c:v>Proyectos posibles</c:v>
                </c:pt>
              </c:strCache>
            </c:strRef>
          </c:tx>
          <c:spPr>
            <a:solidFill>
              <a:schemeClr val="accent2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ES_tradn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'Intensidad de capital promedio'!$J$122</c:f>
              <c:strCache>
                <c:ptCount val="1"/>
                <c:pt idx="0">
                  <c:v>Capex inicial</c:v>
                </c:pt>
              </c:strCache>
            </c:strRef>
          </c:cat>
          <c:val>
            <c:numRef>
              <c:f>'Intensidad de capital promedio'!$M$122</c:f>
              <c:numCache>
                <c:formatCode>_(* #,##0_);_(* \(#,##0\);_(* "-"_);_(@_)</c:formatCode>
                <c:ptCount val="1"/>
                <c:pt idx="0">
                  <c:v>71.272525125986249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5E6-4C4F-BC29-D86BAD20F3B9}"/>
            </c:ext>
          </c:extLst>
        </c:ser>
        <c:dLbls>
          <c:dLblPos val="inBase"/>
          <c:showLegendKey val="0"/>
          <c:showVal val="1"/>
          <c:showCatName val="0"/>
          <c:showSerName val="0"/>
          <c:showPercent val="0"/>
          <c:showBubbleSize val="0"/>
        </c:dLbls>
        <c:gapWidth val="8"/>
        <c:overlap val="100"/>
        <c:axId val="-578253472"/>
        <c:axId val="-578018096"/>
      </c:barChart>
      <c:catAx>
        <c:axId val="-578253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_tradnl"/>
          </a:p>
        </c:txPr>
        <c:crossAx val="-578018096"/>
        <c:crosses val="autoZero"/>
        <c:auto val="1"/>
        <c:lblAlgn val="ctr"/>
        <c:lblOffset val="100"/>
        <c:noMultiLvlLbl val="0"/>
      </c:catAx>
      <c:valAx>
        <c:axId val="-578018096"/>
        <c:scaling>
          <c:orientation val="minMax"/>
          <c:max val="16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_tradnl"/>
          </a:p>
        </c:txPr>
        <c:crossAx val="-578253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700" b="1"/>
      </a:pPr>
      <a:endParaRPr lang="es-ES_tradn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C6A2F1-6705-45D4-9B00-C79021CBA8C2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A3AF33BD-60D0-4FF8-9E31-E56F49B59414}">
      <dgm:prSet phldrT="[Texto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s-MX" sz="1400">
              <a:solidFill>
                <a:schemeClr val="bg1"/>
              </a:solidFill>
            </a:rPr>
            <a:t>Ejecución</a:t>
          </a:r>
          <a:endParaRPr lang="en-US" sz="900" i="1">
            <a:solidFill>
              <a:schemeClr val="bg1"/>
            </a:solidFill>
          </a:endParaRPr>
        </a:p>
        <a:p>
          <a:r>
            <a:rPr lang="en-US" sz="900" i="1" err="1">
              <a:solidFill>
                <a:schemeClr val="bg1"/>
              </a:solidFill>
            </a:rPr>
            <a:t>En</a:t>
          </a:r>
          <a:r>
            <a:rPr lang="en-US" sz="900" i="1">
              <a:solidFill>
                <a:schemeClr val="bg1"/>
              </a:solidFill>
            </a:rPr>
            <a:t> </a:t>
          </a:r>
          <a:r>
            <a:rPr lang="en-US" sz="900" i="1" err="1">
              <a:solidFill>
                <a:schemeClr val="bg1"/>
              </a:solidFill>
            </a:rPr>
            <a:t>calidad</a:t>
          </a:r>
          <a:r>
            <a:rPr lang="en-US" sz="900" i="1">
              <a:solidFill>
                <a:schemeClr val="bg1"/>
              </a:solidFill>
            </a:rPr>
            <a:t>, </a:t>
          </a:r>
          <a:r>
            <a:rPr lang="en-US" sz="900" i="1" err="1">
              <a:solidFill>
                <a:schemeClr val="bg1"/>
              </a:solidFill>
            </a:rPr>
            <a:t>tiempo</a:t>
          </a:r>
          <a:r>
            <a:rPr lang="en-US" sz="900" i="1">
              <a:solidFill>
                <a:schemeClr val="bg1"/>
              </a:solidFill>
            </a:rPr>
            <a:t> y </a:t>
          </a:r>
          <a:r>
            <a:rPr lang="en-US" sz="900" i="1" err="1">
              <a:solidFill>
                <a:schemeClr val="bg1"/>
              </a:solidFill>
            </a:rPr>
            <a:t>costo</a:t>
          </a:r>
          <a:r>
            <a:rPr lang="en-US" sz="900" i="1">
              <a:solidFill>
                <a:schemeClr val="bg1"/>
              </a:solidFill>
            </a:rPr>
            <a:t> con feedback continuo </a:t>
          </a:r>
          <a:r>
            <a:rPr lang="en-US" sz="900" i="1" err="1">
              <a:solidFill>
                <a:schemeClr val="bg1"/>
              </a:solidFill>
            </a:rPr>
            <a:t>en</a:t>
          </a:r>
          <a:r>
            <a:rPr lang="en-US" sz="900" i="1">
              <a:solidFill>
                <a:schemeClr val="bg1"/>
              </a:solidFill>
            </a:rPr>
            <a:t> </a:t>
          </a:r>
          <a:r>
            <a:rPr lang="en-US" sz="900" i="1" err="1">
              <a:solidFill>
                <a:schemeClr val="bg1"/>
              </a:solidFill>
            </a:rPr>
            <a:t>expectativas</a:t>
          </a:r>
          <a:r>
            <a:rPr lang="en-US" sz="900" i="1">
              <a:solidFill>
                <a:schemeClr val="bg1"/>
              </a:solidFill>
            </a:rPr>
            <a:t> y </a:t>
          </a:r>
          <a:r>
            <a:rPr lang="en-US" sz="900" i="1" err="1">
              <a:solidFill>
                <a:schemeClr val="bg1"/>
              </a:solidFill>
            </a:rPr>
            <a:t>alcance</a:t>
          </a:r>
          <a:endParaRPr lang="es-MX" sz="900" i="1">
            <a:solidFill>
              <a:schemeClr val="bg1"/>
            </a:solidFill>
          </a:endParaRPr>
        </a:p>
      </dgm:t>
    </dgm:pt>
    <dgm:pt modelId="{B4F218E8-B5A9-4691-8F66-44BCF6A10CA1}" type="parTrans" cxnId="{6A247F51-C6EA-4DB0-A2C5-8D846E9C1E93}">
      <dgm:prSet/>
      <dgm:spPr/>
      <dgm:t>
        <a:bodyPr/>
        <a:lstStyle/>
        <a:p>
          <a:endParaRPr lang="es-CL">
            <a:solidFill>
              <a:schemeClr val="bg1"/>
            </a:solidFill>
          </a:endParaRPr>
        </a:p>
      </dgm:t>
    </dgm:pt>
    <dgm:pt modelId="{E55374FC-F139-4822-A140-2FC1862C2CB4}" type="sibTrans" cxnId="{6A247F51-C6EA-4DB0-A2C5-8D846E9C1E93}">
      <dgm:prSet/>
      <dgm:spPr/>
      <dgm:t>
        <a:bodyPr/>
        <a:lstStyle/>
        <a:p>
          <a:endParaRPr lang="es-CL">
            <a:solidFill>
              <a:schemeClr val="bg1"/>
            </a:solidFill>
          </a:endParaRPr>
        </a:p>
      </dgm:t>
    </dgm:pt>
    <dgm:pt modelId="{B5C64236-5051-44D5-8999-340769429F9A}">
      <dgm:prSet phldrT="[Texto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s-MX" sz="1400">
              <a:solidFill>
                <a:schemeClr val="bg1"/>
              </a:solidFill>
            </a:rPr>
            <a:t>Gestión de alcance, entregables y cobranza</a:t>
          </a:r>
        </a:p>
        <a:p>
          <a:r>
            <a:rPr lang="en-US" sz="900" i="1" err="1">
              <a:solidFill>
                <a:schemeClr val="bg1"/>
              </a:solidFill>
            </a:rPr>
            <a:t>Asegurar</a:t>
          </a:r>
          <a:r>
            <a:rPr lang="en-US" sz="900" i="1">
              <a:solidFill>
                <a:schemeClr val="bg1"/>
              </a:solidFill>
            </a:rPr>
            <a:t> </a:t>
          </a:r>
          <a:r>
            <a:rPr lang="en-US" sz="900" i="1" err="1">
              <a:solidFill>
                <a:schemeClr val="bg1"/>
              </a:solidFill>
            </a:rPr>
            <a:t>coherencia</a:t>
          </a:r>
          <a:r>
            <a:rPr lang="en-US" sz="900" i="1">
              <a:solidFill>
                <a:schemeClr val="bg1"/>
              </a:solidFill>
            </a:rPr>
            <a:t> entre lo </a:t>
          </a:r>
          <a:r>
            <a:rPr lang="en-US" sz="900" i="1" err="1">
              <a:solidFill>
                <a:schemeClr val="bg1"/>
              </a:solidFill>
            </a:rPr>
            <a:t>ejecutado</a:t>
          </a:r>
          <a:r>
            <a:rPr lang="en-US" sz="900" i="1">
              <a:solidFill>
                <a:schemeClr val="bg1"/>
              </a:solidFill>
            </a:rPr>
            <a:t> y </a:t>
          </a:r>
          <a:r>
            <a:rPr lang="en-US" sz="900" i="1" err="1">
              <a:solidFill>
                <a:schemeClr val="bg1"/>
              </a:solidFill>
            </a:rPr>
            <a:t>comprometido</a:t>
          </a:r>
          <a:endParaRPr lang="es-CL" sz="900" i="1">
            <a:solidFill>
              <a:schemeClr val="bg1"/>
            </a:solidFill>
          </a:endParaRPr>
        </a:p>
      </dgm:t>
    </dgm:pt>
    <dgm:pt modelId="{514AF3E6-13EE-4FD4-BFFA-98AFCD616BD3}" type="parTrans" cxnId="{07FECC07-BA87-444F-A1CD-005D6EAED06C}">
      <dgm:prSet/>
      <dgm:spPr/>
      <dgm:t>
        <a:bodyPr/>
        <a:lstStyle/>
        <a:p>
          <a:endParaRPr lang="es-CL">
            <a:solidFill>
              <a:schemeClr val="bg1"/>
            </a:solidFill>
          </a:endParaRPr>
        </a:p>
      </dgm:t>
    </dgm:pt>
    <dgm:pt modelId="{E8DDF9E7-7650-4C63-9475-C49AA81316A9}" type="sibTrans" cxnId="{07FECC07-BA87-444F-A1CD-005D6EAED06C}">
      <dgm:prSet/>
      <dgm:spPr/>
      <dgm:t>
        <a:bodyPr/>
        <a:lstStyle/>
        <a:p>
          <a:endParaRPr lang="es-CL">
            <a:solidFill>
              <a:schemeClr val="bg1"/>
            </a:solidFill>
          </a:endParaRPr>
        </a:p>
      </dgm:t>
    </dgm:pt>
    <dgm:pt modelId="{481BE2D6-B5DC-42F6-91B2-954EC206BF7C}">
      <dgm:prSet phldrT="[Texto]" custT="1"/>
      <dgm:spPr/>
      <dgm:t>
        <a:bodyPr/>
        <a:lstStyle/>
        <a:p>
          <a:r>
            <a:rPr lang="es-MX" sz="1400">
              <a:solidFill>
                <a:schemeClr val="bg1"/>
              </a:solidFill>
            </a:rPr>
            <a:t>Post evaluación</a:t>
          </a:r>
        </a:p>
        <a:p>
          <a:pPr rtl="0"/>
          <a:r>
            <a:rPr lang="en-US" sz="900" i="1" err="1">
              <a:solidFill>
                <a:schemeClr val="bg1"/>
              </a:solidFill>
            </a:rPr>
            <a:t>Cliente</a:t>
          </a:r>
          <a:r>
            <a:rPr lang="en-US" sz="900" i="1">
              <a:solidFill>
                <a:schemeClr val="bg1"/>
              </a:solidFill>
            </a:rPr>
            <a:t> y </a:t>
          </a:r>
          <a:r>
            <a:rPr lang="en-US" sz="900" i="1" err="1">
              <a:solidFill>
                <a:schemeClr val="bg1"/>
              </a:solidFill>
            </a:rPr>
            <a:t>equipo</a:t>
          </a:r>
          <a:r>
            <a:rPr lang="en-US" sz="900" i="1">
              <a:solidFill>
                <a:schemeClr val="bg1"/>
              </a:solidFill>
            </a:rPr>
            <a:t> </a:t>
          </a:r>
          <a:r>
            <a:rPr lang="en-US" sz="900" i="1" err="1">
              <a:solidFill>
                <a:schemeClr val="bg1"/>
              </a:solidFill>
            </a:rPr>
            <a:t>reconocen</a:t>
          </a:r>
          <a:r>
            <a:rPr lang="en-US" sz="900" i="1">
              <a:solidFill>
                <a:schemeClr val="bg1"/>
              </a:solidFill>
            </a:rPr>
            <a:t> </a:t>
          </a:r>
          <a:r>
            <a:rPr lang="en-US" sz="900" i="1" err="1">
              <a:solidFill>
                <a:schemeClr val="bg1"/>
              </a:solidFill>
            </a:rPr>
            <a:t>una</a:t>
          </a:r>
          <a:r>
            <a:rPr lang="en-US" sz="900" i="1">
              <a:solidFill>
                <a:schemeClr val="bg1"/>
              </a:solidFill>
            </a:rPr>
            <a:t> </a:t>
          </a:r>
          <a:r>
            <a:rPr lang="en-US" sz="900" i="1" err="1">
              <a:solidFill>
                <a:schemeClr val="bg1"/>
              </a:solidFill>
            </a:rPr>
            <a:t>experiencia</a:t>
          </a:r>
          <a:r>
            <a:rPr lang="en-US" sz="900" i="1">
              <a:solidFill>
                <a:schemeClr val="bg1"/>
              </a:solidFill>
              <a:latin typeface="Arial"/>
            </a:rPr>
            <a:t> </a:t>
          </a:r>
          <a:r>
            <a:rPr lang="en-US" sz="900" i="1" err="1">
              <a:solidFill>
                <a:schemeClr val="bg1"/>
              </a:solidFill>
            </a:rPr>
            <a:t>distintiva</a:t>
          </a:r>
          <a:r>
            <a:rPr lang="en-US" sz="900" i="1">
              <a:solidFill>
                <a:schemeClr val="bg1"/>
              </a:solidFill>
            </a:rPr>
            <a:t> </a:t>
          </a:r>
          <a:endParaRPr lang="es-CL" sz="900" i="1">
            <a:solidFill>
              <a:schemeClr val="bg1"/>
            </a:solidFill>
          </a:endParaRPr>
        </a:p>
      </dgm:t>
    </dgm:pt>
    <dgm:pt modelId="{BF17004B-F4C5-446F-BF54-45AE2BD7075C}" type="parTrans" cxnId="{50E22F17-73D8-4DF0-A3BF-3DFEAB4E7440}">
      <dgm:prSet/>
      <dgm:spPr/>
      <dgm:t>
        <a:bodyPr/>
        <a:lstStyle/>
        <a:p>
          <a:endParaRPr lang="es-CL">
            <a:solidFill>
              <a:schemeClr val="bg1"/>
            </a:solidFill>
          </a:endParaRPr>
        </a:p>
      </dgm:t>
    </dgm:pt>
    <dgm:pt modelId="{3E7743DA-C38E-483D-9AD5-A0DC804D3636}" type="sibTrans" cxnId="{50E22F17-73D8-4DF0-A3BF-3DFEAB4E7440}">
      <dgm:prSet/>
      <dgm:spPr/>
      <dgm:t>
        <a:bodyPr/>
        <a:lstStyle/>
        <a:p>
          <a:endParaRPr lang="es-CL">
            <a:solidFill>
              <a:schemeClr val="bg1"/>
            </a:solidFill>
          </a:endParaRPr>
        </a:p>
      </dgm:t>
    </dgm:pt>
    <dgm:pt modelId="{1138C8C7-0981-40A5-8A11-95AA956E9163}">
      <dgm:prSet phldrT="[Texto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s-MX" sz="1400">
              <a:solidFill>
                <a:schemeClr val="bg1"/>
              </a:solidFill>
            </a:rPr>
            <a:t>Comercial</a:t>
          </a:r>
        </a:p>
        <a:p>
          <a:pPr rtl="0"/>
          <a:r>
            <a:rPr lang="en-US" sz="900" i="1" err="1">
              <a:solidFill>
                <a:schemeClr val="bg1"/>
              </a:solidFill>
            </a:rPr>
            <a:t>Lograr</a:t>
          </a:r>
          <a:r>
            <a:rPr lang="en-US" sz="900" i="1">
              <a:solidFill>
                <a:schemeClr val="bg1"/>
              </a:solidFill>
              <a:latin typeface="Arial"/>
            </a:rPr>
            <a:t> </a:t>
          </a:r>
          <a:r>
            <a:rPr lang="en-US" sz="900" i="1" err="1">
              <a:solidFill>
                <a:schemeClr val="bg1"/>
              </a:solidFill>
            </a:rPr>
            <a:t>Calidad</a:t>
          </a:r>
          <a:r>
            <a:rPr lang="en-US" sz="900" i="1">
              <a:solidFill>
                <a:schemeClr val="bg1"/>
              </a:solidFill>
            </a:rPr>
            <a:t> / </a:t>
          </a:r>
          <a:r>
            <a:rPr lang="en-US" sz="900" i="1" err="1">
              <a:solidFill>
                <a:schemeClr val="bg1"/>
              </a:solidFill>
            </a:rPr>
            <a:t>Precio</a:t>
          </a:r>
          <a:r>
            <a:rPr lang="en-US" sz="900" i="1">
              <a:solidFill>
                <a:schemeClr val="bg1"/>
              </a:solidFill>
            </a:rPr>
            <a:t> </a:t>
          </a:r>
          <a:r>
            <a:rPr lang="en-US" sz="900" i="1" err="1">
              <a:solidFill>
                <a:schemeClr val="bg1"/>
              </a:solidFill>
            </a:rPr>
            <a:t>mejor</a:t>
          </a:r>
          <a:r>
            <a:rPr lang="en-US" sz="900" i="1">
              <a:solidFill>
                <a:schemeClr val="bg1"/>
              </a:solidFill>
            </a:rPr>
            <a:t> que la </a:t>
          </a:r>
          <a:r>
            <a:rPr lang="en-US" sz="900" i="1" err="1">
              <a:solidFill>
                <a:schemeClr val="bg1"/>
              </a:solidFill>
            </a:rPr>
            <a:t>competencia</a:t>
          </a:r>
          <a:endParaRPr lang="es-CL" sz="900" i="1">
            <a:solidFill>
              <a:schemeClr val="bg1"/>
            </a:solidFill>
          </a:endParaRPr>
        </a:p>
      </dgm:t>
    </dgm:pt>
    <dgm:pt modelId="{A1A4B80B-CA83-4C2F-BEE8-24EFFF1D1A6A}" type="parTrans" cxnId="{A46BE1B6-B0AB-4800-ABE8-472B13F4F6C0}">
      <dgm:prSet/>
      <dgm:spPr/>
      <dgm:t>
        <a:bodyPr/>
        <a:lstStyle/>
        <a:p>
          <a:endParaRPr lang="es-CL">
            <a:solidFill>
              <a:schemeClr val="bg1"/>
            </a:solidFill>
          </a:endParaRPr>
        </a:p>
      </dgm:t>
    </dgm:pt>
    <dgm:pt modelId="{BE1F6BA4-9AF3-4955-B8E4-BBBA437981B2}" type="sibTrans" cxnId="{A46BE1B6-B0AB-4800-ABE8-472B13F4F6C0}">
      <dgm:prSet/>
      <dgm:spPr/>
      <dgm:t>
        <a:bodyPr/>
        <a:lstStyle/>
        <a:p>
          <a:endParaRPr lang="es-CL">
            <a:solidFill>
              <a:schemeClr val="bg1"/>
            </a:solidFill>
          </a:endParaRPr>
        </a:p>
      </dgm:t>
    </dgm:pt>
    <dgm:pt modelId="{6FFBCB24-AE2C-44B6-B2CA-16C756061734}" type="pres">
      <dgm:prSet presAssocID="{40C6A2F1-6705-45D4-9B00-C79021CBA8C2}" presName="Name0" presStyleCnt="0">
        <dgm:presLayoutVars>
          <dgm:dir/>
          <dgm:animLvl val="lvl"/>
          <dgm:resizeHandles val="exact"/>
        </dgm:presLayoutVars>
      </dgm:prSet>
      <dgm:spPr/>
    </dgm:pt>
    <dgm:pt modelId="{0A773C08-5291-4C03-852F-7425295BE429}" type="pres">
      <dgm:prSet presAssocID="{A3AF33BD-60D0-4FF8-9E31-E56F49B59414}" presName="parTxOnly" presStyleLbl="node1" presStyleIdx="0" presStyleCnt="4" custScaleX="141504" custScaleY="165258" custLinFactX="102527" custLinFactNeighborX="200000">
        <dgm:presLayoutVars>
          <dgm:chMax val="0"/>
          <dgm:chPref val="0"/>
          <dgm:bulletEnabled val="1"/>
        </dgm:presLayoutVars>
      </dgm:prSet>
      <dgm:spPr/>
    </dgm:pt>
    <dgm:pt modelId="{D670D54C-007F-4C02-A20A-519A62E8E4A2}" type="pres">
      <dgm:prSet presAssocID="{E55374FC-F139-4822-A140-2FC1862C2CB4}" presName="parTxOnlySpace" presStyleCnt="0"/>
      <dgm:spPr/>
    </dgm:pt>
    <dgm:pt modelId="{A3CC3B78-8C5F-49AF-8C7B-00E8E6451AC7}" type="pres">
      <dgm:prSet presAssocID="{1138C8C7-0981-40A5-8A11-95AA956E9163}" presName="parTxOnly" presStyleLbl="node1" presStyleIdx="1" presStyleCnt="4" custScaleX="142859" custScaleY="165258" custLinFactX="-107886" custLinFactNeighborX="-200000">
        <dgm:presLayoutVars>
          <dgm:chMax val="0"/>
          <dgm:chPref val="0"/>
          <dgm:bulletEnabled val="1"/>
        </dgm:presLayoutVars>
      </dgm:prSet>
      <dgm:spPr/>
    </dgm:pt>
    <dgm:pt modelId="{3174ADA7-5B1D-467D-8911-D3C12985C1F2}" type="pres">
      <dgm:prSet presAssocID="{BE1F6BA4-9AF3-4955-B8E4-BBBA437981B2}" presName="parTxOnlySpace" presStyleCnt="0"/>
      <dgm:spPr/>
    </dgm:pt>
    <dgm:pt modelId="{50259728-180A-427C-8CA6-11DC95B45F16}" type="pres">
      <dgm:prSet presAssocID="{B5C64236-5051-44D5-8999-340769429F9A}" presName="parTxOnly" presStyleLbl="node1" presStyleIdx="2" presStyleCnt="4" custScaleX="187140" custScaleY="163249" custLinFactX="-13486" custLinFactNeighborX="-100000">
        <dgm:presLayoutVars>
          <dgm:chMax val="0"/>
          <dgm:chPref val="0"/>
          <dgm:bulletEnabled val="1"/>
        </dgm:presLayoutVars>
      </dgm:prSet>
      <dgm:spPr/>
    </dgm:pt>
    <dgm:pt modelId="{ADDB04D8-6E42-459A-8552-805FC6EB728C}" type="pres">
      <dgm:prSet presAssocID="{E8DDF9E7-7650-4C63-9475-C49AA81316A9}" presName="parTxOnlySpace" presStyleCnt="0"/>
      <dgm:spPr/>
    </dgm:pt>
    <dgm:pt modelId="{C1207249-6025-421D-8476-B6A8E8447FCA}" type="pres">
      <dgm:prSet presAssocID="{481BE2D6-B5DC-42F6-91B2-954EC206BF7C}" presName="parTxOnly" presStyleLbl="node1" presStyleIdx="3" presStyleCnt="4" custScaleX="158944" custScaleY="160817" custLinFactX="-24967" custLinFactNeighborX="-100000" custLinFactNeighborY="1216">
        <dgm:presLayoutVars>
          <dgm:chMax val="0"/>
          <dgm:chPref val="0"/>
          <dgm:bulletEnabled val="1"/>
        </dgm:presLayoutVars>
      </dgm:prSet>
      <dgm:spPr/>
    </dgm:pt>
  </dgm:ptLst>
  <dgm:cxnLst>
    <dgm:cxn modelId="{07FECC07-BA87-444F-A1CD-005D6EAED06C}" srcId="{40C6A2F1-6705-45D4-9B00-C79021CBA8C2}" destId="{B5C64236-5051-44D5-8999-340769429F9A}" srcOrd="2" destOrd="0" parTransId="{514AF3E6-13EE-4FD4-BFFA-98AFCD616BD3}" sibTransId="{E8DDF9E7-7650-4C63-9475-C49AA81316A9}"/>
    <dgm:cxn modelId="{50E22F17-73D8-4DF0-A3BF-3DFEAB4E7440}" srcId="{40C6A2F1-6705-45D4-9B00-C79021CBA8C2}" destId="{481BE2D6-B5DC-42F6-91B2-954EC206BF7C}" srcOrd="3" destOrd="0" parTransId="{BF17004B-F4C5-446F-BF54-45AE2BD7075C}" sibTransId="{3E7743DA-C38E-483D-9AD5-A0DC804D3636}"/>
    <dgm:cxn modelId="{FEB0BB61-6825-5A42-BCB6-20C7A4163D1D}" type="presOf" srcId="{A3AF33BD-60D0-4FF8-9E31-E56F49B59414}" destId="{0A773C08-5291-4C03-852F-7425295BE429}" srcOrd="0" destOrd="0" presId="urn:microsoft.com/office/officeart/2005/8/layout/chevron1"/>
    <dgm:cxn modelId="{8C8E626A-3AFA-5041-91D0-2EE5D594A9CD}" type="presOf" srcId="{40C6A2F1-6705-45D4-9B00-C79021CBA8C2}" destId="{6FFBCB24-AE2C-44B6-B2CA-16C756061734}" srcOrd="0" destOrd="0" presId="urn:microsoft.com/office/officeart/2005/8/layout/chevron1"/>
    <dgm:cxn modelId="{6A247F51-C6EA-4DB0-A2C5-8D846E9C1E93}" srcId="{40C6A2F1-6705-45D4-9B00-C79021CBA8C2}" destId="{A3AF33BD-60D0-4FF8-9E31-E56F49B59414}" srcOrd="0" destOrd="0" parTransId="{B4F218E8-B5A9-4691-8F66-44BCF6A10CA1}" sibTransId="{E55374FC-F139-4822-A140-2FC1862C2CB4}"/>
    <dgm:cxn modelId="{43886C7E-92E1-4A4B-BDB9-79EB277E3EB7}" type="presOf" srcId="{1138C8C7-0981-40A5-8A11-95AA956E9163}" destId="{A3CC3B78-8C5F-49AF-8C7B-00E8E6451AC7}" srcOrd="0" destOrd="0" presId="urn:microsoft.com/office/officeart/2005/8/layout/chevron1"/>
    <dgm:cxn modelId="{6A55E992-455F-6C4F-849F-CBA04290F6A4}" type="presOf" srcId="{B5C64236-5051-44D5-8999-340769429F9A}" destId="{50259728-180A-427C-8CA6-11DC95B45F16}" srcOrd="0" destOrd="0" presId="urn:microsoft.com/office/officeart/2005/8/layout/chevron1"/>
    <dgm:cxn modelId="{A46BE1B6-B0AB-4800-ABE8-472B13F4F6C0}" srcId="{40C6A2F1-6705-45D4-9B00-C79021CBA8C2}" destId="{1138C8C7-0981-40A5-8A11-95AA956E9163}" srcOrd="1" destOrd="0" parTransId="{A1A4B80B-CA83-4C2F-BEE8-24EFFF1D1A6A}" sibTransId="{BE1F6BA4-9AF3-4955-B8E4-BBBA437981B2}"/>
    <dgm:cxn modelId="{529A07E7-9FFD-7A4A-8CE2-BE1A18F53E4F}" type="presOf" srcId="{481BE2D6-B5DC-42F6-91B2-954EC206BF7C}" destId="{C1207249-6025-421D-8476-B6A8E8447FCA}" srcOrd="0" destOrd="0" presId="urn:microsoft.com/office/officeart/2005/8/layout/chevron1"/>
    <dgm:cxn modelId="{C8150E68-AE65-F744-9B10-03F4499AA301}" type="presParOf" srcId="{6FFBCB24-AE2C-44B6-B2CA-16C756061734}" destId="{0A773C08-5291-4C03-852F-7425295BE429}" srcOrd="0" destOrd="0" presId="urn:microsoft.com/office/officeart/2005/8/layout/chevron1"/>
    <dgm:cxn modelId="{8FDD987B-9FF3-2C47-B562-1092F7269076}" type="presParOf" srcId="{6FFBCB24-AE2C-44B6-B2CA-16C756061734}" destId="{D670D54C-007F-4C02-A20A-519A62E8E4A2}" srcOrd="1" destOrd="0" presId="urn:microsoft.com/office/officeart/2005/8/layout/chevron1"/>
    <dgm:cxn modelId="{8758876A-89AE-7140-A7D3-AE4422929EE7}" type="presParOf" srcId="{6FFBCB24-AE2C-44B6-B2CA-16C756061734}" destId="{A3CC3B78-8C5F-49AF-8C7B-00E8E6451AC7}" srcOrd="2" destOrd="0" presId="urn:microsoft.com/office/officeart/2005/8/layout/chevron1"/>
    <dgm:cxn modelId="{ACF7D447-2B84-DB40-91D1-6BA472C0B8C9}" type="presParOf" srcId="{6FFBCB24-AE2C-44B6-B2CA-16C756061734}" destId="{3174ADA7-5B1D-467D-8911-D3C12985C1F2}" srcOrd="3" destOrd="0" presId="urn:microsoft.com/office/officeart/2005/8/layout/chevron1"/>
    <dgm:cxn modelId="{E227BFFC-B8A2-EE48-90FD-B2B12B734D9D}" type="presParOf" srcId="{6FFBCB24-AE2C-44B6-B2CA-16C756061734}" destId="{50259728-180A-427C-8CA6-11DC95B45F16}" srcOrd="4" destOrd="0" presId="urn:microsoft.com/office/officeart/2005/8/layout/chevron1"/>
    <dgm:cxn modelId="{3AD9DE90-2BA3-EC45-BBDB-8698EE9F67E9}" type="presParOf" srcId="{6FFBCB24-AE2C-44B6-B2CA-16C756061734}" destId="{ADDB04D8-6E42-459A-8552-805FC6EB728C}" srcOrd="5" destOrd="0" presId="urn:microsoft.com/office/officeart/2005/8/layout/chevron1"/>
    <dgm:cxn modelId="{F057B245-C4A5-EA41-A53C-50A3E19E8AFA}" type="presParOf" srcId="{6FFBCB24-AE2C-44B6-B2CA-16C756061734}" destId="{C1207249-6025-421D-8476-B6A8E8447FCA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773C08-5291-4C03-852F-7425295BE429}">
      <dsp:nvSpPr>
        <dsp:cNvPr id="0" name=""/>
        <dsp:cNvSpPr/>
      </dsp:nvSpPr>
      <dsp:spPr>
        <a:xfrm>
          <a:off x="1842081" y="386719"/>
          <a:ext cx="2126173" cy="993235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>
              <a:solidFill>
                <a:schemeClr val="bg1"/>
              </a:solidFill>
            </a:rPr>
            <a:t>Ejecución</a:t>
          </a:r>
          <a:endParaRPr lang="en-US" sz="900" i="1" kern="1200">
            <a:solidFill>
              <a:schemeClr val="bg1"/>
            </a:solidFill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i="1" kern="1200" err="1">
              <a:solidFill>
                <a:schemeClr val="bg1"/>
              </a:solidFill>
            </a:rPr>
            <a:t>En</a:t>
          </a:r>
          <a:r>
            <a:rPr lang="en-US" sz="900" i="1" kern="1200">
              <a:solidFill>
                <a:schemeClr val="bg1"/>
              </a:solidFill>
            </a:rPr>
            <a:t> </a:t>
          </a:r>
          <a:r>
            <a:rPr lang="en-US" sz="900" i="1" kern="1200" err="1">
              <a:solidFill>
                <a:schemeClr val="bg1"/>
              </a:solidFill>
            </a:rPr>
            <a:t>calidad</a:t>
          </a:r>
          <a:r>
            <a:rPr lang="en-US" sz="900" i="1" kern="1200">
              <a:solidFill>
                <a:schemeClr val="bg1"/>
              </a:solidFill>
            </a:rPr>
            <a:t>, </a:t>
          </a:r>
          <a:r>
            <a:rPr lang="en-US" sz="900" i="1" kern="1200" err="1">
              <a:solidFill>
                <a:schemeClr val="bg1"/>
              </a:solidFill>
            </a:rPr>
            <a:t>tiempo</a:t>
          </a:r>
          <a:r>
            <a:rPr lang="en-US" sz="900" i="1" kern="1200">
              <a:solidFill>
                <a:schemeClr val="bg1"/>
              </a:solidFill>
            </a:rPr>
            <a:t> y </a:t>
          </a:r>
          <a:r>
            <a:rPr lang="en-US" sz="900" i="1" kern="1200" err="1">
              <a:solidFill>
                <a:schemeClr val="bg1"/>
              </a:solidFill>
            </a:rPr>
            <a:t>costo</a:t>
          </a:r>
          <a:r>
            <a:rPr lang="en-US" sz="900" i="1" kern="1200">
              <a:solidFill>
                <a:schemeClr val="bg1"/>
              </a:solidFill>
            </a:rPr>
            <a:t> con feedback continuo </a:t>
          </a:r>
          <a:r>
            <a:rPr lang="en-US" sz="900" i="1" kern="1200" err="1">
              <a:solidFill>
                <a:schemeClr val="bg1"/>
              </a:solidFill>
            </a:rPr>
            <a:t>en</a:t>
          </a:r>
          <a:r>
            <a:rPr lang="en-US" sz="900" i="1" kern="1200">
              <a:solidFill>
                <a:schemeClr val="bg1"/>
              </a:solidFill>
            </a:rPr>
            <a:t> </a:t>
          </a:r>
          <a:r>
            <a:rPr lang="en-US" sz="900" i="1" kern="1200" err="1">
              <a:solidFill>
                <a:schemeClr val="bg1"/>
              </a:solidFill>
            </a:rPr>
            <a:t>expectativas</a:t>
          </a:r>
          <a:r>
            <a:rPr lang="en-US" sz="900" i="1" kern="1200">
              <a:solidFill>
                <a:schemeClr val="bg1"/>
              </a:solidFill>
            </a:rPr>
            <a:t> y </a:t>
          </a:r>
          <a:r>
            <a:rPr lang="en-US" sz="900" i="1" kern="1200" err="1">
              <a:solidFill>
                <a:schemeClr val="bg1"/>
              </a:solidFill>
            </a:rPr>
            <a:t>alcance</a:t>
          </a:r>
          <a:endParaRPr lang="es-MX" sz="900" i="1" kern="1200">
            <a:solidFill>
              <a:schemeClr val="bg1"/>
            </a:solidFill>
          </a:endParaRPr>
        </a:p>
      </dsp:txBody>
      <dsp:txXfrm>
        <a:off x="2338699" y="386719"/>
        <a:ext cx="1132938" cy="993235"/>
      </dsp:txXfrm>
    </dsp:sp>
    <dsp:sp modelId="{A3CC3B78-8C5F-49AF-8C7B-00E8E6451AC7}">
      <dsp:nvSpPr>
        <dsp:cNvPr id="0" name=""/>
        <dsp:cNvSpPr/>
      </dsp:nvSpPr>
      <dsp:spPr>
        <a:xfrm>
          <a:off x="55410" y="386719"/>
          <a:ext cx="2146532" cy="993235"/>
        </a:xfrm>
        <a:prstGeom prst="chevron">
          <a:avLst/>
        </a:prstGeom>
        <a:solidFill>
          <a:schemeClr val="accent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>
              <a:solidFill>
                <a:schemeClr val="bg1"/>
              </a:solidFill>
            </a:rPr>
            <a:t>Comercial</a:t>
          </a:r>
        </a:p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i="1" kern="1200" err="1">
              <a:solidFill>
                <a:schemeClr val="bg1"/>
              </a:solidFill>
            </a:rPr>
            <a:t>Lograr</a:t>
          </a:r>
          <a:r>
            <a:rPr lang="en-US" sz="900" i="1" kern="1200">
              <a:solidFill>
                <a:schemeClr val="bg1"/>
              </a:solidFill>
              <a:latin typeface="Arial"/>
            </a:rPr>
            <a:t> </a:t>
          </a:r>
          <a:r>
            <a:rPr lang="en-US" sz="900" i="1" kern="1200" err="1">
              <a:solidFill>
                <a:schemeClr val="bg1"/>
              </a:solidFill>
            </a:rPr>
            <a:t>Calidad</a:t>
          </a:r>
          <a:r>
            <a:rPr lang="en-US" sz="900" i="1" kern="1200">
              <a:solidFill>
                <a:schemeClr val="bg1"/>
              </a:solidFill>
            </a:rPr>
            <a:t> / </a:t>
          </a:r>
          <a:r>
            <a:rPr lang="en-US" sz="900" i="1" kern="1200" err="1">
              <a:solidFill>
                <a:schemeClr val="bg1"/>
              </a:solidFill>
            </a:rPr>
            <a:t>Precio</a:t>
          </a:r>
          <a:r>
            <a:rPr lang="en-US" sz="900" i="1" kern="1200">
              <a:solidFill>
                <a:schemeClr val="bg1"/>
              </a:solidFill>
            </a:rPr>
            <a:t> </a:t>
          </a:r>
          <a:r>
            <a:rPr lang="en-US" sz="900" i="1" kern="1200" err="1">
              <a:solidFill>
                <a:schemeClr val="bg1"/>
              </a:solidFill>
            </a:rPr>
            <a:t>mejor</a:t>
          </a:r>
          <a:r>
            <a:rPr lang="en-US" sz="900" i="1" kern="1200">
              <a:solidFill>
                <a:schemeClr val="bg1"/>
              </a:solidFill>
            </a:rPr>
            <a:t> que la </a:t>
          </a:r>
          <a:r>
            <a:rPr lang="en-US" sz="900" i="1" kern="1200" err="1">
              <a:solidFill>
                <a:schemeClr val="bg1"/>
              </a:solidFill>
            </a:rPr>
            <a:t>competencia</a:t>
          </a:r>
          <a:endParaRPr lang="es-CL" sz="900" i="1" kern="1200">
            <a:solidFill>
              <a:schemeClr val="bg1"/>
            </a:solidFill>
          </a:endParaRPr>
        </a:p>
      </dsp:txBody>
      <dsp:txXfrm>
        <a:off x="552028" y="386719"/>
        <a:ext cx="1153297" cy="993235"/>
      </dsp:txXfrm>
    </dsp:sp>
    <dsp:sp modelId="{50259728-180A-427C-8CA6-11DC95B45F16}">
      <dsp:nvSpPr>
        <dsp:cNvPr id="0" name=""/>
        <dsp:cNvSpPr/>
      </dsp:nvSpPr>
      <dsp:spPr>
        <a:xfrm>
          <a:off x="3620354" y="392756"/>
          <a:ext cx="2811878" cy="981161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>
              <a:solidFill>
                <a:schemeClr val="bg1"/>
              </a:solidFill>
            </a:rPr>
            <a:t>Gestión de alcance, entregables y cobranza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i="1" kern="1200" err="1">
              <a:solidFill>
                <a:schemeClr val="bg1"/>
              </a:solidFill>
            </a:rPr>
            <a:t>Asegurar</a:t>
          </a:r>
          <a:r>
            <a:rPr lang="en-US" sz="900" i="1" kern="1200">
              <a:solidFill>
                <a:schemeClr val="bg1"/>
              </a:solidFill>
            </a:rPr>
            <a:t> </a:t>
          </a:r>
          <a:r>
            <a:rPr lang="en-US" sz="900" i="1" kern="1200" err="1">
              <a:solidFill>
                <a:schemeClr val="bg1"/>
              </a:solidFill>
            </a:rPr>
            <a:t>coherencia</a:t>
          </a:r>
          <a:r>
            <a:rPr lang="en-US" sz="900" i="1" kern="1200">
              <a:solidFill>
                <a:schemeClr val="bg1"/>
              </a:solidFill>
            </a:rPr>
            <a:t> entre lo </a:t>
          </a:r>
          <a:r>
            <a:rPr lang="en-US" sz="900" i="1" kern="1200" err="1">
              <a:solidFill>
                <a:schemeClr val="bg1"/>
              </a:solidFill>
            </a:rPr>
            <a:t>ejecutado</a:t>
          </a:r>
          <a:r>
            <a:rPr lang="en-US" sz="900" i="1" kern="1200">
              <a:solidFill>
                <a:schemeClr val="bg1"/>
              </a:solidFill>
            </a:rPr>
            <a:t> y </a:t>
          </a:r>
          <a:r>
            <a:rPr lang="en-US" sz="900" i="1" kern="1200" err="1">
              <a:solidFill>
                <a:schemeClr val="bg1"/>
              </a:solidFill>
            </a:rPr>
            <a:t>comprometido</a:t>
          </a:r>
          <a:endParaRPr lang="es-CL" sz="900" i="1" kern="1200">
            <a:solidFill>
              <a:schemeClr val="bg1"/>
            </a:solidFill>
          </a:endParaRPr>
        </a:p>
      </dsp:txBody>
      <dsp:txXfrm>
        <a:off x="4110935" y="392756"/>
        <a:ext cx="1830717" cy="981161"/>
      </dsp:txXfrm>
    </dsp:sp>
    <dsp:sp modelId="{C1207249-6025-421D-8476-B6A8E8447FCA}">
      <dsp:nvSpPr>
        <dsp:cNvPr id="0" name=""/>
        <dsp:cNvSpPr/>
      </dsp:nvSpPr>
      <dsp:spPr>
        <a:xfrm>
          <a:off x="6109469" y="407373"/>
          <a:ext cx="2388218" cy="96654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>
              <a:solidFill>
                <a:schemeClr val="bg1"/>
              </a:solidFill>
            </a:rPr>
            <a:t>Post evaluación</a:t>
          </a:r>
        </a:p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i="1" kern="1200" err="1">
              <a:solidFill>
                <a:schemeClr val="bg1"/>
              </a:solidFill>
            </a:rPr>
            <a:t>Cliente</a:t>
          </a:r>
          <a:r>
            <a:rPr lang="en-US" sz="900" i="1" kern="1200">
              <a:solidFill>
                <a:schemeClr val="bg1"/>
              </a:solidFill>
            </a:rPr>
            <a:t> y </a:t>
          </a:r>
          <a:r>
            <a:rPr lang="en-US" sz="900" i="1" kern="1200" err="1">
              <a:solidFill>
                <a:schemeClr val="bg1"/>
              </a:solidFill>
            </a:rPr>
            <a:t>equipo</a:t>
          </a:r>
          <a:r>
            <a:rPr lang="en-US" sz="900" i="1" kern="1200">
              <a:solidFill>
                <a:schemeClr val="bg1"/>
              </a:solidFill>
            </a:rPr>
            <a:t> </a:t>
          </a:r>
          <a:r>
            <a:rPr lang="en-US" sz="900" i="1" kern="1200" err="1">
              <a:solidFill>
                <a:schemeClr val="bg1"/>
              </a:solidFill>
            </a:rPr>
            <a:t>reconocen</a:t>
          </a:r>
          <a:r>
            <a:rPr lang="en-US" sz="900" i="1" kern="1200">
              <a:solidFill>
                <a:schemeClr val="bg1"/>
              </a:solidFill>
            </a:rPr>
            <a:t> </a:t>
          </a:r>
          <a:r>
            <a:rPr lang="en-US" sz="900" i="1" kern="1200" err="1">
              <a:solidFill>
                <a:schemeClr val="bg1"/>
              </a:solidFill>
            </a:rPr>
            <a:t>una</a:t>
          </a:r>
          <a:r>
            <a:rPr lang="en-US" sz="900" i="1" kern="1200">
              <a:solidFill>
                <a:schemeClr val="bg1"/>
              </a:solidFill>
            </a:rPr>
            <a:t> </a:t>
          </a:r>
          <a:r>
            <a:rPr lang="en-US" sz="900" i="1" kern="1200" err="1">
              <a:solidFill>
                <a:schemeClr val="bg1"/>
              </a:solidFill>
            </a:rPr>
            <a:t>experiencia</a:t>
          </a:r>
          <a:r>
            <a:rPr lang="en-US" sz="900" i="1" kern="1200">
              <a:solidFill>
                <a:schemeClr val="bg1"/>
              </a:solidFill>
              <a:latin typeface="Arial"/>
            </a:rPr>
            <a:t> </a:t>
          </a:r>
          <a:r>
            <a:rPr lang="en-US" sz="900" i="1" kern="1200" err="1">
              <a:solidFill>
                <a:schemeClr val="bg1"/>
              </a:solidFill>
            </a:rPr>
            <a:t>distintiva</a:t>
          </a:r>
          <a:r>
            <a:rPr lang="en-US" sz="900" i="1" kern="1200">
              <a:solidFill>
                <a:schemeClr val="bg1"/>
              </a:solidFill>
            </a:rPr>
            <a:t> </a:t>
          </a:r>
          <a:endParaRPr lang="es-CL" sz="900" i="1" kern="1200">
            <a:solidFill>
              <a:schemeClr val="bg1"/>
            </a:solidFill>
          </a:endParaRPr>
        </a:p>
      </dsp:txBody>
      <dsp:txXfrm>
        <a:off x="6592741" y="407373"/>
        <a:ext cx="1421674" cy="9665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587" y="0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5" Type="http://schemas.openxmlformats.org/officeDocument/2006/relationships/slide" Target="../slides/slide10.xml"/><Relationship Id="rId4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" Type="http://schemas.openxmlformats.org/officeDocument/2006/relationships/tags" Target="../tags/tag154.xml"/><Relationship Id="rId5" Type="http://schemas.openxmlformats.org/officeDocument/2006/relationships/slide" Target="../slides/slide41.xml"/><Relationship Id="rId4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224.xml"/><Relationship Id="rId2" Type="http://schemas.openxmlformats.org/officeDocument/2006/relationships/tags" Target="../tags/tag223.xml"/><Relationship Id="rId1" Type="http://schemas.openxmlformats.org/officeDocument/2006/relationships/tags" Target="../tags/tag222.xml"/><Relationship Id="rId5" Type="http://schemas.openxmlformats.org/officeDocument/2006/relationships/slide" Target="../slides/slide42.xml"/><Relationship Id="rId4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231.xml"/><Relationship Id="rId2" Type="http://schemas.openxmlformats.org/officeDocument/2006/relationships/tags" Target="../tags/tag230.xml"/><Relationship Id="rId1" Type="http://schemas.openxmlformats.org/officeDocument/2006/relationships/tags" Target="../tags/tag229.xml"/><Relationship Id="rId5" Type="http://schemas.openxmlformats.org/officeDocument/2006/relationships/slide" Target="../slides/slide46.xml"/><Relationship Id="rId4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:notes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4:notes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/>
              <a:t>Checking rápido cordial presentarnos, que expectativas traen?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4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18845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7" name="Google Shape;927;p23:notes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8" name="Google Shape;928;p23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44549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4" name="Google Shape;804;p20:notes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20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009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21:notes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1" name="Google Shape;88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92152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7A483DD6-2C4D-4ABA-BEA2-92E8DF4BA090}" type="slidenum">
              <a:rPr lang="es-ES_tradnl" smtClean="0"/>
              <a:t>10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37617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4" name="Google Shape;1134;p28:notes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 se si hacer tan explicito esta parte! discutamoslo</a:t>
            </a:r>
            <a:endParaRPr/>
          </a:p>
        </p:txBody>
      </p:sp>
      <p:sp>
        <p:nvSpPr>
          <p:cNvPr id="1135" name="Google Shape;1135;p28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1493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4:notes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/>
              <a:t>Checking rápido cordial presentarnos, que expectativas traen?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4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28794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c711885e3a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g2c711885e3a_0_186:notes"/>
          <p:cNvSpPr txBox="1">
            <a:spLocks noGrp="1"/>
          </p:cNvSpPr>
          <p:nvPr>
            <p:ph type="body" idx="1"/>
          </p:nvPr>
        </p:nvSpPr>
        <p:spPr>
          <a:xfrm>
            <a:off x="731180" y="4620192"/>
            <a:ext cx="5852700" cy="3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150" tIns="47550" rIns="95150" bIns="475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g2c711885e3a_0_186:notes"/>
          <p:cNvSpPr txBox="1">
            <a:spLocks noGrp="1"/>
          </p:cNvSpPr>
          <p:nvPr>
            <p:ph type="sldNum" idx="12"/>
          </p:nvPr>
        </p:nvSpPr>
        <p:spPr>
          <a:xfrm>
            <a:off x="4142775" y="9120615"/>
            <a:ext cx="31707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150" tIns="47550" rIns="95150" bIns="47550" anchor="b" anchorCtr="0">
            <a:noAutofit/>
          </a:bodyPr>
          <a:lstStyle/>
          <a:p>
            <a:pPr marL="190500" lvl="0" indent="-19050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88792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c711885e3a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2c711885e3a_0_215:notes"/>
          <p:cNvSpPr txBox="1">
            <a:spLocks noGrp="1"/>
          </p:cNvSpPr>
          <p:nvPr>
            <p:ph type="body" idx="1"/>
          </p:nvPr>
        </p:nvSpPr>
        <p:spPr>
          <a:xfrm>
            <a:off x="731180" y="4620192"/>
            <a:ext cx="5852700" cy="3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150" tIns="47550" rIns="95150" bIns="475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2c711885e3a_0_215:notes"/>
          <p:cNvSpPr txBox="1">
            <a:spLocks noGrp="1"/>
          </p:cNvSpPr>
          <p:nvPr>
            <p:ph type="sldNum" idx="12"/>
          </p:nvPr>
        </p:nvSpPr>
        <p:spPr>
          <a:xfrm>
            <a:off x="4142775" y="9120615"/>
            <a:ext cx="31707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150" tIns="47550" rIns="95150" bIns="47550" anchor="b" anchorCtr="0">
            <a:noAutofit/>
          </a:bodyPr>
          <a:lstStyle/>
          <a:p>
            <a:pPr marL="190500" marR="0" lvl="0" indent="-190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•"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1593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c711885e3a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2c711885e3a_0_215:notes"/>
          <p:cNvSpPr txBox="1">
            <a:spLocks noGrp="1"/>
          </p:cNvSpPr>
          <p:nvPr>
            <p:ph type="body" idx="1"/>
          </p:nvPr>
        </p:nvSpPr>
        <p:spPr>
          <a:xfrm>
            <a:off x="731180" y="4620192"/>
            <a:ext cx="5852700" cy="3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150" tIns="47550" rIns="95150" bIns="475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2c711885e3a_0_215:notes"/>
          <p:cNvSpPr txBox="1">
            <a:spLocks noGrp="1"/>
          </p:cNvSpPr>
          <p:nvPr>
            <p:ph type="sldNum" idx="12"/>
          </p:nvPr>
        </p:nvSpPr>
        <p:spPr>
          <a:xfrm>
            <a:off x="4142775" y="9120615"/>
            <a:ext cx="31707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150" tIns="47550" rIns="95150" bIns="47550" anchor="b" anchorCtr="0">
            <a:noAutofit/>
          </a:bodyPr>
          <a:lstStyle/>
          <a:p>
            <a:pPr marL="190500" marR="0" lvl="0" indent="-190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•"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2715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c711885e3a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2c711885e3a_0_215:notes"/>
          <p:cNvSpPr txBox="1">
            <a:spLocks noGrp="1"/>
          </p:cNvSpPr>
          <p:nvPr>
            <p:ph type="body" idx="1"/>
          </p:nvPr>
        </p:nvSpPr>
        <p:spPr>
          <a:xfrm>
            <a:off x="731180" y="4620192"/>
            <a:ext cx="5852700" cy="3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150" tIns="47550" rIns="95150" bIns="475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2c711885e3a_0_215:notes"/>
          <p:cNvSpPr txBox="1">
            <a:spLocks noGrp="1"/>
          </p:cNvSpPr>
          <p:nvPr>
            <p:ph type="sldNum" idx="12"/>
          </p:nvPr>
        </p:nvSpPr>
        <p:spPr>
          <a:xfrm>
            <a:off x="4142775" y="9120615"/>
            <a:ext cx="31707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150" tIns="47550" rIns="95150" bIns="47550" anchor="b" anchorCtr="0">
            <a:noAutofit/>
          </a:bodyPr>
          <a:lstStyle/>
          <a:p>
            <a:pPr marL="190500" marR="0" lvl="0" indent="-190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•"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719399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c711885e3a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g2c711885e3a_0_301:notes"/>
          <p:cNvSpPr txBox="1">
            <a:spLocks noGrp="1"/>
          </p:cNvSpPr>
          <p:nvPr>
            <p:ph type="body" idx="1"/>
          </p:nvPr>
        </p:nvSpPr>
        <p:spPr>
          <a:xfrm>
            <a:off x="731180" y="4620192"/>
            <a:ext cx="5852700" cy="3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150" tIns="47550" rIns="95150" bIns="475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2c711885e3a_0_301:notes"/>
          <p:cNvSpPr txBox="1">
            <a:spLocks noGrp="1"/>
          </p:cNvSpPr>
          <p:nvPr>
            <p:ph type="sldNum" idx="12"/>
          </p:nvPr>
        </p:nvSpPr>
        <p:spPr>
          <a:xfrm>
            <a:off x="4142775" y="9120615"/>
            <a:ext cx="31707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150" tIns="47550" rIns="95150" bIns="47550" anchor="b" anchorCtr="0">
            <a:noAutofit/>
          </a:bodyPr>
          <a:lstStyle/>
          <a:p>
            <a:pPr marL="190500" lvl="0" indent="-19050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4750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c711885e3a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g2c711885e3a_0_301:notes"/>
          <p:cNvSpPr txBox="1">
            <a:spLocks noGrp="1"/>
          </p:cNvSpPr>
          <p:nvPr>
            <p:ph type="body" idx="1"/>
          </p:nvPr>
        </p:nvSpPr>
        <p:spPr>
          <a:xfrm>
            <a:off x="731180" y="4620192"/>
            <a:ext cx="5852700" cy="3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150" tIns="47550" rIns="95150" bIns="475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2c711885e3a_0_301:notes"/>
          <p:cNvSpPr txBox="1">
            <a:spLocks noGrp="1"/>
          </p:cNvSpPr>
          <p:nvPr>
            <p:ph type="sldNum" idx="12"/>
          </p:nvPr>
        </p:nvSpPr>
        <p:spPr>
          <a:xfrm>
            <a:off x="4142775" y="9120615"/>
            <a:ext cx="31707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150" tIns="47550" rIns="95150" bIns="47550" anchor="b" anchorCtr="0">
            <a:noAutofit/>
          </a:bodyPr>
          <a:lstStyle/>
          <a:p>
            <a:pPr marL="190500" lvl="0" indent="-19050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28513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2c711885e3a_0_4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0" name="Google Shape;420;g2c711885e3a_0_449:notes"/>
          <p:cNvSpPr txBox="1">
            <a:spLocks noGrp="1"/>
          </p:cNvSpPr>
          <p:nvPr>
            <p:ph type="body" idx="1"/>
          </p:nvPr>
        </p:nvSpPr>
        <p:spPr>
          <a:xfrm>
            <a:off x="731180" y="4620192"/>
            <a:ext cx="5852700" cy="3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150" tIns="47550" rIns="95150" bIns="475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g2c711885e3a_0_449:notes"/>
          <p:cNvSpPr txBox="1">
            <a:spLocks noGrp="1"/>
          </p:cNvSpPr>
          <p:nvPr>
            <p:ph type="sldNum" idx="12"/>
          </p:nvPr>
        </p:nvSpPr>
        <p:spPr>
          <a:xfrm>
            <a:off x="4142775" y="9120615"/>
            <a:ext cx="31707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150" tIns="47550" rIns="95150" bIns="47550" anchor="b" anchorCtr="0">
            <a:noAutofit/>
          </a:bodyPr>
          <a:lstStyle/>
          <a:p>
            <a:pPr marL="190500" lvl="0" indent="-19050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16640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c81a6a4e8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g2c81a6a4e8f_0_2:notes"/>
          <p:cNvSpPr txBox="1">
            <a:spLocks noGrp="1"/>
          </p:cNvSpPr>
          <p:nvPr>
            <p:ph type="body" idx="1"/>
          </p:nvPr>
        </p:nvSpPr>
        <p:spPr>
          <a:xfrm>
            <a:off x="731180" y="4620192"/>
            <a:ext cx="5852700" cy="3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150" tIns="47550" rIns="95150" bIns="475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g2c81a6a4e8f_0_2:notes"/>
          <p:cNvSpPr txBox="1">
            <a:spLocks noGrp="1"/>
          </p:cNvSpPr>
          <p:nvPr>
            <p:ph type="sldNum" idx="12"/>
          </p:nvPr>
        </p:nvSpPr>
        <p:spPr>
          <a:xfrm>
            <a:off x="4142775" y="9120615"/>
            <a:ext cx="31707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150" tIns="47550" rIns="95150" bIns="47550" anchor="b" anchorCtr="0">
            <a:noAutofit/>
          </a:bodyPr>
          <a:lstStyle/>
          <a:p>
            <a:pPr marL="190500" lvl="0" indent="-19050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08184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2c7666fef59_0_0:notes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00" cy="378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g2c7666fef5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020716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2c7666fef59_0_7:notes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00" cy="378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g2c7666fef5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2837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2c7666fef59_0_7:notes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00" cy="378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g2c7666fef5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77481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2c7666fef59_0_7:notes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00" cy="378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g2c7666fef5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465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2c7666fef59_0_7:notes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00" cy="378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g2c7666fef5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06726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2c7666fef59_0_7:notes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00" cy="37806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g2c7666fef5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38615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1" name="Google Shape;481;p7:notes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2. Porque y el para que estamos </a:t>
            </a:r>
            <a:endParaRPr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eriod"/>
            </a:pPr>
            <a:r>
              <a:rPr lang="en-US" sz="1200"/>
              <a:t>Desde donde surge la necesidad y cual es el proceso que parte hoy. </a:t>
            </a:r>
            <a:endParaRPr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eriod"/>
            </a:pPr>
            <a:r>
              <a:rPr lang="en-US" sz="1200"/>
              <a:t>Objetivos del proyecto en 3 meses, como nos vamos a dar cuenta que fuimos exitosos en estos 14 semanas.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7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/>
              <a:t>Los fondos</a:t>
            </a:r>
            <a:r>
              <a:rPr lang="es-ES_tradnl" baseline="0"/>
              <a:t> de ganancias no se detienen, cambian debido a las </a:t>
            </a:r>
            <a:r>
              <a:rPr lang="es-ES_tradnl" baseline="0" err="1"/>
              <a:t>megatendencias</a:t>
            </a:r>
            <a:r>
              <a:rPr lang="es-ES_tradnl" baseline="0"/>
              <a:t> que </a:t>
            </a:r>
            <a:r>
              <a:rPr lang="es-ES_tradnl" baseline="0" err="1"/>
              <a:t>remoldean</a:t>
            </a:r>
            <a:r>
              <a:rPr lang="es-ES_tradnl" baseline="0"/>
              <a:t> las necesidades de los </a:t>
            </a:r>
            <a:r>
              <a:rPr lang="es-ES_tradnl" baseline="0" err="1"/>
              <a:t>lcientes</a:t>
            </a:r>
            <a:r>
              <a:rPr lang="es-ES_tradnl" baseline="0"/>
              <a:t> y los patrones de compra</a:t>
            </a:r>
          </a:p>
          <a:p>
            <a:endParaRPr lang="es-ES_tradnl" baseline="0"/>
          </a:p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3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fld>
            <a:endParaRPr lang="tr-TR"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635857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1" name="Google Shape;481;p7:notes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2. Porque y el para que estamos </a:t>
            </a:r>
            <a:endParaRPr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eriod"/>
            </a:pPr>
            <a:r>
              <a:rPr lang="en-US" sz="1200"/>
              <a:t>Desde donde surge la necesidad y cual es el proceso que parte hoy. </a:t>
            </a:r>
            <a:endParaRPr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eriod"/>
            </a:pPr>
            <a:r>
              <a:rPr lang="en-US" sz="1200"/>
              <a:t>Objetivos del proyecto en 3 meses, como nos vamos a dar cuenta que fuimos exitosos en estos 14 semanas.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7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4082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7" name="Google Shape;927;p23:notes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8" name="Google Shape;928;p23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38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649868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4:notes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/>
              <a:t>Checking rápido cordial presentarnos, que expectativas traen?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4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58029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7A483DD6-2C4D-4ABA-BEA2-92E8DF4BA090}" type="slidenum">
              <a:rPr lang="es-ES_tradnl" smtClean="0"/>
              <a:t>41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487076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7A483DD6-2C4D-4ABA-BEA2-92E8DF4BA090}" type="slidenum">
              <a:rPr lang="es-ES_tradnl" smtClean="0"/>
              <a:t>42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389741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4:notes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/>
              <a:t>Checking rápido cordial presentarnos, que expectativas traen?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4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1238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7A483DD6-2C4D-4ABA-BEA2-92E8DF4BA090}" type="slidenum">
              <a:rPr lang="es-ES_tradnl" smtClean="0"/>
              <a:t>46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85125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c711885e3a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2c711885e3a_0_215:notes"/>
          <p:cNvSpPr txBox="1">
            <a:spLocks noGrp="1"/>
          </p:cNvSpPr>
          <p:nvPr>
            <p:ph type="body" idx="1"/>
          </p:nvPr>
        </p:nvSpPr>
        <p:spPr>
          <a:xfrm>
            <a:off x="731180" y="4620192"/>
            <a:ext cx="5852700" cy="3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150" tIns="47550" rIns="95150" bIns="475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2c711885e3a_0_215:notes"/>
          <p:cNvSpPr txBox="1">
            <a:spLocks noGrp="1"/>
          </p:cNvSpPr>
          <p:nvPr>
            <p:ph type="sldNum" idx="12"/>
          </p:nvPr>
        </p:nvSpPr>
        <p:spPr>
          <a:xfrm>
            <a:off x="4142775" y="9120615"/>
            <a:ext cx="31707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150" tIns="47550" rIns="95150" bIns="47550" anchor="b" anchorCtr="0">
            <a:noAutofit/>
          </a:bodyPr>
          <a:lstStyle/>
          <a:p>
            <a:pPr marL="190500" marR="0" lvl="0" indent="-190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•"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0090571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:notes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4704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2"/>
          <p:cNvSpPr txBox="1">
            <a:spLocks noGrp="1"/>
          </p:cNvSpPr>
          <p:nvPr>
            <p:ph type="title"/>
          </p:nvPr>
        </p:nvSpPr>
        <p:spPr>
          <a:xfrm>
            <a:off x="334963" y="2"/>
            <a:ext cx="10588141" cy="8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3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3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3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3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3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4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43"/>
          <p:cNvPicPr preferRelativeResize="0"/>
          <p:nvPr/>
        </p:nvPicPr>
        <p:blipFill rotWithShape="1">
          <a:blip r:embed="rId2">
            <a:alphaModFix/>
          </a:blip>
          <a:srcRect b="7455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43"/>
          <p:cNvSpPr/>
          <p:nvPr/>
        </p:nvSpPr>
        <p:spPr>
          <a:xfrm>
            <a:off x="0" y="0"/>
            <a:ext cx="12192000" cy="6858009"/>
          </a:xfrm>
          <a:prstGeom prst="rect">
            <a:avLst/>
          </a:prstGeom>
          <a:blipFill rotWithShape="1">
            <a:blip r:embed="rId3">
              <a:alphaModFix amt="86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Calibri"/>
              <a:buNone/>
            </a:pPr>
            <a:endParaRPr sz="144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3"/>
          <p:cNvSpPr/>
          <p:nvPr/>
        </p:nvSpPr>
        <p:spPr>
          <a:xfrm>
            <a:off x="-438149" y="6253182"/>
            <a:ext cx="5848350" cy="719830"/>
          </a:xfrm>
          <a:prstGeom prst="rect">
            <a:avLst/>
          </a:prstGeom>
          <a:noFill/>
          <a:ln w="9525" cap="flat" cmpd="sng">
            <a:solidFill>
              <a:srgbClr val="D5D6D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3"/>
          <p:cNvSpPr/>
          <p:nvPr/>
        </p:nvSpPr>
        <p:spPr>
          <a:xfrm rot="-5400000">
            <a:off x="10312693" y="4188355"/>
            <a:ext cx="4003766" cy="1570655"/>
          </a:xfrm>
          <a:prstGeom prst="rect">
            <a:avLst/>
          </a:prstGeom>
          <a:noFill/>
          <a:ln w="9525" cap="flat" cmpd="sng">
            <a:solidFill>
              <a:srgbClr val="D5D6D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2847" y="247509"/>
            <a:ext cx="2358006" cy="1125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4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67200" y="388620"/>
            <a:ext cx="1901953" cy="731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seño personalizado">
  <p:cSld name="1_Diseño personalizado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44"/>
          <p:cNvPicPr preferRelativeResize="0"/>
          <p:nvPr/>
        </p:nvPicPr>
        <p:blipFill rotWithShape="1">
          <a:blip r:embed="rId2">
            <a:alphaModFix/>
          </a:blip>
          <a:srcRect l="17619" r="42712" b="811"/>
          <a:stretch/>
        </p:blipFill>
        <p:spPr>
          <a:xfrm>
            <a:off x="0" y="0"/>
            <a:ext cx="451236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44"/>
          <p:cNvSpPr/>
          <p:nvPr/>
        </p:nvSpPr>
        <p:spPr>
          <a:xfrm>
            <a:off x="0" y="0"/>
            <a:ext cx="4524869" cy="6858000"/>
          </a:xfrm>
          <a:prstGeom prst="rect">
            <a:avLst/>
          </a:prstGeom>
          <a:blipFill rotWithShape="1">
            <a:blip r:embed="rId3">
              <a:alphaModFix amt="86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Calibri"/>
              <a:buNone/>
            </a:pPr>
            <a:endParaRPr sz="144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" name="Google Shape;96;p44"/>
          <p:cNvCxnSpPr/>
          <p:nvPr/>
        </p:nvCxnSpPr>
        <p:spPr>
          <a:xfrm>
            <a:off x="1842771" y="0"/>
            <a:ext cx="0" cy="2796909"/>
          </a:xfrm>
          <a:prstGeom prst="straightConnector1">
            <a:avLst/>
          </a:prstGeom>
          <a:noFill/>
          <a:ln w="9525" cap="flat" cmpd="sng">
            <a:solidFill>
              <a:srgbClr val="B3207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7" name="Google Shape;97;p44"/>
          <p:cNvCxnSpPr/>
          <p:nvPr/>
        </p:nvCxnSpPr>
        <p:spPr>
          <a:xfrm>
            <a:off x="3344999" y="2786023"/>
            <a:ext cx="0" cy="4061091"/>
          </a:xfrm>
          <a:prstGeom prst="straightConnector1">
            <a:avLst/>
          </a:prstGeom>
          <a:noFill/>
          <a:ln w="9525" cap="flat" cmpd="sng">
            <a:solidFill>
              <a:srgbClr val="B3207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8" name="Google Shape;98;p44"/>
          <p:cNvCxnSpPr/>
          <p:nvPr/>
        </p:nvCxnSpPr>
        <p:spPr>
          <a:xfrm>
            <a:off x="0" y="4134547"/>
            <a:ext cx="4512365" cy="0"/>
          </a:xfrm>
          <a:prstGeom prst="straightConnector1">
            <a:avLst/>
          </a:prstGeom>
          <a:noFill/>
          <a:ln w="9525" cap="flat" cmpd="sng">
            <a:solidFill>
              <a:srgbClr val="B3207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9" name="Google Shape;99;p44"/>
          <p:cNvSpPr/>
          <p:nvPr/>
        </p:nvSpPr>
        <p:spPr>
          <a:xfrm>
            <a:off x="1124313" y="5932728"/>
            <a:ext cx="2906486" cy="1045015"/>
          </a:xfrm>
          <a:prstGeom prst="rect">
            <a:avLst/>
          </a:prstGeom>
          <a:noFill/>
          <a:ln w="9525" cap="flat" cmpd="sng">
            <a:solidFill>
              <a:srgbClr val="B3207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44"/>
          <p:cNvCxnSpPr/>
          <p:nvPr/>
        </p:nvCxnSpPr>
        <p:spPr>
          <a:xfrm rot="10800000" flipH="1">
            <a:off x="1842771" y="2786023"/>
            <a:ext cx="1502228" cy="10886"/>
          </a:xfrm>
          <a:prstGeom prst="straightConnector1">
            <a:avLst/>
          </a:prstGeom>
          <a:noFill/>
          <a:ln w="9525" cap="flat" cmpd="sng">
            <a:solidFill>
              <a:srgbClr val="B32075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1" name="Google Shape;101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02" y="6361611"/>
            <a:ext cx="1016830" cy="485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 con bajada">
  <p:cSld name="Normal con bajada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5"/>
          <p:cNvSpPr txBox="1">
            <a:spLocks noGrp="1"/>
          </p:cNvSpPr>
          <p:nvPr>
            <p:ph type="body" idx="1"/>
          </p:nvPr>
        </p:nvSpPr>
        <p:spPr>
          <a:xfrm>
            <a:off x="0" y="685800"/>
            <a:ext cx="12192000" cy="524256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667"/>
              <a:buNone/>
              <a:defRPr sz="2667" b="1">
                <a:solidFill>
                  <a:schemeClr val="lt1"/>
                </a:solidFill>
              </a:defRPr>
            </a:lvl1pPr>
            <a:lvl2pPr marL="914400" lvl="1" indent="-39795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2pPr>
            <a:lvl3pPr marL="1371600" lvl="2" indent="-39795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marL="1828800" lvl="3" indent="-39795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4pPr>
            <a:lvl5pPr marL="2286000" lvl="4" indent="-39795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45"/>
          <p:cNvSpPr txBox="1">
            <a:spLocks noGrp="1"/>
          </p:cNvSpPr>
          <p:nvPr>
            <p:ph type="title"/>
          </p:nvPr>
        </p:nvSpPr>
        <p:spPr>
          <a:xfrm>
            <a:off x="203200" y="117260"/>
            <a:ext cx="1036320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96158"/>
              </a:buClr>
              <a:buSzPts val="2267"/>
              <a:buFont typeface="Calibri"/>
              <a:buNone/>
              <a:defRPr sz="2267" b="1">
                <a:solidFill>
                  <a:srgbClr val="69615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45"/>
          <p:cNvSpPr txBox="1">
            <a:spLocks noGrp="1"/>
          </p:cNvSpPr>
          <p:nvPr>
            <p:ph type="sldNum" idx="12"/>
          </p:nvPr>
        </p:nvSpPr>
        <p:spPr>
          <a:xfrm>
            <a:off x="9347200" y="6492876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106" name="Google Shape;106;p45"/>
          <p:cNvSpPr txBox="1">
            <a:spLocks noGrp="1"/>
          </p:cNvSpPr>
          <p:nvPr>
            <p:ph type="body" idx="2"/>
          </p:nvPr>
        </p:nvSpPr>
        <p:spPr>
          <a:xfrm>
            <a:off x="609600" y="1352552"/>
            <a:ext cx="10972800" cy="379650"/>
          </a:xfrm>
          <a:prstGeom prst="rect">
            <a:avLst/>
          </a:prstGeom>
          <a:noFill/>
          <a:ln w="19050" cap="flat" cmpd="sng">
            <a:solidFill>
              <a:srgbClr val="1737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347154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67"/>
              <a:buChar char="•"/>
              <a:defRPr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4pPr>
            <a:lvl5pPr marL="2286000" lvl="4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45"/>
          <p:cNvSpPr txBox="1"/>
          <p:nvPr/>
        </p:nvSpPr>
        <p:spPr>
          <a:xfrm>
            <a:off x="2247917" y="6642556"/>
            <a:ext cx="80430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Este documento es confidencial y fue preparado por Symnetics para el uso exclusivo de </a:t>
            </a:r>
            <a:r>
              <a:rPr lang="en-US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STF Capital.</a:t>
            </a:r>
            <a:r>
              <a:rPr lang="en-US" sz="800" b="0" i="0" u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; no puede ser utilizado ni reproducido sin el consentimiento de Symnetics.</a:t>
            </a:r>
            <a:endParaRPr sz="18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de título">
  <p:cSld name="1_Diapositiva de título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6"/>
          <p:cNvSpPr txBox="1"/>
          <p:nvPr/>
        </p:nvSpPr>
        <p:spPr>
          <a:xfrm>
            <a:off x="2247917" y="6642556"/>
            <a:ext cx="80430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Este documento es confidencial y fue preparado por Symnetics para el uso exclusivo de </a:t>
            </a:r>
            <a:r>
              <a:rPr lang="en-US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STF Capital.</a:t>
            </a:r>
            <a:r>
              <a:rPr lang="en-US" sz="800" b="0" i="0" u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; no puede ser utilizado ni reproducido sin el consentimiento de Symnetics.</a:t>
            </a:r>
            <a:endParaRPr sz="18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7"/>
          <p:cNvSpPr/>
          <p:nvPr/>
        </p:nvSpPr>
        <p:spPr>
          <a:xfrm>
            <a:off x="0" y="0"/>
            <a:ext cx="4227957" cy="6858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7"/>
          <p:cNvSpPr txBox="1">
            <a:spLocks noGrp="1"/>
          </p:cNvSpPr>
          <p:nvPr>
            <p:ph type="title"/>
          </p:nvPr>
        </p:nvSpPr>
        <p:spPr>
          <a:xfrm>
            <a:off x="443564" y="442127"/>
            <a:ext cx="3108158" cy="331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47"/>
          <p:cNvSpPr txBox="1">
            <a:spLocks noGrp="1"/>
          </p:cNvSpPr>
          <p:nvPr>
            <p:ph type="body" idx="1"/>
          </p:nvPr>
        </p:nvSpPr>
        <p:spPr>
          <a:xfrm>
            <a:off x="4851133" y="1142232"/>
            <a:ext cx="5746282" cy="3988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14" name="Google Shape;114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02" y="6361611"/>
            <a:ext cx="1016830" cy="485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7"/>
          <p:cNvSpPr txBox="1"/>
          <p:nvPr/>
        </p:nvSpPr>
        <p:spPr>
          <a:xfrm>
            <a:off x="4148990" y="6604361"/>
            <a:ext cx="80430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Este documento es confidencial y fue preparado por Symnetics para el uso exclusivo de </a:t>
            </a:r>
            <a:r>
              <a:rPr lang="en-US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STF Capital.</a:t>
            </a:r>
            <a:r>
              <a:rPr lang="en-US" sz="800" b="0" i="0" u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; no puede ser utilizado ni reproducido sin el consentimiento de Symnetics.</a:t>
            </a:r>
            <a:endParaRPr sz="18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OBJECT 2">
    <p:bg>
      <p:bgPr>
        <a:solidFill>
          <a:schemeClr val="lt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620877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48"/>
          <p:cNvPicPr preferRelativeResize="0"/>
          <p:nvPr/>
        </p:nvPicPr>
        <p:blipFill rotWithShape="1">
          <a:blip r:embed="rId3">
            <a:alphaModFix/>
          </a:blip>
          <a:srcRect l="227" r="227"/>
          <a:stretch/>
        </p:blipFill>
        <p:spPr>
          <a:xfrm>
            <a:off x="9942575" y="432053"/>
            <a:ext cx="1648967" cy="679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MSA">
  <p:cSld name="AMSA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34963" y="2"/>
            <a:ext cx="10588141" cy="8731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btfpLayoutConfig" hidden="1"/>
          <p:cNvSpPr txBox="1"/>
          <p:nvPr userDrawn="1">
            <p:custDataLst>
              <p:tags r:id="rId2"/>
            </p:custDataLst>
          </p:nvPr>
        </p:nvSpPr>
        <p:spPr bwMode="gray">
          <a:xfrm>
            <a:off x="12700" y="12700"/>
            <a:ext cx="431776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overall_0_131835910973931203 columns_1_131835910973931203 </a:t>
            </a:r>
          </a:p>
        </p:txBody>
      </p:sp>
    </p:spTree>
    <p:extLst>
      <p:ext uri="{BB962C8B-B14F-4D97-AF65-F5344CB8AC3E}">
        <p14:creationId xmlns:p14="http://schemas.microsoft.com/office/powerpoint/2010/main" val="2067533682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34963" y="2"/>
            <a:ext cx="10588141" cy="8731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btfpLayoutConfig" hidden="1"/>
          <p:cNvSpPr txBox="1"/>
          <p:nvPr userDrawn="1">
            <p:custDataLst>
              <p:tags r:id="rId2"/>
            </p:custDataLst>
          </p:nvPr>
        </p:nvSpPr>
        <p:spPr bwMode="gray">
          <a:xfrm>
            <a:off x="12700" y="12700"/>
            <a:ext cx="431776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overall_0_131835910973931203 columns_1_131835910973931203 </a:t>
            </a:r>
          </a:p>
        </p:txBody>
      </p:sp>
    </p:spTree>
    <p:extLst>
      <p:ext uri="{BB962C8B-B14F-4D97-AF65-F5344CB8AC3E}">
        <p14:creationId xmlns:p14="http://schemas.microsoft.com/office/powerpoint/2010/main" val="11757144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34963" y="2"/>
            <a:ext cx="10588141" cy="8731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btfpLayoutConfig" hidden="1"/>
          <p:cNvSpPr txBox="1"/>
          <p:nvPr userDrawn="1">
            <p:custDataLst>
              <p:tags r:id="rId2"/>
            </p:custDataLst>
          </p:nvPr>
        </p:nvSpPr>
        <p:spPr bwMode="gray">
          <a:xfrm>
            <a:off x="12700" y="12700"/>
            <a:ext cx="431776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overall_0_131835910973931203 columns_1_131835910973931203 </a:t>
            </a:r>
          </a:p>
        </p:txBody>
      </p:sp>
    </p:spTree>
    <p:extLst>
      <p:ext uri="{BB962C8B-B14F-4D97-AF65-F5344CB8AC3E}">
        <p14:creationId xmlns:p14="http://schemas.microsoft.com/office/powerpoint/2010/main" val="186513843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tags" Target="../tags/tag19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tags" Target="../tags/tag18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5" Type="http://schemas.openxmlformats.org/officeDocument/2006/relationships/tags" Target="../tags/tag11.xml"/><Relationship Id="rId10" Type="http://schemas.openxmlformats.org/officeDocument/2006/relationships/tags" Target="../tags/tag16.xml"/><Relationship Id="rId4" Type="http://schemas.openxmlformats.org/officeDocument/2006/relationships/tags" Target="../tags/tag10.xml"/><Relationship Id="rId9" Type="http://schemas.openxmlformats.org/officeDocument/2006/relationships/tags" Target="../tags/tag15.xml"/><Relationship Id="rId1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tags" Target="../tags/tag32.xml"/><Relationship Id="rId18" Type="http://schemas.openxmlformats.org/officeDocument/2006/relationships/tags" Target="../tags/tag37.xml"/><Relationship Id="rId26" Type="http://schemas.openxmlformats.org/officeDocument/2006/relationships/tags" Target="../tags/tag45.xml"/><Relationship Id="rId39" Type="http://schemas.openxmlformats.org/officeDocument/2006/relationships/tags" Target="../tags/tag58.xml"/><Relationship Id="rId21" Type="http://schemas.openxmlformats.org/officeDocument/2006/relationships/tags" Target="../tags/tag40.xml"/><Relationship Id="rId34" Type="http://schemas.openxmlformats.org/officeDocument/2006/relationships/tags" Target="../tags/tag53.xml"/><Relationship Id="rId42" Type="http://schemas.openxmlformats.org/officeDocument/2006/relationships/notesSlide" Target="../notesSlides/notesSlide6.xml"/><Relationship Id="rId7" Type="http://schemas.openxmlformats.org/officeDocument/2006/relationships/tags" Target="../tags/tag26.xml"/><Relationship Id="rId2" Type="http://schemas.openxmlformats.org/officeDocument/2006/relationships/tags" Target="../tags/tag21.xml"/><Relationship Id="rId16" Type="http://schemas.openxmlformats.org/officeDocument/2006/relationships/tags" Target="../tags/tag35.xml"/><Relationship Id="rId20" Type="http://schemas.openxmlformats.org/officeDocument/2006/relationships/tags" Target="../tags/tag39.xml"/><Relationship Id="rId29" Type="http://schemas.openxmlformats.org/officeDocument/2006/relationships/tags" Target="../tags/tag48.xml"/><Relationship Id="rId41" Type="http://schemas.openxmlformats.org/officeDocument/2006/relationships/slideLayout" Target="../slideLayouts/slideLayout22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tags" Target="../tags/tag30.xml"/><Relationship Id="rId24" Type="http://schemas.openxmlformats.org/officeDocument/2006/relationships/tags" Target="../tags/tag43.xml"/><Relationship Id="rId32" Type="http://schemas.openxmlformats.org/officeDocument/2006/relationships/tags" Target="../tags/tag51.xml"/><Relationship Id="rId37" Type="http://schemas.openxmlformats.org/officeDocument/2006/relationships/tags" Target="../tags/tag56.xml"/><Relationship Id="rId40" Type="http://schemas.openxmlformats.org/officeDocument/2006/relationships/tags" Target="../tags/tag59.xml"/><Relationship Id="rId5" Type="http://schemas.openxmlformats.org/officeDocument/2006/relationships/tags" Target="../tags/tag24.xml"/><Relationship Id="rId15" Type="http://schemas.openxmlformats.org/officeDocument/2006/relationships/tags" Target="../tags/tag34.xml"/><Relationship Id="rId23" Type="http://schemas.openxmlformats.org/officeDocument/2006/relationships/tags" Target="../tags/tag42.xml"/><Relationship Id="rId28" Type="http://schemas.openxmlformats.org/officeDocument/2006/relationships/tags" Target="../tags/tag47.xml"/><Relationship Id="rId36" Type="http://schemas.openxmlformats.org/officeDocument/2006/relationships/tags" Target="../tags/tag55.xml"/><Relationship Id="rId10" Type="http://schemas.openxmlformats.org/officeDocument/2006/relationships/tags" Target="../tags/tag29.xml"/><Relationship Id="rId19" Type="http://schemas.openxmlformats.org/officeDocument/2006/relationships/tags" Target="../tags/tag38.xml"/><Relationship Id="rId31" Type="http://schemas.openxmlformats.org/officeDocument/2006/relationships/tags" Target="../tags/tag50.xml"/><Relationship Id="rId44" Type="http://schemas.openxmlformats.org/officeDocument/2006/relationships/image" Target="../media/image17.emf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tags" Target="../tags/tag33.xml"/><Relationship Id="rId22" Type="http://schemas.openxmlformats.org/officeDocument/2006/relationships/tags" Target="../tags/tag41.xml"/><Relationship Id="rId27" Type="http://schemas.openxmlformats.org/officeDocument/2006/relationships/tags" Target="../tags/tag46.xml"/><Relationship Id="rId30" Type="http://schemas.openxmlformats.org/officeDocument/2006/relationships/tags" Target="../tags/tag49.xml"/><Relationship Id="rId35" Type="http://schemas.openxmlformats.org/officeDocument/2006/relationships/tags" Target="../tags/tag54.xml"/><Relationship Id="rId43" Type="http://schemas.openxmlformats.org/officeDocument/2006/relationships/image" Target="../media/image16.emf"/><Relationship Id="rId8" Type="http://schemas.openxmlformats.org/officeDocument/2006/relationships/tags" Target="../tags/tag27.xml"/><Relationship Id="rId3" Type="http://schemas.openxmlformats.org/officeDocument/2006/relationships/tags" Target="../tags/tag22.xml"/><Relationship Id="rId12" Type="http://schemas.openxmlformats.org/officeDocument/2006/relationships/tags" Target="../tags/tag31.xml"/><Relationship Id="rId17" Type="http://schemas.openxmlformats.org/officeDocument/2006/relationships/tags" Target="../tags/tag36.xml"/><Relationship Id="rId25" Type="http://schemas.openxmlformats.org/officeDocument/2006/relationships/tags" Target="../tags/tag44.xml"/><Relationship Id="rId33" Type="http://schemas.openxmlformats.org/officeDocument/2006/relationships/tags" Target="../tags/tag52.xml"/><Relationship Id="rId38" Type="http://schemas.openxmlformats.org/officeDocument/2006/relationships/tags" Target="../tags/tag5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13" Type="http://schemas.openxmlformats.org/officeDocument/2006/relationships/tags" Target="../tags/tag75.xml"/><Relationship Id="rId18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1" Type="http://schemas.openxmlformats.org/officeDocument/2006/relationships/image" Target="../media/image20.png"/><Relationship Id="rId7" Type="http://schemas.openxmlformats.org/officeDocument/2006/relationships/tags" Target="../tags/tag69.xml"/><Relationship Id="rId12" Type="http://schemas.openxmlformats.org/officeDocument/2006/relationships/tags" Target="../tags/tag74.xml"/><Relationship Id="rId17" Type="http://schemas.openxmlformats.org/officeDocument/2006/relationships/tags" Target="../tags/tag79.xml"/><Relationship Id="rId2" Type="http://schemas.openxmlformats.org/officeDocument/2006/relationships/tags" Target="../tags/tag64.xml"/><Relationship Id="rId16" Type="http://schemas.openxmlformats.org/officeDocument/2006/relationships/tags" Target="../tags/tag78.xml"/><Relationship Id="rId20" Type="http://schemas.openxmlformats.org/officeDocument/2006/relationships/image" Target="../media/image19.png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tags" Target="../tags/tag73.xml"/><Relationship Id="rId5" Type="http://schemas.openxmlformats.org/officeDocument/2006/relationships/tags" Target="../tags/tag67.xml"/><Relationship Id="rId15" Type="http://schemas.openxmlformats.org/officeDocument/2006/relationships/tags" Target="../tags/tag77.xml"/><Relationship Id="rId10" Type="http://schemas.openxmlformats.org/officeDocument/2006/relationships/tags" Target="../tags/tag72.xml"/><Relationship Id="rId19" Type="http://schemas.openxmlformats.org/officeDocument/2006/relationships/image" Target="../media/image18.png"/><Relationship Id="rId4" Type="http://schemas.openxmlformats.org/officeDocument/2006/relationships/tags" Target="../tags/tag66.xml"/><Relationship Id="rId9" Type="http://schemas.openxmlformats.org/officeDocument/2006/relationships/tags" Target="../tags/tag71.xml"/><Relationship Id="rId14" Type="http://schemas.openxmlformats.org/officeDocument/2006/relationships/tags" Target="../tags/tag76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tags" Target="../tags/tag92.xml"/><Relationship Id="rId18" Type="http://schemas.openxmlformats.org/officeDocument/2006/relationships/tags" Target="../tags/tag97.xml"/><Relationship Id="rId26" Type="http://schemas.openxmlformats.org/officeDocument/2006/relationships/tags" Target="../tags/tag105.xml"/><Relationship Id="rId39" Type="http://schemas.openxmlformats.org/officeDocument/2006/relationships/image" Target="../media/image28.png"/><Relationship Id="rId21" Type="http://schemas.openxmlformats.org/officeDocument/2006/relationships/tags" Target="../tags/tag100.xml"/><Relationship Id="rId34" Type="http://schemas.openxmlformats.org/officeDocument/2006/relationships/image" Target="../media/image23.emf"/><Relationship Id="rId42" Type="http://schemas.microsoft.com/office/2007/relationships/hdphoto" Target="../media/hdphoto2.wdp"/><Relationship Id="rId7" Type="http://schemas.openxmlformats.org/officeDocument/2006/relationships/tags" Target="../tags/tag86.xml"/><Relationship Id="rId2" Type="http://schemas.openxmlformats.org/officeDocument/2006/relationships/tags" Target="../tags/tag81.xml"/><Relationship Id="rId16" Type="http://schemas.openxmlformats.org/officeDocument/2006/relationships/tags" Target="../tags/tag95.xml"/><Relationship Id="rId20" Type="http://schemas.openxmlformats.org/officeDocument/2006/relationships/tags" Target="../tags/tag99.xml"/><Relationship Id="rId29" Type="http://schemas.openxmlformats.org/officeDocument/2006/relationships/tags" Target="../tags/tag108.xml"/><Relationship Id="rId41" Type="http://schemas.openxmlformats.org/officeDocument/2006/relationships/image" Target="../media/image29.png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11" Type="http://schemas.openxmlformats.org/officeDocument/2006/relationships/tags" Target="../tags/tag90.xml"/><Relationship Id="rId24" Type="http://schemas.openxmlformats.org/officeDocument/2006/relationships/tags" Target="../tags/tag103.xml"/><Relationship Id="rId32" Type="http://schemas.openxmlformats.org/officeDocument/2006/relationships/image" Target="../media/image21.emf"/><Relationship Id="rId37" Type="http://schemas.openxmlformats.org/officeDocument/2006/relationships/image" Target="../media/image26.emf"/><Relationship Id="rId40" Type="http://schemas.microsoft.com/office/2007/relationships/hdphoto" Target="../media/hdphoto1.wdp"/><Relationship Id="rId5" Type="http://schemas.openxmlformats.org/officeDocument/2006/relationships/tags" Target="../tags/tag84.xml"/><Relationship Id="rId15" Type="http://schemas.openxmlformats.org/officeDocument/2006/relationships/tags" Target="../tags/tag94.xml"/><Relationship Id="rId23" Type="http://schemas.openxmlformats.org/officeDocument/2006/relationships/tags" Target="../tags/tag102.xml"/><Relationship Id="rId28" Type="http://schemas.openxmlformats.org/officeDocument/2006/relationships/tags" Target="../tags/tag107.xml"/><Relationship Id="rId36" Type="http://schemas.openxmlformats.org/officeDocument/2006/relationships/image" Target="../media/image25.emf"/><Relationship Id="rId10" Type="http://schemas.openxmlformats.org/officeDocument/2006/relationships/tags" Target="../tags/tag89.xml"/><Relationship Id="rId19" Type="http://schemas.openxmlformats.org/officeDocument/2006/relationships/tags" Target="../tags/tag98.xml"/><Relationship Id="rId31" Type="http://schemas.openxmlformats.org/officeDocument/2006/relationships/slideLayout" Target="../slideLayouts/slideLayout1.xml"/><Relationship Id="rId4" Type="http://schemas.openxmlformats.org/officeDocument/2006/relationships/tags" Target="../tags/tag83.xml"/><Relationship Id="rId9" Type="http://schemas.openxmlformats.org/officeDocument/2006/relationships/tags" Target="../tags/tag88.xml"/><Relationship Id="rId14" Type="http://schemas.openxmlformats.org/officeDocument/2006/relationships/tags" Target="../tags/tag93.xml"/><Relationship Id="rId22" Type="http://schemas.openxmlformats.org/officeDocument/2006/relationships/tags" Target="../tags/tag101.xml"/><Relationship Id="rId27" Type="http://schemas.openxmlformats.org/officeDocument/2006/relationships/tags" Target="../tags/tag106.xml"/><Relationship Id="rId30" Type="http://schemas.openxmlformats.org/officeDocument/2006/relationships/tags" Target="../tags/tag109.xml"/><Relationship Id="rId35" Type="http://schemas.openxmlformats.org/officeDocument/2006/relationships/image" Target="../media/image24.emf"/><Relationship Id="rId8" Type="http://schemas.openxmlformats.org/officeDocument/2006/relationships/tags" Target="../tags/tag87.xml"/><Relationship Id="rId3" Type="http://schemas.openxmlformats.org/officeDocument/2006/relationships/tags" Target="../tags/tag82.xml"/><Relationship Id="rId12" Type="http://schemas.openxmlformats.org/officeDocument/2006/relationships/tags" Target="../tags/tag91.xml"/><Relationship Id="rId17" Type="http://schemas.openxmlformats.org/officeDocument/2006/relationships/tags" Target="../tags/tag96.xml"/><Relationship Id="rId25" Type="http://schemas.openxmlformats.org/officeDocument/2006/relationships/tags" Target="../tags/tag104.xml"/><Relationship Id="rId33" Type="http://schemas.openxmlformats.org/officeDocument/2006/relationships/image" Target="../media/image22.emf"/><Relationship Id="rId38" Type="http://schemas.openxmlformats.org/officeDocument/2006/relationships/image" Target="../media/image27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7" Type="http://schemas.openxmlformats.org/officeDocument/2006/relationships/chart" Target="../charts/chart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54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tags" Target="../tags/tag112.xml"/><Relationship Id="rId7" Type="http://schemas.openxmlformats.org/officeDocument/2006/relationships/diagramData" Target="../diagrams/data1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6" Type="http://schemas.openxmlformats.org/officeDocument/2006/relationships/notesSlide" Target="../notesSlides/notesSlide26.xml"/><Relationship Id="rId11" Type="http://schemas.microsoft.com/office/2007/relationships/diagramDrawing" Target="../diagrams/drawing1.xml"/><Relationship Id="rId5" Type="http://schemas.openxmlformats.org/officeDocument/2006/relationships/slideLayout" Target="../slideLayouts/slideLayout2.xml"/><Relationship Id="rId10" Type="http://schemas.openxmlformats.org/officeDocument/2006/relationships/diagramColors" Target="../diagrams/colors1.xml"/><Relationship Id="rId4" Type="http://schemas.openxmlformats.org/officeDocument/2006/relationships/tags" Target="../tags/tag113.xml"/><Relationship Id="rId9" Type="http://schemas.openxmlformats.org/officeDocument/2006/relationships/diagramQuickStyle" Target="../diagrams/quickStyle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tags" Target="../tags/tag126.xml"/><Relationship Id="rId18" Type="http://schemas.openxmlformats.org/officeDocument/2006/relationships/tags" Target="../tags/tag131.xml"/><Relationship Id="rId26" Type="http://schemas.openxmlformats.org/officeDocument/2006/relationships/tags" Target="../tags/tag139.xml"/><Relationship Id="rId39" Type="http://schemas.openxmlformats.org/officeDocument/2006/relationships/tags" Target="../tags/tag152.xml"/><Relationship Id="rId21" Type="http://schemas.openxmlformats.org/officeDocument/2006/relationships/tags" Target="../tags/tag134.xml"/><Relationship Id="rId34" Type="http://schemas.openxmlformats.org/officeDocument/2006/relationships/tags" Target="../tags/tag147.xml"/><Relationship Id="rId42" Type="http://schemas.openxmlformats.org/officeDocument/2006/relationships/notesSlide" Target="../notesSlides/notesSlide28.xml"/><Relationship Id="rId7" Type="http://schemas.openxmlformats.org/officeDocument/2006/relationships/tags" Target="../tags/tag120.xml"/><Relationship Id="rId2" Type="http://schemas.openxmlformats.org/officeDocument/2006/relationships/tags" Target="../tags/tag115.xml"/><Relationship Id="rId16" Type="http://schemas.openxmlformats.org/officeDocument/2006/relationships/tags" Target="../tags/tag129.xml"/><Relationship Id="rId20" Type="http://schemas.openxmlformats.org/officeDocument/2006/relationships/tags" Target="../tags/tag133.xml"/><Relationship Id="rId29" Type="http://schemas.openxmlformats.org/officeDocument/2006/relationships/tags" Target="../tags/tag142.xml"/><Relationship Id="rId41" Type="http://schemas.openxmlformats.org/officeDocument/2006/relationships/slideLayout" Target="../slideLayouts/slideLayout20.xml"/><Relationship Id="rId1" Type="http://schemas.openxmlformats.org/officeDocument/2006/relationships/tags" Target="../tags/tag114.xml"/><Relationship Id="rId6" Type="http://schemas.openxmlformats.org/officeDocument/2006/relationships/tags" Target="../tags/tag119.xml"/><Relationship Id="rId11" Type="http://schemas.openxmlformats.org/officeDocument/2006/relationships/tags" Target="../tags/tag124.xml"/><Relationship Id="rId24" Type="http://schemas.openxmlformats.org/officeDocument/2006/relationships/tags" Target="../tags/tag137.xml"/><Relationship Id="rId32" Type="http://schemas.openxmlformats.org/officeDocument/2006/relationships/tags" Target="../tags/tag145.xml"/><Relationship Id="rId37" Type="http://schemas.openxmlformats.org/officeDocument/2006/relationships/tags" Target="../tags/tag150.xml"/><Relationship Id="rId40" Type="http://schemas.openxmlformats.org/officeDocument/2006/relationships/tags" Target="../tags/tag153.xml"/><Relationship Id="rId5" Type="http://schemas.openxmlformats.org/officeDocument/2006/relationships/tags" Target="../tags/tag118.xml"/><Relationship Id="rId15" Type="http://schemas.openxmlformats.org/officeDocument/2006/relationships/tags" Target="../tags/tag128.xml"/><Relationship Id="rId23" Type="http://schemas.openxmlformats.org/officeDocument/2006/relationships/tags" Target="../tags/tag136.xml"/><Relationship Id="rId28" Type="http://schemas.openxmlformats.org/officeDocument/2006/relationships/tags" Target="../tags/tag141.xml"/><Relationship Id="rId36" Type="http://schemas.openxmlformats.org/officeDocument/2006/relationships/tags" Target="../tags/tag149.xml"/><Relationship Id="rId10" Type="http://schemas.openxmlformats.org/officeDocument/2006/relationships/tags" Target="../tags/tag123.xml"/><Relationship Id="rId19" Type="http://schemas.openxmlformats.org/officeDocument/2006/relationships/tags" Target="../tags/tag132.xml"/><Relationship Id="rId31" Type="http://schemas.openxmlformats.org/officeDocument/2006/relationships/tags" Target="../tags/tag144.xml"/><Relationship Id="rId4" Type="http://schemas.openxmlformats.org/officeDocument/2006/relationships/tags" Target="../tags/tag117.xml"/><Relationship Id="rId9" Type="http://schemas.openxmlformats.org/officeDocument/2006/relationships/tags" Target="../tags/tag122.xml"/><Relationship Id="rId14" Type="http://schemas.openxmlformats.org/officeDocument/2006/relationships/tags" Target="../tags/tag127.xml"/><Relationship Id="rId22" Type="http://schemas.openxmlformats.org/officeDocument/2006/relationships/tags" Target="../tags/tag135.xml"/><Relationship Id="rId27" Type="http://schemas.openxmlformats.org/officeDocument/2006/relationships/tags" Target="../tags/tag140.xml"/><Relationship Id="rId30" Type="http://schemas.openxmlformats.org/officeDocument/2006/relationships/tags" Target="../tags/tag143.xml"/><Relationship Id="rId35" Type="http://schemas.openxmlformats.org/officeDocument/2006/relationships/tags" Target="../tags/tag148.xml"/><Relationship Id="rId8" Type="http://schemas.openxmlformats.org/officeDocument/2006/relationships/tags" Target="../tags/tag121.xml"/><Relationship Id="rId3" Type="http://schemas.openxmlformats.org/officeDocument/2006/relationships/tags" Target="../tags/tag116.xml"/><Relationship Id="rId12" Type="http://schemas.openxmlformats.org/officeDocument/2006/relationships/tags" Target="../tags/tag125.xml"/><Relationship Id="rId17" Type="http://schemas.openxmlformats.org/officeDocument/2006/relationships/tags" Target="../tags/tag130.xml"/><Relationship Id="rId25" Type="http://schemas.openxmlformats.org/officeDocument/2006/relationships/tags" Target="../tags/tag138.xml"/><Relationship Id="rId33" Type="http://schemas.openxmlformats.org/officeDocument/2006/relationships/tags" Target="../tags/tag146.xml"/><Relationship Id="rId38" Type="http://schemas.openxmlformats.org/officeDocument/2006/relationships/tags" Target="../tags/tag151.xml"/></Relationships>
</file>

<file path=ppt/slides/_rels/slide42.xml.rels><?xml version="1.0" encoding="UTF-8" standalone="yes"?>
<Relationships xmlns="http://schemas.openxmlformats.org/package/2006/relationships"><Relationship Id="rId26" Type="http://schemas.openxmlformats.org/officeDocument/2006/relationships/tags" Target="../tags/tag182.xml"/><Relationship Id="rId21" Type="http://schemas.openxmlformats.org/officeDocument/2006/relationships/tags" Target="../tags/tag177.xml"/><Relationship Id="rId34" Type="http://schemas.openxmlformats.org/officeDocument/2006/relationships/tags" Target="../tags/tag190.xml"/><Relationship Id="rId42" Type="http://schemas.openxmlformats.org/officeDocument/2006/relationships/tags" Target="../tags/tag198.xml"/><Relationship Id="rId47" Type="http://schemas.openxmlformats.org/officeDocument/2006/relationships/tags" Target="../tags/tag203.xml"/><Relationship Id="rId50" Type="http://schemas.openxmlformats.org/officeDocument/2006/relationships/tags" Target="../tags/tag206.xml"/><Relationship Id="rId55" Type="http://schemas.openxmlformats.org/officeDocument/2006/relationships/tags" Target="../tags/tag211.xml"/><Relationship Id="rId63" Type="http://schemas.openxmlformats.org/officeDocument/2006/relationships/tags" Target="../tags/tag219.xml"/><Relationship Id="rId7" Type="http://schemas.openxmlformats.org/officeDocument/2006/relationships/tags" Target="../tags/tag163.xml"/><Relationship Id="rId2" Type="http://schemas.openxmlformats.org/officeDocument/2006/relationships/tags" Target="../tags/tag158.xml"/><Relationship Id="rId16" Type="http://schemas.openxmlformats.org/officeDocument/2006/relationships/tags" Target="../tags/tag172.xml"/><Relationship Id="rId29" Type="http://schemas.openxmlformats.org/officeDocument/2006/relationships/tags" Target="../tags/tag185.xml"/><Relationship Id="rId11" Type="http://schemas.openxmlformats.org/officeDocument/2006/relationships/tags" Target="../tags/tag167.xml"/><Relationship Id="rId24" Type="http://schemas.openxmlformats.org/officeDocument/2006/relationships/tags" Target="../tags/tag180.xml"/><Relationship Id="rId32" Type="http://schemas.openxmlformats.org/officeDocument/2006/relationships/tags" Target="../tags/tag188.xml"/><Relationship Id="rId37" Type="http://schemas.openxmlformats.org/officeDocument/2006/relationships/tags" Target="../tags/tag193.xml"/><Relationship Id="rId40" Type="http://schemas.openxmlformats.org/officeDocument/2006/relationships/tags" Target="../tags/tag196.xml"/><Relationship Id="rId45" Type="http://schemas.openxmlformats.org/officeDocument/2006/relationships/tags" Target="../tags/tag201.xml"/><Relationship Id="rId53" Type="http://schemas.openxmlformats.org/officeDocument/2006/relationships/tags" Target="../tags/tag209.xml"/><Relationship Id="rId58" Type="http://schemas.openxmlformats.org/officeDocument/2006/relationships/tags" Target="../tags/tag214.xml"/><Relationship Id="rId66" Type="http://schemas.openxmlformats.org/officeDocument/2006/relationships/slideLayout" Target="../slideLayouts/slideLayout21.xml"/><Relationship Id="rId5" Type="http://schemas.openxmlformats.org/officeDocument/2006/relationships/tags" Target="../tags/tag161.xml"/><Relationship Id="rId61" Type="http://schemas.openxmlformats.org/officeDocument/2006/relationships/tags" Target="../tags/tag217.xml"/><Relationship Id="rId19" Type="http://schemas.openxmlformats.org/officeDocument/2006/relationships/tags" Target="../tags/tag175.xml"/><Relationship Id="rId14" Type="http://schemas.openxmlformats.org/officeDocument/2006/relationships/tags" Target="../tags/tag170.xml"/><Relationship Id="rId22" Type="http://schemas.openxmlformats.org/officeDocument/2006/relationships/tags" Target="../tags/tag178.xml"/><Relationship Id="rId27" Type="http://schemas.openxmlformats.org/officeDocument/2006/relationships/tags" Target="../tags/tag183.xml"/><Relationship Id="rId30" Type="http://schemas.openxmlformats.org/officeDocument/2006/relationships/tags" Target="../tags/tag186.xml"/><Relationship Id="rId35" Type="http://schemas.openxmlformats.org/officeDocument/2006/relationships/tags" Target="../tags/tag191.xml"/><Relationship Id="rId43" Type="http://schemas.openxmlformats.org/officeDocument/2006/relationships/tags" Target="../tags/tag199.xml"/><Relationship Id="rId48" Type="http://schemas.openxmlformats.org/officeDocument/2006/relationships/tags" Target="../tags/tag204.xml"/><Relationship Id="rId56" Type="http://schemas.openxmlformats.org/officeDocument/2006/relationships/tags" Target="../tags/tag212.xml"/><Relationship Id="rId64" Type="http://schemas.openxmlformats.org/officeDocument/2006/relationships/tags" Target="../tags/tag220.xml"/><Relationship Id="rId8" Type="http://schemas.openxmlformats.org/officeDocument/2006/relationships/tags" Target="../tags/tag164.xml"/><Relationship Id="rId51" Type="http://schemas.openxmlformats.org/officeDocument/2006/relationships/tags" Target="../tags/tag207.xml"/><Relationship Id="rId3" Type="http://schemas.openxmlformats.org/officeDocument/2006/relationships/tags" Target="../tags/tag159.xml"/><Relationship Id="rId12" Type="http://schemas.openxmlformats.org/officeDocument/2006/relationships/tags" Target="../tags/tag168.xml"/><Relationship Id="rId17" Type="http://schemas.openxmlformats.org/officeDocument/2006/relationships/tags" Target="../tags/tag173.xml"/><Relationship Id="rId25" Type="http://schemas.openxmlformats.org/officeDocument/2006/relationships/tags" Target="../tags/tag181.xml"/><Relationship Id="rId33" Type="http://schemas.openxmlformats.org/officeDocument/2006/relationships/tags" Target="../tags/tag189.xml"/><Relationship Id="rId38" Type="http://schemas.openxmlformats.org/officeDocument/2006/relationships/tags" Target="../tags/tag194.xml"/><Relationship Id="rId46" Type="http://schemas.openxmlformats.org/officeDocument/2006/relationships/tags" Target="../tags/tag202.xml"/><Relationship Id="rId59" Type="http://schemas.openxmlformats.org/officeDocument/2006/relationships/tags" Target="../tags/tag215.xml"/><Relationship Id="rId67" Type="http://schemas.openxmlformats.org/officeDocument/2006/relationships/notesSlide" Target="../notesSlides/notesSlide29.xml"/><Relationship Id="rId20" Type="http://schemas.openxmlformats.org/officeDocument/2006/relationships/tags" Target="../tags/tag176.xml"/><Relationship Id="rId41" Type="http://schemas.openxmlformats.org/officeDocument/2006/relationships/tags" Target="../tags/tag197.xml"/><Relationship Id="rId54" Type="http://schemas.openxmlformats.org/officeDocument/2006/relationships/tags" Target="../tags/tag210.xml"/><Relationship Id="rId62" Type="http://schemas.openxmlformats.org/officeDocument/2006/relationships/tags" Target="../tags/tag218.xml"/><Relationship Id="rId1" Type="http://schemas.openxmlformats.org/officeDocument/2006/relationships/tags" Target="../tags/tag157.xml"/><Relationship Id="rId6" Type="http://schemas.openxmlformats.org/officeDocument/2006/relationships/tags" Target="../tags/tag162.xml"/><Relationship Id="rId15" Type="http://schemas.openxmlformats.org/officeDocument/2006/relationships/tags" Target="../tags/tag171.xml"/><Relationship Id="rId23" Type="http://schemas.openxmlformats.org/officeDocument/2006/relationships/tags" Target="../tags/tag179.xml"/><Relationship Id="rId28" Type="http://schemas.openxmlformats.org/officeDocument/2006/relationships/tags" Target="../tags/tag184.xml"/><Relationship Id="rId36" Type="http://schemas.openxmlformats.org/officeDocument/2006/relationships/tags" Target="../tags/tag192.xml"/><Relationship Id="rId49" Type="http://schemas.openxmlformats.org/officeDocument/2006/relationships/tags" Target="../tags/tag205.xml"/><Relationship Id="rId57" Type="http://schemas.openxmlformats.org/officeDocument/2006/relationships/tags" Target="../tags/tag213.xml"/><Relationship Id="rId10" Type="http://schemas.openxmlformats.org/officeDocument/2006/relationships/tags" Target="../tags/tag166.xml"/><Relationship Id="rId31" Type="http://schemas.openxmlformats.org/officeDocument/2006/relationships/tags" Target="../tags/tag187.xml"/><Relationship Id="rId44" Type="http://schemas.openxmlformats.org/officeDocument/2006/relationships/tags" Target="../tags/tag200.xml"/><Relationship Id="rId52" Type="http://schemas.openxmlformats.org/officeDocument/2006/relationships/tags" Target="../tags/tag208.xml"/><Relationship Id="rId60" Type="http://schemas.openxmlformats.org/officeDocument/2006/relationships/tags" Target="../tags/tag216.xml"/><Relationship Id="rId65" Type="http://schemas.openxmlformats.org/officeDocument/2006/relationships/tags" Target="../tags/tag221.xml"/><Relationship Id="rId4" Type="http://schemas.openxmlformats.org/officeDocument/2006/relationships/tags" Target="../tags/tag160.xml"/><Relationship Id="rId9" Type="http://schemas.openxmlformats.org/officeDocument/2006/relationships/tags" Target="../tags/tag165.xml"/><Relationship Id="rId13" Type="http://schemas.openxmlformats.org/officeDocument/2006/relationships/tags" Target="../tags/tag169.xml"/><Relationship Id="rId18" Type="http://schemas.openxmlformats.org/officeDocument/2006/relationships/tags" Target="../tags/tag174.xml"/><Relationship Id="rId39" Type="http://schemas.openxmlformats.org/officeDocument/2006/relationships/tags" Target="../tags/tag19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tags" Target="../tags/tag227.xml"/><Relationship Id="rId2" Type="http://schemas.openxmlformats.org/officeDocument/2006/relationships/tags" Target="../tags/tag226.xml"/><Relationship Id="rId1" Type="http://schemas.openxmlformats.org/officeDocument/2006/relationships/tags" Target="../tags/tag225.xml"/><Relationship Id="rId6" Type="http://schemas.openxmlformats.org/officeDocument/2006/relationships/notesSlide" Target="../notesSlides/notesSlide31.xml"/><Relationship Id="rId5" Type="http://schemas.openxmlformats.org/officeDocument/2006/relationships/slideLayout" Target="../slideLayouts/slideLayout21.xml"/><Relationship Id="rId4" Type="http://schemas.openxmlformats.org/officeDocument/2006/relationships/tags" Target="../tags/tag228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tags" Target="../tags/tag239.xml"/><Relationship Id="rId13" Type="http://schemas.openxmlformats.org/officeDocument/2006/relationships/notesSlide" Target="../notesSlides/notesSlide32.xml"/><Relationship Id="rId3" Type="http://schemas.openxmlformats.org/officeDocument/2006/relationships/tags" Target="../tags/tag234.xml"/><Relationship Id="rId7" Type="http://schemas.openxmlformats.org/officeDocument/2006/relationships/tags" Target="../tags/tag238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233.xml"/><Relationship Id="rId1" Type="http://schemas.openxmlformats.org/officeDocument/2006/relationships/tags" Target="../tags/tag232.xml"/><Relationship Id="rId6" Type="http://schemas.openxmlformats.org/officeDocument/2006/relationships/tags" Target="../tags/tag237.xml"/><Relationship Id="rId11" Type="http://schemas.openxmlformats.org/officeDocument/2006/relationships/tags" Target="../tags/tag242.xml"/><Relationship Id="rId5" Type="http://schemas.openxmlformats.org/officeDocument/2006/relationships/tags" Target="../tags/tag236.xml"/><Relationship Id="rId10" Type="http://schemas.openxmlformats.org/officeDocument/2006/relationships/tags" Target="../tags/tag241.xml"/><Relationship Id="rId4" Type="http://schemas.openxmlformats.org/officeDocument/2006/relationships/tags" Target="../tags/tag235.xml"/><Relationship Id="rId9" Type="http://schemas.openxmlformats.org/officeDocument/2006/relationships/tags" Target="../tags/tag240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"/>
          <p:cNvSpPr/>
          <p:nvPr/>
        </p:nvSpPr>
        <p:spPr>
          <a:xfrm>
            <a:off x="-12504" y="5592"/>
            <a:ext cx="12204504" cy="6863444"/>
          </a:xfrm>
          <a:prstGeom prst="rect">
            <a:avLst/>
          </a:prstGeom>
          <a:blipFill rotWithShape="1">
            <a:blip r:embed="rId3">
              <a:alphaModFix amt="86000"/>
            </a:blip>
            <a:stretch>
              <a:fillRect/>
            </a:stretch>
          </a:blipFill>
          <a:ln>
            <a:noFill/>
          </a:ln>
          <a:effectLst>
            <a:outerShdw blurRad="50800" dist="762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Calibri"/>
              <a:buNone/>
            </a:pPr>
            <a:endParaRPr sz="144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3073597" y="2569183"/>
            <a:ext cx="7721402" cy="1542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8225" rIns="0" bIns="0" anchor="t" anchorCtr="0">
            <a:spAutoFit/>
          </a:bodyPr>
          <a:lstStyle/>
          <a:p>
            <a:pPr marL="0" marR="3081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B92"/>
              </a:buClr>
              <a:buSzPts val="4002"/>
              <a:buFont typeface="Open Sans"/>
              <a:buNone/>
            </a:pPr>
            <a:r>
              <a:rPr lang="es-ES" sz="4002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Proyecto</a:t>
            </a:r>
            <a:endParaRPr sz="4002" b="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3081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B92"/>
              </a:buClr>
              <a:buSzPts val="4002"/>
              <a:buFont typeface="Open Sans"/>
              <a:buNone/>
            </a:pPr>
            <a:r>
              <a:rPr lang="en-US" sz="4002" b="0" i="0" u="none" strike="noStrike" cap="none" err="1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Gestión</a:t>
            </a:r>
            <a:r>
              <a:rPr lang="en-US" sz="4002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4002" b="0" i="0" u="none" strike="noStrike" cap="none" err="1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Estratégica</a:t>
            </a:r>
            <a:r>
              <a:rPr lang="en-US" sz="4002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 REDCO</a:t>
            </a:r>
            <a:br>
              <a:rPr lang="en-US" sz="2668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sz="2200" b="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1777682" y="6342562"/>
            <a:ext cx="67776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28 </a:t>
            </a:r>
            <a:r>
              <a:rPr lang="en-US" sz="1800" err="1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junio</a:t>
            </a:r>
            <a:r>
              <a:rPr lang="en-US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1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2024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1"/>
          <p:cNvCxnSpPr/>
          <p:nvPr/>
        </p:nvCxnSpPr>
        <p:spPr>
          <a:xfrm rot="10800000">
            <a:off x="3073598" y="3935427"/>
            <a:ext cx="3744815" cy="0"/>
          </a:xfrm>
          <a:prstGeom prst="straightConnector1">
            <a:avLst/>
          </a:prstGeom>
          <a:noFill/>
          <a:ln w="19050" cap="flat" cmpd="sng">
            <a:solidFill>
              <a:srgbClr val="B32075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Mano sosteniendo un celular en la mano&#10;&#10;Descripción generada automáticamente con confianza media">
            <a:extLst>
              <a:ext uri="{FF2B5EF4-FFF2-40B4-BE49-F238E27FC236}">
                <a16:creationId xmlns:a16="http://schemas.microsoft.com/office/drawing/2014/main" id="{4D016C89-2F18-4D5A-8D4E-9E92975742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64" r="24052"/>
          <a:stretch/>
        </p:blipFill>
        <p:spPr>
          <a:xfrm>
            <a:off x="0" y="-5444"/>
            <a:ext cx="5532699" cy="6858000"/>
          </a:xfrm>
          <a:prstGeom prst="rect">
            <a:avLst/>
          </a:prstGeom>
        </p:spPr>
      </p:pic>
      <p:sp>
        <p:nvSpPr>
          <p:cNvPr id="2" name="object 3">
            <a:extLst>
              <a:ext uri="{FF2B5EF4-FFF2-40B4-BE49-F238E27FC236}">
                <a16:creationId xmlns:a16="http://schemas.microsoft.com/office/drawing/2014/main" id="{C7CB9E13-CB5E-4401-877C-CBA5DDEB3452}"/>
              </a:ext>
            </a:extLst>
          </p:cNvPr>
          <p:cNvSpPr/>
          <p:nvPr/>
        </p:nvSpPr>
        <p:spPr>
          <a:xfrm>
            <a:off x="-12504" y="15722"/>
            <a:ext cx="5545203" cy="6863444"/>
          </a:xfrm>
          <a:prstGeom prst="rect">
            <a:avLst/>
          </a:prstGeom>
          <a:blipFill dpi="0" rotWithShape="1">
            <a:blip r:embed="rId3" cstate="print">
              <a:alphaModFix amt="86000"/>
            </a:blip>
            <a:srcRect/>
            <a:stretch>
              <a:fillRect/>
            </a:stretch>
          </a:blipFill>
          <a:effectLst>
            <a:outerShdw blurRad="50800" dist="762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4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2C0E30A-D948-7516-504E-CA401795B568}"/>
              </a:ext>
            </a:extLst>
          </p:cNvPr>
          <p:cNvSpPr txBox="1"/>
          <p:nvPr/>
        </p:nvSpPr>
        <p:spPr>
          <a:xfrm>
            <a:off x="5767603" y="492021"/>
            <a:ext cx="6288929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32075"/>
              </a:buClr>
              <a:buSzTx/>
              <a:buFont typeface="+mj-lt"/>
              <a:buAutoNum type="arabicPeriod"/>
              <a:tabLst/>
              <a:defRPr/>
            </a:pPr>
            <a:r>
              <a:rPr kumimoji="0" lang="x-none" sz="24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Objetivos y metodología              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32075"/>
              </a:buClr>
              <a:buSzTx/>
              <a:buFont typeface="+mj-lt"/>
              <a:buAutoNum type="arabicPeriod"/>
              <a:tabLst/>
              <a:defRPr/>
            </a:pPr>
            <a:r>
              <a:rPr lang="es-ES" sz="2400" b="1">
                <a:solidFill>
                  <a:srgbClr val="E7E6E6">
                    <a:lumMod val="50000"/>
                  </a:srgbClr>
                </a:solidFill>
                <a:latin typeface="Century Gothic" panose="020B0502020202020204" pitchFamily="34" charset="0"/>
              </a:rPr>
              <a:t>Primeros resultados obtenidos</a:t>
            </a:r>
            <a:endParaRPr kumimoji="0" lang="x-none" sz="24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342900" lvl="0" indent="-342900">
              <a:lnSpc>
                <a:spcPct val="200000"/>
              </a:lnSpc>
              <a:buClr>
                <a:srgbClr val="B32075"/>
              </a:buClr>
              <a:buSzPts val="3200"/>
              <a:buFont typeface="Calibri"/>
              <a:buAutoNum type="arabicPeriod"/>
            </a:pPr>
            <a:r>
              <a:rPr lang="en-US" sz="2400" b="1" err="1">
                <a:solidFill>
                  <a:srgbClr val="75707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Metodología</a:t>
            </a:r>
            <a:r>
              <a:rPr lang="en-US" sz="2400" b="1">
                <a:solidFill>
                  <a:srgbClr val="75707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 para la </a:t>
            </a:r>
            <a:r>
              <a:rPr lang="en-US" sz="2400" b="1" err="1">
                <a:solidFill>
                  <a:srgbClr val="75707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toma</a:t>
            </a:r>
            <a:r>
              <a:rPr lang="en-US" sz="2400" b="1">
                <a:solidFill>
                  <a:srgbClr val="75707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2400" b="1" err="1">
                <a:solidFill>
                  <a:srgbClr val="75707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decisiones</a:t>
            </a:r>
            <a:endParaRPr lang="es-ES" sz="2400" b="1">
              <a:solidFill>
                <a:srgbClr val="757070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  <a:p>
            <a:pPr marL="342900" lvl="0" indent="-342900">
              <a:lnSpc>
                <a:spcPct val="200000"/>
              </a:lnSpc>
              <a:buClr>
                <a:srgbClr val="B32075"/>
              </a:buClr>
              <a:buSzPts val="3200"/>
              <a:buFont typeface="Calibri"/>
              <a:buAutoNum type="arabicPeriod"/>
            </a:pPr>
            <a:r>
              <a:rPr lang="es-ES" sz="2400" b="1">
                <a:solidFill>
                  <a:srgbClr val="75707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Propósito, misión y habilitadores</a:t>
            </a:r>
          </a:p>
          <a:p>
            <a:pPr marL="342900" lvl="0" indent="-342900">
              <a:lnSpc>
                <a:spcPct val="200000"/>
              </a:lnSpc>
              <a:buClr>
                <a:srgbClr val="B32075"/>
              </a:buClr>
              <a:buSzPts val="3200"/>
              <a:buFont typeface="Calibri"/>
              <a:buAutoNum type="arabicPeriod"/>
            </a:pPr>
            <a:r>
              <a:rPr lang="es-ES" sz="2400" b="1">
                <a:solidFill>
                  <a:srgbClr val="75707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Agenda control de gestión</a:t>
            </a:r>
          </a:p>
          <a:p>
            <a:pPr marL="342900" lvl="0" indent="-342900">
              <a:lnSpc>
                <a:spcPct val="200000"/>
              </a:lnSpc>
              <a:buClr>
                <a:srgbClr val="B32075"/>
              </a:buClr>
              <a:buSzPts val="3200"/>
              <a:buFont typeface="Calibri"/>
              <a:buAutoNum type="arabicPeriod"/>
            </a:pPr>
            <a:r>
              <a:rPr lang="es-ES" sz="2400" b="1">
                <a:solidFill>
                  <a:srgbClr val="75707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Desafíos de la transformación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32075"/>
              </a:buClr>
              <a:buSzTx/>
              <a:buFont typeface="+mj-lt"/>
              <a:buAutoNum type="arabicPeriod"/>
              <a:tabLst/>
              <a:defRPr/>
            </a:pPr>
            <a:endParaRPr lang="en-US" sz="2400" b="1">
              <a:solidFill>
                <a:srgbClr val="E7E6E6">
                  <a:lumMod val="50000"/>
                </a:srgb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026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4" descr="Imagen que contiene persona, alimentos, hombre, cerca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 l="23048" r="23048"/>
          <a:stretch/>
        </p:blipFill>
        <p:spPr>
          <a:xfrm>
            <a:off x="-12504" y="0"/>
            <a:ext cx="55452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4"/>
          <p:cNvSpPr/>
          <p:nvPr/>
        </p:nvSpPr>
        <p:spPr>
          <a:xfrm>
            <a:off x="-12504" y="0"/>
            <a:ext cx="5545203" cy="6857999"/>
          </a:xfrm>
          <a:prstGeom prst="rect">
            <a:avLst/>
          </a:prstGeom>
          <a:blipFill rotWithShape="1">
            <a:blip r:embed="rId4">
              <a:alphaModFix amt="86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Calibri"/>
              <a:buNone/>
            </a:pPr>
            <a:endParaRPr sz="144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4064185" y="1801906"/>
            <a:ext cx="3243300" cy="3243300"/>
          </a:xfrm>
          <a:prstGeom prst="rect">
            <a:avLst/>
          </a:prstGeom>
          <a:solidFill>
            <a:srgbClr val="493C70"/>
          </a:solidFill>
          <a:ln w="266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7215022" y="2768228"/>
            <a:ext cx="4788732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200">
                <a:solidFill>
                  <a:srgbClr val="B3207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Objetivos y metodología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sz="3200">
              <a:solidFill>
                <a:srgbClr val="B3207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6" name="Google Shape;166;p4"/>
          <p:cNvSpPr txBox="1"/>
          <p:nvPr/>
        </p:nvSpPr>
        <p:spPr>
          <a:xfrm>
            <a:off x="4200981" y="2321953"/>
            <a:ext cx="2963748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</a:t>
            </a:r>
            <a:endParaRPr sz="138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234712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96298-6D25-9A12-BA6F-380FF6F89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2">
            <a:extLst>
              <a:ext uri="{FF2B5EF4-FFF2-40B4-BE49-F238E27FC236}">
                <a16:creationId xmlns:a16="http://schemas.microsoft.com/office/drawing/2014/main" id="{51818973-3EC5-986E-5333-364489BE7B8F}"/>
              </a:ext>
            </a:extLst>
          </p:cNvPr>
          <p:cNvSpPr txBox="1">
            <a:spLocks/>
          </p:cNvSpPr>
          <p:nvPr/>
        </p:nvSpPr>
        <p:spPr>
          <a:xfrm>
            <a:off x="337176" y="172199"/>
            <a:ext cx="11237977" cy="907481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x-none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El Objetivo General </a:t>
            </a:r>
            <a:r>
              <a:rPr lang="es-ES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del proyecto </a:t>
            </a:r>
            <a:r>
              <a:rPr lang="x-none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es el </a:t>
            </a:r>
            <a:r>
              <a:rPr lang="es-ES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f</a:t>
            </a:r>
            <a:r>
              <a:rPr lang="x-none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ortalecimiento de la Gestión Estratégica de REDCO</a:t>
            </a:r>
            <a:r>
              <a:rPr lang="es-ES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 (1/2)</a:t>
            </a:r>
            <a:endParaRPr lang="x-none" sz="280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</a:endParaRPr>
          </a:p>
          <a:p>
            <a:endParaRPr lang="es-CL" sz="280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167D54E-4D52-8948-C534-4081DFA826B7}"/>
              </a:ext>
            </a:extLst>
          </p:cNvPr>
          <p:cNvSpPr txBox="1"/>
          <p:nvPr/>
        </p:nvSpPr>
        <p:spPr>
          <a:xfrm>
            <a:off x="320549" y="1474237"/>
            <a:ext cx="11316759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2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CL" sz="1600" b="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Objetivo General</a:t>
            </a:r>
            <a:r>
              <a:rPr kumimoji="0" lang="es-CL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:  Fortalecimiento de la </a:t>
            </a:r>
            <a:r>
              <a:rPr lang="es-CL" sz="1600" b="1">
                <a:solidFill>
                  <a:prstClr val="black"/>
                </a:solidFill>
                <a:latin typeface="Century Gothic" panose="020B0502020202020204" pitchFamily="34" charset="0"/>
              </a:rPr>
              <a:t>Gestión Estratégica </a:t>
            </a:r>
            <a:r>
              <a:rPr kumimoji="0" lang="es-CL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de REDCO</a:t>
            </a:r>
          </a:p>
          <a:p>
            <a:pPr marR="0" lvl="3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s-CL" sz="1600">
              <a:solidFill>
                <a:prstClr val="black"/>
              </a:solidFill>
              <a:latin typeface="Century Gothic" panose="020B0502020202020204" pitchFamily="34" charset="0"/>
            </a:endParaRPr>
          </a:p>
          <a:p>
            <a:pPr lvl="2" algn="just">
              <a:defRPr/>
            </a:pPr>
            <a:r>
              <a:rPr lang="es-CL" sz="1600">
                <a:solidFill>
                  <a:prstClr val="black"/>
                </a:solidFill>
                <a:latin typeface="Century Gothic" panose="020B0502020202020204" pitchFamily="34" charset="0"/>
              </a:rPr>
              <a:t>Conceptos</a:t>
            </a:r>
          </a:p>
          <a:p>
            <a:pPr marR="0" lvl="3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s-CL" sz="1600">
              <a:solidFill>
                <a:prstClr val="black"/>
              </a:solidFill>
              <a:latin typeface="Century Gothic" panose="020B0502020202020204" pitchFamily="34" charset="0"/>
            </a:endParaRPr>
          </a:p>
          <a:p>
            <a:pPr marR="0" lvl="3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CL" sz="1600">
                <a:solidFill>
                  <a:prstClr val="black"/>
                </a:solidFill>
                <a:latin typeface="Century Gothic" panose="020B0502020202020204" pitchFamily="34" charset="0"/>
              </a:rPr>
              <a:t>La Gestión Estratégica se compone de</a:t>
            </a:r>
            <a:r>
              <a:rPr lang="en-US" sz="1600">
                <a:solidFill>
                  <a:prstClr val="black"/>
                </a:solidFill>
                <a:latin typeface="Century Gothic" panose="020B0502020202020204" pitchFamily="34" charset="0"/>
              </a:rPr>
              <a:t>:</a:t>
            </a:r>
          </a:p>
          <a:p>
            <a:pPr marR="0" lvl="3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>
              <a:solidFill>
                <a:prstClr val="black"/>
              </a:solidFill>
              <a:latin typeface="Century Gothic" panose="020B0502020202020204" pitchFamily="34" charset="0"/>
            </a:endParaRPr>
          </a:p>
          <a:p>
            <a:pPr marL="2114550" lvl="4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600" b="1" err="1">
                <a:solidFill>
                  <a:prstClr val="black"/>
                </a:solidFill>
                <a:latin typeface="Century Gothic" panose="020B0502020202020204" pitchFamily="34" charset="0"/>
              </a:rPr>
              <a:t>Dise</a:t>
            </a:r>
            <a:r>
              <a:rPr lang="es-CL" sz="1600" b="1" err="1">
                <a:solidFill>
                  <a:prstClr val="black"/>
                </a:solidFill>
                <a:latin typeface="Century Gothic" panose="020B0502020202020204" pitchFamily="34" charset="0"/>
              </a:rPr>
              <a:t>ño</a:t>
            </a:r>
            <a:r>
              <a:rPr lang="es-CL" sz="1600" b="1">
                <a:solidFill>
                  <a:prstClr val="black"/>
                </a:solidFill>
                <a:latin typeface="Century Gothic" panose="020B0502020202020204" pitchFamily="34" charset="0"/>
              </a:rPr>
              <a:t> </a:t>
            </a:r>
            <a:r>
              <a:rPr lang="es-CL" sz="1600">
                <a:solidFill>
                  <a:prstClr val="black"/>
                </a:solidFill>
                <a:latin typeface="Century Gothic" panose="020B0502020202020204" pitchFamily="34" charset="0"/>
              </a:rPr>
              <a:t>Estratégico</a:t>
            </a:r>
          </a:p>
          <a:p>
            <a:pPr marL="2114550" lvl="4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CL" sz="1600" b="1">
                <a:solidFill>
                  <a:prstClr val="black"/>
                </a:solidFill>
                <a:latin typeface="Century Gothic" panose="020B0502020202020204" pitchFamily="34" charset="0"/>
              </a:rPr>
              <a:t>Planificación</a:t>
            </a:r>
            <a:r>
              <a:rPr lang="es-CL" sz="1600">
                <a:solidFill>
                  <a:prstClr val="black"/>
                </a:solidFill>
                <a:latin typeface="Century Gothic" panose="020B0502020202020204" pitchFamily="34" charset="0"/>
              </a:rPr>
              <a:t> Estratégico (i.e. traducción del diseño a metas y planes)</a:t>
            </a:r>
          </a:p>
          <a:p>
            <a:pPr marL="2114550" lvl="4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CL" sz="1600" b="1">
                <a:solidFill>
                  <a:prstClr val="black"/>
                </a:solidFill>
                <a:latin typeface="Century Gothic" panose="020B0502020202020204" pitchFamily="34" charset="0"/>
              </a:rPr>
              <a:t>Ejecución,</a:t>
            </a:r>
            <a:r>
              <a:rPr lang="es-CL" sz="1600">
                <a:solidFill>
                  <a:prstClr val="black"/>
                </a:solidFill>
                <a:latin typeface="Century Gothic" panose="020B0502020202020204" pitchFamily="34" charset="0"/>
              </a:rPr>
              <a:t> vía agendas de 1) cumplimiento Y  2) desarrollo</a:t>
            </a:r>
          </a:p>
          <a:p>
            <a:pPr marL="2114550" lvl="4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CL" sz="1600" b="1">
                <a:solidFill>
                  <a:prstClr val="black"/>
                </a:solidFill>
                <a:latin typeface="Century Gothic" panose="020B0502020202020204" pitchFamily="34" charset="0"/>
              </a:rPr>
              <a:t>Aprendizaje</a:t>
            </a:r>
            <a:r>
              <a:rPr lang="es-CL" sz="1600">
                <a:solidFill>
                  <a:prstClr val="black"/>
                </a:solidFill>
                <a:latin typeface="Century Gothic" panose="020B0502020202020204" pitchFamily="34" charset="0"/>
              </a:rPr>
              <a:t> o retroalimentación a las etapas anteriores </a:t>
            </a:r>
          </a:p>
          <a:p>
            <a:pPr marL="2114550" lvl="4" indent="-285750" algn="just">
              <a:buFont typeface="Arial" panose="020B0604020202020204" pitchFamily="34" charset="0"/>
              <a:buChar char="•"/>
              <a:defRPr/>
            </a:pPr>
            <a:endParaRPr lang="es-CL" sz="1600">
              <a:solidFill>
                <a:prstClr val="black"/>
              </a:solidFill>
              <a:latin typeface="Century Gothic" panose="020B0502020202020204" pitchFamily="34" charset="0"/>
            </a:endParaRPr>
          </a:p>
          <a:p>
            <a:pPr marL="2114550" lvl="4" indent="-285750" algn="just">
              <a:buFont typeface="Arial" panose="020B0604020202020204" pitchFamily="34" charset="0"/>
              <a:buChar char="•"/>
              <a:defRPr/>
            </a:pPr>
            <a:endParaRPr lang="es-CL" sz="1600">
              <a:solidFill>
                <a:prstClr val="black"/>
              </a:solidFill>
              <a:latin typeface="Century Gothic" panose="020B0502020202020204" pitchFamily="34" charset="0"/>
            </a:endParaRPr>
          </a:p>
          <a:p>
            <a:pPr marL="1257300" marR="0" lvl="2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s-CL" sz="1600" b="0" i="0" u="sng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1257300" marR="0" lvl="2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CL" sz="1600" u="sng">
              <a:solidFill>
                <a:prstClr val="black"/>
              </a:solidFill>
              <a:latin typeface="Century Gothic" panose="020B0502020202020204" pitchFamily="34" charset="0"/>
            </a:endParaRPr>
          </a:p>
          <a:p>
            <a:pPr marR="0" lvl="2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CL" sz="1600" b="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Nota</a:t>
            </a:r>
            <a:r>
              <a:rPr kumimoji="0" lang="en-US" sz="1600" b="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: </a:t>
            </a:r>
            <a:r>
              <a:rPr kumimoji="0" lang="en-US" sz="1600" b="0" i="0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 La “</a:t>
            </a:r>
            <a:r>
              <a:rPr lang="en-US" sz="1600">
                <a:solidFill>
                  <a:prstClr val="black"/>
                </a:solidFill>
                <a:latin typeface="Century Gothic" panose="020B0502020202020204" pitchFamily="34" charset="0"/>
              </a:rPr>
              <a:t>P</a:t>
            </a:r>
            <a:r>
              <a:rPr kumimoji="0" lang="en-US" sz="1600" b="0" i="0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lanificaci</a:t>
            </a:r>
            <a:r>
              <a:rPr lang="es-CL" sz="1600" err="1">
                <a:solidFill>
                  <a:prstClr val="black"/>
                </a:solidFill>
                <a:latin typeface="Century Gothic" panose="020B0502020202020204" pitchFamily="34" charset="0"/>
              </a:rPr>
              <a:t>ón</a:t>
            </a:r>
            <a:r>
              <a:rPr lang="es-CL" sz="1600">
                <a:solidFill>
                  <a:prstClr val="black"/>
                </a:solidFill>
                <a:latin typeface="Century Gothic" panose="020B0502020202020204" pitchFamily="34" charset="0"/>
              </a:rPr>
              <a:t> Estratégica” es por ende sólo </a:t>
            </a:r>
            <a:r>
              <a:rPr lang="es-CL" sz="1600" u="sng">
                <a:solidFill>
                  <a:prstClr val="black"/>
                </a:solidFill>
                <a:latin typeface="Century Gothic" panose="020B0502020202020204" pitchFamily="34" charset="0"/>
              </a:rPr>
              <a:t>una</a:t>
            </a:r>
            <a:r>
              <a:rPr lang="es-CL" sz="1600">
                <a:solidFill>
                  <a:prstClr val="black"/>
                </a:solidFill>
                <a:latin typeface="Century Gothic" panose="020B0502020202020204" pitchFamily="34" charset="0"/>
              </a:rPr>
              <a:t> etapa de la Gestión Estratégica!</a:t>
            </a:r>
            <a:endParaRPr kumimoji="0" lang="es-CL" sz="1600" b="0" i="0" u="sng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5136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2">
            <a:extLst>
              <a:ext uri="{FF2B5EF4-FFF2-40B4-BE49-F238E27FC236}">
                <a16:creationId xmlns:a16="http://schemas.microsoft.com/office/drawing/2014/main" id="{5A0A4319-4C01-C94B-89EE-F824797AA543}"/>
              </a:ext>
            </a:extLst>
          </p:cNvPr>
          <p:cNvSpPr txBox="1">
            <a:spLocks/>
          </p:cNvSpPr>
          <p:nvPr/>
        </p:nvSpPr>
        <p:spPr>
          <a:xfrm>
            <a:off x="337176" y="172199"/>
            <a:ext cx="11237977" cy="907481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x-none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El Objetivo General es el Fortalecimiento de la Gestión Estratégica de REDCO</a:t>
            </a:r>
            <a:r>
              <a:rPr lang="es-ES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 (2/2)</a:t>
            </a:r>
            <a:endParaRPr lang="x-none" sz="280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</a:endParaRPr>
          </a:p>
          <a:p>
            <a:endParaRPr lang="es-CL" sz="280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9C1A217-BCE9-4E57-48FF-2815A1F1F41B}"/>
              </a:ext>
            </a:extLst>
          </p:cNvPr>
          <p:cNvSpPr txBox="1"/>
          <p:nvPr/>
        </p:nvSpPr>
        <p:spPr>
          <a:xfrm>
            <a:off x="337175" y="1474237"/>
            <a:ext cx="11316759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2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CL" sz="1600" b="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Objetivos Específicos</a:t>
            </a:r>
          </a:p>
          <a:p>
            <a:pPr marR="0" lvl="2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s-CL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1714500" marR="0" lvl="3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CL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Generar</a:t>
            </a:r>
            <a:r>
              <a:rPr kumimoji="0" lang="es-CL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 un primer prototipo de </a:t>
            </a:r>
            <a:r>
              <a:rPr kumimoji="0" lang="es-CL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Diseño Estratégico </a:t>
            </a:r>
            <a:r>
              <a:rPr kumimoji="0" lang="es-CL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que incluya el propósito de REDCO</a:t>
            </a:r>
          </a:p>
          <a:p>
            <a:pPr marL="1714500" marR="0" lvl="3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s-CL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1714500" marR="0" lvl="3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CL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Levantar </a:t>
            </a:r>
            <a:r>
              <a:rPr lang="es-CL" sz="1600" b="1">
                <a:solidFill>
                  <a:prstClr val="black"/>
                </a:solidFill>
                <a:latin typeface="Century Gothic" panose="020B0502020202020204" pitchFamily="34" charset="0"/>
              </a:rPr>
              <a:t>diagnóstico</a:t>
            </a:r>
            <a:r>
              <a:rPr kumimoji="0" lang="es-CL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 del actual sistema del proceso de </a:t>
            </a:r>
            <a:r>
              <a:rPr kumimoji="0" lang="es-CL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toma de decisiones </a:t>
            </a:r>
          </a:p>
          <a:p>
            <a:pPr marL="1714500" marR="0" lvl="3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s-CL" sz="16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1714500" marR="0" lvl="3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CL" sz="16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Comenzar</a:t>
            </a:r>
            <a:r>
              <a:rPr kumimoji="0" lang="es-CL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 la </a:t>
            </a:r>
            <a:r>
              <a:rPr kumimoji="0" lang="es-CL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evolución del sistema de toma de decisiones</a:t>
            </a:r>
            <a:r>
              <a:rPr kumimoji="0" lang="es-CL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, prototipo inicial, para que esté </a:t>
            </a:r>
            <a:r>
              <a:rPr kumimoji="0" lang="es-CL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centrado en la estrategia</a:t>
            </a:r>
            <a:r>
              <a:rPr kumimoji="0" lang="es-CL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.</a:t>
            </a:r>
          </a:p>
          <a:p>
            <a:pPr marL="1714500" marR="0" lvl="3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s-CL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1714500" marR="0" lvl="3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CL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Diseñar</a:t>
            </a:r>
            <a:r>
              <a:rPr kumimoji="0" lang="es-CL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 las </a:t>
            </a:r>
            <a:r>
              <a:rPr kumimoji="0" lang="es-CL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competencias que requerirá </a:t>
            </a:r>
            <a:r>
              <a:rPr kumimoji="0" lang="es-CL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REDCO para que el sistema de gestión logre adaptarse y consolidarse a través de prototipos sucesivos.</a:t>
            </a:r>
          </a:p>
        </p:txBody>
      </p:sp>
    </p:spTree>
    <p:extLst>
      <p:ext uri="{BB962C8B-B14F-4D97-AF65-F5344CB8AC3E}">
        <p14:creationId xmlns:p14="http://schemas.microsoft.com/office/powerpoint/2010/main" val="1443620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2">
            <a:extLst>
              <a:ext uri="{FF2B5EF4-FFF2-40B4-BE49-F238E27FC236}">
                <a16:creationId xmlns:a16="http://schemas.microsoft.com/office/drawing/2014/main" id="{5A0A4319-4C01-C94B-89EE-F824797AA543}"/>
              </a:ext>
            </a:extLst>
          </p:cNvPr>
          <p:cNvSpPr txBox="1">
            <a:spLocks/>
          </p:cNvSpPr>
          <p:nvPr/>
        </p:nvSpPr>
        <p:spPr>
          <a:xfrm>
            <a:off x="337176" y="172199"/>
            <a:ext cx="11648498" cy="907481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x-none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Cualquier estrateg</a:t>
            </a:r>
            <a:r>
              <a:rPr lang="es-ES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i</a:t>
            </a:r>
            <a:r>
              <a:rPr lang="x-none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a comienza definiendo la base del negocio, analizando las adyacencias que pueden generar valor</a:t>
            </a:r>
            <a:endParaRPr lang="es-CL" sz="280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51EFBB0-878F-4A45-B518-C472BBB83F45}"/>
              </a:ext>
            </a:extLst>
          </p:cNvPr>
          <p:cNvSpPr/>
          <p:nvPr>
            <p:custDataLst>
              <p:tags r:id="rId1"/>
            </p:custDataLst>
          </p:nvPr>
        </p:nvSpPr>
        <p:spPr bwMode="gray">
          <a:xfrm>
            <a:off x="2379473" y="2073104"/>
            <a:ext cx="2482850" cy="51665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  <a:defRPr/>
            </a:pPr>
            <a:r>
              <a:rPr lang="x-none" sz="1400" b="1">
                <a:solidFill>
                  <a:srgbClr val="FFFFFF"/>
                </a:solidFill>
                <a:latin typeface="Century Gothic" panose="020B0502020202020204" pitchFamily="34" charset="0"/>
              </a:rPr>
              <a:t>Activos y capacidades más distintivos y poderosos</a:t>
            </a:r>
            <a:endParaRPr lang="es-ES_tradnl" sz="1400" b="1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ABA4549-196E-D74C-8965-C7BFA912A406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2379473" y="3337114"/>
            <a:ext cx="2482850" cy="51665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  <a:defRPr/>
            </a:pPr>
            <a:r>
              <a:rPr lang="x-none" sz="1400" b="1">
                <a:solidFill>
                  <a:srgbClr val="FFFFFF"/>
                </a:solidFill>
                <a:latin typeface="Century Gothic" panose="020B0502020202020204" pitchFamily="34" charset="0"/>
              </a:rPr>
              <a:t>Porqué los clientes te eligen</a:t>
            </a:r>
            <a:endParaRPr lang="es-ES_tradnl" sz="1400" b="1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EE0081-A57F-574E-9A8E-BBF0C3A5F76F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2379473" y="2705109"/>
            <a:ext cx="2482850" cy="51665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  <a:defRPr/>
            </a:pPr>
            <a:r>
              <a:rPr lang="x-none" sz="1400" b="1">
                <a:solidFill>
                  <a:srgbClr val="FFFFFF"/>
                </a:solidFill>
                <a:latin typeface="Century Gothic" panose="020B0502020202020204" pitchFamily="34" charset="0"/>
              </a:rPr>
              <a:t>Donde y cómo ganamos $$</a:t>
            </a:r>
            <a:endParaRPr lang="es-ES_tradnl" sz="1400" b="1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27D5F7-FB13-4C42-A53E-F8C8398FCF4F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2379473" y="3969119"/>
            <a:ext cx="2482850" cy="51665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576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600"/>
              </a:spcBef>
              <a:buNone/>
              <a:defRPr/>
            </a:pPr>
            <a:r>
              <a:rPr lang="x-none" sz="1400" b="1">
                <a:solidFill>
                  <a:srgbClr val="FFFFFF"/>
                </a:solidFill>
                <a:latin typeface="Century Gothic" panose="020B0502020202020204" pitchFamily="34" charset="0"/>
              </a:rPr>
              <a:t>Cuáles son los reales competidores</a:t>
            </a:r>
            <a:endParaRPr lang="es-ES_tradnl" sz="1400" b="1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73C3FFF2-BB4F-F94A-9948-57B9D706D66A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7220578" y="3337114"/>
            <a:ext cx="2482850" cy="51665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  <a:defRPr/>
            </a:pPr>
            <a:r>
              <a:rPr lang="x-none" sz="1400" b="1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>Nuevos negocios fuera CV</a:t>
            </a:r>
            <a:endParaRPr lang="es-ES_tradnl" sz="1400" b="1">
              <a:solidFill>
                <a:schemeClr val="bg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2F0A38A3-5F1F-E648-B8FE-F706B45A02B9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7220578" y="2705109"/>
            <a:ext cx="2482850" cy="51665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x-none" sz="1400" b="1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>Nuevos negocios en la cadena de valor</a:t>
            </a:r>
            <a:endParaRPr lang="es-ES_tradnl" sz="1400" b="1">
              <a:solidFill>
                <a:schemeClr val="bg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F79690A9-D228-4F40-9E75-F5FC07E5B955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7220578" y="2073104"/>
            <a:ext cx="2482850" cy="51665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x-none" sz="1400" b="1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>Nuevos productos / Servicios</a:t>
            </a:r>
            <a:endParaRPr lang="es-ES_tradnl" sz="1400" b="1">
              <a:solidFill>
                <a:schemeClr val="bg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12" name="btfpColumnHeaderBoxLine443254">
            <a:extLst>
              <a:ext uri="{FF2B5EF4-FFF2-40B4-BE49-F238E27FC236}">
                <a16:creationId xmlns:a16="http://schemas.microsoft.com/office/drawing/2014/main" id="{A21B760E-397E-D743-868F-485E9A341899}"/>
              </a:ext>
            </a:extLst>
          </p:cNvPr>
          <p:cNvCxnSpPr/>
          <p:nvPr>
            <p:custDataLst>
              <p:tags r:id="rId8"/>
            </p:custDataLst>
          </p:nvPr>
        </p:nvCxnSpPr>
        <p:spPr bwMode="gray">
          <a:xfrm>
            <a:off x="458836" y="1968225"/>
            <a:ext cx="11526838" cy="0"/>
          </a:xfrm>
          <a:prstGeom prst="line">
            <a:avLst/>
          </a:prstGeom>
          <a:ln w="9525" cap="flat">
            <a:solidFill>
              <a:srgbClr val="0070C0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41">
            <a:extLst>
              <a:ext uri="{FF2B5EF4-FFF2-40B4-BE49-F238E27FC236}">
                <a16:creationId xmlns:a16="http://schemas.microsoft.com/office/drawing/2014/main" id="{E661451F-C509-B841-B3F4-A34608190A1D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7220578" y="3969119"/>
            <a:ext cx="2482850" cy="51665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es-ES_tradnl" sz="1400" b="1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>Nuevas geografías</a:t>
            </a:r>
          </a:p>
        </p:txBody>
      </p:sp>
      <p:sp>
        <p:nvSpPr>
          <p:cNvPr id="26" name="Rectangle 41">
            <a:extLst>
              <a:ext uri="{FF2B5EF4-FFF2-40B4-BE49-F238E27FC236}">
                <a16:creationId xmlns:a16="http://schemas.microsoft.com/office/drawing/2014/main" id="{4AC71ECD-AB5E-8A40-B7A6-8E36C6871A76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7220578" y="4601124"/>
            <a:ext cx="2482850" cy="51665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es-ES_tradnl" sz="1400" b="1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>Nuevos clientes</a:t>
            </a:r>
          </a:p>
        </p:txBody>
      </p:sp>
      <p:sp>
        <p:nvSpPr>
          <p:cNvPr id="27" name="Rectangle 7">
            <a:extLst>
              <a:ext uri="{FF2B5EF4-FFF2-40B4-BE49-F238E27FC236}">
                <a16:creationId xmlns:a16="http://schemas.microsoft.com/office/drawing/2014/main" id="{3F595A15-151C-1E41-861F-FE561449C7D1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2379473" y="4601124"/>
            <a:ext cx="2482850" cy="51665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576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600"/>
              </a:spcBef>
              <a:buNone/>
              <a:defRPr/>
            </a:pPr>
            <a:r>
              <a:rPr lang="x-none" sz="1400" b="1">
                <a:solidFill>
                  <a:srgbClr val="FFFFFF"/>
                </a:solidFill>
                <a:latin typeface="Century Gothic" panose="020B0502020202020204" pitchFamily="34" charset="0"/>
              </a:rPr>
              <a:t>Estabilizador en los tiempos difíciles</a:t>
            </a:r>
            <a:endParaRPr lang="es-ES_tradnl" sz="1400" b="1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28" name="Rectangle 7">
            <a:extLst>
              <a:ext uri="{FF2B5EF4-FFF2-40B4-BE49-F238E27FC236}">
                <a16:creationId xmlns:a16="http://schemas.microsoft.com/office/drawing/2014/main" id="{13FC42BC-80A4-DD4E-828C-305CAB220042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2379473" y="5235152"/>
            <a:ext cx="2482850" cy="62514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576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defRPr/>
            </a:pPr>
            <a:r>
              <a:rPr lang="x-none" sz="1400" b="1">
                <a:solidFill>
                  <a:srgbClr val="FFFFFF"/>
                </a:solidFill>
                <a:latin typeface="Century Gothic" panose="020B0502020202020204" pitchFamily="34" charset="0"/>
              </a:rPr>
              <a:t>Permite las mejores oportunidades de crecimiento</a:t>
            </a:r>
            <a:endParaRPr lang="es-ES_tradnl" sz="1400" b="1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29" name="Rectangle 7">
            <a:extLst>
              <a:ext uri="{FF2B5EF4-FFF2-40B4-BE49-F238E27FC236}">
                <a16:creationId xmlns:a16="http://schemas.microsoft.com/office/drawing/2014/main" id="{D2B24543-5A69-FE44-B85A-6A427A9E0603}"/>
              </a:ext>
            </a:extLst>
          </p:cNvPr>
          <p:cNvSpPr/>
          <p:nvPr>
            <p:custDataLst>
              <p:tags r:id="rId13"/>
            </p:custDataLst>
          </p:nvPr>
        </p:nvSpPr>
        <p:spPr bwMode="gray">
          <a:xfrm>
            <a:off x="2377127" y="5962308"/>
            <a:ext cx="2482850" cy="51665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576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defRPr/>
            </a:pPr>
            <a:r>
              <a:rPr lang="x-none" sz="1400" b="1">
                <a:solidFill>
                  <a:srgbClr val="FFFFFF"/>
                </a:solidFill>
                <a:latin typeface="Century Gothic" panose="020B0502020202020204" pitchFamily="34" charset="0"/>
              </a:rPr>
              <a:t>Estrategía principal</a:t>
            </a:r>
            <a:endParaRPr lang="es-ES_tradnl" sz="1400" b="1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80BFE85C-BCCF-A749-A69B-3EF112FA4ED4}"/>
              </a:ext>
            </a:extLst>
          </p:cNvPr>
          <p:cNvSpPr txBox="1"/>
          <p:nvPr/>
        </p:nvSpPr>
        <p:spPr>
          <a:xfrm>
            <a:off x="3207171" y="1571690"/>
            <a:ext cx="3277476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CL" sz="2000">
                <a:latin typeface="Century Gothic" panose="020B0502020202020204" pitchFamily="34" charset="0"/>
              </a:rPr>
              <a:t>Core</a:t>
            </a:r>
            <a:endParaRPr lang="es-CL" sz="2000" b="1">
              <a:latin typeface="Century Gothic" panose="020B0502020202020204" pitchFamily="34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FD8359F-4867-0D44-B4C0-A4FBA2424582}"/>
              </a:ext>
            </a:extLst>
          </p:cNvPr>
          <p:cNvSpPr txBox="1"/>
          <p:nvPr/>
        </p:nvSpPr>
        <p:spPr>
          <a:xfrm>
            <a:off x="7583585" y="1569364"/>
            <a:ext cx="3277476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CL" sz="2000">
                <a:latin typeface="Century Gothic" panose="020B0502020202020204" pitchFamily="34" charset="0"/>
              </a:rPr>
              <a:t>Adyacencias</a:t>
            </a:r>
            <a:endParaRPr lang="es-CL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86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0" name="Google Shape;930;p23"/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931" name="Google Shape;931;p23"/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solidFill>
              <a:srgbClr val="FFFFFF">
                <a:alpha val="24705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32" name="Google Shape;932;p23"/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solidFill>
              <a:srgbClr val="FFFFFF">
                <a:alpha val="24705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933" name="Google Shape;933;p23"/>
            <p:cNvCxnSpPr/>
            <p:nvPr/>
          </p:nvCxnSpPr>
          <p:spPr>
            <a:xfrm rot="10800000">
              <a:off x="11861800" y="6926580"/>
              <a:ext cx="0" cy="13716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05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34" name="Google Shape;934;p23"/>
            <p:cNvCxnSpPr/>
            <p:nvPr/>
          </p:nvCxnSpPr>
          <p:spPr>
            <a:xfrm rot="10800000">
              <a:off x="330200" y="6926580"/>
              <a:ext cx="0" cy="13716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05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935" name="Google Shape;935;p23"/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36" name="Google Shape;936;p23"/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solidFill>
              <a:srgbClr val="FFFFFF">
                <a:alpha val="24705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23"/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solidFill>
              <a:srgbClr val="FFFFFF">
                <a:alpha val="24705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38" name="Google Shape;938;p23"/>
            <p:cNvCxnSpPr/>
            <p:nvPr/>
          </p:nvCxnSpPr>
          <p:spPr>
            <a:xfrm rot="10800000">
              <a:off x="11861800" y="-205740"/>
              <a:ext cx="0" cy="13716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05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39" name="Google Shape;939;p23"/>
            <p:cNvCxnSpPr/>
            <p:nvPr/>
          </p:nvCxnSpPr>
          <p:spPr>
            <a:xfrm rot="10800000">
              <a:off x="330200" y="-205740"/>
              <a:ext cx="0" cy="13716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05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940" name="Google Shape;940;p23"/>
          <p:cNvSpPr/>
          <p:nvPr/>
        </p:nvSpPr>
        <p:spPr>
          <a:xfrm>
            <a:off x="1825885" y="904160"/>
            <a:ext cx="10031152" cy="42081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E55302">
                <a:alpha val="4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entury Gothic"/>
              <a:buNone/>
            </a:pPr>
            <a:r>
              <a:rPr lang="en-US" sz="140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r>
              <a:rPr lang="en-US" sz="1400" i="0" u="none" strike="noStrike" cap="none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Lograr</a:t>
            </a:r>
            <a:r>
              <a:rPr lang="en-US" sz="140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i="0" u="none" strike="noStrike" cap="none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ser</a:t>
            </a:r>
            <a:r>
              <a:rPr lang="en-US" sz="140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i="0" u="none" strike="noStrike" cap="none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una</a:t>
            </a:r>
            <a:r>
              <a:rPr lang="en-US" sz="140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i="0" u="none" strike="noStrike" cap="none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consultora</a:t>
            </a:r>
            <a:r>
              <a:rPr lang="en-US" sz="140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400" i="0" u="none" strike="noStrike" cap="none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excelencia</a:t>
            </a:r>
            <a:r>
              <a:rPr lang="en-US" sz="140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para </a:t>
            </a:r>
            <a:r>
              <a:rPr lang="en-US" sz="1400" i="0" u="none" strike="noStrike" cap="none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habilitar</a:t>
            </a:r>
            <a:r>
              <a:rPr lang="en-US" sz="140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el </a:t>
            </a:r>
            <a:r>
              <a:rPr lang="en-US" sz="1400" i="0" u="none" strike="noStrike" cap="none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mejor</a:t>
            </a:r>
            <a:r>
              <a:rPr lang="en-US" sz="140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i="0" u="none" strike="noStrike" cap="none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futuro</a:t>
            </a:r>
            <a:r>
              <a:rPr lang="en-US" sz="140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i="0" u="none" strike="noStrike" cap="none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posible</a:t>
            </a:r>
            <a:r>
              <a:rPr lang="en-US" sz="1400" b="1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 sz="1400" i="0" u="none" strike="noStrike" cap="none">
              <a:solidFill>
                <a:srgbClr val="33333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41" name="Google Shape;941;p23"/>
          <p:cNvSpPr/>
          <p:nvPr/>
        </p:nvSpPr>
        <p:spPr>
          <a:xfrm>
            <a:off x="1825884" y="1380938"/>
            <a:ext cx="10031152" cy="42081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E55302">
                <a:alpha val="4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r>
              <a:rPr lang="en-US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Ser</a:t>
            </a:r>
            <a:r>
              <a:rPr lang="en-US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consultora</a:t>
            </a:r>
            <a:r>
              <a:rPr lang="en-US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internacional</a:t>
            </a:r>
            <a:r>
              <a:rPr lang="en-US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que </a:t>
            </a:r>
            <a:r>
              <a:rPr lang="en-US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acompaña</a:t>
            </a:r>
            <a:r>
              <a:rPr lang="en-US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el </a:t>
            </a:r>
            <a:r>
              <a:rPr lang="en-US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desarrollo</a:t>
            </a:r>
            <a:r>
              <a:rPr lang="en-US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minero</a:t>
            </a:r>
            <a:r>
              <a:rPr lang="en-US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clientes</a:t>
            </a:r>
            <a:r>
              <a:rPr lang="en-US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claves para el </a:t>
            </a:r>
            <a:r>
              <a:rPr lang="en-US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cambio</a:t>
            </a:r>
            <a:r>
              <a:rPr lang="en-US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climático</a:t>
            </a:r>
            <a:r>
              <a:rPr lang="en-US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  <p:sp>
        <p:nvSpPr>
          <p:cNvPr id="942" name="Google Shape;942;p23"/>
          <p:cNvSpPr/>
          <p:nvPr/>
        </p:nvSpPr>
        <p:spPr>
          <a:xfrm>
            <a:off x="1825884" y="1857715"/>
            <a:ext cx="10031152" cy="156382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E55302">
                <a:alpha val="4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72000" rIns="18000" bIns="18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33333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43" name="Google Shape;943;p23"/>
          <p:cNvSpPr/>
          <p:nvPr/>
        </p:nvSpPr>
        <p:spPr>
          <a:xfrm>
            <a:off x="1825884" y="3477179"/>
            <a:ext cx="10031152" cy="134041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5302">
                <a:alpha val="4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175" tIns="34175" rIns="34175" bIns="341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33333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44" name="Google Shape;944;p23"/>
          <p:cNvSpPr/>
          <p:nvPr/>
        </p:nvSpPr>
        <p:spPr>
          <a:xfrm>
            <a:off x="1825884" y="4873882"/>
            <a:ext cx="10031152" cy="167190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5302">
                <a:alpha val="4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175" tIns="34175" rIns="34175" bIns="341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1" i="0" u="none" strike="noStrike" cap="none">
              <a:solidFill>
                <a:srgbClr val="33333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945" name="Google Shape;945;p23"/>
          <p:cNvGrpSpPr/>
          <p:nvPr/>
        </p:nvGrpSpPr>
        <p:grpSpPr>
          <a:xfrm>
            <a:off x="8439304" y="2700400"/>
            <a:ext cx="640081" cy="640080"/>
            <a:chOff x="9676113" y="3426996"/>
            <a:chExt cx="640081" cy="640080"/>
          </a:xfrm>
        </p:grpSpPr>
        <p:sp>
          <p:nvSpPr>
            <p:cNvPr id="946" name="Google Shape;946;p23"/>
            <p:cNvSpPr/>
            <p:nvPr/>
          </p:nvSpPr>
          <p:spPr>
            <a:xfrm>
              <a:off x="9676113" y="3426996"/>
              <a:ext cx="640081" cy="64008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47" name="Google Shape;947;p23"/>
            <p:cNvSpPr/>
            <p:nvPr/>
          </p:nvSpPr>
          <p:spPr>
            <a:xfrm>
              <a:off x="9676113" y="3426996"/>
              <a:ext cx="640080" cy="6400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948" name="Google Shape;948;p23"/>
          <p:cNvGrpSpPr/>
          <p:nvPr/>
        </p:nvGrpSpPr>
        <p:grpSpPr>
          <a:xfrm>
            <a:off x="6505274" y="2727310"/>
            <a:ext cx="640081" cy="640080"/>
            <a:chOff x="330200" y="1270000"/>
            <a:chExt cx="1081088" cy="1081088"/>
          </a:xfrm>
        </p:grpSpPr>
        <p:sp>
          <p:nvSpPr>
            <p:cNvPr id="949" name="Google Shape;949;p23"/>
            <p:cNvSpPr/>
            <p:nvPr/>
          </p:nvSpPr>
          <p:spPr>
            <a:xfrm>
              <a:off x="330200" y="1270000"/>
              <a:ext cx="1081088" cy="1081088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50" name="Google Shape;950;p23"/>
            <p:cNvSpPr/>
            <p:nvPr/>
          </p:nvSpPr>
          <p:spPr>
            <a:xfrm>
              <a:off x="330200" y="1270000"/>
              <a:ext cx="1081088" cy="1081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951" name="Google Shape;951;p23"/>
          <p:cNvGrpSpPr/>
          <p:nvPr/>
        </p:nvGrpSpPr>
        <p:grpSpPr>
          <a:xfrm>
            <a:off x="4231226" y="2700400"/>
            <a:ext cx="640081" cy="640080"/>
            <a:chOff x="10885188" y="3426996"/>
            <a:chExt cx="1081089" cy="1081088"/>
          </a:xfrm>
        </p:grpSpPr>
        <p:sp>
          <p:nvSpPr>
            <p:cNvPr id="952" name="Google Shape;952;p23"/>
            <p:cNvSpPr/>
            <p:nvPr/>
          </p:nvSpPr>
          <p:spPr>
            <a:xfrm>
              <a:off x="10885188" y="3426996"/>
              <a:ext cx="1081089" cy="1081088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53" name="Google Shape;953;p23"/>
            <p:cNvSpPr/>
            <p:nvPr/>
          </p:nvSpPr>
          <p:spPr>
            <a:xfrm>
              <a:off x="10885188" y="3426996"/>
              <a:ext cx="1081088" cy="1081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954" name="Google Shape;954;p23"/>
          <p:cNvGrpSpPr/>
          <p:nvPr/>
        </p:nvGrpSpPr>
        <p:grpSpPr>
          <a:xfrm>
            <a:off x="8653777" y="4097103"/>
            <a:ext cx="640081" cy="640080"/>
            <a:chOff x="2225673" y="2675047"/>
            <a:chExt cx="1104694" cy="1104697"/>
          </a:xfrm>
        </p:grpSpPr>
        <p:sp>
          <p:nvSpPr>
            <p:cNvPr id="955" name="Google Shape;955;p23"/>
            <p:cNvSpPr/>
            <p:nvPr/>
          </p:nvSpPr>
          <p:spPr>
            <a:xfrm>
              <a:off x="2225673" y="2675047"/>
              <a:ext cx="1104694" cy="1104697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56" name="Google Shape;956;p23"/>
            <p:cNvSpPr/>
            <p:nvPr/>
          </p:nvSpPr>
          <p:spPr>
            <a:xfrm>
              <a:off x="2225673" y="2675047"/>
              <a:ext cx="1104694" cy="110469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957" name="Google Shape;957;p23"/>
          <p:cNvGrpSpPr/>
          <p:nvPr/>
        </p:nvGrpSpPr>
        <p:grpSpPr>
          <a:xfrm>
            <a:off x="10266965" y="4120856"/>
            <a:ext cx="640081" cy="640080"/>
            <a:chOff x="532767" y="3113562"/>
            <a:chExt cx="654057" cy="654058"/>
          </a:xfrm>
        </p:grpSpPr>
        <p:sp>
          <p:nvSpPr>
            <p:cNvPr id="958" name="Google Shape;958;p23"/>
            <p:cNvSpPr/>
            <p:nvPr/>
          </p:nvSpPr>
          <p:spPr>
            <a:xfrm>
              <a:off x="532767" y="3113562"/>
              <a:ext cx="654057" cy="654058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59" name="Google Shape;959;p23"/>
            <p:cNvSpPr/>
            <p:nvPr/>
          </p:nvSpPr>
          <p:spPr>
            <a:xfrm>
              <a:off x="532767" y="3113562"/>
              <a:ext cx="654057" cy="65405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960" name="Google Shape;960;p23"/>
          <p:cNvGrpSpPr/>
          <p:nvPr/>
        </p:nvGrpSpPr>
        <p:grpSpPr>
          <a:xfrm>
            <a:off x="6407122" y="4097103"/>
            <a:ext cx="640081" cy="640080"/>
            <a:chOff x="8356708" y="5605182"/>
            <a:chExt cx="812237" cy="1081088"/>
          </a:xfrm>
        </p:grpSpPr>
        <p:sp>
          <p:nvSpPr>
            <p:cNvPr id="961" name="Google Shape;961;p23"/>
            <p:cNvSpPr/>
            <p:nvPr/>
          </p:nvSpPr>
          <p:spPr>
            <a:xfrm>
              <a:off x="8356708" y="5605182"/>
              <a:ext cx="812237" cy="1081088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62" name="Google Shape;962;p23"/>
            <p:cNvSpPr/>
            <p:nvPr/>
          </p:nvSpPr>
          <p:spPr>
            <a:xfrm>
              <a:off x="8356708" y="5605182"/>
              <a:ext cx="812237" cy="1081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63" name="Google Shape;963;p23"/>
          <p:cNvSpPr txBox="1"/>
          <p:nvPr/>
        </p:nvSpPr>
        <p:spPr>
          <a:xfrm>
            <a:off x="3490802" y="2044845"/>
            <a:ext cx="2120927" cy="719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entury Gothic"/>
              <a:buNone/>
            </a:pPr>
            <a:r>
              <a:rPr lang="en-US" sz="1400" b="1" i="0" u="none" strike="noStrike" cap="none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Mantener</a:t>
            </a:r>
            <a:r>
              <a:rPr lang="en-US" sz="1400" b="1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y </a:t>
            </a:r>
            <a:r>
              <a:rPr lang="en-US" sz="1400" b="1" i="0" u="none" strike="noStrike" cap="none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cuidar</a:t>
            </a:r>
            <a:r>
              <a:rPr lang="en-US" b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el</a:t>
            </a:r>
            <a:r>
              <a:rPr lang="en-US" sz="1400" b="1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b="1" i="0" u="none" strike="noStrike" cap="none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negocio</a:t>
            </a:r>
            <a:r>
              <a:rPr lang="en-US" sz="1400" b="1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pr</a:t>
            </a:r>
            <a:r>
              <a:rPr lang="en-US" sz="1400" b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incipal (core)</a:t>
            </a:r>
            <a:endParaRPr sz="1400" b="1" i="0" u="none" strike="noStrike" cap="none">
              <a:solidFill>
                <a:srgbClr val="33333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4" name="Google Shape;964;p23"/>
          <p:cNvSpPr txBox="1"/>
          <p:nvPr/>
        </p:nvSpPr>
        <p:spPr>
          <a:xfrm>
            <a:off x="2009954" y="3548955"/>
            <a:ext cx="1480848" cy="50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entury Gothic"/>
              <a:buNone/>
            </a:pPr>
            <a:r>
              <a:rPr lang="en-US" sz="1400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Maximizar la base actual</a:t>
            </a:r>
            <a:endParaRPr sz="1400" b="0" i="0" u="none" strike="noStrike" cap="none">
              <a:solidFill>
                <a:srgbClr val="33333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965" name="Google Shape;965;p23"/>
          <p:cNvGrpSpPr/>
          <p:nvPr/>
        </p:nvGrpSpPr>
        <p:grpSpPr>
          <a:xfrm>
            <a:off x="379623" y="4854833"/>
            <a:ext cx="1266298" cy="1671902"/>
            <a:chOff x="330200" y="6696248"/>
            <a:chExt cx="2540000" cy="972979"/>
          </a:xfrm>
        </p:grpSpPr>
        <p:sp>
          <p:nvSpPr>
            <p:cNvPr id="966" name="Google Shape;966;p23"/>
            <p:cNvSpPr txBox="1"/>
            <p:nvPr/>
          </p:nvSpPr>
          <p:spPr>
            <a:xfrm>
              <a:off x="330200" y="6696248"/>
              <a:ext cx="2540000" cy="9729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025" tIns="36025" rIns="180175" bIns="3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58585"/>
                </a:buClr>
                <a:buSzPts val="1200"/>
                <a:buFont typeface="Century Gothic"/>
                <a:buNone/>
              </a:pPr>
              <a:r>
                <a:rPr lang="en-US" sz="1200" b="1" i="0" u="none" strike="noStrike" cap="none">
                  <a:solidFill>
                    <a:srgbClr val="85858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Perfil financiero</a:t>
              </a:r>
              <a:endParaRPr/>
            </a:p>
          </p:txBody>
        </p:sp>
        <p:cxnSp>
          <p:nvCxnSpPr>
            <p:cNvPr id="967" name="Google Shape;967;p23"/>
            <p:cNvCxnSpPr/>
            <p:nvPr/>
          </p:nvCxnSpPr>
          <p:spPr>
            <a:xfrm>
              <a:off x="2870200" y="6696248"/>
              <a:ext cx="0" cy="972979"/>
            </a:xfrm>
            <a:prstGeom prst="straightConnector1">
              <a:avLst/>
            </a:prstGeom>
            <a:noFill/>
            <a:ln w="152400" cap="flat" cmpd="sng">
              <a:solidFill>
                <a:srgbClr val="85858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968" name="Google Shape;968;p23"/>
          <p:cNvGrpSpPr/>
          <p:nvPr/>
        </p:nvGrpSpPr>
        <p:grpSpPr>
          <a:xfrm>
            <a:off x="379623" y="3458129"/>
            <a:ext cx="1266298" cy="1340411"/>
            <a:chOff x="330200" y="6696248"/>
            <a:chExt cx="2540000" cy="972979"/>
          </a:xfrm>
        </p:grpSpPr>
        <p:sp>
          <p:nvSpPr>
            <p:cNvPr id="969" name="Google Shape;969;p23"/>
            <p:cNvSpPr txBox="1"/>
            <p:nvPr/>
          </p:nvSpPr>
          <p:spPr>
            <a:xfrm>
              <a:off x="330200" y="6696248"/>
              <a:ext cx="2540000" cy="9729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025" tIns="36025" rIns="180175" bIns="3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58585"/>
                </a:buClr>
                <a:buSzPts val="1200"/>
                <a:buFont typeface="Century Gothic"/>
                <a:buNone/>
              </a:pPr>
              <a:r>
                <a:rPr lang="en-US" sz="1200" b="1" i="0" u="none" strike="noStrike" cap="none">
                  <a:solidFill>
                    <a:srgbClr val="85858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Foco y </a:t>
              </a:r>
              <a:r>
                <a:rPr lang="en-US" sz="1200" b="1">
                  <a:solidFill>
                    <a:srgbClr val="85858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H</a:t>
              </a:r>
              <a:r>
                <a:rPr lang="en-US" sz="1200" b="1" i="0" u="none" strike="noStrike" cap="none">
                  <a:solidFill>
                    <a:srgbClr val="85858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abilitadores</a:t>
              </a:r>
              <a:endParaRPr sz="1200" b="1" i="0" u="none" strike="noStrike" cap="none">
                <a:solidFill>
                  <a:srgbClr val="858585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970" name="Google Shape;970;p23"/>
            <p:cNvCxnSpPr/>
            <p:nvPr/>
          </p:nvCxnSpPr>
          <p:spPr>
            <a:xfrm>
              <a:off x="2870200" y="6696248"/>
              <a:ext cx="0" cy="972979"/>
            </a:xfrm>
            <a:prstGeom prst="straightConnector1">
              <a:avLst/>
            </a:prstGeom>
            <a:noFill/>
            <a:ln w="152400" cap="flat" cmpd="sng">
              <a:solidFill>
                <a:srgbClr val="85858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971" name="Google Shape;971;p23"/>
          <p:cNvGrpSpPr/>
          <p:nvPr/>
        </p:nvGrpSpPr>
        <p:grpSpPr>
          <a:xfrm>
            <a:off x="379623" y="1361888"/>
            <a:ext cx="1266298" cy="420813"/>
            <a:chOff x="330200" y="5422246"/>
            <a:chExt cx="2540000" cy="972979"/>
          </a:xfrm>
        </p:grpSpPr>
        <p:sp>
          <p:nvSpPr>
            <p:cNvPr id="972" name="Google Shape;972;p23"/>
            <p:cNvSpPr txBox="1"/>
            <p:nvPr/>
          </p:nvSpPr>
          <p:spPr>
            <a:xfrm>
              <a:off x="330200" y="5422246"/>
              <a:ext cx="2540000" cy="9729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025" tIns="36025" rIns="180175" bIns="3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58585"/>
                </a:buClr>
                <a:buSzPts val="1200"/>
                <a:buFont typeface="Century Gothic"/>
                <a:buNone/>
              </a:pPr>
              <a:r>
                <a:rPr lang="en-US" sz="1200" b="1" err="1">
                  <a:solidFill>
                    <a:srgbClr val="85858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Misión</a:t>
              </a:r>
              <a:endParaRPr sz="1200" b="1" i="0" u="none" strike="noStrike" cap="none">
                <a:solidFill>
                  <a:srgbClr val="858585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973" name="Google Shape;973;p23"/>
            <p:cNvCxnSpPr/>
            <p:nvPr/>
          </p:nvCxnSpPr>
          <p:spPr>
            <a:xfrm>
              <a:off x="2870200" y="5422246"/>
              <a:ext cx="0" cy="972979"/>
            </a:xfrm>
            <a:prstGeom prst="straightConnector1">
              <a:avLst/>
            </a:prstGeom>
            <a:noFill/>
            <a:ln w="1524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74" name="Google Shape;974;p23"/>
            <p:cNvCxnSpPr/>
            <p:nvPr/>
          </p:nvCxnSpPr>
          <p:spPr>
            <a:xfrm>
              <a:off x="2870200" y="5422246"/>
              <a:ext cx="0" cy="972979"/>
            </a:xfrm>
            <a:prstGeom prst="straightConnector1">
              <a:avLst/>
            </a:prstGeom>
            <a:noFill/>
            <a:ln w="152400" cap="flat" cmpd="sng">
              <a:solidFill>
                <a:srgbClr val="85858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975" name="Google Shape;975;p23"/>
          <p:cNvGrpSpPr/>
          <p:nvPr/>
        </p:nvGrpSpPr>
        <p:grpSpPr>
          <a:xfrm>
            <a:off x="379623" y="1838665"/>
            <a:ext cx="1266298" cy="1563829"/>
            <a:chOff x="330200" y="6696248"/>
            <a:chExt cx="2540000" cy="972979"/>
          </a:xfrm>
        </p:grpSpPr>
        <p:sp>
          <p:nvSpPr>
            <p:cNvPr id="976" name="Google Shape;976;p23"/>
            <p:cNvSpPr txBox="1"/>
            <p:nvPr/>
          </p:nvSpPr>
          <p:spPr>
            <a:xfrm>
              <a:off x="330200" y="6696248"/>
              <a:ext cx="2540000" cy="9729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025" tIns="36025" rIns="180175" bIns="3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58585"/>
                </a:buClr>
                <a:buSzPts val="1200"/>
                <a:buFont typeface="Century Gothic"/>
                <a:buNone/>
              </a:pPr>
              <a:r>
                <a:rPr lang="en-US" sz="1200" b="1" i="0" u="none" strike="noStrike" cap="none" err="1">
                  <a:solidFill>
                    <a:srgbClr val="85858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Motores</a:t>
              </a:r>
              <a:r>
                <a:rPr lang="en-US" sz="1200" b="1" i="0" u="none" strike="noStrike" cap="none">
                  <a:solidFill>
                    <a:srgbClr val="85858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de </a:t>
              </a:r>
              <a:r>
                <a:rPr lang="en-US" sz="1200" b="1" i="0" u="none" strike="noStrike" cap="none" err="1">
                  <a:solidFill>
                    <a:srgbClr val="85858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crecimiento</a:t>
              </a:r>
              <a:r>
                <a:rPr lang="en-US" sz="1200" b="1" i="0" u="none" strike="noStrike" cap="none">
                  <a:solidFill>
                    <a:srgbClr val="85858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y </a:t>
              </a:r>
              <a:r>
                <a:rPr lang="en-US" sz="1200" b="1" i="0" u="none" strike="noStrike" cap="none" err="1">
                  <a:solidFill>
                    <a:srgbClr val="85858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metas</a:t>
              </a:r>
              <a:endParaRPr/>
            </a:p>
          </p:txBody>
        </p:sp>
        <p:cxnSp>
          <p:nvCxnSpPr>
            <p:cNvPr id="977" name="Google Shape;977;p23"/>
            <p:cNvCxnSpPr/>
            <p:nvPr/>
          </p:nvCxnSpPr>
          <p:spPr>
            <a:xfrm>
              <a:off x="2870200" y="6696248"/>
              <a:ext cx="0" cy="972979"/>
            </a:xfrm>
            <a:prstGeom prst="straightConnector1">
              <a:avLst/>
            </a:prstGeom>
            <a:noFill/>
            <a:ln w="152400" cap="flat" cmpd="sng">
              <a:solidFill>
                <a:srgbClr val="85858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982" name="Google Shape;982;p23"/>
          <p:cNvSpPr txBox="1"/>
          <p:nvPr/>
        </p:nvSpPr>
        <p:spPr>
          <a:xfrm>
            <a:off x="-456" y="172199"/>
            <a:ext cx="12351882" cy="907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Las mejores prácticas para empresas de asesorías buscan lo siguiente</a:t>
            </a:r>
            <a:endParaRPr sz="2800">
              <a:solidFill>
                <a:srgbClr val="2F549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83" name="Google Shape;983;p23"/>
          <p:cNvSpPr txBox="1"/>
          <p:nvPr/>
        </p:nvSpPr>
        <p:spPr>
          <a:xfrm>
            <a:off x="5611729" y="2054441"/>
            <a:ext cx="2120927" cy="50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entury Gothic"/>
              <a:buNone/>
            </a:pPr>
            <a:r>
              <a:rPr lang="en-US" sz="1400" b="1" i="0" u="none" strike="noStrike" cap="none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Crecer</a:t>
            </a:r>
            <a:r>
              <a:rPr lang="en-US" sz="1400" b="1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b="1" i="0" u="none" strike="noStrike" cap="none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</a:t>
            </a:r>
            <a:r>
              <a:rPr lang="en-US" sz="1400" b="1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las </a:t>
            </a:r>
            <a:r>
              <a:rPr lang="en-US" sz="1400" b="1" i="0" u="none" strike="noStrike" cap="none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adyacencias</a:t>
            </a:r>
            <a:r>
              <a:rPr lang="en-US" sz="1400" b="1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1400" b="1" i="0" u="none" strike="noStrike" cap="none">
              <a:solidFill>
                <a:srgbClr val="33333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84" name="Google Shape;984;p23"/>
          <p:cNvSpPr txBox="1"/>
          <p:nvPr/>
        </p:nvSpPr>
        <p:spPr>
          <a:xfrm>
            <a:off x="7818964" y="2054222"/>
            <a:ext cx="2120927" cy="50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entury Gothic"/>
              <a:buNone/>
            </a:pPr>
            <a:r>
              <a:rPr lang="en-US" sz="1400" b="1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Redefinir</a:t>
            </a:r>
            <a:r>
              <a:rPr lang="en-US" sz="1400" b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el core del </a:t>
            </a:r>
            <a:r>
              <a:rPr lang="en-US" sz="1400" b="1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negocio</a:t>
            </a:r>
            <a:endParaRPr sz="1400" b="1" i="0" u="none" strike="noStrike" cap="none">
              <a:solidFill>
                <a:srgbClr val="33333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85" name="Google Shape;985;p23"/>
          <p:cNvSpPr txBox="1"/>
          <p:nvPr/>
        </p:nvSpPr>
        <p:spPr>
          <a:xfrm>
            <a:off x="3512852" y="3546610"/>
            <a:ext cx="1790667" cy="50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entury Gothic"/>
              <a:buNone/>
            </a:pPr>
            <a:r>
              <a:rPr lang="en-US" sz="1400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Contratar y expandir el equipo</a:t>
            </a:r>
            <a:endParaRPr sz="1400" b="0" i="0" u="none" strike="noStrike" cap="none">
              <a:solidFill>
                <a:srgbClr val="33333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986" name="Google Shape;986;p23"/>
          <p:cNvGrpSpPr/>
          <p:nvPr/>
        </p:nvGrpSpPr>
        <p:grpSpPr>
          <a:xfrm>
            <a:off x="4246961" y="4120744"/>
            <a:ext cx="640081" cy="640080"/>
            <a:chOff x="9909858" y="5605182"/>
            <a:chExt cx="540544" cy="540544"/>
          </a:xfrm>
        </p:grpSpPr>
        <p:sp>
          <p:nvSpPr>
            <p:cNvPr id="987" name="Google Shape;987;p23"/>
            <p:cNvSpPr/>
            <p:nvPr/>
          </p:nvSpPr>
          <p:spPr>
            <a:xfrm>
              <a:off x="9909858" y="5605182"/>
              <a:ext cx="540544" cy="540544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88" name="Google Shape;988;p23"/>
            <p:cNvSpPr/>
            <p:nvPr/>
          </p:nvSpPr>
          <p:spPr>
            <a:xfrm>
              <a:off x="9909858" y="5605182"/>
              <a:ext cx="540544" cy="54054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989" name="Google Shape;989;p23"/>
          <p:cNvGrpSpPr/>
          <p:nvPr/>
        </p:nvGrpSpPr>
        <p:grpSpPr>
          <a:xfrm>
            <a:off x="2430337" y="4127762"/>
            <a:ext cx="640081" cy="640080"/>
            <a:chOff x="8356708" y="5605182"/>
            <a:chExt cx="812237" cy="1081088"/>
          </a:xfrm>
        </p:grpSpPr>
        <p:sp>
          <p:nvSpPr>
            <p:cNvPr id="990" name="Google Shape;990;p23"/>
            <p:cNvSpPr/>
            <p:nvPr/>
          </p:nvSpPr>
          <p:spPr>
            <a:xfrm>
              <a:off x="8356708" y="5605182"/>
              <a:ext cx="812237" cy="1081088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91" name="Google Shape;991;p23"/>
            <p:cNvSpPr/>
            <p:nvPr/>
          </p:nvSpPr>
          <p:spPr>
            <a:xfrm>
              <a:off x="8356708" y="5605182"/>
              <a:ext cx="812237" cy="1081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92" name="Google Shape;992;p23"/>
          <p:cNvSpPr txBox="1"/>
          <p:nvPr/>
        </p:nvSpPr>
        <p:spPr>
          <a:xfrm>
            <a:off x="5558193" y="3563051"/>
            <a:ext cx="2386264" cy="719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entury Gothic"/>
              <a:buNone/>
            </a:pPr>
            <a:r>
              <a:rPr lang="en-US" sz="1400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Fortalecer la estrategia integrada/ digital/ innovación …</a:t>
            </a:r>
            <a:endParaRPr sz="1400" b="0" i="0" u="none" strike="noStrike" cap="none">
              <a:solidFill>
                <a:srgbClr val="33333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3" name="Google Shape;993;p23"/>
          <p:cNvSpPr txBox="1"/>
          <p:nvPr/>
        </p:nvSpPr>
        <p:spPr>
          <a:xfrm>
            <a:off x="7928105" y="3553455"/>
            <a:ext cx="1790667" cy="288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entury Gothic"/>
              <a:buNone/>
            </a:pPr>
            <a:r>
              <a:rPr lang="en-US" sz="1400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Acelerar M&amp;A</a:t>
            </a:r>
            <a:endParaRPr sz="1400" b="0" i="0" u="none" strike="noStrike" cap="none">
              <a:solidFill>
                <a:srgbClr val="33333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4" name="Google Shape;994;p23"/>
          <p:cNvSpPr txBox="1"/>
          <p:nvPr/>
        </p:nvSpPr>
        <p:spPr>
          <a:xfrm>
            <a:off x="9691671" y="3550868"/>
            <a:ext cx="1790667" cy="50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entury Gothic"/>
              <a:buNone/>
            </a:pPr>
            <a:r>
              <a:rPr lang="en-US" sz="1400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Atraer y retener el mejor talento</a:t>
            </a:r>
            <a:endParaRPr sz="1400" b="0" i="0" u="none" strike="noStrike" cap="none">
              <a:solidFill>
                <a:srgbClr val="33333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5" name="Google Shape;995;p23"/>
          <p:cNvSpPr/>
          <p:nvPr/>
        </p:nvSpPr>
        <p:spPr>
          <a:xfrm>
            <a:off x="2265106" y="5658972"/>
            <a:ext cx="928468" cy="4112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6" name="Google Shape;996;p23"/>
          <p:cNvSpPr/>
          <p:nvPr/>
        </p:nvSpPr>
        <p:spPr>
          <a:xfrm>
            <a:off x="4220305" y="5460199"/>
            <a:ext cx="928468" cy="1441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7" name="Google Shape;997;p23"/>
          <p:cNvSpPr/>
          <p:nvPr/>
        </p:nvSpPr>
        <p:spPr>
          <a:xfrm>
            <a:off x="6385562" y="5310456"/>
            <a:ext cx="928468" cy="67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8" name="Google Shape;998;p23"/>
          <p:cNvSpPr/>
          <p:nvPr/>
        </p:nvSpPr>
        <p:spPr>
          <a:xfrm>
            <a:off x="8494213" y="5204730"/>
            <a:ext cx="928468" cy="67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9" name="Google Shape;999;p23"/>
          <p:cNvSpPr/>
          <p:nvPr/>
        </p:nvSpPr>
        <p:spPr>
          <a:xfrm>
            <a:off x="10253976" y="5161984"/>
            <a:ext cx="928468" cy="259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00" name="Google Shape;1000;p23"/>
          <p:cNvSpPr txBox="1"/>
          <p:nvPr/>
        </p:nvSpPr>
        <p:spPr>
          <a:xfrm>
            <a:off x="3713719" y="6190694"/>
            <a:ext cx="5916946" cy="288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entury Gothic"/>
              <a:buNone/>
            </a:pPr>
            <a:r>
              <a:rPr lang="en-US" sz="1400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Creación de valor por los distintos focos de</a:t>
            </a:r>
            <a:endParaRPr sz="1400" b="0" i="0" u="none" strike="noStrike" cap="none">
              <a:solidFill>
                <a:srgbClr val="33333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74" name="Google Shape;874;p20"/>
          <p:cNvGrpSpPr/>
          <p:nvPr/>
        </p:nvGrpSpPr>
        <p:grpSpPr>
          <a:xfrm>
            <a:off x="379623" y="904160"/>
            <a:ext cx="1266298" cy="420813"/>
            <a:chOff x="330200" y="5422246"/>
            <a:chExt cx="2540000" cy="972979"/>
          </a:xfrm>
        </p:grpSpPr>
        <p:sp>
          <p:nvSpPr>
            <p:cNvPr id="75" name="Google Shape;875;p20"/>
            <p:cNvSpPr txBox="1"/>
            <p:nvPr/>
          </p:nvSpPr>
          <p:spPr>
            <a:xfrm>
              <a:off x="330200" y="5422246"/>
              <a:ext cx="2540000" cy="9729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025" tIns="36025" rIns="180175" bIns="3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58585"/>
                </a:buClr>
                <a:buSzPts val="1200"/>
                <a:buFont typeface="Century Gothic"/>
                <a:buNone/>
              </a:pPr>
              <a:r>
                <a:rPr lang="en-US" sz="1200" b="1" i="0" u="none" strike="noStrike" cap="none" err="1">
                  <a:solidFill>
                    <a:srgbClr val="85858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Propósito</a:t>
              </a:r>
              <a:r>
                <a:rPr lang="en-US" sz="1200" b="1" i="0" u="none" strike="noStrike" cap="none">
                  <a:solidFill>
                    <a:srgbClr val="85858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</a:t>
              </a:r>
              <a:r>
                <a:rPr lang="en-US" sz="1200" b="1" i="0" u="none" strike="noStrike" cap="none" err="1">
                  <a:solidFill>
                    <a:srgbClr val="85858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emergente</a:t>
              </a:r>
              <a:r>
                <a:rPr lang="en-US" sz="1200" b="1" i="0" u="none" strike="noStrike" cap="none">
                  <a:solidFill>
                    <a:srgbClr val="85858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 </a:t>
              </a:r>
              <a:endParaRPr/>
            </a:p>
          </p:txBody>
        </p:sp>
        <p:cxnSp>
          <p:nvCxnSpPr>
            <p:cNvPr id="76" name="Google Shape;876;p20"/>
            <p:cNvCxnSpPr/>
            <p:nvPr/>
          </p:nvCxnSpPr>
          <p:spPr>
            <a:xfrm>
              <a:off x="2870200" y="5422246"/>
              <a:ext cx="0" cy="972979"/>
            </a:xfrm>
            <a:prstGeom prst="straightConnector1">
              <a:avLst/>
            </a:prstGeom>
            <a:noFill/>
            <a:ln w="1524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7" name="Google Shape;877;p20"/>
            <p:cNvCxnSpPr/>
            <p:nvPr/>
          </p:nvCxnSpPr>
          <p:spPr>
            <a:xfrm>
              <a:off x="2870200" y="5422246"/>
              <a:ext cx="0" cy="972979"/>
            </a:xfrm>
            <a:prstGeom prst="straightConnector1">
              <a:avLst/>
            </a:prstGeom>
            <a:noFill/>
            <a:ln w="152400" cap="flat" cmpd="sng">
              <a:solidFill>
                <a:srgbClr val="85858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348214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7" name="Google Shape;807;p20"/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808" name="Google Shape;808;p20"/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solidFill>
              <a:srgbClr val="FFFFFF">
                <a:alpha val="24705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09" name="Google Shape;809;p20"/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solidFill>
              <a:srgbClr val="FFFFFF">
                <a:alpha val="24705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810" name="Google Shape;810;p20"/>
            <p:cNvCxnSpPr/>
            <p:nvPr/>
          </p:nvCxnSpPr>
          <p:spPr>
            <a:xfrm rot="10800000">
              <a:off x="11861800" y="6926580"/>
              <a:ext cx="0" cy="13716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05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11" name="Google Shape;811;p20"/>
            <p:cNvCxnSpPr/>
            <p:nvPr/>
          </p:nvCxnSpPr>
          <p:spPr>
            <a:xfrm rot="10800000">
              <a:off x="330200" y="6926580"/>
              <a:ext cx="0" cy="13716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05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812" name="Google Shape;812;p20"/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813" name="Google Shape;813;p20"/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solidFill>
              <a:srgbClr val="FFFFFF">
                <a:alpha val="24705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20"/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solidFill>
              <a:srgbClr val="FFFFFF">
                <a:alpha val="24705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15" name="Google Shape;815;p20"/>
            <p:cNvCxnSpPr/>
            <p:nvPr/>
          </p:nvCxnSpPr>
          <p:spPr>
            <a:xfrm rot="10800000">
              <a:off x="11861800" y="-205740"/>
              <a:ext cx="0" cy="13716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05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16" name="Google Shape;816;p20"/>
            <p:cNvCxnSpPr/>
            <p:nvPr/>
          </p:nvCxnSpPr>
          <p:spPr>
            <a:xfrm rot="10800000">
              <a:off x="330200" y="-205740"/>
              <a:ext cx="0" cy="13716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05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817" name="Google Shape;817;p20"/>
          <p:cNvSpPr/>
          <p:nvPr/>
        </p:nvSpPr>
        <p:spPr>
          <a:xfrm>
            <a:off x="1825885" y="904160"/>
            <a:ext cx="10031152" cy="42081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E55302">
                <a:alpha val="4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entury Gothic"/>
              <a:buNone/>
            </a:pPr>
            <a:r>
              <a:rPr lang="en-US" sz="1400" b="1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¿Para qué </a:t>
            </a:r>
            <a:r>
              <a:rPr lang="en-US" sz="14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existimos? </a:t>
            </a:r>
            <a:endParaRPr/>
          </a:p>
        </p:txBody>
      </p:sp>
      <p:sp>
        <p:nvSpPr>
          <p:cNvPr id="818" name="Google Shape;818;p20"/>
          <p:cNvSpPr/>
          <p:nvPr/>
        </p:nvSpPr>
        <p:spPr>
          <a:xfrm>
            <a:off x="1825884" y="1380938"/>
            <a:ext cx="10031152" cy="42081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E55302">
                <a:alpha val="4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entury Gothic"/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¿</a:t>
            </a:r>
            <a:r>
              <a:rPr lang="en-US" sz="1400" b="1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Cuál es la esencia </a:t>
            </a:r>
            <a:r>
              <a:rPr lang="en-US" sz="14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 lo que queremos lograr en el largo plazo?</a:t>
            </a:r>
            <a:endParaRPr/>
          </a:p>
        </p:txBody>
      </p:sp>
      <p:sp>
        <p:nvSpPr>
          <p:cNvPr id="819" name="Google Shape;819;p20"/>
          <p:cNvSpPr/>
          <p:nvPr/>
        </p:nvSpPr>
        <p:spPr>
          <a:xfrm>
            <a:off x="1825884" y="1857715"/>
            <a:ext cx="10031152" cy="156382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E55302">
                <a:alpha val="4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72000" rIns="18000" bIns="18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33333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20" name="Google Shape;820;p20"/>
          <p:cNvSpPr/>
          <p:nvPr/>
        </p:nvSpPr>
        <p:spPr>
          <a:xfrm>
            <a:off x="1825884" y="3477179"/>
            <a:ext cx="10031152" cy="134041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5302">
                <a:alpha val="4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175" tIns="34175" rIns="34175" bIns="341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33333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21" name="Google Shape;821;p20"/>
          <p:cNvSpPr/>
          <p:nvPr/>
        </p:nvSpPr>
        <p:spPr>
          <a:xfrm>
            <a:off x="1825884" y="4873882"/>
            <a:ext cx="10031152" cy="167190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5302">
                <a:alpha val="4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175" tIns="34175" rIns="34175" bIns="341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1" i="0" u="none" strike="noStrike" cap="none">
              <a:solidFill>
                <a:srgbClr val="33333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822" name="Google Shape;822;p20"/>
          <p:cNvGrpSpPr/>
          <p:nvPr/>
        </p:nvGrpSpPr>
        <p:grpSpPr>
          <a:xfrm>
            <a:off x="4766974" y="2727310"/>
            <a:ext cx="640081" cy="640080"/>
            <a:chOff x="9676113" y="3426996"/>
            <a:chExt cx="640081" cy="640080"/>
          </a:xfrm>
        </p:grpSpPr>
        <p:sp>
          <p:nvSpPr>
            <p:cNvPr id="823" name="Google Shape;823;p20"/>
            <p:cNvSpPr/>
            <p:nvPr/>
          </p:nvSpPr>
          <p:spPr>
            <a:xfrm>
              <a:off x="9676113" y="3426996"/>
              <a:ext cx="640081" cy="64008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24" name="Google Shape;824;p20"/>
            <p:cNvSpPr/>
            <p:nvPr/>
          </p:nvSpPr>
          <p:spPr>
            <a:xfrm>
              <a:off x="9676113" y="3426996"/>
              <a:ext cx="640080" cy="6400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25" name="Google Shape;825;p20"/>
          <p:cNvGrpSpPr/>
          <p:nvPr/>
        </p:nvGrpSpPr>
        <p:grpSpPr>
          <a:xfrm>
            <a:off x="6505274" y="2727310"/>
            <a:ext cx="640081" cy="640080"/>
            <a:chOff x="330200" y="1270000"/>
            <a:chExt cx="1081088" cy="1081088"/>
          </a:xfrm>
        </p:grpSpPr>
        <p:sp>
          <p:nvSpPr>
            <p:cNvPr id="826" name="Google Shape;826;p20"/>
            <p:cNvSpPr/>
            <p:nvPr/>
          </p:nvSpPr>
          <p:spPr>
            <a:xfrm>
              <a:off x="330200" y="1270000"/>
              <a:ext cx="1081088" cy="1081088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27" name="Google Shape;827;p20"/>
            <p:cNvSpPr/>
            <p:nvPr/>
          </p:nvSpPr>
          <p:spPr>
            <a:xfrm>
              <a:off x="330200" y="1270000"/>
              <a:ext cx="1081088" cy="1081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28" name="Google Shape;828;p20"/>
          <p:cNvGrpSpPr/>
          <p:nvPr/>
        </p:nvGrpSpPr>
        <p:grpSpPr>
          <a:xfrm>
            <a:off x="8334544" y="2727310"/>
            <a:ext cx="640081" cy="640080"/>
            <a:chOff x="10885188" y="3426996"/>
            <a:chExt cx="1081089" cy="1081088"/>
          </a:xfrm>
        </p:grpSpPr>
        <p:sp>
          <p:nvSpPr>
            <p:cNvPr id="829" name="Google Shape;829;p20"/>
            <p:cNvSpPr/>
            <p:nvPr/>
          </p:nvSpPr>
          <p:spPr>
            <a:xfrm>
              <a:off x="10885188" y="3426996"/>
              <a:ext cx="1081089" cy="1081088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30" name="Google Shape;830;p20"/>
            <p:cNvSpPr/>
            <p:nvPr/>
          </p:nvSpPr>
          <p:spPr>
            <a:xfrm>
              <a:off x="10885188" y="3426996"/>
              <a:ext cx="1081088" cy="1081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31" name="Google Shape;831;p20"/>
          <p:cNvGrpSpPr/>
          <p:nvPr/>
        </p:nvGrpSpPr>
        <p:grpSpPr>
          <a:xfrm>
            <a:off x="7145354" y="4081185"/>
            <a:ext cx="640081" cy="640080"/>
            <a:chOff x="3625848" y="1127731"/>
            <a:chExt cx="1104694" cy="1104697"/>
          </a:xfrm>
        </p:grpSpPr>
        <p:sp>
          <p:nvSpPr>
            <p:cNvPr id="832" name="Google Shape;832;p20"/>
            <p:cNvSpPr/>
            <p:nvPr/>
          </p:nvSpPr>
          <p:spPr>
            <a:xfrm>
              <a:off x="3625848" y="1127731"/>
              <a:ext cx="1104694" cy="1104697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33" name="Google Shape;833;p20"/>
            <p:cNvSpPr/>
            <p:nvPr/>
          </p:nvSpPr>
          <p:spPr>
            <a:xfrm>
              <a:off x="3625848" y="1127731"/>
              <a:ext cx="1104694" cy="110469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34" name="Google Shape;834;p20"/>
          <p:cNvGrpSpPr/>
          <p:nvPr/>
        </p:nvGrpSpPr>
        <p:grpSpPr>
          <a:xfrm>
            <a:off x="5956165" y="4081185"/>
            <a:ext cx="640081" cy="640080"/>
            <a:chOff x="3871222" y="2409456"/>
            <a:chExt cx="1104694" cy="1104697"/>
          </a:xfrm>
        </p:grpSpPr>
        <p:sp>
          <p:nvSpPr>
            <p:cNvPr id="835" name="Google Shape;835;p20"/>
            <p:cNvSpPr/>
            <p:nvPr/>
          </p:nvSpPr>
          <p:spPr>
            <a:xfrm>
              <a:off x="3871222" y="2409456"/>
              <a:ext cx="1104694" cy="1104697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36" name="Google Shape;836;p20"/>
            <p:cNvSpPr/>
            <p:nvPr/>
          </p:nvSpPr>
          <p:spPr>
            <a:xfrm>
              <a:off x="3871222" y="2409456"/>
              <a:ext cx="1104694" cy="110469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37" name="Google Shape;837;p20"/>
          <p:cNvGrpSpPr/>
          <p:nvPr/>
        </p:nvGrpSpPr>
        <p:grpSpPr>
          <a:xfrm>
            <a:off x="8334545" y="4081185"/>
            <a:ext cx="640081" cy="640080"/>
            <a:chOff x="2225673" y="2675047"/>
            <a:chExt cx="1104694" cy="1104697"/>
          </a:xfrm>
        </p:grpSpPr>
        <p:sp>
          <p:nvSpPr>
            <p:cNvPr id="838" name="Google Shape;838;p20"/>
            <p:cNvSpPr/>
            <p:nvPr/>
          </p:nvSpPr>
          <p:spPr>
            <a:xfrm>
              <a:off x="2225673" y="2675047"/>
              <a:ext cx="1104694" cy="1104697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39" name="Google Shape;839;p20"/>
            <p:cNvSpPr/>
            <p:nvPr/>
          </p:nvSpPr>
          <p:spPr>
            <a:xfrm>
              <a:off x="2225673" y="2675047"/>
              <a:ext cx="1104694" cy="110469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40" name="Google Shape;840;p20"/>
          <p:cNvGrpSpPr/>
          <p:nvPr/>
        </p:nvGrpSpPr>
        <p:grpSpPr>
          <a:xfrm>
            <a:off x="4766974" y="4081185"/>
            <a:ext cx="640081" cy="640080"/>
            <a:chOff x="532767" y="3113562"/>
            <a:chExt cx="654057" cy="654058"/>
          </a:xfrm>
        </p:grpSpPr>
        <p:sp>
          <p:nvSpPr>
            <p:cNvPr id="841" name="Google Shape;841;p20"/>
            <p:cNvSpPr/>
            <p:nvPr/>
          </p:nvSpPr>
          <p:spPr>
            <a:xfrm>
              <a:off x="532767" y="3113562"/>
              <a:ext cx="654057" cy="654058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42" name="Google Shape;842;p20"/>
            <p:cNvSpPr/>
            <p:nvPr/>
          </p:nvSpPr>
          <p:spPr>
            <a:xfrm>
              <a:off x="532767" y="3113562"/>
              <a:ext cx="654057" cy="65405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43" name="Google Shape;843;p20"/>
          <p:cNvGrpSpPr/>
          <p:nvPr/>
        </p:nvGrpSpPr>
        <p:grpSpPr>
          <a:xfrm>
            <a:off x="4385973" y="5679858"/>
            <a:ext cx="640081" cy="640080"/>
            <a:chOff x="9909858" y="5605182"/>
            <a:chExt cx="540544" cy="540544"/>
          </a:xfrm>
        </p:grpSpPr>
        <p:sp>
          <p:nvSpPr>
            <p:cNvPr id="844" name="Google Shape;844;p20"/>
            <p:cNvSpPr/>
            <p:nvPr/>
          </p:nvSpPr>
          <p:spPr>
            <a:xfrm>
              <a:off x="9909858" y="5605182"/>
              <a:ext cx="540544" cy="540544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45" name="Google Shape;845;p20"/>
            <p:cNvSpPr/>
            <p:nvPr/>
          </p:nvSpPr>
          <p:spPr>
            <a:xfrm>
              <a:off x="9909858" y="5605182"/>
              <a:ext cx="540544" cy="54054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46" name="Google Shape;846;p20"/>
          <p:cNvGrpSpPr/>
          <p:nvPr/>
        </p:nvGrpSpPr>
        <p:grpSpPr>
          <a:xfrm>
            <a:off x="5484206" y="5679858"/>
            <a:ext cx="640081" cy="640080"/>
            <a:chOff x="8356708" y="5605182"/>
            <a:chExt cx="812237" cy="1081088"/>
          </a:xfrm>
        </p:grpSpPr>
        <p:sp>
          <p:nvSpPr>
            <p:cNvPr id="847" name="Google Shape;847;p20"/>
            <p:cNvSpPr/>
            <p:nvPr/>
          </p:nvSpPr>
          <p:spPr>
            <a:xfrm>
              <a:off x="8356708" y="5605182"/>
              <a:ext cx="812237" cy="1081088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48" name="Google Shape;848;p20"/>
            <p:cNvSpPr/>
            <p:nvPr/>
          </p:nvSpPr>
          <p:spPr>
            <a:xfrm>
              <a:off x="8356708" y="5605182"/>
              <a:ext cx="812237" cy="1081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49" name="Google Shape;849;p20"/>
          <p:cNvGrpSpPr/>
          <p:nvPr/>
        </p:nvGrpSpPr>
        <p:grpSpPr>
          <a:xfrm>
            <a:off x="6582438" y="5679858"/>
            <a:ext cx="640081" cy="640080"/>
            <a:chOff x="8356708" y="5605182"/>
            <a:chExt cx="812237" cy="1081088"/>
          </a:xfrm>
        </p:grpSpPr>
        <p:sp>
          <p:nvSpPr>
            <p:cNvPr id="850" name="Google Shape;850;p20"/>
            <p:cNvSpPr/>
            <p:nvPr/>
          </p:nvSpPr>
          <p:spPr>
            <a:xfrm>
              <a:off x="8356708" y="5605182"/>
              <a:ext cx="812237" cy="1081088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51" name="Google Shape;851;p20"/>
            <p:cNvSpPr/>
            <p:nvPr/>
          </p:nvSpPr>
          <p:spPr>
            <a:xfrm>
              <a:off x="8356708" y="5605182"/>
              <a:ext cx="812237" cy="1081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52" name="Google Shape;852;p20"/>
          <p:cNvGrpSpPr/>
          <p:nvPr/>
        </p:nvGrpSpPr>
        <p:grpSpPr>
          <a:xfrm>
            <a:off x="8778903" y="5679858"/>
            <a:ext cx="640081" cy="640080"/>
            <a:chOff x="8356708" y="5605182"/>
            <a:chExt cx="812237" cy="1081088"/>
          </a:xfrm>
        </p:grpSpPr>
        <p:sp>
          <p:nvSpPr>
            <p:cNvPr id="853" name="Google Shape;853;p20"/>
            <p:cNvSpPr/>
            <p:nvPr/>
          </p:nvSpPr>
          <p:spPr>
            <a:xfrm>
              <a:off x="8356708" y="5605182"/>
              <a:ext cx="812237" cy="1081088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54" name="Google Shape;854;p20"/>
            <p:cNvSpPr/>
            <p:nvPr/>
          </p:nvSpPr>
          <p:spPr>
            <a:xfrm>
              <a:off x="8356708" y="5605182"/>
              <a:ext cx="812237" cy="1081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55" name="Google Shape;855;p20"/>
          <p:cNvGrpSpPr/>
          <p:nvPr/>
        </p:nvGrpSpPr>
        <p:grpSpPr>
          <a:xfrm>
            <a:off x="7680670" y="5679858"/>
            <a:ext cx="640081" cy="640080"/>
            <a:chOff x="330200" y="1270000"/>
            <a:chExt cx="1081088" cy="1081088"/>
          </a:xfrm>
        </p:grpSpPr>
        <p:sp>
          <p:nvSpPr>
            <p:cNvPr id="856" name="Google Shape;856;p20"/>
            <p:cNvSpPr/>
            <p:nvPr/>
          </p:nvSpPr>
          <p:spPr>
            <a:xfrm>
              <a:off x="330200" y="1270000"/>
              <a:ext cx="1081088" cy="1081088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57" name="Google Shape;857;p20"/>
            <p:cNvSpPr/>
            <p:nvPr/>
          </p:nvSpPr>
          <p:spPr>
            <a:xfrm>
              <a:off x="330200" y="1270000"/>
              <a:ext cx="1081088" cy="1081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858" name="Google Shape;858;p20"/>
          <p:cNvSpPr txBox="1"/>
          <p:nvPr/>
        </p:nvSpPr>
        <p:spPr>
          <a:xfrm>
            <a:off x="2905125" y="2190037"/>
            <a:ext cx="8017963" cy="288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entury Gothic"/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¿</a:t>
            </a:r>
            <a:r>
              <a:rPr lang="en-US" sz="1400" b="1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Qué compromisos concretos </a:t>
            </a:r>
            <a:r>
              <a:rPr lang="en-US" sz="14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nos llevan a cumplir nuestra Misión?</a:t>
            </a:r>
            <a:endParaRPr sz="1400" b="1" i="0" u="none" strike="noStrike" cap="none">
              <a:solidFill>
                <a:srgbClr val="33333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9" name="Google Shape;859;p20"/>
          <p:cNvSpPr txBox="1"/>
          <p:nvPr/>
        </p:nvSpPr>
        <p:spPr>
          <a:xfrm>
            <a:off x="2905125" y="3633429"/>
            <a:ext cx="8017963" cy="288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entury Gothic"/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¿</a:t>
            </a:r>
            <a:r>
              <a:rPr lang="en-US" sz="1400" b="1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Cuál es el negocio principal y cómo creamos valor </a:t>
            </a:r>
            <a:r>
              <a:rPr lang="en-US" sz="14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 lograr la Aspiración? </a:t>
            </a:r>
            <a:endParaRPr/>
          </a:p>
        </p:txBody>
      </p:sp>
      <p:sp>
        <p:nvSpPr>
          <p:cNvPr id="860" name="Google Shape;860;p20"/>
          <p:cNvSpPr txBox="1"/>
          <p:nvPr/>
        </p:nvSpPr>
        <p:spPr>
          <a:xfrm>
            <a:off x="2905125" y="5147280"/>
            <a:ext cx="8017963" cy="288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entury Gothic"/>
              <a:buNone/>
            </a:pPr>
            <a:r>
              <a:rPr lang="en-US" sz="1400" b="1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¿Cómo habilitar y sostener </a:t>
            </a:r>
            <a:r>
              <a:rPr lang="en-US" sz="14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 creación de valor?</a:t>
            </a:r>
            <a:endParaRPr/>
          </a:p>
        </p:txBody>
      </p:sp>
      <p:grpSp>
        <p:nvGrpSpPr>
          <p:cNvPr id="861" name="Google Shape;861;p20"/>
          <p:cNvGrpSpPr/>
          <p:nvPr/>
        </p:nvGrpSpPr>
        <p:grpSpPr>
          <a:xfrm>
            <a:off x="379623" y="4854833"/>
            <a:ext cx="1266298" cy="1671902"/>
            <a:chOff x="330200" y="6696248"/>
            <a:chExt cx="2540000" cy="972979"/>
          </a:xfrm>
        </p:grpSpPr>
        <p:sp>
          <p:nvSpPr>
            <p:cNvPr id="862" name="Google Shape;862;p20"/>
            <p:cNvSpPr txBox="1"/>
            <p:nvPr/>
          </p:nvSpPr>
          <p:spPr>
            <a:xfrm>
              <a:off x="330200" y="6696248"/>
              <a:ext cx="2540000" cy="9729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025" tIns="36025" rIns="180175" bIns="3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58585"/>
                </a:buClr>
                <a:buSzPts val="1200"/>
                <a:buFont typeface="Century Gothic"/>
                <a:buNone/>
              </a:pPr>
              <a:r>
                <a:rPr lang="en-US" sz="1200" b="1" i="0" u="none" strike="noStrike" cap="none">
                  <a:solidFill>
                    <a:srgbClr val="85858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Habilitadores</a:t>
              </a:r>
              <a:endParaRPr/>
            </a:p>
          </p:txBody>
        </p:sp>
        <p:cxnSp>
          <p:nvCxnSpPr>
            <p:cNvPr id="863" name="Google Shape;863;p20"/>
            <p:cNvCxnSpPr/>
            <p:nvPr/>
          </p:nvCxnSpPr>
          <p:spPr>
            <a:xfrm>
              <a:off x="2870200" y="6696248"/>
              <a:ext cx="0" cy="972979"/>
            </a:xfrm>
            <a:prstGeom prst="straightConnector1">
              <a:avLst/>
            </a:prstGeom>
            <a:noFill/>
            <a:ln w="152400" cap="flat" cmpd="sng">
              <a:solidFill>
                <a:srgbClr val="85858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864" name="Google Shape;864;p20"/>
          <p:cNvGrpSpPr/>
          <p:nvPr/>
        </p:nvGrpSpPr>
        <p:grpSpPr>
          <a:xfrm>
            <a:off x="379623" y="3458129"/>
            <a:ext cx="1266298" cy="1340411"/>
            <a:chOff x="330200" y="6696248"/>
            <a:chExt cx="2540000" cy="972979"/>
          </a:xfrm>
        </p:grpSpPr>
        <p:sp>
          <p:nvSpPr>
            <p:cNvPr id="865" name="Google Shape;865;p20"/>
            <p:cNvSpPr txBox="1"/>
            <p:nvPr/>
          </p:nvSpPr>
          <p:spPr>
            <a:xfrm>
              <a:off x="330200" y="6696248"/>
              <a:ext cx="2540000" cy="9729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025" tIns="36025" rIns="180175" bIns="3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58585"/>
                </a:buClr>
                <a:buSzPts val="1200"/>
                <a:buFont typeface="Century Gothic"/>
                <a:buNone/>
              </a:pPr>
              <a:r>
                <a:rPr lang="en-US" sz="1200" b="1" i="0" u="none" strike="noStrike" cap="none">
                  <a:solidFill>
                    <a:srgbClr val="85858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Foco</a:t>
              </a:r>
              <a:endParaRPr/>
            </a:p>
          </p:txBody>
        </p:sp>
        <p:cxnSp>
          <p:nvCxnSpPr>
            <p:cNvPr id="866" name="Google Shape;866;p20"/>
            <p:cNvCxnSpPr/>
            <p:nvPr/>
          </p:nvCxnSpPr>
          <p:spPr>
            <a:xfrm>
              <a:off x="2870200" y="6696248"/>
              <a:ext cx="0" cy="972979"/>
            </a:xfrm>
            <a:prstGeom prst="straightConnector1">
              <a:avLst/>
            </a:prstGeom>
            <a:noFill/>
            <a:ln w="152400" cap="flat" cmpd="sng">
              <a:solidFill>
                <a:srgbClr val="85858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867" name="Google Shape;867;p20"/>
          <p:cNvGrpSpPr/>
          <p:nvPr/>
        </p:nvGrpSpPr>
        <p:grpSpPr>
          <a:xfrm>
            <a:off x="379623" y="1361888"/>
            <a:ext cx="1266298" cy="420813"/>
            <a:chOff x="330200" y="5422246"/>
            <a:chExt cx="2540000" cy="972979"/>
          </a:xfrm>
        </p:grpSpPr>
        <p:sp>
          <p:nvSpPr>
            <p:cNvPr id="868" name="Google Shape;868;p20"/>
            <p:cNvSpPr txBox="1"/>
            <p:nvPr/>
          </p:nvSpPr>
          <p:spPr>
            <a:xfrm>
              <a:off x="330200" y="5422246"/>
              <a:ext cx="2540000" cy="9729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025" tIns="36025" rIns="180175" bIns="3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58585"/>
                </a:buClr>
                <a:buSzPts val="1200"/>
                <a:buFont typeface="Century Gothic"/>
                <a:buNone/>
              </a:pPr>
              <a:r>
                <a:rPr lang="en-US" sz="1200" b="1" i="0" u="none" strike="noStrike" cap="none" err="1">
                  <a:solidFill>
                    <a:srgbClr val="85858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Misión</a:t>
              </a:r>
              <a:endParaRPr/>
            </a:p>
          </p:txBody>
        </p:sp>
        <p:cxnSp>
          <p:nvCxnSpPr>
            <p:cNvPr id="869" name="Google Shape;869;p20"/>
            <p:cNvCxnSpPr/>
            <p:nvPr/>
          </p:nvCxnSpPr>
          <p:spPr>
            <a:xfrm>
              <a:off x="2870200" y="5422246"/>
              <a:ext cx="0" cy="972979"/>
            </a:xfrm>
            <a:prstGeom prst="straightConnector1">
              <a:avLst/>
            </a:prstGeom>
            <a:noFill/>
            <a:ln w="1524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70" name="Google Shape;870;p20"/>
            <p:cNvCxnSpPr/>
            <p:nvPr/>
          </p:nvCxnSpPr>
          <p:spPr>
            <a:xfrm>
              <a:off x="2870200" y="5422246"/>
              <a:ext cx="0" cy="972979"/>
            </a:xfrm>
            <a:prstGeom prst="straightConnector1">
              <a:avLst/>
            </a:prstGeom>
            <a:noFill/>
            <a:ln w="152400" cap="flat" cmpd="sng">
              <a:solidFill>
                <a:srgbClr val="85858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871" name="Google Shape;871;p20"/>
          <p:cNvGrpSpPr/>
          <p:nvPr/>
        </p:nvGrpSpPr>
        <p:grpSpPr>
          <a:xfrm>
            <a:off x="379623" y="1838665"/>
            <a:ext cx="1266298" cy="1563829"/>
            <a:chOff x="330200" y="6696248"/>
            <a:chExt cx="2540000" cy="972979"/>
          </a:xfrm>
        </p:grpSpPr>
        <p:sp>
          <p:nvSpPr>
            <p:cNvPr id="872" name="Google Shape;872;p20"/>
            <p:cNvSpPr txBox="1"/>
            <p:nvPr/>
          </p:nvSpPr>
          <p:spPr>
            <a:xfrm>
              <a:off x="330200" y="6696248"/>
              <a:ext cx="2540000" cy="9729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025" tIns="36025" rIns="180175" bIns="3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58585"/>
                </a:buClr>
                <a:buSzPts val="1200"/>
                <a:buFont typeface="Century Gothic"/>
                <a:buNone/>
              </a:pPr>
              <a:r>
                <a:rPr lang="en-US" sz="1200" b="1" i="0" u="none" strike="noStrike" cap="none">
                  <a:solidFill>
                    <a:srgbClr val="85858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Aspiración </a:t>
              </a:r>
              <a:r>
                <a:rPr lang="en-US" sz="1200" b="1">
                  <a:solidFill>
                    <a:srgbClr val="85858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de</a:t>
              </a:r>
              <a:r>
                <a:rPr lang="en-US" sz="1200" b="1" i="0" u="none" strike="noStrike" cap="none">
                  <a:solidFill>
                    <a:srgbClr val="85858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3 a 5 años</a:t>
              </a:r>
              <a:endParaRPr/>
            </a:p>
          </p:txBody>
        </p:sp>
        <p:cxnSp>
          <p:nvCxnSpPr>
            <p:cNvPr id="873" name="Google Shape;873;p20"/>
            <p:cNvCxnSpPr/>
            <p:nvPr/>
          </p:nvCxnSpPr>
          <p:spPr>
            <a:xfrm>
              <a:off x="2870200" y="6696248"/>
              <a:ext cx="0" cy="972979"/>
            </a:xfrm>
            <a:prstGeom prst="straightConnector1">
              <a:avLst/>
            </a:prstGeom>
            <a:noFill/>
            <a:ln w="152400" cap="flat" cmpd="sng">
              <a:solidFill>
                <a:srgbClr val="85858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874" name="Google Shape;874;p20"/>
          <p:cNvGrpSpPr/>
          <p:nvPr/>
        </p:nvGrpSpPr>
        <p:grpSpPr>
          <a:xfrm>
            <a:off x="379623" y="904160"/>
            <a:ext cx="1266298" cy="420813"/>
            <a:chOff x="330200" y="5422246"/>
            <a:chExt cx="2540000" cy="972979"/>
          </a:xfrm>
        </p:grpSpPr>
        <p:sp>
          <p:nvSpPr>
            <p:cNvPr id="875" name="Google Shape;875;p20"/>
            <p:cNvSpPr txBox="1"/>
            <p:nvPr/>
          </p:nvSpPr>
          <p:spPr>
            <a:xfrm>
              <a:off x="330200" y="5422246"/>
              <a:ext cx="2540000" cy="9729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025" tIns="36025" rIns="180175" bIns="3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58585"/>
                </a:buClr>
                <a:buSzPts val="1200"/>
                <a:buFont typeface="Century Gothic"/>
                <a:buNone/>
              </a:pPr>
              <a:r>
                <a:rPr lang="en-US" sz="1200" b="1" i="0" u="none" strike="noStrike" cap="none" err="1">
                  <a:solidFill>
                    <a:srgbClr val="85858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Propósito</a:t>
              </a:r>
              <a:r>
                <a:rPr lang="en-US" sz="1200" b="1" i="0" u="none" strike="noStrike" cap="none">
                  <a:solidFill>
                    <a:srgbClr val="85858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</a:t>
              </a:r>
              <a:r>
                <a:rPr lang="en-US" sz="1200" b="1" i="0" u="none" strike="noStrike" cap="none" err="1">
                  <a:solidFill>
                    <a:srgbClr val="85858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emergente</a:t>
              </a:r>
              <a:r>
                <a:rPr lang="en-US" sz="1200" b="1" i="0" u="none" strike="noStrike" cap="none">
                  <a:solidFill>
                    <a:srgbClr val="85858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 </a:t>
              </a:r>
              <a:endParaRPr/>
            </a:p>
          </p:txBody>
        </p:sp>
        <p:cxnSp>
          <p:nvCxnSpPr>
            <p:cNvPr id="876" name="Google Shape;876;p20"/>
            <p:cNvCxnSpPr/>
            <p:nvPr/>
          </p:nvCxnSpPr>
          <p:spPr>
            <a:xfrm>
              <a:off x="2870200" y="5422246"/>
              <a:ext cx="0" cy="972979"/>
            </a:xfrm>
            <a:prstGeom prst="straightConnector1">
              <a:avLst/>
            </a:prstGeom>
            <a:noFill/>
            <a:ln w="1524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77" name="Google Shape;877;p20"/>
            <p:cNvCxnSpPr/>
            <p:nvPr/>
          </p:nvCxnSpPr>
          <p:spPr>
            <a:xfrm>
              <a:off x="2870200" y="5422246"/>
              <a:ext cx="0" cy="972979"/>
            </a:xfrm>
            <a:prstGeom prst="straightConnector1">
              <a:avLst/>
            </a:prstGeom>
            <a:noFill/>
            <a:ln w="152400" cap="flat" cmpd="sng">
              <a:solidFill>
                <a:srgbClr val="85858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878" name="Google Shape;878;p20"/>
          <p:cNvSpPr txBox="1"/>
          <p:nvPr/>
        </p:nvSpPr>
        <p:spPr>
          <a:xfrm>
            <a:off x="337176" y="172199"/>
            <a:ext cx="11237977" cy="907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Generar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un primer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prototipo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Diseño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Estratégico</a:t>
            </a:r>
            <a:endParaRPr sz="2800">
              <a:solidFill>
                <a:srgbClr val="2F549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822685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21"/>
          <p:cNvSpPr txBox="1"/>
          <p:nvPr/>
        </p:nvSpPr>
        <p:spPr>
          <a:xfrm>
            <a:off x="3048000" y="3579475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4" name="Google Shape;884;p21"/>
          <p:cNvSpPr txBox="1"/>
          <p:nvPr/>
        </p:nvSpPr>
        <p:spPr>
          <a:xfrm>
            <a:off x="4254354" y="1472404"/>
            <a:ext cx="310483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Ambición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Resultados, </a:t>
            </a:r>
            <a:r>
              <a:rPr lang="en-US" sz="16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claridad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las palancas que agregan </a:t>
            </a:r>
            <a:r>
              <a:rPr lang="en-US" sz="16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valor</a:t>
            </a:r>
            <a:endParaRPr sz="1600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5" name="Google Shape;885;p21"/>
          <p:cNvSpPr txBox="1"/>
          <p:nvPr/>
        </p:nvSpPr>
        <p:spPr>
          <a:xfrm>
            <a:off x="8539862" y="2438781"/>
            <a:ext cx="310483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Desarrollo de “</a:t>
            </a:r>
            <a:r>
              <a:rPr lang="en-US" sz="16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nuevas capacidades”</a:t>
            </a:r>
            <a:endParaRPr/>
          </a:p>
        </p:txBody>
      </p:sp>
      <p:sp>
        <p:nvSpPr>
          <p:cNvPr id="886" name="Google Shape;886;p21"/>
          <p:cNvSpPr txBox="1"/>
          <p:nvPr/>
        </p:nvSpPr>
        <p:spPr>
          <a:xfrm>
            <a:off x="917421" y="2511151"/>
            <a:ext cx="327747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Cumplir lo </a:t>
            </a:r>
            <a:r>
              <a:rPr lang="en-US" sz="16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“comprometido”</a:t>
            </a:r>
            <a:endParaRPr/>
          </a:p>
        </p:txBody>
      </p:sp>
      <p:sp>
        <p:nvSpPr>
          <p:cNvPr id="887" name="Google Shape;887;p21"/>
          <p:cNvSpPr txBox="1"/>
          <p:nvPr/>
        </p:nvSpPr>
        <p:spPr>
          <a:xfrm>
            <a:off x="473574" y="3147250"/>
            <a:ext cx="3072145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Agenda de Cumplimiento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Foros de seguimiento</a:t>
            </a:r>
            <a:endParaRPr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Iniciativas estructuradas</a:t>
            </a:r>
            <a:endParaRPr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Foco en KPIs de compromisos</a:t>
            </a:r>
            <a:endParaRPr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Diálogos colaborativos: con mentalidad de  asegurar y acelerar  </a:t>
            </a:r>
            <a:endParaRPr/>
          </a:p>
        </p:txBody>
      </p:sp>
      <p:pic>
        <p:nvPicPr>
          <p:cNvPr id="888" name="Google Shape;888;p21" descr="Alarma sonando con relleno sólid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4322" y="2421390"/>
            <a:ext cx="498102" cy="498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21" descr="Culturista contorn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48607" y="2396062"/>
            <a:ext cx="591255" cy="591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21" descr="Gafas 3D contorno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0320" y="1516198"/>
            <a:ext cx="687917" cy="687917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21"/>
          <p:cNvSpPr txBox="1"/>
          <p:nvPr/>
        </p:nvSpPr>
        <p:spPr>
          <a:xfrm>
            <a:off x="8206951" y="3217466"/>
            <a:ext cx="3156747" cy="255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Agenda de  Desarrollo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Foros Habilitadores y de soporte </a:t>
            </a:r>
            <a:endParaRPr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Monitorear hipótesis </a:t>
            </a:r>
            <a:endParaRPr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Refrescar backlog de los temas estratégicos no resueltos</a:t>
            </a:r>
            <a:endParaRPr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Diálogos colaborativos en lógica ágil </a:t>
            </a:r>
            <a:endParaRPr/>
          </a:p>
        </p:txBody>
      </p:sp>
      <p:pic>
        <p:nvPicPr>
          <p:cNvPr id="892" name="Google Shape;892;p21" descr="Marca de verificación con relleno sólido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85580" y="5635776"/>
            <a:ext cx="492578" cy="492578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21"/>
          <p:cNvSpPr txBox="1"/>
          <p:nvPr/>
        </p:nvSpPr>
        <p:spPr>
          <a:xfrm>
            <a:off x="4254354" y="5532655"/>
            <a:ext cx="310483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Aseguramiento dinámico de </a:t>
            </a:r>
            <a:r>
              <a:rPr lang="en-US" sz="16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recursos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financieros, humanos e intangibles</a:t>
            </a:r>
            <a:endParaRPr/>
          </a:p>
        </p:txBody>
      </p:sp>
      <p:grpSp>
        <p:nvGrpSpPr>
          <p:cNvPr id="894" name="Google Shape;894;p21"/>
          <p:cNvGrpSpPr/>
          <p:nvPr/>
        </p:nvGrpSpPr>
        <p:grpSpPr>
          <a:xfrm>
            <a:off x="4398945" y="2575106"/>
            <a:ext cx="2788161" cy="2555294"/>
            <a:chOff x="4015247" y="2189566"/>
            <a:chExt cx="3295650" cy="3001937"/>
          </a:xfrm>
        </p:grpSpPr>
        <p:sp>
          <p:nvSpPr>
            <p:cNvPr id="895" name="Google Shape;895;p21"/>
            <p:cNvSpPr/>
            <p:nvPr/>
          </p:nvSpPr>
          <p:spPr>
            <a:xfrm>
              <a:off x="4015247" y="2189566"/>
              <a:ext cx="3295650" cy="3001937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96" name="Google Shape;896;p21"/>
            <p:cNvSpPr/>
            <p:nvPr/>
          </p:nvSpPr>
          <p:spPr>
            <a:xfrm rot="3170269">
              <a:off x="4347562" y="2490044"/>
              <a:ext cx="279908" cy="325094"/>
            </a:xfrm>
            <a:prstGeom prst="triangle">
              <a:avLst>
                <a:gd name="adj" fmla="val 50000"/>
              </a:avLst>
            </a:prstGeom>
            <a:solidFill>
              <a:srgbClr val="000000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97" name="Google Shape;897;p21"/>
            <p:cNvSpPr/>
            <p:nvPr/>
          </p:nvSpPr>
          <p:spPr>
            <a:xfrm rot="-7221578">
              <a:off x="6324676" y="4817503"/>
              <a:ext cx="279908" cy="325094"/>
            </a:xfrm>
            <a:prstGeom prst="triangle">
              <a:avLst>
                <a:gd name="adj" fmla="val 50000"/>
              </a:avLst>
            </a:prstGeom>
            <a:solidFill>
              <a:srgbClr val="000000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cxnSp>
        <p:nvCxnSpPr>
          <p:cNvPr id="898" name="Google Shape;898;p21"/>
          <p:cNvCxnSpPr/>
          <p:nvPr/>
        </p:nvCxnSpPr>
        <p:spPr>
          <a:xfrm>
            <a:off x="525488" y="3014513"/>
            <a:ext cx="3104833" cy="0"/>
          </a:xfrm>
          <a:prstGeom prst="straightConnector1">
            <a:avLst/>
          </a:prstGeom>
          <a:noFill/>
          <a:ln w="28575" cap="flat" cmpd="sng">
            <a:solidFill>
              <a:srgbClr val="2E286C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99" name="Google Shape;899;p21"/>
          <p:cNvCxnSpPr/>
          <p:nvPr/>
        </p:nvCxnSpPr>
        <p:spPr>
          <a:xfrm>
            <a:off x="4254354" y="5401235"/>
            <a:ext cx="3104833" cy="0"/>
          </a:xfrm>
          <a:prstGeom prst="straightConnector1">
            <a:avLst/>
          </a:prstGeom>
          <a:noFill/>
          <a:ln w="28575" cap="flat" cmpd="sng">
            <a:solidFill>
              <a:srgbClr val="2E286C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00" name="Google Shape;900;p21"/>
          <p:cNvCxnSpPr/>
          <p:nvPr/>
        </p:nvCxnSpPr>
        <p:spPr>
          <a:xfrm>
            <a:off x="8210551" y="2987317"/>
            <a:ext cx="3104833" cy="0"/>
          </a:xfrm>
          <a:prstGeom prst="straightConnector1">
            <a:avLst/>
          </a:prstGeom>
          <a:noFill/>
          <a:ln w="28575" cap="flat" cmpd="sng">
            <a:solidFill>
              <a:srgbClr val="2E286C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01" name="Google Shape;901;p21"/>
          <p:cNvCxnSpPr/>
          <p:nvPr/>
        </p:nvCxnSpPr>
        <p:spPr>
          <a:xfrm>
            <a:off x="4254354" y="2370416"/>
            <a:ext cx="3104833" cy="0"/>
          </a:xfrm>
          <a:prstGeom prst="straightConnector1">
            <a:avLst/>
          </a:prstGeom>
          <a:noFill/>
          <a:ln w="28575" cap="flat" cmpd="sng">
            <a:solidFill>
              <a:srgbClr val="2E286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02" name="Google Shape;902;p21"/>
          <p:cNvSpPr txBox="1"/>
          <p:nvPr/>
        </p:nvSpPr>
        <p:spPr>
          <a:xfrm>
            <a:off x="415695" y="213692"/>
            <a:ext cx="11237977" cy="907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Comenzar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la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evolución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del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sistema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toma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decisiones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para que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esté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centrado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el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diseño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estratégico</a:t>
            </a:r>
            <a:endParaRPr/>
          </a:p>
        </p:txBody>
      </p:sp>
      <p:sp>
        <p:nvSpPr>
          <p:cNvPr id="903" name="Google Shape;903;p21"/>
          <p:cNvSpPr txBox="1"/>
          <p:nvPr/>
        </p:nvSpPr>
        <p:spPr>
          <a:xfrm>
            <a:off x="5094538" y="2967160"/>
            <a:ext cx="1828800" cy="6463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PROPÓSITO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ESTRATEGIA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4" name="Google Shape;904;p2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38378" y="3618127"/>
            <a:ext cx="2007121" cy="10107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6796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03084" y="-2094060"/>
            <a:ext cx="10588141" cy="873124"/>
          </a:xfrm>
        </p:spPr>
        <p:txBody>
          <a:bodyPr>
            <a:normAutofit fontScale="90000"/>
          </a:bodyPr>
          <a:lstStyle/>
          <a:p>
            <a:r>
              <a:rPr lang="es-ES_tradnl" sz="3200" b="1"/>
              <a:t>Qué: </a:t>
            </a:r>
            <a:r>
              <a:rPr lang="es-ES_tradnl" sz="3200"/>
              <a:t>Se </a:t>
            </a:r>
            <a:r>
              <a:rPr lang="x-none" sz="3200"/>
              <a:t>deben mantener siempre vivas las agendas en función de la “Estrategia Viva”  que guían los diálogos</a:t>
            </a:r>
            <a:endParaRPr lang="es-ES_tradnl" sz="3200"/>
          </a:p>
        </p:txBody>
      </p:sp>
      <p:sp>
        <p:nvSpPr>
          <p:cNvPr id="3" name="btfpLayoutConfig" hidden="1"/>
          <p:cNvSpPr txBox="1"/>
          <p:nvPr>
            <p:custDataLst>
              <p:tags r:id="rId2"/>
            </p:custDataLst>
          </p:nvPr>
        </p:nvSpPr>
        <p:spPr bwMode="gray">
          <a:xfrm>
            <a:off x="12700" y="12700"/>
            <a:ext cx="2089281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s-ES_tradnl" sz="100">
                <a:solidFill>
                  <a:srgbClr val="FFFFFF">
                    <a:alpha val="0"/>
                  </a:srgbClr>
                </a:solidFill>
              </a:rPr>
              <a:t>overall_0_132454391493740483 columns_6_132454390109433604 24_1_132454388269489235 33_1_132454388925505551 25_1_132454388925545444 28_1_132454388925545444 34_1_132454388991119847 37_1_132471002344309816 40_1_132454391202867297 46_1_132454391544659511 50_1_132454391596849788 54_1_132454391607810803 58_1_132454391640762252 </a:t>
            </a:r>
          </a:p>
        </p:txBody>
      </p:sp>
      <p:sp>
        <p:nvSpPr>
          <p:cNvPr id="4" name="Rectangle 3"/>
          <p:cNvSpPr/>
          <p:nvPr>
            <p:custDataLst>
              <p:tags r:id="rId3"/>
            </p:custDataLst>
          </p:nvPr>
        </p:nvSpPr>
        <p:spPr bwMode="gray">
          <a:xfrm>
            <a:off x="2743200" y="1801885"/>
            <a:ext cx="2482850" cy="516651"/>
          </a:xfrm>
          <a:prstGeom prst="rect">
            <a:avLst/>
          </a:prstGeom>
          <a:solidFill>
            <a:srgbClr val="104C3E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B4B4B4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  <a:defRPr/>
            </a:pPr>
            <a:r>
              <a:rPr lang="x-none" sz="1400" b="1">
                <a:solidFill>
                  <a:srgbClr val="FFFFFF"/>
                </a:solidFill>
                <a:latin typeface="Century Gothic" panose="020B0502020202020204" pitchFamily="34" charset="0"/>
              </a:rPr>
              <a:t>Proceso de Venta</a:t>
            </a:r>
            <a:endParaRPr lang="es-ES_tradnl" sz="1400" b="1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Rectangle 4"/>
          <p:cNvSpPr/>
          <p:nvPr>
            <p:custDataLst>
              <p:tags r:id="rId4"/>
            </p:custDataLst>
          </p:nvPr>
        </p:nvSpPr>
        <p:spPr bwMode="gray">
          <a:xfrm>
            <a:off x="2743200" y="3065895"/>
            <a:ext cx="2482850" cy="516651"/>
          </a:xfrm>
          <a:prstGeom prst="rect">
            <a:avLst/>
          </a:prstGeom>
          <a:solidFill>
            <a:srgbClr val="104C3E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B4B4B4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  <a:defRPr/>
            </a:pPr>
            <a:r>
              <a:rPr lang="x-none" sz="1400" b="1">
                <a:solidFill>
                  <a:srgbClr val="FFFFFF"/>
                </a:solidFill>
                <a:latin typeface="Century Gothic" panose="020B0502020202020204" pitchFamily="34" charset="0"/>
              </a:rPr>
              <a:t>Desempeño y evaluación personas</a:t>
            </a:r>
            <a:endParaRPr lang="es-ES_tradnl" sz="1400" b="1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Rectangle 6"/>
          <p:cNvSpPr/>
          <p:nvPr>
            <p:custDataLst>
              <p:tags r:id="rId5"/>
            </p:custDataLst>
          </p:nvPr>
        </p:nvSpPr>
        <p:spPr bwMode="gray">
          <a:xfrm>
            <a:off x="2743200" y="2433890"/>
            <a:ext cx="2482850" cy="516651"/>
          </a:xfrm>
          <a:prstGeom prst="rect">
            <a:avLst/>
          </a:prstGeom>
          <a:solidFill>
            <a:srgbClr val="104C3E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B4B4B4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  <a:defRPr/>
            </a:pPr>
            <a:r>
              <a:rPr lang="x-none" sz="1400" b="1">
                <a:solidFill>
                  <a:srgbClr val="FFFFFF"/>
                </a:solidFill>
                <a:latin typeface="Century Gothic" panose="020B0502020202020204" pitchFamily="34" charset="0"/>
              </a:rPr>
              <a:t>Proyectos en Ejecución </a:t>
            </a:r>
            <a:endParaRPr lang="es-ES_tradnl" sz="1400" b="1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Rectangle 7"/>
          <p:cNvSpPr/>
          <p:nvPr>
            <p:custDataLst>
              <p:tags r:id="rId6"/>
            </p:custDataLst>
          </p:nvPr>
        </p:nvSpPr>
        <p:spPr bwMode="gray">
          <a:xfrm>
            <a:off x="2743200" y="3697900"/>
            <a:ext cx="2482850" cy="516651"/>
          </a:xfrm>
          <a:prstGeom prst="rect">
            <a:avLst/>
          </a:prstGeom>
          <a:solidFill>
            <a:srgbClr val="507867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B4B4B4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576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600"/>
              </a:spcBef>
              <a:buNone/>
              <a:defRPr/>
            </a:pPr>
            <a:r>
              <a:rPr lang="x-none" sz="1400" b="1">
                <a:solidFill>
                  <a:srgbClr val="FFFFFF"/>
                </a:solidFill>
                <a:latin typeface="Century Gothic" panose="020B0502020202020204" pitchFamily="34" charset="0"/>
              </a:rPr>
              <a:t>Resultados Financieros </a:t>
            </a:r>
            <a:endParaRPr lang="es-ES_tradnl" sz="1400" b="1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Rectangle 11"/>
          <p:cNvSpPr/>
          <p:nvPr>
            <p:custDataLst>
              <p:tags r:id="rId7"/>
            </p:custDataLst>
          </p:nvPr>
        </p:nvSpPr>
        <p:spPr bwMode="gray">
          <a:xfrm>
            <a:off x="8695663" y="3065895"/>
            <a:ext cx="2482850" cy="516651"/>
          </a:xfrm>
          <a:prstGeom prst="rect">
            <a:avLst/>
          </a:prstGeom>
          <a:solidFill>
            <a:srgbClr val="BBCABA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B4B4B4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  <a:defRPr/>
            </a:pPr>
            <a:r>
              <a:rPr lang="x-none" sz="1400" b="1">
                <a:solidFill>
                  <a:srgbClr val="000000"/>
                </a:solidFill>
                <a:latin typeface="Century Gothic" panose="020B0502020202020204" pitchFamily="34" charset="0"/>
              </a:rPr>
              <a:t>Nuevo modelo de desarrollo de personas </a:t>
            </a:r>
            <a:endParaRPr lang="es-ES_tradnl" sz="1400" b="1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Rectangle 14"/>
          <p:cNvSpPr/>
          <p:nvPr>
            <p:custDataLst>
              <p:tags r:id="rId8"/>
            </p:custDataLst>
          </p:nvPr>
        </p:nvSpPr>
        <p:spPr bwMode="gray">
          <a:xfrm>
            <a:off x="8695663" y="2433890"/>
            <a:ext cx="2482850" cy="516651"/>
          </a:xfrm>
          <a:prstGeom prst="rect">
            <a:avLst/>
          </a:prstGeom>
          <a:solidFill>
            <a:srgbClr val="BBCABA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x-none" sz="1400" b="1">
                <a:solidFill>
                  <a:srgbClr val="000000"/>
                </a:solidFill>
                <a:latin typeface="Century Gothic" panose="020B0502020202020204" pitchFamily="34" charset="0"/>
              </a:rPr>
              <a:t>Mejoras de estandares  ejecución de proyectos</a:t>
            </a:r>
            <a:endParaRPr lang="es-ES_tradnl" sz="1400" b="1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6" name="Rectangle 15"/>
          <p:cNvSpPr/>
          <p:nvPr>
            <p:custDataLst>
              <p:tags r:id="rId9"/>
            </p:custDataLst>
          </p:nvPr>
        </p:nvSpPr>
        <p:spPr bwMode="gray">
          <a:xfrm>
            <a:off x="8695663" y="1801885"/>
            <a:ext cx="2482850" cy="516651"/>
          </a:xfrm>
          <a:prstGeom prst="rect">
            <a:avLst/>
          </a:prstGeom>
          <a:solidFill>
            <a:srgbClr val="BBCABA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x-none" sz="1400" b="1">
                <a:solidFill>
                  <a:srgbClr val="000000"/>
                </a:solidFill>
                <a:latin typeface="Century Gothic" panose="020B0502020202020204" pitchFamily="34" charset="0"/>
              </a:rPr>
              <a:t>Desarrollo Nueva habilidades Comerciales  </a:t>
            </a:r>
            <a:endParaRPr lang="es-ES_tradnl" sz="1400" b="1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28" name="btfpColumnHeaderBox443254"/>
          <p:cNvGrpSpPr/>
          <p:nvPr>
            <p:custDataLst>
              <p:tags r:id="rId10"/>
            </p:custDataLst>
          </p:nvPr>
        </p:nvGrpSpPr>
        <p:grpSpPr>
          <a:xfrm>
            <a:off x="330200" y="1451432"/>
            <a:ext cx="11526838" cy="315913"/>
            <a:chOff x="330200" y="1270000"/>
            <a:chExt cx="2482850" cy="315913"/>
          </a:xfrm>
        </p:grpSpPr>
        <p:sp>
          <p:nvSpPr>
            <p:cNvPr id="29" name="btfpColumnHeaderBoxText443254"/>
            <p:cNvSpPr txBox="1"/>
            <p:nvPr>
              <p:custDataLst>
                <p:tags r:id="rId39"/>
              </p:custDataLst>
            </p:nvPr>
          </p:nvSpPr>
          <p:spPr bwMode="gray">
            <a:xfrm>
              <a:off x="330200" y="1270000"/>
              <a:ext cx="2482850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ct val="0"/>
                </a:spcBef>
                <a:buNone/>
              </a:pPr>
              <a:r>
                <a:rPr lang="x-none" sz="1600" b="1">
                  <a:solidFill>
                    <a:srgbClr val="507867"/>
                  </a:solidFill>
                  <a:latin typeface="Century Gothic" panose="020B0502020202020204" pitchFamily="34" charset="0"/>
                </a:rPr>
                <a:t>Agendas</a:t>
              </a:r>
              <a:endParaRPr lang="es-ES_tradnl" sz="1600" b="1">
                <a:solidFill>
                  <a:srgbClr val="507867"/>
                </a:solidFill>
                <a:latin typeface="Century Gothic" panose="020B0502020202020204" pitchFamily="34" charset="0"/>
              </a:endParaRPr>
            </a:p>
          </p:txBody>
        </p:sp>
        <p:cxnSp>
          <p:nvCxnSpPr>
            <p:cNvPr id="30" name="btfpColumnHeaderBoxLine443254"/>
            <p:cNvCxnSpPr/>
            <p:nvPr>
              <p:custDataLst>
                <p:tags r:id="rId40"/>
              </p:custDataLst>
            </p:nvPr>
          </p:nvCxnSpPr>
          <p:spPr bwMode="gray">
            <a:xfrm>
              <a:off x="330200" y="1585913"/>
              <a:ext cx="2482850" cy="0"/>
            </a:xfrm>
            <a:prstGeom prst="line">
              <a:avLst/>
            </a:prstGeom>
            <a:ln w="9525" cap="flat">
              <a:solidFill>
                <a:srgbClr val="507867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btfpRowHeaderBox712935"/>
          <p:cNvGrpSpPr/>
          <p:nvPr>
            <p:custDataLst>
              <p:tags r:id="rId11"/>
            </p:custDataLst>
          </p:nvPr>
        </p:nvGrpSpPr>
        <p:grpSpPr>
          <a:xfrm>
            <a:off x="330200" y="1801886"/>
            <a:ext cx="1849967" cy="2496464"/>
            <a:chOff x="330200" y="1712913"/>
            <a:chExt cx="1879600" cy="972979"/>
          </a:xfrm>
        </p:grpSpPr>
        <p:sp>
          <p:nvSpPr>
            <p:cNvPr id="31" name="btfpRowHeaderBoxText712935"/>
            <p:cNvSpPr txBox="1"/>
            <p:nvPr>
              <p:custDataLst>
                <p:tags r:id="rId37"/>
              </p:custDataLst>
            </p:nvPr>
          </p:nvSpPr>
          <p:spPr bwMode="gray">
            <a:xfrm>
              <a:off x="330200" y="1712913"/>
              <a:ext cx="1879600" cy="972979"/>
            </a:xfrm>
            <a:prstGeom prst="rect">
              <a:avLst/>
            </a:prstGeom>
            <a:noFill/>
          </p:spPr>
          <p:txBody>
            <a:bodyPr vert="horz" wrap="square" lIns="36036" tIns="36036" rIns="180181" bIns="36036" rtlCol="0" anchor="t">
              <a:noAutofit/>
            </a:bodyPr>
            <a:lstStyle/>
            <a:p>
              <a:pPr marL="0" indent="0">
                <a:spcBef>
                  <a:spcPct val="0"/>
                </a:spcBef>
                <a:buNone/>
              </a:pPr>
              <a:r>
                <a:rPr lang="x-none" sz="1600" b="1">
                  <a:solidFill>
                    <a:srgbClr val="104C3E"/>
                  </a:solidFill>
                  <a:latin typeface="Century Gothic" panose="020B0502020202020204" pitchFamily="34" charset="0"/>
                </a:rPr>
                <a:t>Cumplimiento</a:t>
              </a:r>
              <a:r>
                <a:rPr lang="es-ES_tradnl" sz="1600" b="1">
                  <a:solidFill>
                    <a:srgbClr val="104C3E"/>
                  </a:solidFill>
                  <a:latin typeface="Century Gothic" panose="020B0502020202020204" pitchFamily="34" charset="0"/>
                </a:rPr>
                <a:t> </a:t>
              </a:r>
            </a:p>
          </p:txBody>
        </p:sp>
        <p:cxnSp>
          <p:nvCxnSpPr>
            <p:cNvPr id="32" name="btfpRowHeaderBoxLine712935"/>
            <p:cNvCxnSpPr/>
            <p:nvPr>
              <p:custDataLst>
                <p:tags r:id="rId38"/>
              </p:custDataLst>
            </p:nvPr>
          </p:nvCxnSpPr>
          <p:spPr bwMode="gray">
            <a:xfrm flipH="1">
              <a:off x="2209800" y="1712913"/>
              <a:ext cx="0" cy="972979"/>
            </a:xfrm>
            <a:prstGeom prst="line">
              <a:avLst/>
            </a:prstGeom>
            <a:ln w="152400" cap="flat">
              <a:solidFill>
                <a:srgbClr val="104C3E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btfpRowHeaderBox712935"/>
          <p:cNvGrpSpPr/>
          <p:nvPr>
            <p:custDataLst>
              <p:tags r:id="rId12"/>
            </p:custDataLst>
          </p:nvPr>
        </p:nvGrpSpPr>
        <p:grpSpPr>
          <a:xfrm>
            <a:off x="6362699" y="1801886"/>
            <a:ext cx="2029863" cy="2412664"/>
            <a:chOff x="255096" y="5891305"/>
            <a:chExt cx="1879600" cy="972979"/>
          </a:xfrm>
        </p:grpSpPr>
        <p:sp>
          <p:nvSpPr>
            <p:cNvPr id="35" name="btfpRowHeaderBoxText712935"/>
            <p:cNvSpPr txBox="1"/>
            <p:nvPr>
              <p:custDataLst>
                <p:tags r:id="rId35"/>
              </p:custDataLst>
            </p:nvPr>
          </p:nvSpPr>
          <p:spPr bwMode="gray">
            <a:xfrm>
              <a:off x="255096" y="5891305"/>
              <a:ext cx="1879600" cy="972979"/>
            </a:xfrm>
            <a:prstGeom prst="rect">
              <a:avLst/>
            </a:prstGeom>
            <a:noFill/>
          </p:spPr>
          <p:txBody>
            <a:bodyPr vert="horz" wrap="square" lIns="36036" tIns="36036" rIns="180181" bIns="36036" rtlCol="0" anchor="t">
              <a:noAutofit/>
            </a:bodyPr>
            <a:lstStyle/>
            <a:p>
              <a:pPr marL="0" indent="0">
                <a:spcBef>
                  <a:spcPct val="0"/>
                </a:spcBef>
                <a:buNone/>
              </a:pPr>
              <a:r>
                <a:rPr lang="x-none" sz="1600" b="1">
                  <a:solidFill>
                    <a:srgbClr val="83AC9A"/>
                  </a:solidFill>
                  <a:latin typeface="Century Gothic" panose="020B0502020202020204" pitchFamily="34" charset="0"/>
                </a:rPr>
                <a:t>Desarrollo</a:t>
              </a:r>
              <a:r>
                <a:rPr lang="x-none" b="1">
                  <a:solidFill>
                    <a:srgbClr val="83AC9A"/>
                  </a:solidFill>
                  <a:latin typeface="Century Gothic" panose="020B0502020202020204" pitchFamily="34" charset="0"/>
                </a:rPr>
                <a:t> </a:t>
              </a:r>
              <a:endParaRPr lang="es-ES_tradnl" sz="1600" b="1">
                <a:solidFill>
                  <a:srgbClr val="83AC9A"/>
                </a:solidFill>
                <a:latin typeface="Century Gothic" panose="020B0502020202020204" pitchFamily="34" charset="0"/>
              </a:endParaRPr>
            </a:p>
          </p:txBody>
        </p:sp>
        <p:cxnSp>
          <p:nvCxnSpPr>
            <p:cNvPr id="36" name="btfpRowHeaderBoxLine712935"/>
            <p:cNvCxnSpPr/>
            <p:nvPr>
              <p:custDataLst>
                <p:tags r:id="rId36"/>
              </p:custDataLst>
            </p:nvPr>
          </p:nvCxnSpPr>
          <p:spPr bwMode="gray">
            <a:xfrm flipH="1">
              <a:off x="2134696" y="5891305"/>
              <a:ext cx="0" cy="972979"/>
            </a:xfrm>
            <a:prstGeom prst="line">
              <a:avLst/>
            </a:prstGeom>
            <a:ln w="152400" cap="flat">
              <a:solidFill>
                <a:srgbClr val="83AC9A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btfpIcon368693"/>
          <p:cNvGrpSpPr/>
          <p:nvPr>
            <p:custDataLst>
              <p:tags r:id="rId13"/>
            </p:custDataLst>
          </p:nvPr>
        </p:nvGrpSpPr>
        <p:grpSpPr>
          <a:xfrm>
            <a:off x="432003" y="2199564"/>
            <a:ext cx="610052" cy="610053"/>
            <a:chOff x="1146378" y="2069438"/>
            <a:chExt cx="610052" cy="610053"/>
          </a:xfrm>
        </p:grpSpPr>
        <p:sp>
          <p:nvSpPr>
            <p:cNvPr id="53" name="btfpIconCircle368693"/>
            <p:cNvSpPr/>
            <p:nvPr>
              <p:custDataLst>
                <p:tags r:id="rId33"/>
              </p:custDataLst>
            </p:nvPr>
          </p:nvSpPr>
          <p:spPr bwMode="gray">
            <a:xfrm>
              <a:off x="1146378" y="2069438"/>
              <a:ext cx="610052" cy="610053"/>
            </a:xfrm>
            <a:prstGeom prst="ellipse">
              <a:avLst/>
            </a:prstGeom>
            <a:solidFill>
              <a:srgbClr val="104C3E"/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s-ES_tradnl" sz="1600">
                <a:solidFill>
                  <a:schemeClr val="tx1"/>
                </a:solidFill>
                <a:latin typeface="Century Gothic" panose="020B0502020202020204" pitchFamily="34" charset="0"/>
              </a:endParaRPr>
            </a:p>
          </p:txBody>
        </p:sp>
        <p:pic>
          <p:nvPicPr>
            <p:cNvPr id="52" name="btfpIconLines368693"/>
            <p:cNvPicPr/>
            <p:nvPr>
              <p:custDataLst>
                <p:tags r:id="rId34"/>
              </p:custDataLst>
            </p:nvPr>
          </p:nvPicPr>
          <p:blipFill>
            <a:blip r:embed="rId4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378" y="2069438"/>
              <a:ext cx="610052" cy="610053"/>
            </a:xfrm>
            <a:prstGeom prst="rect">
              <a:avLst/>
            </a:prstGeom>
          </p:spPr>
        </p:pic>
      </p:grpSp>
      <p:grpSp>
        <p:nvGrpSpPr>
          <p:cNvPr id="58" name="btfpIcon761327"/>
          <p:cNvGrpSpPr/>
          <p:nvPr>
            <p:custDataLst>
              <p:tags r:id="rId14"/>
            </p:custDataLst>
          </p:nvPr>
        </p:nvGrpSpPr>
        <p:grpSpPr>
          <a:xfrm>
            <a:off x="6448418" y="2199564"/>
            <a:ext cx="610052" cy="610053"/>
            <a:chOff x="7105643" y="2344756"/>
            <a:chExt cx="610052" cy="610053"/>
          </a:xfrm>
        </p:grpSpPr>
        <p:sp>
          <p:nvSpPr>
            <p:cNvPr id="57" name="btfpIconCircle761327"/>
            <p:cNvSpPr/>
            <p:nvPr>
              <p:custDataLst>
                <p:tags r:id="rId31"/>
              </p:custDataLst>
            </p:nvPr>
          </p:nvSpPr>
          <p:spPr bwMode="gray">
            <a:xfrm>
              <a:off x="7105643" y="2344756"/>
              <a:ext cx="610052" cy="610053"/>
            </a:xfrm>
            <a:prstGeom prst="ellipse">
              <a:avLst/>
            </a:prstGeom>
            <a:solidFill>
              <a:srgbClr val="BBCABA"/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s-ES_tradnl" sz="1600">
                <a:solidFill>
                  <a:schemeClr val="tx1"/>
                </a:solidFill>
                <a:latin typeface="Century Gothic" panose="020B0502020202020204" pitchFamily="34" charset="0"/>
              </a:endParaRPr>
            </a:p>
          </p:txBody>
        </p:sp>
        <p:pic>
          <p:nvPicPr>
            <p:cNvPr id="56" name="btfpIconLines761327"/>
            <p:cNvPicPr/>
            <p:nvPr>
              <p:custDataLst>
                <p:tags r:id="rId32"/>
              </p:custDataLst>
            </p:nvPr>
          </p:nvPicPr>
          <p:blipFill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5643" y="2344756"/>
              <a:ext cx="610052" cy="610053"/>
            </a:xfrm>
            <a:prstGeom prst="rect">
              <a:avLst/>
            </a:prstGeom>
          </p:spPr>
        </p:pic>
      </p:grpSp>
      <p:sp>
        <p:nvSpPr>
          <p:cNvPr id="42" name="Rectangle 41"/>
          <p:cNvSpPr/>
          <p:nvPr>
            <p:custDataLst>
              <p:tags r:id="rId15"/>
            </p:custDataLst>
          </p:nvPr>
        </p:nvSpPr>
        <p:spPr bwMode="gray">
          <a:xfrm>
            <a:off x="8695663" y="3697900"/>
            <a:ext cx="2482850" cy="516651"/>
          </a:xfrm>
          <a:prstGeom prst="rect">
            <a:avLst/>
          </a:prstGeom>
          <a:solidFill>
            <a:srgbClr val="BBCABA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es-ES_tradnl" sz="1400" b="1">
                <a:solidFill>
                  <a:srgbClr val="000000"/>
                </a:solidFill>
                <a:latin typeface="Century Gothic" panose="020B0502020202020204" pitchFamily="34" charset="0"/>
              </a:rPr>
              <a:t>Nuevos Mercados</a:t>
            </a:r>
          </a:p>
        </p:txBody>
      </p:sp>
      <p:grpSp>
        <p:nvGrpSpPr>
          <p:cNvPr id="68" name="btfpRowHeaderBox712935">
            <a:extLst>
              <a:ext uri="{FF2B5EF4-FFF2-40B4-BE49-F238E27FC236}">
                <a16:creationId xmlns:a16="http://schemas.microsoft.com/office/drawing/2014/main" id="{25F75796-E679-FDF6-90B6-B6263BBF2AE9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2955096" y="4918701"/>
            <a:ext cx="2270955" cy="2272006"/>
            <a:chOff x="64797" y="1712913"/>
            <a:chExt cx="2307331" cy="1047075"/>
          </a:xfrm>
        </p:grpSpPr>
        <p:sp>
          <p:nvSpPr>
            <p:cNvPr id="66" name="btfpRowHeaderBoxText712935">
              <a:extLst>
                <a:ext uri="{FF2B5EF4-FFF2-40B4-BE49-F238E27FC236}">
                  <a16:creationId xmlns:a16="http://schemas.microsoft.com/office/drawing/2014/main" id="{C1137A5C-5926-D696-0F1C-CD159A57BBCE}"/>
                </a:ext>
              </a:extLst>
            </p:cNvPr>
            <p:cNvSpPr txBox="1"/>
            <p:nvPr>
              <p:custDataLst>
                <p:tags r:id="rId29"/>
              </p:custDataLst>
            </p:nvPr>
          </p:nvSpPr>
          <p:spPr bwMode="gray">
            <a:xfrm>
              <a:off x="165243" y="1787009"/>
              <a:ext cx="2206885" cy="972979"/>
            </a:xfrm>
            <a:prstGeom prst="rect">
              <a:avLst/>
            </a:prstGeom>
            <a:noFill/>
          </p:spPr>
          <p:txBody>
            <a:bodyPr vert="horz" wrap="square" lIns="36036" tIns="36036" rIns="180181" bIns="36036" rtlCol="0" anchor="t">
              <a:noAutofit/>
            </a:bodyPr>
            <a:lstStyle/>
            <a:p>
              <a:pPr marL="0" indent="0" algn="ctr">
                <a:spcBef>
                  <a:spcPct val="0"/>
                </a:spcBef>
                <a:buNone/>
              </a:pPr>
              <a:r>
                <a:rPr lang="x-none" sz="1600" b="1">
                  <a:solidFill>
                    <a:srgbClr val="104C3E"/>
                  </a:solidFill>
                  <a:latin typeface="Century Gothic" panose="020B0502020202020204" pitchFamily="34" charset="0"/>
                </a:rPr>
                <a:t>Diálogo Cumplimiento</a:t>
              </a:r>
              <a:r>
                <a:rPr lang="es-ES_tradnl" sz="1600" b="1">
                  <a:solidFill>
                    <a:srgbClr val="104C3E"/>
                  </a:solidFill>
                  <a:latin typeface="Century Gothic" panose="020B0502020202020204" pitchFamily="34" charset="0"/>
                </a:rPr>
                <a:t> </a:t>
              </a:r>
              <a:r>
                <a:rPr lang="en-US" sz="1600" b="1">
                  <a:solidFill>
                    <a:srgbClr val="104C3E"/>
                  </a:solidFill>
                  <a:latin typeface="Century Gothic" panose="020B0502020202020204" pitchFamily="34" charset="0"/>
                </a:rPr>
                <a:t>(</a:t>
              </a:r>
              <a:r>
                <a:rPr lang="en-US" sz="1600" b="1" err="1">
                  <a:solidFill>
                    <a:srgbClr val="104C3E"/>
                  </a:solidFill>
                  <a:latin typeface="Century Gothic" panose="020B0502020202020204" pitchFamily="34" charset="0"/>
                </a:rPr>
                <a:t>evitar</a:t>
              </a:r>
              <a:r>
                <a:rPr lang="en-US" sz="1600" b="1">
                  <a:solidFill>
                    <a:srgbClr val="104C3E"/>
                  </a:solidFill>
                  <a:latin typeface="Century Gothic" panose="020B0502020202020204" pitchFamily="34" charset="0"/>
                </a:rPr>
                <a:t> error)</a:t>
              </a:r>
              <a:endParaRPr lang="es-ES_tradnl" sz="1600" b="1">
                <a:solidFill>
                  <a:srgbClr val="104C3E"/>
                </a:solidFill>
                <a:latin typeface="Century Gothic" panose="020B0502020202020204" pitchFamily="34" charset="0"/>
              </a:endParaRPr>
            </a:p>
          </p:txBody>
        </p:sp>
        <p:cxnSp>
          <p:nvCxnSpPr>
            <p:cNvPr id="67" name="btfpRowHeaderBoxLine712935">
              <a:extLst>
                <a:ext uri="{FF2B5EF4-FFF2-40B4-BE49-F238E27FC236}">
                  <a16:creationId xmlns:a16="http://schemas.microsoft.com/office/drawing/2014/main" id="{82F73E5F-984D-A07B-5E09-C47A8501265A}"/>
                </a:ext>
              </a:extLst>
            </p:cNvPr>
            <p:cNvCxnSpPr>
              <a:cxnSpLocks/>
            </p:cNvCxnSpPr>
            <p:nvPr>
              <p:custDataLst>
                <p:tags r:id="rId30"/>
              </p:custDataLst>
            </p:nvPr>
          </p:nvCxnSpPr>
          <p:spPr bwMode="gray">
            <a:xfrm>
              <a:off x="64797" y="1712913"/>
              <a:ext cx="2092039" cy="0"/>
            </a:xfrm>
            <a:prstGeom prst="line">
              <a:avLst/>
            </a:prstGeom>
            <a:ln w="152400" cap="flat">
              <a:solidFill>
                <a:srgbClr val="104C3E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btfpIcon368693">
            <a:extLst>
              <a:ext uri="{FF2B5EF4-FFF2-40B4-BE49-F238E27FC236}">
                <a16:creationId xmlns:a16="http://schemas.microsoft.com/office/drawing/2014/main" id="{F3166BB0-E2FE-0E45-1617-E0BC92A7007E}"/>
              </a:ext>
            </a:extLst>
          </p:cNvPr>
          <p:cNvGrpSpPr/>
          <p:nvPr>
            <p:custDataLst>
              <p:tags r:id="rId17"/>
            </p:custDataLst>
          </p:nvPr>
        </p:nvGrpSpPr>
        <p:grpSpPr>
          <a:xfrm>
            <a:off x="3679598" y="5980787"/>
            <a:ext cx="610052" cy="610053"/>
            <a:chOff x="1146378" y="2069438"/>
            <a:chExt cx="610052" cy="610053"/>
          </a:xfrm>
        </p:grpSpPr>
        <p:sp>
          <p:nvSpPr>
            <p:cNvPr id="70" name="btfpIconCircle368693">
              <a:extLst>
                <a:ext uri="{FF2B5EF4-FFF2-40B4-BE49-F238E27FC236}">
                  <a16:creationId xmlns:a16="http://schemas.microsoft.com/office/drawing/2014/main" id="{703D7E95-8B3D-D502-032B-B676F36F7D4E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 bwMode="gray">
            <a:xfrm>
              <a:off x="1146378" y="2069438"/>
              <a:ext cx="610052" cy="610053"/>
            </a:xfrm>
            <a:prstGeom prst="ellipse">
              <a:avLst/>
            </a:prstGeom>
            <a:solidFill>
              <a:srgbClr val="104C3E"/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s-ES_tradnl" sz="1600">
                <a:solidFill>
                  <a:schemeClr val="tx1"/>
                </a:solidFill>
                <a:latin typeface="Century Gothic" panose="020B0502020202020204" pitchFamily="34" charset="0"/>
              </a:endParaRPr>
            </a:p>
          </p:txBody>
        </p:sp>
        <p:pic>
          <p:nvPicPr>
            <p:cNvPr id="71" name="btfpIconLines368693">
              <a:extLst>
                <a:ext uri="{FF2B5EF4-FFF2-40B4-BE49-F238E27FC236}">
                  <a16:creationId xmlns:a16="http://schemas.microsoft.com/office/drawing/2014/main" id="{ABC8C73B-738E-BB6A-B7DA-46F5E0E5573C}"/>
                </a:ext>
              </a:extLst>
            </p:cNvPr>
            <p:cNvPicPr/>
            <p:nvPr>
              <p:custDataLst>
                <p:tags r:id="rId28"/>
              </p:custDataLst>
            </p:nvPr>
          </p:nvPicPr>
          <p:blipFill>
            <a:blip r:embed="rId4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378" y="2069438"/>
              <a:ext cx="610052" cy="610053"/>
            </a:xfrm>
            <a:prstGeom prst="rect">
              <a:avLst/>
            </a:prstGeom>
          </p:spPr>
        </p:pic>
      </p:grpSp>
      <p:grpSp>
        <p:nvGrpSpPr>
          <p:cNvPr id="77" name="btfpRowHeaderBox712935">
            <a:extLst>
              <a:ext uri="{FF2B5EF4-FFF2-40B4-BE49-F238E27FC236}">
                <a16:creationId xmlns:a16="http://schemas.microsoft.com/office/drawing/2014/main" id="{1511D052-A70F-4A6D-A8AE-00E27A8C82C2}"/>
              </a:ext>
            </a:extLst>
          </p:cNvPr>
          <p:cNvGrpSpPr/>
          <p:nvPr>
            <p:custDataLst>
              <p:tags r:id="rId18"/>
            </p:custDataLst>
          </p:nvPr>
        </p:nvGrpSpPr>
        <p:grpSpPr>
          <a:xfrm>
            <a:off x="8695663" y="4876650"/>
            <a:ext cx="2406254" cy="2615496"/>
            <a:chOff x="616916" y="5865562"/>
            <a:chExt cx="2228129" cy="1054777"/>
          </a:xfrm>
        </p:grpSpPr>
        <p:sp>
          <p:nvSpPr>
            <p:cNvPr id="75" name="btfpRowHeaderBoxText712935">
              <a:extLst>
                <a:ext uri="{FF2B5EF4-FFF2-40B4-BE49-F238E27FC236}">
                  <a16:creationId xmlns:a16="http://schemas.microsoft.com/office/drawing/2014/main" id="{6EA28801-E822-60B0-73E0-11C0EEC4E5EE}"/>
                </a:ext>
              </a:extLst>
            </p:cNvPr>
            <p:cNvSpPr txBox="1"/>
            <p:nvPr>
              <p:custDataLst>
                <p:tags r:id="rId25"/>
              </p:custDataLst>
            </p:nvPr>
          </p:nvSpPr>
          <p:spPr bwMode="gray">
            <a:xfrm>
              <a:off x="616916" y="5947360"/>
              <a:ext cx="2228129" cy="972979"/>
            </a:xfrm>
            <a:prstGeom prst="rect">
              <a:avLst/>
            </a:prstGeom>
            <a:noFill/>
          </p:spPr>
          <p:txBody>
            <a:bodyPr vert="horz" wrap="square" lIns="36036" tIns="36036" rIns="180181" bIns="36036" rtlCol="0" anchor="t">
              <a:noAutofit/>
            </a:bodyPr>
            <a:lstStyle/>
            <a:p>
              <a:pPr marL="0" indent="0" algn="ctr">
                <a:spcBef>
                  <a:spcPct val="0"/>
                </a:spcBef>
                <a:buNone/>
              </a:pPr>
              <a:r>
                <a:rPr lang="x-none" sz="1600" b="1"/>
                <a:t>Diálogo de Aspiración </a:t>
              </a:r>
              <a:r>
                <a:rPr lang="en-US" sz="1600" b="1"/>
                <a:t>(Error </a:t>
              </a:r>
              <a:r>
                <a:rPr lang="en-US" sz="1600" b="1" err="1"/>
                <a:t>fuente</a:t>
              </a:r>
              <a:r>
                <a:rPr lang="en-US" sz="1600" b="1"/>
                <a:t> de </a:t>
              </a:r>
              <a:r>
                <a:rPr lang="en-US" sz="1600" b="1" err="1"/>
                <a:t>aprendizaje</a:t>
              </a:r>
              <a:r>
                <a:rPr lang="en-US" sz="1600" b="1"/>
                <a:t>)</a:t>
              </a:r>
              <a:endParaRPr lang="es-ES_tradnl" sz="1600" b="1"/>
            </a:p>
          </p:txBody>
        </p:sp>
        <p:cxnSp>
          <p:nvCxnSpPr>
            <p:cNvPr id="76" name="btfpRowHeaderBoxLine712935">
              <a:extLst>
                <a:ext uri="{FF2B5EF4-FFF2-40B4-BE49-F238E27FC236}">
                  <a16:creationId xmlns:a16="http://schemas.microsoft.com/office/drawing/2014/main" id="{6AA0B7DD-76C0-F4A8-EC62-341BDCB19A5E}"/>
                </a:ext>
              </a:extLst>
            </p:cNvPr>
            <p:cNvCxnSpPr>
              <a:cxnSpLocks/>
            </p:cNvCxnSpPr>
            <p:nvPr>
              <p:custDataLst>
                <p:tags r:id="rId26"/>
              </p:custDataLst>
            </p:nvPr>
          </p:nvCxnSpPr>
          <p:spPr bwMode="gray">
            <a:xfrm>
              <a:off x="616916" y="5865562"/>
              <a:ext cx="2022676" cy="0"/>
            </a:xfrm>
            <a:prstGeom prst="line">
              <a:avLst/>
            </a:prstGeom>
            <a:ln w="152400" cap="flat">
              <a:solidFill>
                <a:srgbClr val="83AC9A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btfpIcon761327">
            <a:extLst>
              <a:ext uri="{FF2B5EF4-FFF2-40B4-BE49-F238E27FC236}">
                <a16:creationId xmlns:a16="http://schemas.microsoft.com/office/drawing/2014/main" id="{7F03AA69-08E6-BB38-7339-DC346E888AC7}"/>
              </a:ext>
            </a:extLst>
          </p:cNvPr>
          <p:cNvGrpSpPr/>
          <p:nvPr>
            <p:custDataLst>
              <p:tags r:id="rId19"/>
            </p:custDataLst>
          </p:nvPr>
        </p:nvGrpSpPr>
        <p:grpSpPr>
          <a:xfrm>
            <a:off x="9542922" y="6030160"/>
            <a:ext cx="610052" cy="610053"/>
            <a:chOff x="7105643" y="2344756"/>
            <a:chExt cx="610052" cy="610053"/>
          </a:xfrm>
        </p:grpSpPr>
        <p:sp>
          <p:nvSpPr>
            <p:cNvPr id="79" name="btfpIconCircle761327">
              <a:extLst>
                <a:ext uri="{FF2B5EF4-FFF2-40B4-BE49-F238E27FC236}">
                  <a16:creationId xmlns:a16="http://schemas.microsoft.com/office/drawing/2014/main" id="{51ECD9C6-1F74-35C4-21DD-D4669B83D5D2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 bwMode="gray">
            <a:xfrm>
              <a:off x="7105643" y="2344756"/>
              <a:ext cx="610052" cy="610053"/>
            </a:xfrm>
            <a:prstGeom prst="ellipse">
              <a:avLst/>
            </a:prstGeom>
            <a:solidFill>
              <a:srgbClr val="BBCABA"/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s-ES_tradnl" sz="1600">
                <a:solidFill>
                  <a:schemeClr val="tx1"/>
                </a:solidFill>
                <a:latin typeface="Century Gothic" panose="020B0502020202020204" pitchFamily="34" charset="0"/>
              </a:endParaRPr>
            </a:p>
          </p:txBody>
        </p:sp>
        <p:pic>
          <p:nvPicPr>
            <p:cNvPr id="80" name="btfpIconLines761327">
              <a:extLst>
                <a:ext uri="{FF2B5EF4-FFF2-40B4-BE49-F238E27FC236}">
                  <a16:creationId xmlns:a16="http://schemas.microsoft.com/office/drawing/2014/main" id="{1EC06E15-F2D5-5142-80D0-A4C80F3C1E8C}"/>
                </a:ext>
              </a:extLst>
            </p:cNvPr>
            <p:cNvPicPr/>
            <p:nvPr>
              <p:custDataLst>
                <p:tags r:id="rId24"/>
              </p:custDataLst>
            </p:nvPr>
          </p:nvPicPr>
          <p:blipFill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5643" y="2344756"/>
              <a:ext cx="610052" cy="610053"/>
            </a:xfrm>
            <a:prstGeom prst="rect">
              <a:avLst/>
            </a:prstGeom>
          </p:spPr>
        </p:pic>
      </p:grpSp>
      <p:grpSp>
        <p:nvGrpSpPr>
          <p:cNvPr id="86" name="btfpColumnHeaderBox443254">
            <a:extLst>
              <a:ext uri="{FF2B5EF4-FFF2-40B4-BE49-F238E27FC236}">
                <a16:creationId xmlns:a16="http://schemas.microsoft.com/office/drawing/2014/main" id="{3AAC7138-9371-524D-3E81-06AD05CE4BDC}"/>
              </a:ext>
            </a:extLst>
          </p:cNvPr>
          <p:cNvGrpSpPr/>
          <p:nvPr>
            <p:custDataLst>
              <p:tags r:id="rId20"/>
            </p:custDataLst>
          </p:nvPr>
        </p:nvGrpSpPr>
        <p:grpSpPr>
          <a:xfrm>
            <a:off x="376770" y="4239077"/>
            <a:ext cx="11526838" cy="315913"/>
            <a:chOff x="330200" y="1270000"/>
            <a:chExt cx="2482850" cy="315913"/>
          </a:xfrm>
        </p:grpSpPr>
        <p:sp>
          <p:nvSpPr>
            <p:cNvPr id="84" name="btfpColumnHeaderBoxText443254">
              <a:extLst>
                <a:ext uri="{FF2B5EF4-FFF2-40B4-BE49-F238E27FC236}">
                  <a16:creationId xmlns:a16="http://schemas.microsoft.com/office/drawing/2014/main" id="{DB0B8856-8421-9747-4FE3-53C12BDA6B17}"/>
                </a:ext>
              </a:extLst>
            </p:cNvPr>
            <p:cNvSpPr txBox="1"/>
            <p:nvPr>
              <p:custDataLst>
                <p:tags r:id="rId21"/>
              </p:custDataLst>
            </p:nvPr>
          </p:nvSpPr>
          <p:spPr bwMode="gray">
            <a:xfrm>
              <a:off x="330200" y="1270000"/>
              <a:ext cx="2482850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ct val="0"/>
                </a:spcBef>
                <a:buNone/>
              </a:pPr>
              <a:r>
                <a:rPr lang="x-none" sz="1600" b="1">
                  <a:solidFill>
                    <a:srgbClr val="507867"/>
                  </a:solidFill>
                  <a:latin typeface="Century Gothic" panose="020B0502020202020204" pitchFamily="34" charset="0"/>
                </a:rPr>
                <a:t>Diálogos </a:t>
              </a:r>
              <a:endParaRPr lang="es-ES_tradnl" sz="1600" b="1">
                <a:solidFill>
                  <a:srgbClr val="507867"/>
                </a:solidFill>
                <a:latin typeface="Century Gothic" panose="020B0502020202020204" pitchFamily="34" charset="0"/>
              </a:endParaRPr>
            </a:p>
          </p:txBody>
        </p:sp>
        <p:cxnSp>
          <p:nvCxnSpPr>
            <p:cNvPr id="85" name="btfpColumnHeaderBoxLine443254">
              <a:extLst>
                <a:ext uri="{FF2B5EF4-FFF2-40B4-BE49-F238E27FC236}">
                  <a16:creationId xmlns:a16="http://schemas.microsoft.com/office/drawing/2014/main" id="{AAD90BF0-62C2-CB2F-54C0-A44B20D2E25C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 bwMode="gray">
            <a:xfrm>
              <a:off x="330200" y="1585913"/>
              <a:ext cx="2482850" cy="0"/>
            </a:xfrm>
            <a:prstGeom prst="line">
              <a:avLst/>
            </a:prstGeom>
            <a:ln w="9525" cap="flat">
              <a:solidFill>
                <a:srgbClr val="507867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ítulo 2">
            <a:extLst>
              <a:ext uri="{FF2B5EF4-FFF2-40B4-BE49-F238E27FC236}">
                <a16:creationId xmlns:a16="http://schemas.microsoft.com/office/drawing/2014/main" id="{EA055691-4B5E-1603-A5FD-4EBA77009371}"/>
              </a:ext>
            </a:extLst>
          </p:cNvPr>
          <p:cNvSpPr txBox="1">
            <a:spLocks/>
          </p:cNvSpPr>
          <p:nvPr/>
        </p:nvSpPr>
        <p:spPr>
          <a:xfrm>
            <a:off x="65294" y="116528"/>
            <a:ext cx="12045841" cy="898982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Las </a:t>
            </a:r>
            <a:r>
              <a:rPr lang="es-ES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a</a:t>
            </a:r>
            <a:r>
              <a:rPr lang="x-none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gendas de </a:t>
            </a:r>
            <a:r>
              <a:rPr lang="es-ES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c</a:t>
            </a:r>
            <a:r>
              <a:rPr lang="x-none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umplimiento y </a:t>
            </a:r>
            <a:r>
              <a:rPr lang="es-ES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d</a:t>
            </a:r>
            <a:r>
              <a:rPr lang="x-none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esarrollo deben gobernar el </a:t>
            </a:r>
            <a:r>
              <a:rPr lang="es-ES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f</a:t>
            </a:r>
            <a:r>
              <a:rPr lang="x-none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oco de </a:t>
            </a:r>
            <a:r>
              <a:rPr lang="es-ES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v</a:t>
            </a:r>
            <a:r>
              <a:rPr lang="x-none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alor y la </a:t>
            </a:r>
            <a:r>
              <a:rPr lang="es-ES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a</a:t>
            </a:r>
            <a:r>
              <a:rPr lang="x-none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signación de </a:t>
            </a:r>
            <a:r>
              <a:rPr lang="es-ES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r</a:t>
            </a:r>
            <a:r>
              <a:rPr lang="x-none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ecursos basado en la </a:t>
            </a:r>
            <a:r>
              <a:rPr lang="es-ES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e</a:t>
            </a:r>
            <a:r>
              <a:rPr lang="x-none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strategia.</a:t>
            </a:r>
            <a:endParaRPr lang="es-ES_tradnl" sz="280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2848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2">
            <a:extLst>
              <a:ext uri="{FF2B5EF4-FFF2-40B4-BE49-F238E27FC236}">
                <a16:creationId xmlns:a16="http://schemas.microsoft.com/office/drawing/2014/main" id="{5A0A4319-4C01-C94B-89EE-F824797AA543}"/>
              </a:ext>
            </a:extLst>
          </p:cNvPr>
          <p:cNvSpPr txBox="1">
            <a:spLocks/>
          </p:cNvSpPr>
          <p:nvPr/>
        </p:nvSpPr>
        <p:spPr>
          <a:xfrm>
            <a:off x="337176" y="172199"/>
            <a:ext cx="11237977" cy="907481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x-none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El proceso de </a:t>
            </a:r>
            <a:r>
              <a:rPr lang="es-ES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t</a:t>
            </a:r>
            <a:r>
              <a:rPr lang="x-none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oma de </a:t>
            </a:r>
            <a:r>
              <a:rPr lang="es-ES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d</a:t>
            </a:r>
            <a:r>
              <a:rPr lang="x-none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ecisiones, orquestado en las dos </a:t>
            </a:r>
            <a:r>
              <a:rPr lang="es-ES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a</a:t>
            </a:r>
            <a:r>
              <a:rPr lang="x-none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gendas, se potencia al ser explícito en estas tres capas</a:t>
            </a:r>
          </a:p>
          <a:p>
            <a:endParaRPr lang="es-CL" sz="280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3" name="btfpRunningAgenda1Level245155">
            <a:extLst>
              <a:ext uri="{FF2B5EF4-FFF2-40B4-BE49-F238E27FC236}">
                <a16:creationId xmlns:a16="http://schemas.microsoft.com/office/drawing/2014/main" id="{5C5AD8A8-9B8A-7E4E-BED2-3D756747CCEF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6762" y="1670595"/>
            <a:ext cx="2460831" cy="257443"/>
            <a:chOff x="0" y="944429"/>
            <a:chExt cx="2460831" cy="257443"/>
          </a:xfrm>
        </p:grpSpPr>
        <p:sp>
          <p:nvSpPr>
            <p:cNvPr id="5" name="btfpRunningAgenda1LevelBarLeft245155">
              <a:extLst>
                <a:ext uri="{FF2B5EF4-FFF2-40B4-BE49-F238E27FC236}">
                  <a16:creationId xmlns:a16="http://schemas.microsoft.com/office/drawing/2014/main" id="{35855ADA-ACB6-FF4E-A83F-4A555A0C3A18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 bwMode="gray">
            <a:xfrm>
              <a:off x="0" y="944429"/>
              <a:ext cx="2460831" cy="257443"/>
            </a:xfrm>
            <a:custGeom>
              <a:avLst/>
              <a:gdLst/>
              <a:ahLst/>
              <a:cxnLst/>
              <a:rect l="0" t="0" r="0" b="0"/>
              <a:pathLst>
                <a:path w="2460831" h="257443">
                  <a:moveTo>
                    <a:pt x="0" y="0"/>
                  </a:moveTo>
                  <a:lnTo>
                    <a:pt x="2460830" y="0"/>
                  </a:lnTo>
                  <a:lnTo>
                    <a:pt x="2406109" y="257442"/>
                  </a:lnTo>
                  <a:lnTo>
                    <a:pt x="0" y="257442"/>
                  </a:lnTo>
                  <a:close/>
                </a:path>
              </a:pathLst>
            </a:custGeom>
            <a:solidFill>
              <a:srgbClr val="333333"/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s-ES_tradnl" sz="1600">
                <a:solidFill>
                  <a:schemeClr val="tx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6" name="btfpRunningAgenda1LevelTextLeft245155">
              <a:extLst>
                <a:ext uri="{FF2B5EF4-FFF2-40B4-BE49-F238E27FC236}">
                  <a16:creationId xmlns:a16="http://schemas.microsoft.com/office/drawing/2014/main" id="{4177E832-83C0-1846-9BFD-D65BCE45F519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 bwMode="gray">
            <a:xfrm>
              <a:off x="0" y="944429"/>
              <a:ext cx="2406109" cy="257442"/>
            </a:xfrm>
            <a:prstGeom prst="rect">
              <a:avLst/>
            </a:prstGeom>
            <a:noFill/>
          </p:spPr>
          <p:txBody>
            <a:bodyPr vert="horz" wrap="none" lIns="360363" tIns="36036" rIns="360363" bIns="36036" rtlCol="0" anchor="t">
              <a:spAutoFit/>
            </a:bodyPr>
            <a:lstStyle/>
            <a:p>
              <a:pPr marL="0" indent="0">
                <a:spcBef>
                  <a:spcPct val="0"/>
                </a:spcBef>
                <a:buNone/>
              </a:pPr>
              <a:r>
                <a:rPr lang="es-ES_tradnl" sz="1200" b="1" cap="all" spc="450">
                  <a:solidFill>
                    <a:srgbClr val="FFFFFF"/>
                  </a:solidFill>
                  <a:latin typeface="Century Gothic" panose="020B0502020202020204" pitchFamily="34" charset="0"/>
                </a:rPr>
                <a:t>Gobernanza</a:t>
              </a:r>
            </a:p>
          </p:txBody>
        </p:sp>
      </p:grpSp>
      <p:sp>
        <p:nvSpPr>
          <p:cNvPr id="7" name="Oval 64">
            <a:extLst>
              <a:ext uri="{FF2B5EF4-FFF2-40B4-BE49-F238E27FC236}">
                <a16:creationId xmlns:a16="http://schemas.microsoft.com/office/drawing/2014/main" id="{5C6EC8B5-C5F6-EE44-A2EC-7C6A7D624D55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280182" y="2435644"/>
            <a:ext cx="3830320" cy="377952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s-ES_tradnl" sz="160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Rectangle 72">
            <a:extLst>
              <a:ext uri="{FF2B5EF4-FFF2-40B4-BE49-F238E27FC236}">
                <a16:creationId xmlns:a16="http://schemas.microsoft.com/office/drawing/2014/main" id="{84916307-1E60-AF4B-BD82-3CC0F08A676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2335" y="1906810"/>
            <a:ext cx="42989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762">
              <a:buClr>
                <a:prstClr val="black"/>
              </a:buClr>
            </a:pPr>
            <a:r>
              <a:rPr lang="es-ES_tradnl" altLang="zh-CN" b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1) Estructura de Foros</a:t>
            </a:r>
          </a:p>
        </p:txBody>
      </p:sp>
      <p:sp>
        <p:nvSpPr>
          <p:cNvPr id="9" name="Rectangle 75">
            <a:extLst>
              <a:ext uri="{FF2B5EF4-FFF2-40B4-BE49-F238E27FC236}">
                <a16:creationId xmlns:a16="http://schemas.microsoft.com/office/drawing/2014/main" id="{F58299A8-64A6-BA45-AFCA-F48ECA84430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289760" y="3376202"/>
            <a:ext cx="43714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762" indent="0">
              <a:buClr>
                <a:prstClr val="black"/>
              </a:buClr>
              <a:buFont typeface="Arial" panose="020B0604020202020204" pitchFamily="34" charset="0"/>
              <a:buNone/>
            </a:pPr>
            <a:r>
              <a:rPr lang="es-ES_tradnl" b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2) Dinámica efectiva en cada Foro</a:t>
            </a:r>
            <a:endParaRPr lang="es-ES_tradnl">
              <a:solidFill>
                <a:prstClr val="black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val 81">
            <a:extLst>
              <a:ext uri="{FF2B5EF4-FFF2-40B4-BE49-F238E27FC236}">
                <a16:creationId xmlns:a16="http://schemas.microsoft.com/office/drawing/2014/main" id="{5E593813-8101-2D43-AF13-41E1B693CB7B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1212563" y="3295369"/>
            <a:ext cx="1965559" cy="1939493"/>
          </a:xfrm>
          <a:prstGeom prst="ellipse">
            <a:avLst/>
          </a:prstGeom>
          <a:solidFill>
            <a:srgbClr val="E55302"/>
          </a:solidFill>
          <a:ln w="762000" cap="flat" cmpd="sng" algn="ctr">
            <a:solidFill>
              <a:srgbClr val="E55302">
                <a:alpha val="5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s-ES_tradnl" sz="160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Rectangle 80">
            <a:extLst>
              <a:ext uri="{FF2B5EF4-FFF2-40B4-BE49-F238E27FC236}">
                <a16:creationId xmlns:a16="http://schemas.microsoft.com/office/drawing/2014/main" id="{D60B436F-9592-F546-9A0F-B2A797F8EA71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281904" y="5200309"/>
            <a:ext cx="51723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762" indent="0">
              <a:buClr>
                <a:prstClr val="black"/>
              </a:buClr>
              <a:buFont typeface="Arial" panose="020B0604020202020204" pitchFamily="34" charset="0"/>
              <a:buNone/>
            </a:pPr>
            <a:r>
              <a:rPr lang="es-ES_tradnl" b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3) Mentalidad y comportamientos por Foro</a:t>
            </a:r>
            <a:endParaRPr lang="es-ES_tradnl">
              <a:solidFill>
                <a:prstClr val="black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Straight Connector 83">
            <a:extLst>
              <a:ext uri="{FF2B5EF4-FFF2-40B4-BE49-F238E27FC236}">
                <a16:creationId xmlns:a16="http://schemas.microsoft.com/office/drawing/2014/main" id="{48FB719F-2FB3-0442-8CC3-BFC1A97E3397}"/>
              </a:ext>
            </a:extLst>
          </p:cNvPr>
          <p:cNvCxnSpPr/>
          <p:nvPr>
            <p:custDataLst>
              <p:tags r:id="rId7"/>
            </p:custDataLst>
          </p:nvPr>
        </p:nvCxnSpPr>
        <p:spPr bwMode="gray">
          <a:xfrm>
            <a:off x="3289760" y="3743979"/>
            <a:ext cx="4040127" cy="0"/>
          </a:xfrm>
          <a:prstGeom prst="line">
            <a:avLst/>
          </a:prstGeom>
          <a:ln w="19050" cap="flat">
            <a:solidFill>
              <a:schemeClr val="tx1"/>
            </a:solidFill>
            <a:miter lim="800000"/>
            <a:headEnd type="oval" w="lg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btfpBulletedList161503">
            <a:extLst>
              <a:ext uri="{FF2B5EF4-FFF2-40B4-BE49-F238E27FC236}">
                <a16:creationId xmlns:a16="http://schemas.microsoft.com/office/drawing/2014/main" id="{CCD89C6A-9080-FC4B-8123-A18C34606D49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gray">
          <a:xfrm>
            <a:off x="4104789" y="2291508"/>
            <a:ext cx="3249934" cy="1042199"/>
          </a:xfrm>
          <a:prstGeom prst="rect">
            <a:avLst/>
          </a:prstGeom>
          <a:noFill/>
        </p:spPr>
        <p:txBody>
          <a:bodyPr vert="horz" wrap="square" lIns="0" tIns="36000" rIns="0" bIns="36000" rtlCol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s-ES_tradnl" sz="1200" i="1">
                <a:solidFill>
                  <a:srgbClr val="000000"/>
                </a:solidFill>
                <a:latin typeface="Century Gothic" panose="020B0502020202020204" pitchFamily="34" charset="0"/>
              </a:rPr>
              <a:t>Qué, cuándo, quién</a:t>
            </a:r>
          </a:p>
          <a:p>
            <a:pPr>
              <a:spcBef>
                <a:spcPts val="600"/>
              </a:spcBef>
            </a:pPr>
            <a:r>
              <a:rPr lang="es-ES_tradnl" sz="1200">
                <a:latin typeface="Century Gothic" panose="020B0502020202020204" pitchFamily="34" charset="0"/>
              </a:rPr>
              <a:t>Foros y decisiones</a:t>
            </a:r>
          </a:p>
          <a:p>
            <a:pPr>
              <a:spcBef>
                <a:spcPts val="600"/>
              </a:spcBef>
            </a:pPr>
            <a:r>
              <a:rPr lang="es-ES_tradnl" sz="1200">
                <a:latin typeface="Century Gothic" panose="020B0502020202020204" pitchFamily="34" charset="0"/>
              </a:rPr>
              <a:t>Cadencia</a:t>
            </a:r>
          </a:p>
          <a:p>
            <a:pPr>
              <a:spcBef>
                <a:spcPts val="600"/>
              </a:spcBef>
            </a:pPr>
            <a:r>
              <a:rPr lang="es-ES_tradnl" sz="1200">
                <a:latin typeface="Century Gothic" panose="020B0502020202020204" pitchFamily="34" charset="0"/>
              </a:rPr>
              <a:t>Roles y responsabilidades</a:t>
            </a:r>
            <a:endParaRPr lang="es-ES_tradnl" sz="1100">
              <a:latin typeface="Century Gothic" panose="020B0502020202020204" pitchFamily="34" charset="0"/>
            </a:endParaRPr>
          </a:p>
        </p:txBody>
      </p:sp>
      <p:sp>
        <p:nvSpPr>
          <p:cNvPr id="14" name="btfpBulletedList161503">
            <a:extLst>
              <a:ext uri="{FF2B5EF4-FFF2-40B4-BE49-F238E27FC236}">
                <a16:creationId xmlns:a16="http://schemas.microsoft.com/office/drawing/2014/main" id="{F0C828C5-2E94-A947-A045-C0A22C1CE064}"/>
              </a:ext>
            </a:extLst>
          </p:cNvPr>
          <p:cNvSpPr txBox="1"/>
          <p:nvPr>
            <p:custDataLst>
              <p:tags r:id="rId9"/>
            </p:custDataLst>
          </p:nvPr>
        </p:nvSpPr>
        <p:spPr bwMode="gray">
          <a:xfrm>
            <a:off x="4180590" y="3743200"/>
            <a:ext cx="3249934" cy="1303809"/>
          </a:xfrm>
          <a:prstGeom prst="rect">
            <a:avLst/>
          </a:prstGeom>
          <a:noFill/>
        </p:spPr>
        <p:txBody>
          <a:bodyPr vert="horz" wrap="square" lIns="0" tIns="36000" rIns="0" bIns="36000" rtlCol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s-ES_tradnl" sz="1200" i="1">
                <a:solidFill>
                  <a:srgbClr val="000000"/>
                </a:solidFill>
                <a:latin typeface="Century Gothic" panose="020B0502020202020204" pitchFamily="34" charset="0"/>
              </a:rPr>
              <a:t>Cómo</a:t>
            </a:r>
          </a:p>
          <a:p>
            <a:pPr>
              <a:spcBef>
                <a:spcPts val="600"/>
              </a:spcBef>
            </a:pPr>
            <a:r>
              <a:rPr lang="es-ES_tradnl" sz="1200">
                <a:latin typeface="Century Gothic" panose="020B0502020202020204" pitchFamily="34" charset="0"/>
              </a:rPr>
              <a:t>Preparación y análisis</a:t>
            </a:r>
          </a:p>
          <a:p>
            <a:pPr>
              <a:spcBef>
                <a:spcPts val="600"/>
              </a:spcBef>
            </a:pPr>
            <a:r>
              <a:rPr lang="es-ES_tradnl" sz="1200">
                <a:latin typeface="Century Gothic" panose="020B0502020202020204" pitchFamily="34" charset="0"/>
              </a:rPr>
              <a:t>KPIs</a:t>
            </a:r>
          </a:p>
          <a:p>
            <a:pPr>
              <a:spcBef>
                <a:spcPts val="600"/>
              </a:spcBef>
            </a:pPr>
            <a:r>
              <a:rPr lang="es-ES_tradnl" sz="1200">
                <a:latin typeface="Century Gothic" panose="020B0502020202020204" pitchFamily="34" charset="0"/>
              </a:rPr>
              <a:t>Priorización de decisiones a tomar</a:t>
            </a:r>
          </a:p>
          <a:p>
            <a:pPr>
              <a:spcBef>
                <a:spcPts val="600"/>
              </a:spcBef>
            </a:pPr>
            <a:r>
              <a:rPr lang="es-ES_tradnl" sz="1200">
                <a:latin typeface="Century Gothic" panose="020B0502020202020204" pitchFamily="34" charset="0"/>
              </a:rPr>
              <a:t>Informes subordinados a las decisiones</a:t>
            </a:r>
          </a:p>
        </p:txBody>
      </p:sp>
      <p:cxnSp>
        <p:nvCxnSpPr>
          <p:cNvPr id="15" name="Elbow Connector 12">
            <a:extLst>
              <a:ext uri="{FF2B5EF4-FFF2-40B4-BE49-F238E27FC236}">
                <a16:creationId xmlns:a16="http://schemas.microsoft.com/office/drawing/2014/main" id="{1CF9B849-D5E1-2548-8CC5-EAE1E0F5BCB7}"/>
              </a:ext>
            </a:extLst>
          </p:cNvPr>
          <p:cNvCxnSpPr/>
          <p:nvPr>
            <p:custDataLst>
              <p:tags r:id="rId10"/>
            </p:custDataLst>
          </p:nvPr>
        </p:nvCxnSpPr>
        <p:spPr bwMode="gray">
          <a:xfrm rot="10800000" flipV="1">
            <a:off x="2194387" y="2262319"/>
            <a:ext cx="5135501" cy="260307"/>
          </a:xfrm>
          <a:prstGeom prst="bentConnector3">
            <a:avLst>
              <a:gd name="adj1" fmla="val 100090"/>
            </a:avLst>
          </a:prstGeom>
          <a:ln w="19050" cap="flat" cmpd="sng" algn="ctr">
            <a:solidFill>
              <a:srgbClr val="333333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7">
            <a:extLst>
              <a:ext uri="{FF2B5EF4-FFF2-40B4-BE49-F238E27FC236}">
                <a16:creationId xmlns:a16="http://schemas.microsoft.com/office/drawing/2014/main" id="{AA104477-63D3-C046-B2A3-E6D79A2CF759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2122384" y="2502531"/>
            <a:ext cx="144000" cy="144000"/>
          </a:xfrm>
          <a:prstGeom prst="ellipse">
            <a:avLst/>
          </a:prstGeom>
          <a:solidFill>
            <a:srgbClr val="333333"/>
          </a:solidFill>
          <a:ln w="19050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s-ES_tradnl" sz="160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17" name="Oval 48">
            <a:extLst>
              <a:ext uri="{FF2B5EF4-FFF2-40B4-BE49-F238E27FC236}">
                <a16:creationId xmlns:a16="http://schemas.microsoft.com/office/drawing/2014/main" id="{86D8DC66-DE9F-6843-94A0-97F8D2B2C878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3196551" y="3671979"/>
            <a:ext cx="144000" cy="144000"/>
          </a:xfrm>
          <a:prstGeom prst="ellipse">
            <a:avLst/>
          </a:prstGeom>
          <a:solidFill>
            <a:srgbClr val="333333"/>
          </a:solidFill>
          <a:ln w="19050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s-ES_tradnl" sz="160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18" name="Elbow Connector 60">
            <a:extLst>
              <a:ext uri="{FF2B5EF4-FFF2-40B4-BE49-F238E27FC236}">
                <a16:creationId xmlns:a16="http://schemas.microsoft.com/office/drawing/2014/main" id="{2D3D67FB-A423-E340-9869-93809F3F259A}"/>
              </a:ext>
            </a:extLst>
          </p:cNvPr>
          <p:cNvCxnSpPr>
            <a:endCxn id="19" idx="4"/>
          </p:cNvCxnSpPr>
          <p:nvPr>
            <p:custDataLst>
              <p:tags r:id="rId13"/>
            </p:custDataLst>
          </p:nvPr>
        </p:nvCxnSpPr>
        <p:spPr bwMode="gray">
          <a:xfrm rot="10800000">
            <a:off x="2162577" y="4323940"/>
            <a:ext cx="5174655" cy="1215915"/>
          </a:xfrm>
          <a:prstGeom prst="bentConnector2">
            <a:avLst/>
          </a:prstGeom>
          <a:ln w="19050" cap="flat" cmpd="sng" algn="ctr">
            <a:solidFill>
              <a:srgbClr val="333333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59">
            <a:extLst>
              <a:ext uri="{FF2B5EF4-FFF2-40B4-BE49-F238E27FC236}">
                <a16:creationId xmlns:a16="http://schemas.microsoft.com/office/drawing/2014/main" id="{609314A7-0B5B-E24E-B77D-8CAB90E02D9E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2090576" y="4179939"/>
            <a:ext cx="144000" cy="144000"/>
          </a:xfrm>
          <a:prstGeom prst="ellipse">
            <a:avLst/>
          </a:prstGeom>
          <a:solidFill>
            <a:srgbClr val="333333"/>
          </a:solidFill>
          <a:ln w="19050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s-ES_tradnl" sz="160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29" name="btfpBulletedList161503">
            <a:extLst>
              <a:ext uri="{FF2B5EF4-FFF2-40B4-BE49-F238E27FC236}">
                <a16:creationId xmlns:a16="http://schemas.microsoft.com/office/drawing/2014/main" id="{18902ED3-F73B-3D4B-BF8D-062657A4F604}"/>
              </a:ext>
            </a:extLst>
          </p:cNvPr>
          <p:cNvSpPr txBox="1"/>
          <p:nvPr>
            <p:custDataLst>
              <p:tags r:id="rId15"/>
            </p:custDataLst>
          </p:nvPr>
        </p:nvSpPr>
        <p:spPr bwMode="gray">
          <a:xfrm>
            <a:off x="4180590" y="5615491"/>
            <a:ext cx="3149297" cy="1149921"/>
          </a:xfrm>
          <a:prstGeom prst="rect">
            <a:avLst/>
          </a:prstGeom>
          <a:noFill/>
        </p:spPr>
        <p:txBody>
          <a:bodyPr vert="horz" wrap="square" lIns="0" tIns="36000" rIns="0" bIns="36000" rtlCol="0">
            <a:spAutoFit/>
          </a:bodyPr>
          <a:lstStyle/>
          <a:p>
            <a:pPr>
              <a:spcBef>
                <a:spcPts val="600"/>
              </a:spcBef>
            </a:pPr>
            <a:r>
              <a:rPr lang="es-ES_tradnl" sz="1200">
                <a:latin typeface="Century Gothic" panose="020B0502020202020204" pitchFamily="34" charset="0"/>
              </a:rPr>
              <a:t>Normas concretas </a:t>
            </a:r>
            <a:r>
              <a:rPr lang="x-none" sz="1200">
                <a:latin typeface="Century Gothic" panose="020B0502020202020204" pitchFamily="34" charset="0"/>
              </a:rPr>
              <a:t>auto generadas</a:t>
            </a:r>
            <a:r>
              <a:rPr lang="es-ES_tradnl" sz="1200">
                <a:latin typeface="Century Gothic" panose="020B0502020202020204" pitchFamily="34" charset="0"/>
              </a:rPr>
              <a:t> para habilitar la gobernanza</a:t>
            </a:r>
          </a:p>
          <a:p>
            <a:pPr>
              <a:spcBef>
                <a:spcPts val="600"/>
              </a:spcBef>
            </a:pPr>
            <a:r>
              <a:rPr lang="es-ES_tradnl" sz="1200">
                <a:latin typeface="Century Gothic" panose="020B0502020202020204" pitchFamily="34" charset="0"/>
              </a:rPr>
              <a:t>Rol de</a:t>
            </a:r>
            <a:r>
              <a:rPr lang="x-none" sz="1200">
                <a:latin typeface="Century Gothic" panose="020B0502020202020204" pitchFamily="34" charset="0"/>
              </a:rPr>
              <a:t> un</a:t>
            </a:r>
            <a:r>
              <a:rPr lang="es-ES_tradnl" sz="1200">
                <a:latin typeface="Century Gothic" panose="020B0502020202020204" pitchFamily="34" charset="0"/>
              </a:rPr>
              <a:t> observador para fomentar el autocontrol</a:t>
            </a:r>
          </a:p>
          <a:p>
            <a:pPr>
              <a:spcBef>
                <a:spcPts val="600"/>
              </a:spcBef>
            </a:pPr>
            <a:endParaRPr lang="es-ES_tradnl" sz="1200">
              <a:latin typeface="Century Gothic" panose="020B0502020202020204" pitchFamily="34" charset="0"/>
            </a:endParaRP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F291C1E8-10F8-4696-4D8F-3DC14B5A4EC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98971" y="1151753"/>
            <a:ext cx="3095637" cy="1741295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softEdge rad="0"/>
          </a:effectLst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DA5BB292-7246-ACC3-2798-1EA7C1AF088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505041" y="3024038"/>
            <a:ext cx="3085219" cy="1735436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softEdge rad="0"/>
          </a:effectLst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C46CDF22-AF38-F59D-4393-F2A99545F07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524497" y="4961321"/>
            <a:ext cx="3050655" cy="1715993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2049831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2">
            <a:extLst>
              <a:ext uri="{FF2B5EF4-FFF2-40B4-BE49-F238E27FC236}">
                <a16:creationId xmlns:a16="http://schemas.microsoft.com/office/drawing/2014/main" id="{5A0A4319-4C01-C94B-89EE-F824797AA543}"/>
              </a:ext>
            </a:extLst>
          </p:cNvPr>
          <p:cNvSpPr txBox="1">
            <a:spLocks/>
          </p:cNvSpPr>
          <p:nvPr/>
        </p:nvSpPr>
        <p:spPr>
          <a:xfrm>
            <a:off x="280904" y="172199"/>
            <a:ext cx="11746972" cy="907481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Finalmente, hay que d</a:t>
            </a:r>
            <a:r>
              <a:rPr lang="x-none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iseñar las competencias organizacionales que requerirá REDCO para que el sistema de gestión logre adaptarse y consolidarse a través de prototipos sucesivos</a:t>
            </a:r>
            <a:endParaRPr lang="es-CL" sz="280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7" name="AutoShape 3">
            <a:extLst>
              <a:ext uri="{FF2B5EF4-FFF2-40B4-BE49-F238E27FC236}">
                <a16:creationId xmlns:a16="http://schemas.microsoft.com/office/drawing/2014/main" id="{FCDA4758-DB20-3A46-A12B-D76288ED650A}"/>
              </a:ext>
            </a:extLst>
          </p:cNvPr>
          <p:cNvSpPr>
            <a:spLocks noChangeAspect="1" noChangeArrowheads="1" noTextEdit="1"/>
          </p:cNvSpPr>
          <p:nvPr>
            <p:custDataLst>
              <p:tags r:id="rId1"/>
            </p:custDataLst>
          </p:nvPr>
        </p:nvSpPr>
        <p:spPr bwMode="auto">
          <a:xfrm>
            <a:off x="391234" y="1733550"/>
            <a:ext cx="11522075" cy="512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s-ES_tradnl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</a:endParaRPr>
          </a:p>
        </p:txBody>
      </p:sp>
      <p:sp>
        <p:nvSpPr>
          <p:cNvPr id="28" name="Freeform 5">
            <a:extLst>
              <a:ext uri="{FF2B5EF4-FFF2-40B4-BE49-F238E27FC236}">
                <a16:creationId xmlns:a16="http://schemas.microsoft.com/office/drawing/2014/main" id="{A6A9523E-563E-BF44-9A33-50D53C613773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391234" y="1698544"/>
            <a:ext cx="11523663" cy="832104"/>
          </a:xfrm>
          <a:custGeom>
            <a:avLst/>
            <a:gdLst>
              <a:gd name="T0" fmla="*/ 5235 w 5308"/>
              <a:gd name="T1" fmla="*/ 324 h 324"/>
              <a:gd name="T2" fmla="*/ 73 w 5308"/>
              <a:gd name="T3" fmla="*/ 324 h 324"/>
              <a:gd name="T4" fmla="*/ 0 w 5308"/>
              <a:gd name="T5" fmla="*/ 251 h 324"/>
              <a:gd name="T6" fmla="*/ 0 w 5308"/>
              <a:gd name="T7" fmla="*/ 73 h 324"/>
              <a:gd name="T8" fmla="*/ 73 w 5308"/>
              <a:gd name="T9" fmla="*/ 0 h 324"/>
              <a:gd name="T10" fmla="*/ 5235 w 5308"/>
              <a:gd name="T11" fmla="*/ 0 h 324"/>
              <a:gd name="T12" fmla="*/ 5308 w 5308"/>
              <a:gd name="T13" fmla="*/ 73 h 324"/>
              <a:gd name="T14" fmla="*/ 5308 w 5308"/>
              <a:gd name="T15" fmla="*/ 251 h 324"/>
              <a:gd name="T16" fmla="*/ 5235 w 5308"/>
              <a:gd name="T17" fmla="*/ 324 h 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308" h="324">
                <a:moveTo>
                  <a:pt x="5235" y="324"/>
                </a:moveTo>
                <a:cubicBezTo>
                  <a:pt x="73" y="324"/>
                  <a:pt x="73" y="324"/>
                  <a:pt x="73" y="324"/>
                </a:cubicBezTo>
                <a:cubicBezTo>
                  <a:pt x="33" y="324"/>
                  <a:pt x="0" y="291"/>
                  <a:pt x="0" y="251"/>
                </a:cubicBezTo>
                <a:cubicBezTo>
                  <a:pt x="0" y="73"/>
                  <a:pt x="0" y="73"/>
                  <a:pt x="0" y="73"/>
                </a:cubicBezTo>
                <a:cubicBezTo>
                  <a:pt x="0" y="33"/>
                  <a:pt x="33" y="0"/>
                  <a:pt x="73" y="0"/>
                </a:cubicBezTo>
                <a:cubicBezTo>
                  <a:pt x="5235" y="0"/>
                  <a:pt x="5235" y="0"/>
                  <a:pt x="5235" y="0"/>
                </a:cubicBezTo>
                <a:cubicBezTo>
                  <a:pt x="5275" y="0"/>
                  <a:pt x="5308" y="33"/>
                  <a:pt x="5308" y="73"/>
                </a:cubicBezTo>
                <a:cubicBezTo>
                  <a:pt x="5308" y="251"/>
                  <a:pt x="5308" y="251"/>
                  <a:pt x="5308" y="251"/>
                </a:cubicBezTo>
                <a:cubicBezTo>
                  <a:pt x="5308" y="291"/>
                  <a:pt x="5275" y="324"/>
                  <a:pt x="5235" y="324"/>
                </a:cubicBezTo>
                <a:close/>
              </a:path>
            </a:pathLst>
          </a:custGeom>
          <a:solidFill>
            <a:srgbClr val="D6D6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s-ES_tradnl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</a:endParaRPr>
          </a:p>
        </p:txBody>
      </p:sp>
      <p:sp>
        <p:nvSpPr>
          <p:cNvPr id="29" name="Freeform 6">
            <a:extLst>
              <a:ext uri="{FF2B5EF4-FFF2-40B4-BE49-F238E27FC236}">
                <a16:creationId xmlns:a16="http://schemas.microsoft.com/office/drawing/2014/main" id="{0C79AD93-D29A-694C-9159-108DE065E219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391234" y="2636077"/>
            <a:ext cx="11523663" cy="830330"/>
          </a:xfrm>
          <a:custGeom>
            <a:avLst/>
            <a:gdLst>
              <a:gd name="T0" fmla="*/ 5235 w 5308"/>
              <a:gd name="T1" fmla="*/ 324 h 324"/>
              <a:gd name="T2" fmla="*/ 73 w 5308"/>
              <a:gd name="T3" fmla="*/ 324 h 324"/>
              <a:gd name="T4" fmla="*/ 0 w 5308"/>
              <a:gd name="T5" fmla="*/ 251 h 324"/>
              <a:gd name="T6" fmla="*/ 0 w 5308"/>
              <a:gd name="T7" fmla="*/ 73 h 324"/>
              <a:gd name="T8" fmla="*/ 73 w 5308"/>
              <a:gd name="T9" fmla="*/ 0 h 324"/>
              <a:gd name="T10" fmla="*/ 5235 w 5308"/>
              <a:gd name="T11" fmla="*/ 0 h 324"/>
              <a:gd name="T12" fmla="*/ 5308 w 5308"/>
              <a:gd name="T13" fmla="*/ 73 h 324"/>
              <a:gd name="T14" fmla="*/ 5308 w 5308"/>
              <a:gd name="T15" fmla="*/ 251 h 324"/>
              <a:gd name="T16" fmla="*/ 5235 w 5308"/>
              <a:gd name="T17" fmla="*/ 324 h 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308" h="324">
                <a:moveTo>
                  <a:pt x="5235" y="324"/>
                </a:moveTo>
                <a:cubicBezTo>
                  <a:pt x="73" y="324"/>
                  <a:pt x="73" y="324"/>
                  <a:pt x="73" y="324"/>
                </a:cubicBezTo>
                <a:cubicBezTo>
                  <a:pt x="33" y="324"/>
                  <a:pt x="0" y="291"/>
                  <a:pt x="0" y="251"/>
                </a:cubicBezTo>
                <a:cubicBezTo>
                  <a:pt x="0" y="73"/>
                  <a:pt x="0" y="73"/>
                  <a:pt x="0" y="73"/>
                </a:cubicBezTo>
                <a:cubicBezTo>
                  <a:pt x="0" y="33"/>
                  <a:pt x="33" y="0"/>
                  <a:pt x="73" y="0"/>
                </a:cubicBezTo>
                <a:cubicBezTo>
                  <a:pt x="5235" y="0"/>
                  <a:pt x="5235" y="0"/>
                  <a:pt x="5235" y="0"/>
                </a:cubicBezTo>
                <a:cubicBezTo>
                  <a:pt x="5275" y="0"/>
                  <a:pt x="5308" y="33"/>
                  <a:pt x="5308" y="73"/>
                </a:cubicBezTo>
                <a:cubicBezTo>
                  <a:pt x="5308" y="251"/>
                  <a:pt x="5308" y="251"/>
                  <a:pt x="5308" y="251"/>
                </a:cubicBezTo>
                <a:cubicBezTo>
                  <a:pt x="5308" y="291"/>
                  <a:pt x="5275" y="324"/>
                  <a:pt x="5235" y="324"/>
                </a:cubicBezTo>
                <a:close/>
              </a:path>
            </a:pathLst>
          </a:custGeom>
          <a:solidFill>
            <a:srgbClr val="B4B4B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s-ES_tradnl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</a:endParaRPr>
          </a:p>
        </p:txBody>
      </p:sp>
      <p:sp>
        <p:nvSpPr>
          <p:cNvPr id="30" name="Freeform 8">
            <a:extLst>
              <a:ext uri="{FF2B5EF4-FFF2-40B4-BE49-F238E27FC236}">
                <a16:creationId xmlns:a16="http://schemas.microsoft.com/office/drawing/2014/main" id="{95191734-A205-2A40-92CF-A37D16FB4DC8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391234" y="4105275"/>
            <a:ext cx="11523663" cy="2743200"/>
          </a:xfrm>
          <a:custGeom>
            <a:avLst/>
            <a:gdLst>
              <a:gd name="T0" fmla="*/ 3817 w 5308"/>
              <a:gd name="T1" fmla="*/ 73 h 1235"/>
              <a:gd name="T2" fmla="*/ 3817 w 5308"/>
              <a:gd name="T3" fmla="*/ 835 h 1235"/>
              <a:gd name="T4" fmla="*/ 3564 w 5308"/>
              <a:gd name="T5" fmla="*/ 1088 h 1235"/>
              <a:gd name="T6" fmla="*/ 73 w 5308"/>
              <a:gd name="T7" fmla="*/ 1088 h 1235"/>
              <a:gd name="T8" fmla="*/ 0 w 5308"/>
              <a:gd name="T9" fmla="*/ 1161 h 1235"/>
              <a:gd name="T10" fmla="*/ 0 w 5308"/>
              <a:gd name="T11" fmla="*/ 1161 h 1235"/>
              <a:gd name="T12" fmla="*/ 73 w 5308"/>
              <a:gd name="T13" fmla="*/ 1235 h 1235"/>
              <a:gd name="T14" fmla="*/ 5235 w 5308"/>
              <a:gd name="T15" fmla="*/ 1235 h 1235"/>
              <a:gd name="T16" fmla="*/ 5308 w 5308"/>
              <a:gd name="T17" fmla="*/ 1161 h 1235"/>
              <a:gd name="T18" fmla="*/ 5308 w 5308"/>
              <a:gd name="T19" fmla="*/ 73 h 1235"/>
              <a:gd name="T20" fmla="*/ 5235 w 5308"/>
              <a:gd name="T21" fmla="*/ 0 h 1235"/>
              <a:gd name="T22" fmla="*/ 3891 w 5308"/>
              <a:gd name="T23" fmla="*/ 0 h 1235"/>
              <a:gd name="T24" fmla="*/ 3817 w 5308"/>
              <a:gd name="T25" fmla="*/ 73 h 12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308" h="1235">
                <a:moveTo>
                  <a:pt x="3817" y="73"/>
                </a:moveTo>
                <a:cubicBezTo>
                  <a:pt x="3817" y="835"/>
                  <a:pt x="3817" y="835"/>
                  <a:pt x="3817" y="835"/>
                </a:cubicBezTo>
                <a:cubicBezTo>
                  <a:pt x="3817" y="975"/>
                  <a:pt x="3704" y="1088"/>
                  <a:pt x="3564" y="1088"/>
                </a:cubicBezTo>
                <a:cubicBezTo>
                  <a:pt x="73" y="1088"/>
                  <a:pt x="73" y="1088"/>
                  <a:pt x="73" y="1088"/>
                </a:cubicBezTo>
                <a:cubicBezTo>
                  <a:pt x="33" y="1088"/>
                  <a:pt x="0" y="1121"/>
                  <a:pt x="0" y="1161"/>
                </a:cubicBezTo>
                <a:cubicBezTo>
                  <a:pt x="0" y="1161"/>
                  <a:pt x="0" y="1161"/>
                  <a:pt x="0" y="1161"/>
                </a:cubicBezTo>
                <a:cubicBezTo>
                  <a:pt x="0" y="1202"/>
                  <a:pt x="33" y="1235"/>
                  <a:pt x="73" y="1235"/>
                </a:cubicBezTo>
                <a:cubicBezTo>
                  <a:pt x="5235" y="1235"/>
                  <a:pt x="5235" y="1235"/>
                  <a:pt x="5235" y="1235"/>
                </a:cubicBezTo>
                <a:cubicBezTo>
                  <a:pt x="5275" y="1235"/>
                  <a:pt x="5308" y="1202"/>
                  <a:pt x="5308" y="1161"/>
                </a:cubicBezTo>
                <a:cubicBezTo>
                  <a:pt x="5308" y="73"/>
                  <a:pt x="5308" y="73"/>
                  <a:pt x="5308" y="73"/>
                </a:cubicBezTo>
                <a:cubicBezTo>
                  <a:pt x="5308" y="33"/>
                  <a:pt x="5275" y="0"/>
                  <a:pt x="5235" y="0"/>
                </a:cubicBezTo>
                <a:cubicBezTo>
                  <a:pt x="3891" y="0"/>
                  <a:pt x="3891" y="0"/>
                  <a:pt x="3891" y="0"/>
                </a:cubicBezTo>
                <a:cubicBezTo>
                  <a:pt x="3850" y="0"/>
                  <a:pt x="3817" y="33"/>
                  <a:pt x="3817" y="73"/>
                </a:cubicBezTo>
                <a:close/>
              </a:path>
            </a:pathLst>
          </a:custGeom>
          <a:solidFill>
            <a:srgbClr val="5C5C5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s-ES_tradnl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</a:endParaRPr>
          </a:p>
        </p:txBody>
      </p:sp>
      <p:sp>
        <p:nvSpPr>
          <p:cNvPr id="31" name="Rectangle 71">
            <a:extLst>
              <a:ext uri="{FF2B5EF4-FFF2-40B4-BE49-F238E27FC236}">
                <a16:creationId xmlns:a16="http://schemas.microsoft.com/office/drawing/2014/main" id="{8AAC9960-14A4-5243-83B1-F423A2463FA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050571" y="2848240"/>
            <a:ext cx="77827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>
              <a:buSzTx/>
              <a:buNone/>
              <a:defRPr/>
            </a:pPr>
            <a:r>
              <a:rPr kumimoji="0" lang="es-ES_tradnl" sz="16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</a:rPr>
              <a:t>Generar una </a:t>
            </a:r>
            <a:r>
              <a:rPr lang="es-ES_tradnl" sz="1600">
                <a:solidFill>
                  <a:srgbClr val="000000"/>
                </a:solidFill>
                <a:latin typeface="Century Gothic" panose="020B0502020202020204" pitchFamily="34" charset="0"/>
              </a:rPr>
              <a:t>narrativa integral</a:t>
            </a:r>
            <a:endParaRPr kumimoji="0" lang="es-ES_tradnl" sz="16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</a:endParaRPr>
          </a:p>
        </p:txBody>
      </p:sp>
      <p:sp>
        <p:nvSpPr>
          <p:cNvPr id="33" name="Rectangle 73">
            <a:extLst>
              <a:ext uri="{FF2B5EF4-FFF2-40B4-BE49-F238E27FC236}">
                <a16:creationId xmlns:a16="http://schemas.microsoft.com/office/drawing/2014/main" id="{3592F20C-4CA2-9A46-8D19-7D5EF170C63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065397" y="1782197"/>
            <a:ext cx="1985174" cy="60939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36000" tIns="0" rIns="36000" bIns="0" rtlCol="0" anchor="t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>
                <a:effectLst/>
              </a:defRPr>
            </a:pPr>
            <a:r>
              <a:rPr kumimoji="0" lang="es-ES_tradnl" sz="2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entury Gothic" panose="020B0502020202020204" pitchFamily="34" charset="0"/>
              </a:rPr>
              <a:t>Plan</a:t>
            </a:r>
            <a:br>
              <a:rPr kumimoji="0" lang="es-ES_tradnl" sz="2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entury Gothic" panose="020B0502020202020204" pitchFamily="34" charset="0"/>
              </a:rPr>
            </a:br>
            <a:r>
              <a:rPr kumimoji="0" lang="es-ES_tradnl" sz="2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entury Gothic" panose="020B0502020202020204" pitchFamily="34" charset="0"/>
              </a:rPr>
              <a:t>estratégico</a:t>
            </a:r>
          </a:p>
        </p:txBody>
      </p:sp>
      <p:sp>
        <p:nvSpPr>
          <p:cNvPr id="34" name="Rectangle 74">
            <a:extLst>
              <a:ext uri="{FF2B5EF4-FFF2-40B4-BE49-F238E27FC236}">
                <a16:creationId xmlns:a16="http://schemas.microsoft.com/office/drawing/2014/main" id="{202430D0-9CB0-9E4E-B807-44E8DDE1FDFB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065397" y="2878065"/>
            <a:ext cx="1908421" cy="33855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36000" tIns="0" rIns="36000" bIns="0" rtlCol="0" anchor="t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>
                <a:effectLst/>
              </a:defRPr>
            </a:pPr>
            <a:r>
              <a:rPr kumimoji="0" lang="es-ES_tradnl" sz="2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</a:rPr>
              <a:t>Liderazgo </a:t>
            </a:r>
          </a:p>
        </p:txBody>
      </p:sp>
      <p:sp>
        <p:nvSpPr>
          <p:cNvPr id="35" name="Rectangle 75">
            <a:extLst>
              <a:ext uri="{FF2B5EF4-FFF2-40B4-BE49-F238E27FC236}">
                <a16:creationId xmlns:a16="http://schemas.microsoft.com/office/drawing/2014/main" id="{2091662F-01BE-4941-9A6B-8D45D0FBCC0C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4050571" y="1921186"/>
            <a:ext cx="772687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>
              <a:buSzTx/>
              <a:buNone/>
              <a:defRPr/>
            </a:pPr>
            <a:r>
              <a:rPr lang="es-ES_tradnl" sz="1600">
                <a:latin typeface="Century Gothic" panose="020B0502020202020204" pitchFamily="34" charset="0"/>
              </a:rPr>
              <a:t>Definir un programa integrado</a:t>
            </a:r>
          </a:p>
        </p:txBody>
      </p:sp>
      <p:sp>
        <p:nvSpPr>
          <p:cNvPr id="36" name="Freeform 9">
            <a:extLst>
              <a:ext uri="{FF2B5EF4-FFF2-40B4-BE49-F238E27FC236}">
                <a16:creationId xmlns:a16="http://schemas.microsoft.com/office/drawing/2014/main" id="{29272121-A0DD-FB41-9AD0-03BEDC9B6567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3832934" y="4105275"/>
            <a:ext cx="4643438" cy="2209800"/>
          </a:xfrm>
          <a:custGeom>
            <a:avLst/>
            <a:gdLst>
              <a:gd name="T0" fmla="*/ 1958 w 2139"/>
              <a:gd name="T1" fmla="*/ 995 h 995"/>
              <a:gd name="T2" fmla="*/ 74 w 2139"/>
              <a:gd name="T3" fmla="*/ 995 h 995"/>
              <a:gd name="T4" fmla="*/ 0 w 2139"/>
              <a:gd name="T5" fmla="*/ 922 h 995"/>
              <a:gd name="T6" fmla="*/ 0 w 2139"/>
              <a:gd name="T7" fmla="*/ 181 h 995"/>
              <a:gd name="T8" fmla="*/ 181 w 2139"/>
              <a:gd name="T9" fmla="*/ 0 h 995"/>
              <a:gd name="T10" fmla="*/ 2066 w 2139"/>
              <a:gd name="T11" fmla="*/ 0 h 995"/>
              <a:gd name="T12" fmla="*/ 2139 w 2139"/>
              <a:gd name="T13" fmla="*/ 73 h 995"/>
              <a:gd name="T14" fmla="*/ 2139 w 2139"/>
              <a:gd name="T15" fmla="*/ 814 h 995"/>
              <a:gd name="T16" fmla="*/ 1958 w 2139"/>
              <a:gd name="T17" fmla="*/ 995 h 9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39" h="995">
                <a:moveTo>
                  <a:pt x="1958" y="995"/>
                </a:moveTo>
                <a:cubicBezTo>
                  <a:pt x="74" y="995"/>
                  <a:pt x="74" y="995"/>
                  <a:pt x="74" y="995"/>
                </a:cubicBezTo>
                <a:cubicBezTo>
                  <a:pt x="33" y="995"/>
                  <a:pt x="0" y="962"/>
                  <a:pt x="0" y="922"/>
                </a:cubicBezTo>
                <a:cubicBezTo>
                  <a:pt x="0" y="181"/>
                  <a:pt x="0" y="181"/>
                  <a:pt x="0" y="181"/>
                </a:cubicBezTo>
                <a:cubicBezTo>
                  <a:pt x="0" y="81"/>
                  <a:pt x="81" y="0"/>
                  <a:pt x="181" y="0"/>
                </a:cubicBezTo>
                <a:cubicBezTo>
                  <a:pt x="2066" y="0"/>
                  <a:pt x="2066" y="0"/>
                  <a:pt x="2066" y="0"/>
                </a:cubicBezTo>
                <a:cubicBezTo>
                  <a:pt x="2106" y="0"/>
                  <a:pt x="2139" y="33"/>
                  <a:pt x="2139" y="73"/>
                </a:cubicBezTo>
                <a:cubicBezTo>
                  <a:pt x="2139" y="814"/>
                  <a:pt x="2139" y="814"/>
                  <a:pt x="2139" y="814"/>
                </a:cubicBezTo>
                <a:cubicBezTo>
                  <a:pt x="2139" y="914"/>
                  <a:pt x="2058" y="995"/>
                  <a:pt x="1958" y="995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28575" cap="flat" cmpd="sng" algn="ctr">
            <a:noFill/>
            <a:prstDash val="sysDash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s-ES_tradnl" sz="2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</a:endParaRPr>
          </a:p>
        </p:txBody>
      </p:sp>
      <p:sp>
        <p:nvSpPr>
          <p:cNvPr id="38" name="Rectangle 81">
            <a:extLst>
              <a:ext uri="{FF2B5EF4-FFF2-40B4-BE49-F238E27FC236}">
                <a16:creationId xmlns:a16="http://schemas.microsoft.com/office/drawing/2014/main" id="{AE2386F3-78C5-2449-80DE-581AE108B94C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8944542" y="4337439"/>
            <a:ext cx="2822450" cy="16466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36000" tIns="0" rIns="36000" bIns="0" rtlCol="0" anchor="t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>
                <a:effectLst/>
              </a:defRPr>
            </a:pPr>
            <a:r>
              <a:rPr kumimoji="0" lang="es-ES_tradnl" sz="2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</a:rPr>
              <a:t>Orquestación</a:t>
            </a:r>
          </a:p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>
                <a:effectLst/>
              </a:defRPr>
            </a:pPr>
            <a:r>
              <a:rPr kumimoji="0" lang="es-ES_tradnl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</a:rPr>
              <a:t>Generar un proceso con foco en </a:t>
            </a:r>
            <a:r>
              <a:rPr lang="es-ES_tradnl" sz="1600" kern="0">
                <a:solidFill>
                  <a:srgbClr val="FFFFFF"/>
                </a:solidFill>
                <a:latin typeface="Century Gothic" panose="020B0502020202020204" pitchFamily="34" charset="0"/>
              </a:rPr>
              <a:t>el </a:t>
            </a:r>
            <a:r>
              <a:rPr kumimoji="0" lang="es-ES_tradnl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</a:rPr>
              <a:t>valor, gobierno de transformación y adaptación de mentalidades</a:t>
            </a:r>
          </a:p>
        </p:txBody>
      </p:sp>
      <p:sp>
        <p:nvSpPr>
          <p:cNvPr id="39" name="Rectangle 82">
            <a:extLst>
              <a:ext uri="{FF2B5EF4-FFF2-40B4-BE49-F238E27FC236}">
                <a16:creationId xmlns:a16="http://schemas.microsoft.com/office/drawing/2014/main" id="{7F49180F-DA32-0644-AEF6-157DD6091C61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719875" y="4712846"/>
            <a:ext cx="3030283" cy="90794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36000" tIns="0" rIns="36000" bIns="0" rtlCol="0" anchor="t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>
                <a:effectLst/>
              </a:defRPr>
            </a:pPr>
            <a:r>
              <a:rPr kumimoji="0" lang="es-ES_tradnl" sz="2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</a:rPr>
              <a:t>Motor de resultados</a:t>
            </a:r>
          </a:p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>
                <a:effectLst/>
              </a:defRPr>
            </a:pPr>
            <a:r>
              <a:rPr lang="es-ES_tradnl" sz="1600" kern="0">
                <a:solidFill>
                  <a:srgbClr val="FFFFFF"/>
                </a:solidFill>
                <a:latin typeface="Century Gothic" panose="020B0502020202020204" pitchFamily="34" charset="0"/>
              </a:rPr>
              <a:t>Mantener agenda de cumplimiento y de desarrollo</a:t>
            </a:r>
            <a:r>
              <a:rPr kumimoji="0" lang="es-ES_tradnl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</a:rPr>
              <a:t> </a:t>
            </a:r>
          </a:p>
        </p:txBody>
      </p:sp>
      <p:pic>
        <p:nvPicPr>
          <p:cNvPr id="40" name="btfpIconLines653320">
            <a:extLst>
              <a:ext uri="{FF2B5EF4-FFF2-40B4-BE49-F238E27FC236}">
                <a16:creationId xmlns:a16="http://schemas.microsoft.com/office/drawing/2014/main" id="{47962A12-A1F1-D547-891B-66DADF935E29}"/>
              </a:ext>
            </a:extLst>
          </p:cNvPr>
          <p:cNvPicPr/>
          <p:nvPr>
            <p:custDataLst>
              <p:tags r:id="rId12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9919" y="6262040"/>
            <a:ext cx="540544" cy="540544"/>
          </a:xfrm>
          <a:prstGeom prst="rect">
            <a:avLst/>
          </a:prstGeom>
        </p:spPr>
      </p:pic>
      <p:pic>
        <p:nvPicPr>
          <p:cNvPr id="41" name="btfpIconLines703397">
            <a:extLst>
              <a:ext uri="{FF2B5EF4-FFF2-40B4-BE49-F238E27FC236}">
                <a16:creationId xmlns:a16="http://schemas.microsoft.com/office/drawing/2014/main" id="{AC2574F4-C7A8-054F-9F3E-9EE995D413B1}"/>
              </a:ext>
            </a:extLst>
          </p:cNvPr>
          <p:cNvPicPr/>
          <p:nvPr>
            <p:custDataLst>
              <p:tags r:id="rId13"/>
            </p:custDataLst>
          </p:nvPr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4326" y="6262042"/>
            <a:ext cx="540544" cy="540544"/>
          </a:xfrm>
          <a:prstGeom prst="rect">
            <a:avLst/>
          </a:prstGeom>
        </p:spPr>
      </p:pic>
      <p:pic>
        <p:nvPicPr>
          <p:cNvPr id="42" name="btfpIconLines430549">
            <a:extLst>
              <a:ext uri="{FF2B5EF4-FFF2-40B4-BE49-F238E27FC236}">
                <a16:creationId xmlns:a16="http://schemas.microsoft.com/office/drawing/2014/main" id="{61131CBF-1EC7-D747-A5F1-B2946F189842}"/>
              </a:ext>
            </a:extLst>
          </p:cNvPr>
          <p:cNvPicPr/>
          <p:nvPr>
            <p:custDataLst>
              <p:tags r:id="rId14"/>
            </p:custDataLst>
          </p:nvPr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8734" y="6262040"/>
            <a:ext cx="540544" cy="540544"/>
          </a:xfrm>
          <a:prstGeom prst="rect">
            <a:avLst/>
          </a:prstGeom>
        </p:spPr>
      </p:pic>
      <p:sp>
        <p:nvSpPr>
          <p:cNvPr id="43" name="Freeform 7">
            <a:extLst>
              <a:ext uri="{FF2B5EF4-FFF2-40B4-BE49-F238E27FC236}">
                <a16:creationId xmlns:a16="http://schemas.microsoft.com/office/drawing/2014/main" id="{B4C4F6FE-1B04-1245-9962-D50D0267C158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391234" y="3571875"/>
            <a:ext cx="11523663" cy="2746375"/>
          </a:xfrm>
          <a:custGeom>
            <a:avLst/>
            <a:gdLst>
              <a:gd name="T0" fmla="*/ 5235 w 5308"/>
              <a:gd name="T1" fmla="*/ 0 h 1236"/>
              <a:gd name="T2" fmla="*/ 73 w 5308"/>
              <a:gd name="T3" fmla="*/ 0 h 1236"/>
              <a:gd name="T4" fmla="*/ 0 w 5308"/>
              <a:gd name="T5" fmla="*/ 73 h 1236"/>
              <a:gd name="T6" fmla="*/ 0 w 5308"/>
              <a:gd name="T7" fmla="*/ 320 h 1236"/>
              <a:gd name="T8" fmla="*/ 1 w 5308"/>
              <a:gd name="T9" fmla="*/ 320 h 1236"/>
              <a:gd name="T10" fmla="*/ 1 w 5308"/>
              <a:gd name="T11" fmla="*/ 1163 h 1236"/>
              <a:gd name="T12" fmla="*/ 75 w 5308"/>
              <a:gd name="T13" fmla="*/ 1236 h 1236"/>
              <a:gd name="T14" fmla="*/ 1419 w 5308"/>
              <a:gd name="T15" fmla="*/ 1236 h 1236"/>
              <a:gd name="T16" fmla="*/ 1492 w 5308"/>
              <a:gd name="T17" fmla="*/ 1163 h 1236"/>
              <a:gd name="T18" fmla="*/ 1492 w 5308"/>
              <a:gd name="T19" fmla="*/ 401 h 1236"/>
              <a:gd name="T20" fmla="*/ 1745 w 5308"/>
              <a:gd name="T21" fmla="*/ 148 h 1236"/>
              <a:gd name="T22" fmla="*/ 5235 w 5308"/>
              <a:gd name="T23" fmla="*/ 148 h 1236"/>
              <a:gd name="T24" fmla="*/ 5308 w 5308"/>
              <a:gd name="T25" fmla="*/ 74 h 1236"/>
              <a:gd name="T26" fmla="*/ 5308 w 5308"/>
              <a:gd name="T27" fmla="*/ 73 h 1236"/>
              <a:gd name="T28" fmla="*/ 5235 w 5308"/>
              <a:gd name="T29" fmla="*/ 0 h 1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308" h="1236">
                <a:moveTo>
                  <a:pt x="5235" y="0"/>
                </a:moveTo>
                <a:cubicBezTo>
                  <a:pt x="73" y="0"/>
                  <a:pt x="73" y="0"/>
                  <a:pt x="73" y="0"/>
                </a:cubicBezTo>
                <a:cubicBezTo>
                  <a:pt x="33" y="0"/>
                  <a:pt x="0" y="33"/>
                  <a:pt x="0" y="73"/>
                </a:cubicBezTo>
                <a:cubicBezTo>
                  <a:pt x="0" y="320"/>
                  <a:pt x="0" y="320"/>
                  <a:pt x="0" y="320"/>
                </a:cubicBezTo>
                <a:cubicBezTo>
                  <a:pt x="1" y="320"/>
                  <a:pt x="1" y="320"/>
                  <a:pt x="1" y="320"/>
                </a:cubicBezTo>
                <a:cubicBezTo>
                  <a:pt x="1" y="1163"/>
                  <a:pt x="1" y="1163"/>
                  <a:pt x="1" y="1163"/>
                </a:cubicBezTo>
                <a:cubicBezTo>
                  <a:pt x="1" y="1203"/>
                  <a:pt x="34" y="1236"/>
                  <a:pt x="75" y="1236"/>
                </a:cubicBezTo>
                <a:cubicBezTo>
                  <a:pt x="1419" y="1236"/>
                  <a:pt x="1419" y="1236"/>
                  <a:pt x="1419" y="1236"/>
                </a:cubicBezTo>
                <a:cubicBezTo>
                  <a:pt x="1459" y="1236"/>
                  <a:pt x="1492" y="1203"/>
                  <a:pt x="1492" y="1163"/>
                </a:cubicBezTo>
                <a:cubicBezTo>
                  <a:pt x="1492" y="401"/>
                  <a:pt x="1492" y="401"/>
                  <a:pt x="1492" y="401"/>
                </a:cubicBezTo>
                <a:cubicBezTo>
                  <a:pt x="1492" y="261"/>
                  <a:pt x="1605" y="148"/>
                  <a:pt x="1745" y="148"/>
                </a:cubicBezTo>
                <a:cubicBezTo>
                  <a:pt x="5235" y="148"/>
                  <a:pt x="5235" y="148"/>
                  <a:pt x="5235" y="148"/>
                </a:cubicBezTo>
                <a:cubicBezTo>
                  <a:pt x="5275" y="148"/>
                  <a:pt x="5308" y="115"/>
                  <a:pt x="5308" y="74"/>
                </a:cubicBezTo>
                <a:cubicBezTo>
                  <a:pt x="5308" y="73"/>
                  <a:pt x="5308" y="73"/>
                  <a:pt x="5308" y="73"/>
                </a:cubicBezTo>
                <a:cubicBezTo>
                  <a:pt x="5308" y="33"/>
                  <a:pt x="5275" y="0"/>
                  <a:pt x="5235" y="0"/>
                </a:cubicBezTo>
                <a:close/>
              </a:path>
            </a:pathLst>
          </a:custGeom>
          <a:solidFill>
            <a:srgbClr val="818181"/>
          </a:solidFill>
          <a:ln w="19050" cap="flat" cmpd="sng" algn="ctr">
            <a:noFill/>
            <a:prstDash val="dash"/>
            <a:round/>
            <a:headEnd type="none" w="med" len="med"/>
            <a:tailEnd type="none" w="med" len="med"/>
          </a:ln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CC0000"/>
                </a:solidFill>
                <a:prstDash val="dash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77800" marR="0" lvl="0" indent="-17780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s-ES_tradnl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</a:endParaRPr>
          </a:p>
        </p:txBody>
      </p:sp>
      <p:sp>
        <p:nvSpPr>
          <p:cNvPr id="45" name="Rectangle 130">
            <a:extLst>
              <a:ext uri="{FF2B5EF4-FFF2-40B4-BE49-F238E27FC236}">
                <a16:creationId xmlns:a16="http://schemas.microsoft.com/office/drawing/2014/main" id="{C1A1B0B2-9782-3A46-95CC-CCBF76178F8D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1211415" y="3767939"/>
            <a:ext cx="2375593" cy="167738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36000" tIns="0" rIns="36000" bIns="0" rtlCol="0" anchor="t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>
                <a:effectLst/>
              </a:defRPr>
            </a:pPr>
            <a:r>
              <a:rPr lang="es-ES_tradnl" sz="2200" b="1" kern="0">
                <a:solidFill>
                  <a:srgbClr val="FFFFFF"/>
                </a:solidFill>
                <a:latin typeface="Century Gothic" panose="020B0502020202020204" pitchFamily="34" charset="0"/>
              </a:rPr>
              <a:t>Gobernanza Integrada y Modelo Operativo</a:t>
            </a:r>
          </a:p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>
                <a:effectLst/>
              </a:defRPr>
            </a:pPr>
            <a:r>
              <a:rPr kumimoji="0" lang="es-ES_tradnl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</a:rPr>
              <a:t>Adaptar y operar</a:t>
            </a:r>
          </a:p>
        </p:txBody>
      </p:sp>
      <p:grpSp>
        <p:nvGrpSpPr>
          <p:cNvPr id="46" name="btfpIcon928469">
            <a:extLst>
              <a:ext uri="{FF2B5EF4-FFF2-40B4-BE49-F238E27FC236}">
                <a16:creationId xmlns:a16="http://schemas.microsoft.com/office/drawing/2014/main" id="{43DDDD00-7F92-3D49-B073-1F6DDA600B19}"/>
              </a:ext>
            </a:extLst>
          </p:cNvPr>
          <p:cNvGrpSpPr/>
          <p:nvPr>
            <p:custDataLst>
              <p:tags r:id="rId17"/>
            </p:custDataLst>
          </p:nvPr>
        </p:nvGrpSpPr>
        <p:grpSpPr>
          <a:xfrm>
            <a:off x="431545" y="1844324"/>
            <a:ext cx="540544" cy="540544"/>
            <a:chOff x="1040555" y="1590847"/>
            <a:chExt cx="540544" cy="540544"/>
          </a:xfrm>
        </p:grpSpPr>
        <p:sp>
          <p:nvSpPr>
            <p:cNvPr id="47" name="btfpIconCircle928469">
              <a:extLst>
                <a:ext uri="{FF2B5EF4-FFF2-40B4-BE49-F238E27FC236}">
                  <a16:creationId xmlns:a16="http://schemas.microsoft.com/office/drawing/2014/main" id="{BDB7FD22-1743-8B4F-ACF7-34CCC4FA93F6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 bwMode="gray">
            <a:xfrm>
              <a:off x="1040555" y="1590847"/>
              <a:ext cx="540544" cy="540544"/>
            </a:xfrm>
            <a:prstGeom prst="ellipse">
              <a:avLst/>
            </a:prstGeom>
            <a:noFill/>
            <a:ln w="9525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s-AR" sz="2200">
                <a:solidFill>
                  <a:schemeClr val="tx1"/>
                </a:solidFill>
                <a:latin typeface="Century Gothic" panose="020B0502020202020204" pitchFamily="34" charset="0"/>
              </a:endParaRPr>
            </a:p>
          </p:txBody>
        </p:sp>
        <p:pic>
          <p:nvPicPr>
            <p:cNvPr id="48" name="btfpIconLines928469">
              <a:extLst>
                <a:ext uri="{FF2B5EF4-FFF2-40B4-BE49-F238E27FC236}">
                  <a16:creationId xmlns:a16="http://schemas.microsoft.com/office/drawing/2014/main" id="{C2ED277B-1D1C-424B-AAB8-53EAB419A43B}"/>
                </a:ext>
              </a:extLst>
            </p:cNvPr>
            <p:cNvPicPr/>
            <p:nvPr>
              <p:custDataLst>
                <p:tags r:id="rId30"/>
              </p:custDataLst>
            </p:nvPr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0555" y="1590847"/>
              <a:ext cx="540544" cy="540544"/>
            </a:xfrm>
            <a:prstGeom prst="rect">
              <a:avLst/>
            </a:prstGeom>
          </p:spPr>
        </p:pic>
      </p:grpSp>
      <p:grpSp>
        <p:nvGrpSpPr>
          <p:cNvPr id="49" name="btfpIcon799908">
            <a:extLst>
              <a:ext uri="{FF2B5EF4-FFF2-40B4-BE49-F238E27FC236}">
                <a16:creationId xmlns:a16="http://schemas.microsoft.com/office/drawing/2014/main" id="{1DE7754E-0CF2-FD40-8C3D-27F2FA131BA0}"/>
              </a:ext>
            </a:extLst>
          </p:cNvPr>
          <p:cNvGrpSpPr/>
          <p:nvPr>
            <p:custDataLst>
              <p:tags r:id="rId18"/>
            </p:custDataLst>
          </p:nvPr>
        </p:nvGrpSpPr>
        <p:grpSpPr>
          <a:xfrm>
            <a:off x="941143" y="1844324"/>
            <a:ext cx="540544" cy="540544"/>
            <a:chOff x="1659377" y="1590847"/>
            <a:chExt cx="540544" cy="540544"/>
          </a:xfrm>
        </p:grpSpPr>
        <p:sp>
          <p:nvSpPr>
            <p:cNvPr id="50" name="btfpIconCircle799908">
              <a:extLst>
                <a:ext uri="{FF2B5EF4-FFF2-40B4-BE49-F238E27FC236}">
                  <a16:creationId xmlns:a16="http://schemas.microsoft.com/office/drawing/2014/main" id="{40394F8F-5DDC-E04D-BE44-8D71DCE40D69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 bwMode="gray">
            <a:xfrm>
              <a:off x="1659377" y="1590847"/>
              <a:ext cx="540544" cy="540544"/>
            </a:xfrm>
            <a:prstGeom prst="ellipse">
              <a:avLst/>
            </a:prstGeom>
            <a:noFill/>
            <a:ln w="9525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s-AR" sz="2200">
                <a:solidFill>
                  <a:schemeClr val="tx1"/>
                </a:solidFill>
                <a:latin typeface="Century Gothic" panose="020B0502020202020204" pitchFamily="34" charset="0"/>
              </a:endParaRPr>
            </a:p>
          </p:txBody>
        </p:sp>
        <p:pic>
          <p:nvPicPr>
            <p:cNvPr id="51" name="btfpIconLines799908">
              <a:extLst>
                <a:ext uri="{FF2B5EF4-FFF2-40B4-BE49-F238E27FC236}">
                  <a16:creationId xmlns:a16="http://schemas.microsoft.com/office/drawing/2014/main" id="{AD2A447D-AA4F-3042-AB6D-3E606D7AC0F2}"/>
                </a:ext>
              </a:extLst>
            </p:cNvPr>
            <p:cNvPicPr/>
            <p:nvPr>
              <p:custDataLst>
                <p:tags r:id="rId28"/>
              </p:custDataLst>
            </p:nvPr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59377" y="1590847"/>
              <a:ext cx="540544" cy="540544"/>
            </a:xfrm>
            <a:prstGeom prst="rect">
              <a:avLst/>
            </a:prstGeom>
          </p:spPr>
        </p:pic>
      </p:grpSp>
      <p:grpSp>
        <p:nvGrpSpPr>
          <p:cNvPr id="52" name="btfpIcon750140">
            <a:extLst>
              <a:ext uri="{FF2B5EF4-FFF2-40B4-BE49-F238E27FC236}">
                <a16:creationId xmlns:a16="http://schemas.microsoft.com/office/drawing/2014/main" id="{88650327-5E0E-D246-A783-3A618753CA0C}"/>
              </a:ext>
            </a:extLst>
          </p:cNvPr>
          <p:cNvGrpSpPr/>
          <p:nvPr>
            <p:custDataLst>
              <p:tags r:id="rId19"/>
            </p:custDataLst>
          </p:nvPr>
        </p:nvGrpSpPr>
        <p:grpSpPr>
          <a:xfrm>
            <a:off x="1450740" y="1844324"/>
            <a:ext cx="540544" cy="540544"/>
            <a:chOff x="421733" y="1590847"/>
            <a:chExt cx="540544" cy="540544"/>
          </a:xfrm>
        </p:grpSpPr>
        <p:sp>
          <p:nvSpPr>
            <p:cNvPr id="53" name="btfpIconCircle750140">
              <a:extLst>
                <a:ext uri="{FF2B5EF4-FFF2-40B4-BE49-F238E27FC236}">
                  <a16:creationId xmlns:a16="http://schemas.microsoft.com/office/drawing/2014/main" id="{F0CD915C-1340-A448-A76F-BF77E4B0FF6B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 bwMode="gray">
            <a:xfrm>
              <a:off x="421733" y="1590847"/>
              <a:ext cx="540544" cy="540544"/>
            </a:xfrm>
            <a:prstGeom prst="ellipse">
              <a:avLst/>
            </a:prstGeom>
            <a:noFill/>
            <a:ln w="9525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s-AR" sz="2200">
                <a:solidFill>
                  <a:schemeClr val="tx1"/>
                </a:solidFill>
                <a:latin typeface="Century Gothic" panose="020B0502020202020204" pitchFamily="34" charset="0"/>
              </a:endParaRPr>
            </a:p>
          </p:txBody>
        </p:sp>
        <p:pic>
          <p:nvPicPr>
            <p:cNvPr id="54" name="btfpIconLines750140">
              <a:extLst>
                <a:ext uri="{FF2B5EF4-FFF2-40B4-BE49-F238E27FC236}">
                  <a16:creationId xmlns:a16="http://schemas.microsoft.com/office/drawing/2014/main" id="{54982C3C-4321-EC4C-B81A-58732AB47942}"/>
                </a:ext>
              </a:extLst>
            </p:cNvPr>
            <p:cNvPicPr/>
            <p:nvPr>
              <p:custDataLst>
                <p:tags r:id="rId26"/>
              </p:custDataLst>
            </p:nvPr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733" y="1590847"/>
              <a:ext cx="540544" cy="540544"/>
            </a:xfrm>
            <a:prstGeom prst="rect">
              <a:avLst/>
            </a:prstGeom>
          </p:spPr>
        </p:pic>
      </p:grpSp>
      <p:grpSp>
        <p:nvGrpSpPr>
          <p:cNvPr id="55" name="btfpIcon755768">
            <a:extLst>
              <a:ext uri="{FF2B5EF4-FFF2-40B4-BE49-F238E27FC236}">
                <a16:creationId xmlns:a16="http://schemas.microsoft.com/office/drawing/2014/main" id="{400D4647-EC4E-C544-8925-9145C0A66491}"/>
              </a:ext>
            </a:extLst>
          </p:cNvPr>
          <p:cNvGrpSpPr/>
          <p:nvPr>
            <p:custDataLst>
              <p:tags r:id="rId20"/>
            </p:custDataLst>
          </p:nvPr>
        </p:nvGrpSpPr>
        <p:grpSpPr>
          <a:xfrm>
            <a:off x="828761" y="2698578"/>
            <a:ext cx="719464" cy="719464"/>
            <a:chOff x="587519" y="2387733"/>
            <a:chExt cx="540544" cy="540544"/>
          </a:xfrm>
        </p:grpSpPr>
        <p:sp>
          <p:nvSpPr>
            <p:cNvPr id="56" name="btfpIconCircle755768">
              <a:extLst>
                <a:ext uri="{FF2B5EF4-FFF2-40B4-BE49-F238E27FC236}">
                  <a16:creationId xmlns:a16="http://schemas.microsoft.com/office/drawing/2014/main" id="{1C0A729A-6DB4-D641-B244-AB5CDFD37155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 bwMode="gray">
            <a:xfrm>
              <a:off x="587519" y="2387733"/>
              <a:ext cx="540544" cy="540544"/>
            </a:xfrm>
            <a:prstGeom prst="ellipse">
              <a:avLst/>
            </a:prstGeom>
            <a:noFill/>
            <a:ln w="9525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s-AR" sz="2200">
                <a:solidFill>
                  <a:schemeClr val="tx1"/>
                </a:solidFill>
                <a:latin typeface="Century Gothic" panose="020B0502020202020204" pitchFamily="34" charset="0"/>
              </a:endParaRPr>
            </a:p>
          </p:txBody>
        </p:sp>
        <p:pic>
          <p:nvPicPr>
            <p:cNvPr id="57" name="btfpIconLines755768">
              <a:extLst>
                <a:ext uri="{FF2B5EF4-FFF2-40B4-BE49-F238E27FC236}">
                  <a16:creationId xmlns:a16="http://schemas.microsoft.com/office/drawing/2014/main" id="{E7F1C78C-C2C6-4743-90F7-6A948B894AA7}"/>
                </a:ext>
              </a:extLst>
            </p:cNvPr>
            <p:cNvPicPr/>
            <p:nvPr>
              <p:custDataLst>
                <p:tags r:id="rId24"/>
              </p:custDataLst>
            </p:nvPr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7519" y="2387733"/>
              <a:ext cx="540544" cy="540544"/>
            </a:xfrm>
            <a:prstGeom prst="rect">
              <a:avLst/>
            </a:prstGeom>
          </p:spPr>
        </p:pic>
      </p:grpSp>
      <p:pic>
        <p:nvPicPr>
          <p:cNvPr id="58" name="Picture 143">
            <a:extLst>
              <a:ext uri="{FF2B5EF4-FFF2-40B4-BE49-F238E27FC236}">
                <a16:creationId xmlns:a16="http://schemas.microsoft.com/office/drawing/2014/main" id="{70CE0C30-EAE0-C542-95B7-63D9561DBD84}"/>
              </a:ext>
            </a:extLst>
      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39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0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51705" y="4022010"/>
            <a:ext cx="792549" cy="792549"/>
          </a:xfrm>
          <a:prstGeom prst="rect">
            <a:avLst/>
          </a:prstGeom>
        </p:spPr>
      </p:pic>
      <p:pic>
        <p:nvPicPr>
          <p:cNvPr id="59" name="Picture 144">
            <a:extLst>
              <a:ext uri="{FF2B5EF4-FFF2-40B4-BE49-F238E27FC236}">
                <a16:creationId xmlns:a16="http://schemas.microsoft.com/office/drawing/2014/main" id="{03A3A794-AF9C-2B47-8A06-C228658B0950}"/>
              </a:ext>
            </a:extLst>
          </p:cNvPr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5482" y="3703948"/>
            <a:ext cx="719390" cy="71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711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28"/>
          <p:cNvSpPr/>
          <p:nvPr/>
        </p:nvSpPr>
        <p:spPr>
          <a:xfrm>
            <a:off x="234463" y="142733"/>
            <a:ext cx="1090246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¿Cómo nos vamos a dar cuenta que fuimos exitoso?</a:t>
            </a:r>
            <a:endParaRPr/>
          </a:p>
        </p:txBody>
      </p:sp>
      <p:sp>
        <p:nvSpPr>
          <p:cNvPr id="1138" name="Google Shape;1138;p28"/>
          <p:cNvSpPr txBox="1"/>
          <p:nvPr/>
        </p:nvSpPr>
        <p:spPr>
          <a:xfrm>
            <a:off x="3272850" y="3069812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9" name="Google Shape;1139;p28"/>
          <p:cNvSpPr txBox="1"/>
          <p:nvPr/>
        </p:nvSpPr>
        <p:spPr>
          <a:xfrm>
            <a:off x="8771268" y="2918473"/>
            <a:ext cx="310483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Tendremos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la agenda de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desarrollo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y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aspiración</a:t>
            </a:r>
            <a:endParaRPr sz="1600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0" name="Google Shape;1140;p28"/>
          <p:cNvSpPr txBox="1"/>
          <p:nvPr/>
        </p:nvSpPr>
        <p:spPr>
          <a:xfrm>
            <a:off x="960880" y="2867045"/>
            <a:ext cx="329317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Tendremos</a:t>
            </a:r>
            <a:r>
              <a:rPr lang="en-US" sz="16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la </a:t>
            </a:r>
            <a:r>
              <a:rPr lang="en-US" sz="16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primera</a:t>
            </a:r>
            <a:r>
              <a:rPr lang="en-US" sz="16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agenda de </a:t>
            </a:r>
            <a:r>
              <a:rPr lang="en-US" sz="16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cumplimiento</a:t>
            </a:r>
            <a:r>
              <a:rPr lang="en-US" sz="16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</a:t>
            </a:r>
            <a:r>
              <a:rPr lang="en-US" sz="16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temas</a:t>
            </a:r>
            <a:r>
              <a:rPr lang="en-US" sz="16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 </a:t>
            </a:r>
            <a:r>
              <a:rPr lang="en-US" sz="16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iniciativas</a:t>
            </a:r>
            <a:r>
              <a:rPr lang="en-US" sz="16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1" name="Google Shape;1141;p28"/>
          <p:cNvSpPr txBox="1"/>
          <p:nvPr/>
        </p:nvSpPr>
        <p:spPr>
          <a:xfrm>
            <a:off x="4672304" y="5052962"/>
            <a:ext cx="310483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Estaremos asignando los recursos en coherencia a las metas y a la agenda</a:t>
            </a:r>
            <a:endParaRPr/>
          </a:p>
        </p:txBody>
      </p:sp>
      <p:grpSp>
        <p:nvGrpSpPr>
          <p:cNvPr id="1142" name="Google Shape;1142;p28"/>
          <p:cNvGrpSpPr/>
          <p:nvPr/>
        </p:nvGrpSpPr>
        <p:grpSpPr>
          <a:xfrm>
            <a:off x="4623795" y="2065443"/>
            <a:ext cx="2788161" cy="2555294"/>
            <a:chOff x="4015247" y="2189566"/>
            <a:chExt cx="3295650" cy="3001937"/>
          </a:xfrm>
        </p:grpSpPr>
        <p:sp>
          <p:nvSpPr>
            <p:cNvPr id="1143" name="Google Shape;1143;p28"/>
            <p:cNvSpPr/>
            <p:nvPr/>
          </p:nvSpPr>
          <p:spPr>
            <a:xfrm>
              <a:off x="4015247" y="2189566"/>
              <a:ext cx="3295650" cy="3001937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144" name="Google Shape;1144;p28"/>
            <p:cNvSpPr/>
            <p:nvPr/>
          </p:nvSpPr>
          <p:spPr>
            <a:xfrm rot="3170269">
              <a:off x="4347562" y="2490044"/>
              <a:ext cx="279908" cy="325094"/>
            </a:xfrm>
            <a:prstGeom prst="triangle">
              <a:avLst>
                <a:gd name="adj" fmla="val 50000"/>
              </a:avLst>
            </a:prstGeom>
            <a:solidFill>
              <a:srgbClr val="000000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145" name="Google Shape;1145;p28"/>
            <p:cNvSpPr/>
            <p:nvPr/>
          </p:nvSpPr>
          <p:spPr>
            <a:xfrm rot="-7221578">
              <a:off x="6324676" y="4817503"/>
              <a:ext cx="279908" cy="325094"/>
            </a:xfrm>
            <a:prstGeom prst="triangle">
              <a:avLst>
                <a:gd name="adj" fmla="val 50000"/>
              </a:avLst>
            </a:prstGeom>
            <a:solidFill>
              <a:srgbClr val="000000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cxnSp>
        <p:nvCxnSpPr>
          <p:cNvPr id="1146" name="Google Shape;1146;p28"/>
          <p:cNvCxnSpPr/>
          <p:nvPr/>
        </p:nvCxnSpPr>
        <p:spPr>
          <a:xfrm>
            <a:off x="820673" y="3813146"/>
            <a:ext cx="3104833" cy="0"/>
          </a:xfrm>
          <a:prstGeom prst="straightConnector1">
            <a:avLst/>
          </a:prstGeom>
          <a:noFill/>
          <a:ln w="28575" cap="flat" cmpd="sng">
            <a:solidFill>
              <a:srgbClr val="2E286C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47" name="Google Shape;1147;p28"/>
          <p:cNvCxnSpPr/>
          <p:nvPr/>
        </p:nvCxnSpPr>
        <p:spPr>
          <a:xfrm>
            <a:off x="4479204" y="4891572"/>
            <a:ext cx="3104833" cy="0"/>
          </a:xfrm>
          <a:prstGeom prst="straightConnector1">
            <a:avLst/>
          </a:prstGeom>
          <a:noFill/>
          <a:ln w="28575" cap="flat" cmpd="sng">
            <a:solidFill>
              <a:srgbClr val="2E286C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48" name="Google Shape;1148;p28"/>
          <p:cNvCxnSpPr/>
          <p:nvPr/>
        </p:nvCxnSpPr>
        <p:spPr>
          <a:xfrm>
            <a:off x="8435401" y="3785950"/>
            <a:ext cx="3104833" cy="0"/>
          </a:xfrm>
          <a:prstGeom prst="straightConnector1">
            <a:avLst/>
          </a:prstGeom>
          <a:noFill/>
          <a:ln w="28575" cap="flat" cmpd="sng">
            <a:solidFill>
              <a:srgbClr val="2E286C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49" name="Google Shape;1149;p28"/>
          <p:cNvCxnSpPr/>
          <p:nvPr/>
        </p:nvCxnSpPr>
        <p:spPr>
          <a:xfrm>
            <a:off x="4479204" y="1860753"/>
            <a:ext cx="3104833" cy="0"/>
          </a:xfrm>
          <a:prstGeom prst="straightConnector1">
            <a:avLst/>
          </a:prstGeom>
          <a:noFill/>
          <a:ln w="28575" cap="flat" cmpd="sng">
            <a:solidFill>
              <a:srgbClr val="2E286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50" name="Google Shape;1150;p28"/>
          <p:cNvSpPr txBox="1"/>
          <p:nvPr/>
        </p:nvSpPr>
        <p:spPr>
          <a:xfrm>
            <a:off x="5291252" y="2570041"/>
            <a:ext cx="1828800" cy="6463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PROPÓSITO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ESTRATEGIA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1" name="Google Shape;1151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35092" y="3221008"/>
            <a:ext cx="2007121" cy="1010746"/>
          </a:xfrm>
          <a:prstGeom prst="rect">
            <a:avLst/>
          </a:prstGeom>
          <a:noFill/>
          <a:ln>
            <a:noFill/>
          </a:ln>
        </p:spPr>
      </p:pic>
      <p:sp>
        <p:nvSpPr>
          <p:cNvPr id="1152" name="Google Shape;1152;p28"/>
          <p:cNvSpPr txBox="1"/>
          <p:nvPr/>
        </p:nvSpPr>
        <p:spPr>
          <a:xfrm>
            <a:off x="4746171" y="1219376"/>
            <a:ext cx="310483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Tendremos clara las metas y sus palancas de desarrollo</a:t>
            </a:r>
            <a:endParaRPr sz="1600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53" name="Google Shape;1153;p28"/>
          <p:cNvSpPr/>
          <p:nvPr/>
        </p:nvSpPr>
        <p:spPr>
          <a:xfrm>
            <a:off x="5787816" y="2144839"/>
            <a:ext cx="399546" cy="432225"/>
          </a:xfrm>
          <a:prstGeom prst="dodecagon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54" name="Google Shape;1154;p28"/>
          <p:cNvSpPr/>
          <p:nvPr/>
        </p:nvSpPr>
        <p:spPr>
          <a:xfrm>
            <a:off x="533675" y="2869559"/>
            <a:ext cx="399546" cy="432225"/>
          </a:xfrm>
          <a:prstGeom prst="dodecagon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55" name="Google Shape;1155;p28"/>
          <p:cNvSpPr/>
          <p:nvPr/>
        </p:nvSpPr>
        <p:spPr>
          <a:xfrm>
            <a:off x="8323213" y="2930205"/>
            <a:ext cx="399546" cy="432225"/>
          </a:xfrm>
          <a:prstGeom prst="dodecagon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56" name="Google Shape;1156;p28"/>
          <p:cNvSpPr/>
          <p:nvPr/>
        </p:nvSpPr>
        <p:spPr>
          <a:xfrm>
            <a:off x="4272758" y="1172170"/>
            <a:ext cx="399546" cy="432225"/>
          </a:xfrm>
          <a:prstGeom prst="dodecagon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157" name="Google Shape;1157;p28"/>
          <p:cNvSpPr/>
          <p:nvPr/>
        </p:nvSpPr>
        <p:spPr>
          <a:xfrm>
            <a:off x="4272758" y="4995421"/>
            <a:ext cx="399546" cy="432225"/>
          </a:xfrm>
          <a:prstGeom prst="dodecagon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8956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4" descr="Imagen que contiene persona, alimentos, hombre, cerca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 l="23048" r="23048"/>
          <a:stretch/>
        </p:blipFill>
        <p:spPr>
          <a:xfrm>
            <a:off x="-12504" y="0"/>
            <a:ext cx="55452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4"/>
          <p:cNvSpPr/>
          <p:nvPr/>
        </p:nvSpPr>
        <p:spPr>
          <a:xfrm>
            <a:off x="-12504" y="0"/>
            <a:ext cx="5545203" cy="6857999"/>
          </a:xfrm>
          <a:prstGeom prst="rect">
            <a:avLst/>
          </a:prstGeom>
          <a:blipFill rotWithShape="1">
            <a:blip r:embed="rId4">
              <a:alphaModFix amt="86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Calibri"/>
              <a:buNone/>
            </a:pPr>
            <a:endParaRPr sz="144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4064185" y="1801906"/>
            <a:ext cx="3243300" cy="3243300"/>
          </a:xfrm>
          <a:prstGeom prst="rect">
            <a:avLst/>
          </a:prstGeom>
          <a:solidFill>
            <a:srgbClr val="493C70"/>
          </a:solidFill>
          <a:ln w="266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7215022" y="2768228"/>
            <a:ext cx="4788732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200">
                <a:solidFill>
                  <a:srgbClr val="B3207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Primeros resultados obtenidos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sz="3200">
              <a:solidFill>
                <a:srgbClr val="B3207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6" name="Google Shape;166;p4"/>
          <p:cNvSpPr txBox="1"/>
          <p:nvPr/>
        </p:nvSpPr>
        <p:spPr>
          <a:xfrm>
            <a:off x="4200981" y="2321953"/>
            <a:ext cx="2963748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</a:t>
            </a:r>
            <a:endParaRPr sz="138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976277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g2c711885e3a_0_186"/>
          <p:cNvGrpSpPr/>
          <p:nvPr/>
        </p:nvGrpSpPr>
        <p:grpSpPr>
          <a:xfrm>
            <a:off x="0" y="6926580"/>
            <a:ext cx="12192100" cy="137160"/>
            <a:chOff x="0" y="6926580"/>
            <a:chExt cx="12192100" cy="137160"/>
          </a:xfrm>
        </p:grpSpPr>
        <p:sp>
          <p:nvSpPr>
            <p:cNvPr id="181" name="Google Shape;181;g2c711885e3a_0_186"/>
            <p:cNvSpPr/>
            <p:nvPr/>
          </p:nvSpPr>
          <p:spPr>
            <a:xfrm>
              <a:off x="11861800" y="6926580"/>
              <a:ext cx="3303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g2c711885e3a_0_186"/>
            <p:cNvSpPr/>
            <p:nvPr/>
          </p:nvSpPr>
          <p:spPr>
            <a:xfrm>
              <a:off x="7840133" y="6926580"/>
              <a:ext cx="5334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3" name="Google Shape;183;g2c711885e3a_0_186"/>
            <p:cNvCxnSpPr/>
            <p:nvPr/>
          </p:nvCxnSpPr>
          <p:spPr>
            <a:xfrm rot="10800000">
              <a:off x="118618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4" name="Google Shape;184;g2c711885e3a_0_186"/>
            <p:cNvCxnSpPr/>
            <p:nvPr/>
          </p:nvCxnSpPr>
          <p:spPr>
            <a:xfrm rot="10800000">
              <a:off x="8373533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85" name="Google Shape;185;g2c711885e3a_0_186"/>
            <p:cNvSpPr/>
            <p:nvPr/>
          </p:nvSpPr>
          <p:spPr>
            <a:xfrm>
              <a:off x="3818467" y="6926580"/>
              <a:ext cx="5334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6" name="Google Shape;186;g2c711885e3a_0_186"/>
            <p:cNvCxnSpPr/>
            <p:nvPr/>
          </p:nvCxnSpPr>
          <p:spPr>
            <a:xfrm rot="10800000">
              <a:off x="7840133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7" name="Google Shape;187;g2c711885e3a_0_186"/>
            <p:cNvCxnSpPr/>
            <p:nvPr/>
          </p:nvCxnSpPr>
          <p:spPr>
            <a:xfrm rot="10800000">
              <a:off x="4351867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88" name="Google Shape;188;g2c711885e3a_0_186"/>
            <p:cNvSpPr/>
            <p:nvPr/>
          </p:nvSpPr>
          <p:spPr>
            <a:xfrm>
              <a:off x="0" y="6926580"/>
              <a:ext cx="3303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9" name="Google Shape;189;g2c711885e3a_0_186"/>
            <p:cNvCxnSpPr/>
            <p:nvPr/>
          </p:nvCxnSpPr>
          <p:spPr>
            <a:xfrm rot="10800000">
              <a:off x="3818467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0" name="Google Shape;190;g2c711885e3a_0_186"/>
            <p:cNvCxnSpPr/>
            <p:nvPr/>
          </p:nvCxnSpPr>
          <p:spPr>
            <a:xfrm rot="10800000">
              <a:off x="3302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91" name="Google Shape;191;g2c711885e3a_0_186"/>
          <p:cNvGrpSpPr/>
          <p:nvPr/>
        </p:nvGrpSpPr>
        <p:grpSpPr>
          <a:xfrm>
            <a:off x="0" y="-205740"/>
            <a:ext cx="12192100" cy="137160"/>
            <a:chOff x="0" y="-205740"/>
            <a:chExt cx="12192100" cy="137160"/>
          </a:xfrm>
        </p:grpSpPr>
        <p:sp>
          <p:nvSpPr>
            <p:cNvPr id="192" name="Google Shape;192;g2c711885e3a_0_186"/>
            <p:cNvSpPr/>
            <p:nvPr/>
          </p:nvSpPr>
          <p:spPr>
            <a:xfrm>
              <a:off x="11861800" y="-205740"/>
              <a:ext cx="3303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g2c711885e3a_0_186"/>
            <p:cNvSpPr/>
            <p:nvPr/>
          </p:nvSpPr>
          <p:spPr>
            <a:xfrm>
              <a:off x="7840133" y="-205740"/>
              <a:ext cx="5334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4" name="Google Shape;194;g2c711885e3a_0_186"/>
            <p:cNvCxnSpPr/>
            <p:nvPr/>
          </p:nvCxnSpPr>
          <p:spPr>
            <a:xfrm rot="10800000">
              <a:off x="118618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5" name="Google Shape;195;g2c711885e3a_0_186"/>
            <p:cNvCxnSpPr/>
            <p:nvPr/>
          </p:nvCxnSpPr>
          <p:spPr>
            <a:xfrm rot="10800000">
              <a:off x="8373533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96" name="Google Shape;196;g2c711885e3a_0_186"/>
            <p:cNvSpPr/>
            <p:nvPr/>
          </p:nvSpPr>
          <p:spPr>
            <a:xfrm>
              <a:off x="3818467" y="-205740"/>
              <a:ext cx="5334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7" name="Google Shape;197;g2c711885e3a_0_186"/>
            <p:cNvCxnSpPr/>
            <p:nvPr/>
          </p:nvCxnSpPr>
          <p:spPr>
            <a:xfrm rot="10800000">
              <a:off x="7840133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8" name="Google Shape;198;g2c711885e3a_0_186"/>
            <p:cNvCxnSpPr/>
            <p:nvPr/>
          </p:nvCxnSpPr>
          <p:spPr>
            <a:xfrm rot="10800000">
              <a:off x="4351867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99" name="Google Shape;199;g2c711885e3a_0_186"/>
            <p:cNvSpPr/>
            <p:nvPr/>
          </p:nvSpPr>
          <p:spPr>
            <a:xfrm>
              <a:off x="0" y="-205740"/>
              <a:ext cx="3303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0" name="Google Shape;200;g2c711885e3a_0_186"/>
            <p:cNvCxnSpPr/>
            <p:nvPr/>
          </p:nvCxnSpPr>
          <p:spPr>
            <a:xfrm rot="10800000">
              <a:off x="3818467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1" name="Google Shape;201;g2c711885e3a_0_186"/>
            <p:cNvCxnSpPr/>
            <p:nvPr/>
          </p:nvCxnSpPr>
          <p:spPr>
            <a:xfrm rot="10800000">
              <a:off x="3302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02" name="Google Shape;202;g2c711885e3a_0_186"/>
          <p:cNvSpPr txBox="1">
            <a:spLocks noGrp="1"/>
          </p:cNvSpPr>
          <p:nvPr>
            <p:ph type="title"/>
          </p:nvPr>
        </p:nvSpPr>
        <p:spPr>
          <a:xfrm>
            <a:off x="344712" y="257677"/>
            <a:ext cx="11517085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720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Redco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está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enfrentando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un nuevo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crecimiento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que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requiere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revisar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y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explicitar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gestión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estratégica</a:t>
            </a:r>
            <a:r>
              <a:rPr lang="en-US" sz="3000"/>
              <a:t>  </a:t>
            </a:r>
            <a:endParaRPr sz="3000"/>
          </a:p>
        </p:txBody>
      </p:sp>
      <p:sp>
        <p:nvSpPr>
          <p:cNvPr id="203" name="Google Shape;203;g2c711885e3a_0_186"/>
          <p:cNvSpPr txBox="1"/>
          <p:nvPr/>
        </p:nvSpPr>
        <p:spPr>
          <a:xfrm>
            <a:off x="4681499" y="1547500"/>
            <a:ext cx="7299300" cy="4492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entury Gothic"/>
              <a:buChar char="●"/>
            </a:pP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REDCO,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una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consultora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boutique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especializada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Consultoría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Estudios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Ingeniería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minera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lleva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20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años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mercado con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presencia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Chile, Peru,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Brasil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y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Rusia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entury Gothic"/>
              <a:buChar char="●"/>
            </a:pP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Hoy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tiene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un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equipo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que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está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enfrentado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la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gestión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negocio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base y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expandiéndolo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nuevos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clientes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a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nuevos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productos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y a un nuevo mercado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como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lo es EEUU.</a:t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entury Gothic"/>
              <a:buChar char="●"/>
            </a:pP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mercado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minero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general y de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los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minerales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que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mundo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necesita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para la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transición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energética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particular,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representan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para REDCO un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escenario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promisorio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para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capturar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oportunidades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la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próxima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década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  	</a:t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457200" marR="0" lvl="0" indent="0" algn="l" rtl="0">
              <a:spcBef>
                <a:spcPts val="3600"/>
              </a:spcBef>
              <a:spcAft>
                <a:spcPts val="0"/>
              </a:spcAft>
              <a:buNone/>
            </a:pPr>
            <a:endParaRPr sz="1800">
              <a:solidFill>
                <a:srgbClr val="33333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04" name="Google Shape;204;g2c711885e3a_0_186"/>
          <p:cNvPicPr preferRelativeResize="0"/>
          <p:nvPr/>
        </p:nvPicPr>
        <p:blipFill rotWithShape="1">
          <a:blip r:embed="rId3">
            <a:alphaModFix/>
          </a:blip>
          <a:srcRect l="22157" r="20095"/>
          <a:stretch/>
        </p:blipFill>
        <p:spPr>
          <a:xfrm flipH="1">
            <a:off x="344715" y="1270000"/>
            <a:ext cx="4007153" cy="52911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4861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g2c711885e3a_0_215"/>
          <p:cNvGrpSpPr/>
          <p:nvPr/>
        </p:nvGrpSpPr>
        <p:grpSpPr>
          <a:xfrm>
            <a:off x="0" y="6926580"/>
            <a:ext cx="12192100" cy="137160"/>
            <a:chOff x="0" y="6926580"/>
            <a:chExt cx="12192100" cy="137160"/>
          </a:xfrm>
        </p:grpSpPr>
        <p:sp>
          <p:nvSpPr>
            <p:cNvPr id="239" name="Google Shape;239;g2c711885e3a_0_215"/>
            <p:cNvSpPr/>
            <p:nvPr/>
          </p:nvSpPr>
          <p:spPr>
            <a:xfrm>
              <a:off x="11861800" y="6926580"/>
              <a:ext cx="3303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2c711885e3a_0_215"/>
            <p:cNvSpPr/>
            <p:nvPr/>
          </p:nvSpPr>
          <p:spPr>
            <a:xfrm>
              <a:off x="5829300" y="6926580"/>
              <a:ext cx="5334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1" name="Google Shape;241;g2c711885e3a_0_215"/>
            <p:cNvCxnSpPr/>
            <p:nvPr/>
          </p:nvCxnSpPr>
          <p:spPr>
            <a:xfrm rot="10800000">
              <a:off x="118618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2" name="Google Shape;242;g2c711885e3a_0_215"/>
            <p:cNvCxnSpPr/>
            <p:nvPr/>
          </p:nvCxnSpPr>
          <p:spPr>
            <a:xfrm rot="10800000">
              <a:off x="63627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43" name="Google Shape;243;g2c711885e3a_0_215"/>
            <p:cNvSpPr/>
            <p:nvPr/>
          </p:nvSpPr>
          <p:spPr>
            <a:xfrm>
              <a:off x="0" y="6926580"/>
              <a:ext cx="3303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4" name="Google Shape;244;g2c711885e3a_0_215"/>
            <p:cNvCxnSpPr/>
            <p:nvPr/>
          </p:nvCxnSpPr>
          <p:spPr>
            <a:xfrm rot="10800000">
              <a:off x="58293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5" name="Google Shape;245;g2c711885e3a_0_215"/>
            <p:cNvCxnSpPr/>
            <p:nvPr/>
          </p:nvCxnSpPr>
          <p:spPr>
            <a:xfrm rot="10800000">
              <a:off x="3302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46" name="Google Shape;246;g2c711885e3a_0_215"/>
          <p:cNvGrpSpPr/>
          <p:nvPr/>
        </p:nvGrpSpPr>
        <p:grpSpPr>
          <a:xfrm>
            <a:off x="0" y="-205740"/>
            <a:ext cx="12192100" cy="137160"/>
            <a:chOff x="0" y="-205740"/>
            <a:chExt cx="12192100" cy="137160"/>
          </a:xfrm>
        </p:grpSpPr>
        <p:sp>
          <p:nvSpPr>
            <p:cNvPr id="247" name="Google Shape;247;g2c711885e3a_0_215"/>
            <p:cNvSpPr/>
            <p:nvPr/>
          </p:nvSpPr>
          <p:spPr>
            <a:xfrm>
              <a:off x="11861800" y="-205740"/>
              <a:ext cx="3303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2c711885e3a_0_215"/>
            <p:cNvSpPr/>
            <p:nvPr/>
          </p:nvSpPr>
          <p:spPr>
            <a:xfrm>
              <a:off x="5829300" y="-205740"/>
              <a:ext cx="5334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9" name="Google Shape;249;g2c711885e3a_0_215"/>
            <p:cNvCxnSpPr/>
            <p:nvPr/>
          </p:nvCxnSpPr>
          <p:spPr>
            <a:xfrm rot="10800000">
              <a:off x="118618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0" name="Google Shape;250;g2c711885e3a_0_215"/>
            <p:cNvCxnSpPr/>
            <p:nvPr/>
          </p:nvCxnSpPr>
          <p:spPr>
            <a:xfrm rot="10800000">
              <a:off x="63627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51" name="Google Shape;251;g2c711885e3a_0_215"/>
            <p:cNvSpPr/>
            <p:nvPr/>
          </p:nvSpPr>
          <p:spPr>
            <a:xfrm>
              <a:off x="0" y="-205740"/>
              <a:ext cx="3303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2" name="Google Shape;252;g2c711885e3a_0_215"/>
            <p:cNvCxnSpPr/>
            <p:nvPr/>
          </p:nvCxnSpPr>
          <p:spPr>
            <a:xfrm rot="10800000">
              <a:off x="58293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3" name="Google Shape;253;g2c711885e3a_0_215"/>
            <p:cNvCxnSpPr/>
            <p:nvPr/>
          </p:nvCxnSpPr>
          <p:spPr>
            <a:xfrm rot="10800000">
              <a:off x="3302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54" name="Google Shape;254;g2c711885e3a_0_215"/>
          <p:cNvSpPr txBox="1">
            <a:spLocks noGrp="1"/>
          </p:cNvSpPr>
          <p:nvPr>
            <p:ph type="title"/>
          </p:nvPr>
        </p:nvSpPr>
        <p:spPr>
          <a:xfrm>
            <a:off x="318237" y="160706"/>
            <a:ext cx="115317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720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Las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ventas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2020-2023 se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han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multiplicado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2,76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veces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(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carg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40%) </a:t>
            </a:r>
            <a:endParaRPr sz="2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255" name="Google Shape;255;g2c711885e3a_0_215"/>
          <p:cNvGrpSpPr/>
          <p:nvPr/>
        </p:nvGrpSpPr>
        <p:grpSpPr>
          <a:xfrm>
            <a:off x="6280949" y="1470147"/>
            <a:ext cx="5499000" cy="331153"/>
            <a:chOff x="6362700" y="1223652"/>
            <a:chExt cx="5499000" cy="331153"/>
          </a:xfrm>
        </p:grpSpPr>
        <p:sp>
          <p:nvSpPr>
            <p:cNvPr id="256" name="Google Shape;256;g2c711885e3a_0_215"/>
            <p:cNvSpPr txBox="1"/>
            <p:nvPr/>
          </p:nvSpPr>
          <p:spPr>
            <a:xfrm>
              <a:off x="6362700" y="1223652"/>
              <a:ext cx="5499000" cy="31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025" tIns="36025" rIns="36025" bIns="36025" anchor="b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r>
                <a:rPr lang="en-US" sz="1600" b="1"/>
                <a:t>con un </a:t>
              </a:r>
              <a:r>
                <a:rPr lang="en-US" sz="1600" b="1" err="1"/>
                <a:t>aumento</a:t>
              </a:r>
              <a:r>
                <a:rPr lang="en-US" sz="1600" b="1"/>
                <a:t> de la </a:t>
              </a:r>
              <a:r>
                <a:rPr lang="en-US" sz="1600" b="1" err="1"/>
                <a:t>complejidad</a:t>
              </a:r>
              <a:r>
                <a:rPr lang="en-US" sz="1600" b="1"/>
                <a:t> </a:t>
              </a:r>
              <a:r>
                <a:rPr lang="en-US" sz="1600" b="1" err="1"/>
                <a:t>organizacional</a:t>
              </a:r>
              <a:r>
                <a:rPr lang="en-US" sz="1600" b="1"/>
                <a:t> </a:t>
              </a:r>
              <a:endParaRPr/>
            </a:p>
          </p:txBody>
        </p:sp>
        <p:cxnSp>
          <p:nvCxnSpPr>
            <p:cNvPr id="257" name="Google Shape;257;g2c711885e3a_0_215"/>
            <p:cNvCxnSpPr/>
            <p:nvPr/>
          </p:nvCxnSpPr>
          <p:spPr>
            <a:xfrm>
              <a:off x="6362700" y="1554805"/>
              <a:ext cx="54990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58" name="Google Shape;258;g2c711885e3a_0_215"/>
          <p:cNvGrpSpPr/>
          <p:nvPr/>
        </p:nvGrpSpPr>
        <p:grpSpPr>
          <a:xfrm>
            <a:off x="411952" y="1482228"/>
            <a:ext cx="5499000" cy="319072"/>
            <a:chOff x="330200" y="1239517"/>
            <a:chExt cx="5499000" cy="319072"/>
          </a:xfrm>
        </p:grpSpPr>
        <p:sp>
          <p:nvSpPr>
            <p:cNvPr id="259" name="Google Shape;259;g2c711885e3a_0_215"/>
            <p:cNvSpPr txBox="1"/>
            <p:nvPr/>
          </p:nvSpPr>
          <p:spPr>
            <a:xfrm>
              <a:off x="330200" y="1239517"/>
              <a:ext cx="5499000" cy="318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025" tIns="36025" rIns="36025" bIns="36025" anchor="b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err="1">
                  <a:latin typeface="Century Gothic"/>
                  <a:ea typeface="Century Gothic"/>
                  <a:cs typeface="Century Gothic"/>
                  <a:sym typeface="Century Gothic"/>
                </a:rPr>
                <a:t>Crecimiento</a:t>
              </a:r>
              <a:r>
                <a:rPr lang="en-US" sz="1600" b="1">
                  <a:latin typeface="Century Gothic"/>
                  <a:ea typeface="Century Gothic"/>
                  <a:cs typeface="Century Gothic"/>
                  <a:sym typeface="Century Gothic"/>
                </a:rPr>
                <a:t> Ventas y </a:t>
              </a:r>
              <a:r>
                <a:rPr lang="en-US" sz="1600" b="1" err="1">
                  <a:latin typeface="Century Gothic"/>
                  <a:ea typeface="Century Gothic"/>
                  <a:cs typeface="Century Gothic"/>
                  <a:sym typeface="Century Gothic"/>
                </a:rPr>
                <a:t>Margen</a:t>
              </a:r>
              <a:r>
                <a:rPr lang="en-US" sz="1600" b="1">
                  <a:latin typeface="Century Gothic"/>
                  <a:ea typeface="Century Gothic"/>
                  <a:cs typeface="Century Gothic"/>
                  <a:sym typeface="Century Gothic"/>
                </a:rPr>
                <a:t> </a:t>
              </a:r>
              <a:r>
                <a:rPr lang="en-US" sz="1600" b="1" err="1">
                  <a:latin typeface="Century Gothic"/>
                  <a:ea typeface="Century Gothic"/>
                  <a:cs typeface="Century Gothic"/>
                  <a:sym typeface="Century Gothic"/>
                </a:rPr>
                <a:t>Bruto</a:t>
              </a:r>
              <a:endParaRPr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260" name="Google Shape;260;g2c711885e3a_0_215"/>
            <p:cNvCxnSpPr/>
            <p:nvPr/>
          </p:nvCxnSpPr>
          <p:spPr>
            <a:xfrm>
              <a:off x="330200" y="1558589"/>
              <a:ext cx="54990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61" name="Google Shape;261;g2c711885e3a_0_215"/>
          <p:cNvSpPr txBox="1"/>
          <p:nvPr/>
        </p:nvSpPr>
        <p:spPr>
          <a:xfrm>
            <a:off x="8771268" y="4117699"/>
            <a:ext cx="1924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5" tIns="45675" rIns="913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ESTRUCTURALES EN EJECUCIÓN</a:t>
            </a:r>
            <a:endParaRPr/>
          </a:p>
        </p:txBody>
      </p:sp>
      <p:sp>
        <p:nvSpPr>
          <p:cNvPr id="262" name="Google Shape;262;g2c711885e3a_0_215"/>
          <p:cNvSpPr txBox="1"/>
          <p:nvPr/>
        </p:nvSpPr>
        <p:spPr>
          <a:xfrm>
            <a:off x="9377618" y="3058698"/>
            <a:ext cx="15213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5" tIns="45675" rIns="91375" bIns="456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ESTRUCTURALES EN ESTUDIO</a:t>
            </a:r>
            <a:endParaRPr/>
          </a:p>
        </p:txBody>
      </p:sp>
      <p:sp>
        <p:nvSpPr>
          <p:cNvPr id="263" name="Google Shape;263;g2c711885e3a_0_215"/>
          <p:cNvSpPr txBox="1"/>
          <p:nvPr/>
        </p:nvSpPr>
        <p:spPr>
          <a:xfrm>
            <a:off x="7021068" y="4748669"/>
            <a:ext cx="3155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5" tIns="45675" rIns="91375" bIns="456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PRODUCCIÓN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 PROYECTOS ESTRUCTURALES</a:t>
            </a:r>
            <a:endParaRPr/>
          </a:p>
        </p:txBody>
      </p:sp>
      <p:grpSp>
        <p:nvGrpSpPr>
          <p:cNvPr id="265" name="Google Shape;265;g2c711885e3a_0_215"/>
          <p:cNvGrpSpPr/>
          <p:nvPr/>
        </p:nvGrpSpPr>
        <p:grpSpPr>
          <a:xfrm>
            <a:off x="330200" y="5745480"/>
            <a:ext cx="11531700" cy="948110"/>
            <a:chOff x="-711496" y="909638"/>
            <a:chExt cx="11531700" cy="1293819"/>
          </a:xfrm>
        </p:grpSpPr>
        <p:sp>
          <p:nvSpPr>
            <p:cNvPr id="266" name="Google Shape;266;g2c711885e3a_0_215"/>
            <p:cNvSpPr txBox="1"/>
            <p:nvPr/>
          </p:nvSpPr>
          <p:spPr>
            <a:xfrm>
              <a:off x="-711496" y="1233541"/>
              <a:ext cx="11531700" cy="969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025" tIns="36025" rIns="36025" bIns="180175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13832"/>
                </a:buClr>
                <a:buSzPts val="1600"/>
                <a:buFont typeface="Arial"/>
                <a:buNone/>
              </a:pPr>
              <a:r>
                <a:rPr lang="en-US" sz="1600" b="1" u="none" strike="noStrike" cap="none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  <a:sym typeface="Arial"/>
                </a:rPr>
                <a:t>El </a:t>
              </a:r>
              <a:r>
                <a:rPr lang="en-US" sz="1600" b="1" u="none" strike="noStrike" cap="none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  <a:sym typeface="Arial"/>
                </a:rPr>
                <a:t>negocio</a:t>
              </a:r>
              <a:r>
                <a:rPr lang="en-US" sz="1600" b="1" u="none" strike="noStrike" cap="none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  <a:sym typeface="Arial"/>
                </a:rPr>
                <a:t> 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require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plantearse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cuál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será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 la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Estrategia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 para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consolidar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 lo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logrado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 y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aprovechar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oportunidades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en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 el mercado</a:t>
              </a:r>
              <a:endParaRPr b="1">
                <a:latin typeface="Century Gothic" charset="0"/>
                <a:ea typeface="Century Gothic" charset="0"/>
                <a:cs typeface="Century Gothic" charset="0"/>
              </a:endParaRPr>
            </a:p>
          </p:txBody>
        </p:sp>
        <p:sp>
          <p:nvSpPr>
            <p:cNvPr id="267" name="Google Shape;267;g2c711885e3a_0_215"/>
            <p:cNvSpPr/>
            <p:nvPr/>
          </p:nvSpPr>
          <p:spPr>
            <a:xfrm>
              <a:off x="4621870" y="909638"/>
              <a:ext cx="864900" cy="491700"/>
            </a:xfrm>
            <a:prstGeom prst="downArrow">
              <a:avLst>
                <a:gd name="adj1" fmla="val 50000"/>
                <a:gd name="adj2" fmla="val 70000"/>
              </a:avLst>
            </a:prstGeom>
            <a:noFill/>
            <a:ln w="9525" cap="flat" cmpd="sng">
              <a:solidFill>
                <a:srgbClr val="C1383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8" name="Google Shape;268;g2c711885e3a_0_215"/>
            <p:cNvCxnSpPr/>
            <p:nvPr/>
          </p:nvCxnSpPr>
          <p:spPr>
            <a:xfrm>
              <a:off x="-711496" y="1237643"/>
              <a:ext cx="5419800" cy="0"/>
            </a:xfrm>
            <a:prstGeom prst="straightConnector1">
              <a:avLst/>
            </a:prstGeom>
            <a:noFill/>
            <a:ln w="9525" cap="flat" cmpd="sng">
              <a:solidFill>
                <a:srgbClr val="C1383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69" name="Google Shape;269;g2c711885e3a_0_215"/>
            <p:cNvCxnSpPr/>
            <p:nvPr/>
          </p:nvCxnSpPr>
          <p:spPr>
            <a:xfrm>
              <a:off x="5400252" y="1237643"/>
              <a:ext cx="5419800" cy="0"/>
            </a:xfrm>
            <a:prstGeom prst="straightConnector1">
              <a:avLst/>
            </a:prstGeom>
            <a:noFill/>
            <a:ln w="9525" cap="flat" cmpd="sng">
              <a:solidFill>
                <a:srgbClr val="C1383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2078AB98-5E75-F935-1FEC-40C15C8F8CED}"/>
              </a:ext>
            </a:extLst>
          </p:cNvPr>
          <p:cNvGraphicFramePr/>
          <p:nvPr/>
        </p:nvGraphicFramePr>
        <p:xfrm>
          <a:off x="318237" y="2167445"/>
          <a:ext cx="5499000" cy="33681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325E528A-A1E1-75DA-5437-91B73BD89D5E}"/>
              </a:ext>
            </a:extLst>
          </p:cNvPr>
          <p:cNvGraphicFramePr/>
          <p:nvPr/>
        </p:nvGraphicFramePr>
        <p:xfrm>
          <a:off x="6350937" y="2051128"/>
          <a:ext cx="5499000" cy="33681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6068781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g2c711885e3a_0_215"/>
          <p:cNvGrpSpPr/>
          <p:nvPr/>
        </p:nvGrpSpPr>
        <p:grpSpPr>
          <a:xfrm>
            <a:off x="0" y="6926580"/>
            <a:ext cx="12192100" cy="137160"/>
            <a:chOff x="0" y="6926580"/>
            <a:chExt cx="12192100" cy="137160"/>
          </a:xfrm>
        </p:grpSpPr>
        <p:sp>
          <p:nvSpPr>
            <p:cNvPr id="239" name="Google Shape;239;g2c711885e3a_0_215"/>
            <p:cNvSpPr/>
            <p:nvPr/>
          </p:nvSpPr>
          <p:spPr>
            <a:xfrm>
              <a:off x="11861800" y="6926580"/>
              <a:ext cx="3303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2c711885e3a_0_215"/>
            <p:cNvSpPr/>
            <p:nvPr/>
          </p:nvSpPr>
          <p:spPr>
            <a:xfrm>
              <a:off x="5829300" y="6926580"/>
              <a:ext cx="5334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1" name="Google Shape;241;g2c711885e3a_0_215"/>
            <p:cNvCxnSpPr/>
            <p:nvPr/>
          </p:nvCxnSpPr>
          <p:spPr>
            <a:xfrm rot="10800000">
              <a:off x="118618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2" name="Google Shape;242;g2c711885e3a_0_215"/>
            <p:cNvCxnSpPr/>
            <p:nvPr/>
          </p:nvCxnSpPr>
          <p:spPr>
            <a:xfrm rot="10800000">
              <a:off x="63627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43" name="Google Shape;243;g2c711885e3a_0_215"/>
            <p:cNvSpPr/>
            <p:nvPr/>
          </p:nvSpPr>
          <p:spPr>
            <a:xfrm>
              <a:off x="0" y="6926580"/>
              <a:ext cx="3303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4" name="Google Shape;244;g2c711885e3a_0_215"/>
            <p:cNvCxnSpPr/>
            <p:nvPr/>
          </p:nvCxnSpPr>
          <p:spPr>
            <a:xfrm rot="10800000">
              <a:off x="58293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5" name="Google Shape;245;g2c711885e3a_0_215"/>
            <p:cNvCxnSpPr/>
            <p:nvPr/>
          </p:nvCxnSpPr>
          <p:spPr>
            <a:xfrm rot="10800000">
              <a:off x="3302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46" name="Google Shape;246;g2c711885e3a_0_215"/>
          <p:cNvGrpSpPr/>
          <p:nvPr/>
        </p:nvGrpSpPr>
        <p:grpSpPr>
          <a:xfrm>
            <a:off x="0" y="-205740"/>
            <a:ext cx="12192100" cy="137160"/>
            <a:chOff x="0" y="-205740"/>
            <a:chExt cx="12192100" cy="137160"/>
          </a:xfrm>
        </p:grpSpPr>
        <p:sp>
          <p:nvSpPr>
            <p:cNvPr id="247" name="Google Shape;247;g2c711885e3a_0_215"/>
            <p:cNvSpPr/>
            <p:nvPr/>
          </p:nvSpPr>
          <p:spPr>
            <a:xfrm>
              <a:off x="11861800" y="-205740"/>
              <a:ext cx="3303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2c711885e3a_0_215"/>
            <p:cNvSpPr/>
            <p:nvPr/>
          </p:nvSpPr>
          <p:spPr>
            <a:xfrm>
              <a:off x="5829300" y="-205740"/>
              <a:ext cx="5334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9" name="Google Shape;249;g2c711885e3a_0_215"/>
            <p:cNvCxnSpPr/>
            <p:nvPr/>
          </p:nvCxnSpPr>
          <p:spPr>
            <a:xfrm rot="10800000">
              <a:off x="118618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0" name="Google Shape;250;g2c711885e3a_0_215"/>
            <p:cNvCxnSpPr/>
            <p:nvPr/>
          </p:nvCxnSpPr>
          <p:spPr>
            <a:xfrm rot="10800000">
              <a:off x="63627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51" name="Google Shape;251;g2c711885e3a_0_215"/>
            <p:cNvSpPr/>
            <p:nvPr/>
          </p:nvSpPr>
          <p:spPr>
            <a:xfrm>
              <a:off x="0" y="-205740"/>
              <a:ext cx="3303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2" name="Google Shape;252;g2c711885e3a_0_215"/>
            <p:cNvCxnSpPr/>
            <p:nvPr/>
          </p:nvCxnSpPr>
          <p:spPr>
            <a:xfrm rot="10800000">
              <a:off x="58293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3" name="Google Shape;253;g2c711885e3a_0_215"/>
            <p:cNvCxnSpPr/>
            <p:nvPr/>
          </p:nvCxnSpPr>
          <p:spPr>
            <a:xfrm rot="10800000">
              <a:off x="3302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54" name="Google Shape;254;g2c711885e3a_0_215"/>
          <p:cNvSpPr txBox="1">
            <a:spLocks noGrp="1"/>
          </p:cNvSpPr>
          <p:nvPr>
            <p:ph type="title"/>
          </p:nvPr>
        </p:nvSpPr>
        <p:spPr>
          <a:xfrm>
            <a:off x="318237" y="160706"/>
            <a:ext cx="115317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720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sostener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relaciones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comerciales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solidadas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con 3 a 4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clientes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claves ha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sido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receta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endParaRPr sz="2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1" name="Google Shape;261;g2c711885e3a_0_215"/>
          <p:cNvSpPr txBox="1"/>
          <p:nvPr/>
        </p:nvSpPr>
        <p:spPr>
          <a:xfrm>
            <a:off x="8771268" y="4117699"/>
            <a:ext cx="1924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5" tIns="45675" rIns="913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ESTRUCTURALES EN EJECUCIÓN</a:t>
            </a:r>
            <a:endParaRPr/>
          </a:p>
        </p:txBody>
      </p:sp>
      <p:sp>
        <p:nvSpPr>
          <p:cNvPr id="262" name="Google Shape;262;g2c711885e3a_0_215"/>
          <p:cNvSpPr txBox="1"/>
          <p:nvPr/>
        </p:nvSpPr>
        <p:spPr>
          <a:xfrm>
            <a:off x="9377618" y="3058698"/>
            <a:ext cx="15213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5" tIns="45675" rIns="91375" bIns="456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ESTRUCTURALES EN ESTUDIO</a:t>
            </a:r>
            <a:endParaRPr/>
          </a:p>
        </p:txBody>
      </p:sp>
      <p:sp>
        <p:nvSpPr>
          <p:cNvPr id="263" name="Google Shape;263;g2c711885e3a_0_215"/>
          <p:cNvSpPr txBox="1"/>
          <p:nvPr/>
        </p:nvSpPr>
        <p:spPr>
          <a:xfrm>
            <a:off x="7021068" y="4748669"/>
            <a:ext cx="3155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5" tIns="45675" rIns="91375" bIns="456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PRODUCCIÓN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 PROYECTOS ESTRUCTURALES</a:t>
            </a:r>
            <a:endParaRPr/>
          </a:p>
        </p:txBody>
      </p:sp>
      <p:grpSp>
        <p:nvGrpSpPr>
          <p:cNvPr id="265" name="Google Shape;265;g2c711885e3a_0_215"/>
          <p:cNvGrpSpPr/>
          <p:nvPr/>
        </p:nvGrpSpPr>
        <p:grpSpPr>
          <a:xfrm>
            <a:off x="330200" y="5745480"/>
            <a:ext cx="11531700" cy="948110"/>
            <a:chOff x="-711496" y="909638"/>
            <a:chExt cx="11531700" cy="1293819"/>
          </a:xfrm>
        </p:grpSpPr>
        <p:sp>
          <p:nvSpPr>
            <p:cNvPr id="266" name="Google Shape;266;g2c711885e3a_0_215"/>
            <p:cNvSpPr txBox="1"/>
            <p:nvPr/>
          </p:nvSpPr>
          <p:spPr>
            <a:xfrm>
              <a:off x="-711496" y="1233541"/>
              <a:ext cx="11531700" cy="969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025" tIns="36025" rIns="36025" bIns="180175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13832"/>
                </a:buClr>
                <a:buSzPts val="1600"/>
                <a:buFont typeface="Arial"/>
                <a:buNone/>
              </a:pPr>
              <a:r>
                <a:rPr lang="en-US" sz="1600" b="1" u="none" strike="noStrike" cap="none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  <a:sym typeface="Arial"/>
                </a:rPr>
                <a:t>El </a:t>
              </a:r>
              <a:r>
                <a:rPr lang="en-US" sz="1600" b="1" u="none" strike="noStrike" cap="none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  <a:sym typeface="Arial"/>
                </a:rPr>
                <a:t>negocio</a:t>
              </a:r>
              <a:r>
                <a:rPr lang="en-US" sz="1600" b="1" u="none" strike="noStrike" cap="none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  <a:sym typeface="Arial"/>
                </a:rPr>
                <a:t> 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require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plantearse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cuál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será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 la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Estrategia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 para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consolidar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 lo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logrado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 y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aprovechar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oportunidades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en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 el mercado</a:t>
              </a:r>
              <a:endParaRPr b="1">
                <a:latin typeface="Century Gothic" charset="0"/>
                <a:ea typeface="Century Gothic" charset="0"/>
                <a:cs typeface="Century Gothic" charset="0"/>
              </a:endParaRPr>
            </a:p>
          </p:txBody>
        </p:sp>
        <p:sp>
          <p:nvSpPr>
            <p:cNvPr id="267" name="Google Shape;267;g2c711885e3a_0_215"/>
            <p:cNvSpPr/>
            <p:nvPr/>
          </p:nvSpPr>
          <p:spPr>
            <a:xfrm>
              <a:off x="4621870" y="909638"/>
              <a:ext cx="864900" cy="491700"/>
            </a:xfrm>
            <a:prstGeom prst="downArrow">
              <a:avLst>
                <a:gd name="adj1" fmla="val 50000"/>
                <a:gd name="adj2" fmla="val 70000"/>
              </a:avLst>
            </a:prstGeom>
            <a:noFill/>
            <a:ln w="9525" cap="flat" cmpd="sng">
              <a:solidFill>
                <a:srgbClr val="C1383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8" name="Google Shape;268;g2c711885e3a_0_215"/>
            <p:cNvCxnSpPr/>
            <p:nvPr/>
          </p:nvCxnSpPr>
          <p:spPr>
            <a:xfrm>
              <a:off x="-711496" y="1237643"/>
              <a:ext cx="5419800" cy="0"/>
            </a:xfrm>
            <a:prstGeom prst="straightConnector1">
              <a:avLst/>
            </a:prstGeom>
            <a:noFill/>
            <a:ln w="9525" cap="flat" cmpd="sng">
              <a:solidFill>
                <a:srgbClr val="C1383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69" name="Google Shape;269;g2c711885e3a_0_215"/>
            <p:cNvCxnSpPr/>
            <p:nvPr/>
          </p:nvCxnSpPr>
          <p:spPr>
            <a:xfrm>
              <a:off x="5400252" y="1237643"/>
              <a:ext cx="5419800" cy="0"/>
            </a:xfrm>
            <a:prstGeom prst="straightConnector1">
              <a:avLst/>
            </a:prstGeom>
            <a:noFill/>
            <a:ln w="9525" cap="flat" cmpd="sng">
              <a:solidFill>
                <a:srgbClr val="C1383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aphicFrame>
        <p:nvGraphicFramePr>
          <p:cNvPr id="28" name="Gráfico 27"/>
          <p:cNvGraphicFramePr>
            <a:graphicFrameLocks/>
          </p:cNvGraphicFramePr>
          <p:nvPr/>
        </p:nvGraphicFramePr>
        <p:xfrm>
          <a:off x="-461288" y="2738066"/>
          <a:ext cx="4395813" cy="3114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9" name="Gráfico 28"/>
          <p:cNvGraphicFramePr>
            <a:graphicFrameLocks/>
          </p:cNvGraphicFramePr>
          <p:nvPr/>
        </p:nvGraphicFramePr>
        <p:xfrm>
          <a:off x="2420638" y="2686619"/>
          <a:ext cx="4338638" cy="3122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0" name="Gráfico 29"/>
          <p:cNvGraphicFramePr>
            <a:graphicFrameLocks/>
          </p:cNvGraphicFramePr>
          <p:nvPr/>
        </p:nvGraphicFramePr>
        <p:xfrm>
          <a:off x="5412289" y="2686680"/>
          <a:ext cx="4332288" cy="31098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1" name="Gráfico 30"/>
          <p:cNvGraphicFramePr>
            <a:graphicFrameLocks/>
          </p:cNvGraphicFramePr>
          <p:nvPr/>
        </p:nvGraphicFramePr>
        <p:xfrm>
          <a:off x="8335557" y="2648817"/>
          <a:ext cx="4332288" cy="31098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2" name="Gráfico 31"/>
          <p:cNvGraphicFramePr>
            <a:graphicFrameLocks/>
          </p:cNvGraphicFramePr>
          <p:nvPr/>
        </p:nvGraphicFramePr>
        <p:xfrm>
          <a:off x="-171449" y="-385227"/>
          <a:ext cx="12363549" cy="332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" name="CuadroTexto 2"/>
          <p:cNvSpPr txBox="1"/>
          <p:nvPr/>
        </p:nvSpPr>
        <p:spPr>
          <a:xfrm>
            <a:off x="1186664" y="3901936"/>
            <a:ext cx="1011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/>
              <a:t>2,3 MUSD</a:t>
            </a:r>
          </a:p>
        </p:txBody>
      </p:sp>
      <p:sp>
        <p:nvSpPr>
          <p:cNvPr id="34" name="CuadroTexto 33"/>
          <p:cNvSpPr txBox="1"/>
          <p:nvPr/>
        </p:nvSpPr>
        <p:spPr>
          <a:xfrm>
            <a:off x="4133669" y="3917675"/>
            <a:ext cx="1011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/>
              <a:t>4,9 MUSD</a:t>
            </a:r>
          </a:p>
        </p:txBody>
      </p:sp>
      <p:sp>
        <p:nvSpPr>
          <p:cNvPr id="35" name="CuadroTexto 34"/>
          <p:cNvSpPr txBox="1"/>
          <p:nvPr/>
        </p:nvSpPr>
        <p:spPr>
          <a:xfrm>
            <a:off x="7157564" y="3901935"/>
            <a:ext cx="1011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/>
              <a:t>3,9 MUSD</a:t>
            </a:r>
          </a:p>
        </p:txBody>
      </p:sp>
      <p:sp>
        <p:nvSpPr>
          <p:cNvPr id="36" name="CuadroTexto 35"/>
          <p:cNvSpPr txBox="1"/>
          <p:nvPr/>
        </p:nvSpPr>
        <p:spPr>
          <a:xfrm>
            <a:off x="10029415" y="3895980"/>
            <a:ext cx="1011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/>
              <a:t>6,5 MUSD</a:t>
            </a:r>
          </a:p>
        </p:txBody>
      </p:sp>
    </p:spTree>
    <p:extLst>
      <p:ext uri="{BB962C8B-B14F-4D97-AF65-F5344CB8AC3E}">
        <p14:creationId xmlns:p14="http://schemas.microsoft.com/office/powerpoint/2010/main" val="185897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g2c711885e3a_0_215"/>
          <p:cNvGrpSpPr/>
          <p:nvPr/>
        </p:nvGrpSpPr>
        <p:grpSpPr>
          <a:xfrm>
            <a:off x="0" y="6926580"/>
            <a:ext cx="12192100" cy="137160"/>
            <a:chOff x="0" y="6926580"/>
            <a:chExt cx="12192100" cy="137160"/>
          </a:xfrm>
        </p:grpSpPr>
        <p:sp>
          <p:nvSpPr>
            <p:cNvPr id="239" name="Google Shape;239;g2c711885e3a_0_215"/>
            <p:cNvSpPr/>
            <p:nvPr/>
          </p:nvSpPr>
          <p:spPr>
            <a:xfrm>
              <a:off x="11861800" y="6926580"/>
              <a:ext cx="3303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2c711885e3a_0_215"/>
            <p:cNvSpPr/>
            <p:nvPr/>
          </p:nvSpPr>
          <p:spPr>
            <a:xfrm>
              <a:off x="5829300" y="6926580"/>
              <a:ext cx="5334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1" name="Google Shape;241;g2c711885e3a_0_215"/>
            <p:cNvCxnSpPr/>
            <p:nvPr/>
          </p:nvCxnSpPr>
          <p:spPr>
            <a:xfrm rot="10800000">
              <a:off x="118618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2" name="Google Shape;242;g2c711885e3a_0_215"/>
            <p:cNvCxnSpPr/>
            <p:nvPr/>
          </p:nvCxnSpPr>
          <p:spPr>
            <a:xfrm rot="10800000">
              <a:off x="63627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43" name="Google Shape;243;g2c711885e3a_0_215"/>
            <p:cNvSpPr/>
            <p:nvPr/>
          </p:nvSpPr>
          <p:spPr>
            <a:xfrm>
              <a:off x="0" y="6926580"/>
              <a:ext cx="3303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4" name="Google Shape;244;g2c711885e3a_0_215"/>
            <p:cNvCxnSpPr/>
            <p:nvPr/>
          </p:nvCxnSpPr>
          <p:spPr>
            <a:xfrm rot="10800000">
              <a:off x="58293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5" name="Google Shape;245;g2c711885e3a_0_215"/>
            <p:cNvCxnSpPr/>
            <p:nvPr/>
          </p:nvCxnSpPr>
          <p:spPr>
            <a:xfrm rot="10800000">
              <a:off x="3302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46" name="Google Shape;246;g2c711885e3a_0_215"/>
          <p:cNvGrpSpPr/>
          <p:nvPr/>
        </p:nvGrpSpPr>
        <p:grpSpPr>
          <a:xfrm>
            <a:off x="0" y="-205740"/>
            <a:ext cx="12192100" cy="137160"/>
            <a:chOff x="0" y="-205740"/>
            <a:chExt cx="12192100" cy="137160"/>
          </a:xfrm>
        </p:grpSpPr>
        <p:sp>
          <p:nvSpPr>
            <p:cNvPr id="247" name="Google Shape;247;g2c711885e3a_0_215"/>
            <p:cNvSpPr/>
            <p:nvPr/>
          </p:nvSpPr>
          <p:spPr>
            <a:xfrm>
              <a:off x="11861800" y="-205740"/>
              <a:ext cx="3303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2c711885e3a_0_215"/>
            <p:cNvSpPr/>
            <p:nvPr/>
          </p:nvSpPr>
          <p:spPr>
            <a:xfrm>
              <a:off x="5829300" y="-205740"/>
              <a:ext cx="5334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9" name="Google Shape;249;g2c711885e3a_0_215"/>
            <p:cNvCxnSpPr/>
            <p:nvPr/>
          </p:nvCxnSpPr>
          <p:spPr>
            <a:xfrm rot="10800000">
              <a:off x="118618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0" name="Google Shape;250;g2c711885e3a_0_215"/>
            <p:cNvCxnSpPr/>
            <p:nvPr/>
          </p:nvCxnSpPr>
          <p:spPr>
            <a:xfrm rot="10800000">
              <a:off x="63627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51" name="Google Shape;251;g2c711885e3a_0_215"/>
            <p:cNvSpPr/>
            <p:nvPr/>
          </p:nvSpPr>
          <p:spPr>
            <a:xfrm>
              <a:off x="0" y="-205740"/>
              <a:ext cx="3303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2" name="Google Shape;252;g2c711885e3a_0_215"/>
            <p:cNvCxnSpPr/>
            <p:nvPr/>
          </p:nvCxnSpPr>
          <p:spPr>
            <a:xfrm rot="10800000">
              <a:off x="58293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3" name="Google Shape;253;g2c711885e3a_0_215"/>
            <p:cNvCxnSpPr/>
            <p:nvPr/>
          </p:nvCxnSpPr>
          <p:spPr>
            <a:xfrm rot="10800000">
              <a:off x="3302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54" name="Google Shape;254;g2c711885e3a_0_215"/>
          <p:cNvSpPr txBox="1">
            <a:spLocks noGrp="1"/>
          </p:cNvSpPr>
          <p:nvPr>
            <p:ph type="title"/>
          </p:nvPr>
        </p:nvSpPr>
        <p:spPr>
          <a:xfrm>
            <a:off x="318237" y="160706"/>
            <a:ext cx="115317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720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estructura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financiera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tiene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un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buen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comportamiento</a:t>
            </a:r>
            <a:endParaRPr sz="2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255" name="Google Shape;255;g2c711885e3a_0_215"/>
          <p:cNvGrpSpPr/>
          <p:nvPr/>
        </p:nvGrpSpPr>
        <p:grpSpPr>
          <a:xfrm>
            <a:off x="6280949" y="1470147"/>
            <a:ext cx="5499000" cy="331153"/>
            <a:chOff x="6362700" y="1223652"/>
            <a:chExt cx="5499000" cy="331153"/>
          </a:xfrm>
        </p:grpSpPr>
        <p:sp>
          <p:nvSpPr>
            <p:cNvPr id="256" name="Google Shape;256;g2c711885e3a_0_215"/>
            <p:cNvSpPr txBox="1"/>
            <p:nvPr/>
          </p:nvSpPr>
          <p:spPr>
            <a:xfrm>
              <a:off x="6362700" y="1223652"/>
              <a:ext cx="5499000" cy="31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025" tIns="36025" rIns="36025" bIns="36025" anchor="b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r>
                <a:rPr lang="en-US" sz="1600" b="1"/>
                <a:t>Razon </a:t>
              </a:r>
              <a:r>
                <a:rPr lang="en-US" sz="1600" b="1" err="1"/>
                <a:t>Deuda</a:t>
              </a:r>
              <a:r>
                <a:rPr lang="en-US" sz="1600" b="1"/>
                <a:t> </a:t>
              </a:r>
              <a:r>
                <a:rPr lang="en-US" sz="1600" b="1" err="1"/>
                <a:t>Patrimonio</a:t>
              </a:r>
              <a:endParaRPr/>
            </a:p>
          </p:txBody>
        </p:sp>
        <p:cxnSp>
          <p:nvCxnSpPr>
            <p:cNvPr id="257" name="Google Shape;257;g2c711885e3a_0_215"/>
            <p:cNvCxnSpPr/>
            <p:nvPr/>
          </p:nvCxnSpPr>
          <p:spPr>
            <a:xfrm>
              <a:off x="6362700" y="1554805"/>
              <a:ext cx="54990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58" name="Google Shape;258;g2c711885e3a_0_215"/>
          <p:cNvGrpSpPr/>
          <p:nvPr/>
        </p:nvGrpSpPr>
        <p:grpSpPr>
          <a:xfrm>
            <a:off x="411952" y="1482228"/>
            <a:ext cx="5499000" cy="319072"/>
            <a:chOff x="330200" y="1239517"/>
            <a:chExt cx="5499000" cy="319072"/>
          </a:xfrm>
        </p:grpSpPr>
        <p:sp>
          <p:nvSpPr>
            <p:cNvPr id="259" name="Google Shape;259;g2c711885e3a_0_215"/>
            <p:cNvSpPr txBox="1"/>
            <p:nvPr/>
          </p:nvSpPr>
          <p:spPr>
            <a:xfrm>
              <a:off x="330200" y="1239517"/>
              <a:ext cx="5499000" cy="318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025" tIns="36025" rIns="36025" bIns="36025" anchor="b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err="1">
                  <a:latin typeface="Century Gothic"/>
                  <a:ea typeface="Century Gothic"/>
                  <a:cs typeface="Century Gothic"/>
                  <a:sym typeface="Century Gothic"/>
                </a:rPr>
                <a:t>Patrimonio</a:t>
              </a:r>
              <a:endParaRPr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260" name="Google Shape;260;g2c711885e3a_0_215"/>
            <p:cNvCxnSpPr/>
            <p:nvPr/>
          </p:nvCxnSpPr>
          <p:spPr>
            <a:xfrm>
              <a:off x="330200" y="1558589"/>
              <a:ext cx="54990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61" name="Google Shape;261;g2c711885e3a_0_215"/>
          <p:cNvSpPr txBox="1"/>
          <p:nvPr/>
        </p:nvSpPr>
        <p:spPr>
          <a:xfrm>
            <a:off x="8771268" y="4117699"/>
            <a:ext cx="1924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5" tIns="45675" rIns="913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ESTRUCTURALES EN EJECUCIÓN</a:t>
            </a:r>
            <a:endParaRPr/>
          </a:p>
        </p:txBody>
      </p:sp>
      <p:sp>
        <p:nvSpPr>
          <p:cNvPr id="262" name="Google Shape;262;g2c711885e3a_0_215"/>
          <p:cNvSpPr txBox="1"/>
          <p:nvPr/>
        </p:nvSpPr>
        <p:spPr>
          <a:xfrm>
            <a:off x="9377618" y="3058698"/>
            <a:ext cx="15213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5" tIns="45675" rIns="91375" bIns="456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ESTRUCTURALES EN ESTUDIO</a:t>
            </a:r>
            <a:endParaRPr/>
          </a:p>
        </p:txBody>
      </p:sp>
      <p:sp>
        <p:nvSpPr>
          <p:cNvPr id="263" name="Google Shape;263;g2c711885e3a_0_215"/>
          <p:cNvSpPr txBox="1"/>
          <p:nvPr/>
        </p:nvSpPr>
        <p:spPr>
          <a:xfrm>
            <a:off x="7021068" y="4748669"/>
            <a:ext cx="3155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5" tIns="45675" rIns="91375" bIns="456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PRODUCCIÓN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 PROYECTOS ESTRUCTURALES</a:t>
            </a:r>
            <a:endParaRPr/>
          </a:p>
        </p:txBody>
      </p:sp>
      <p:grpSp>
        <p:nvGrpSpPr>
          <p:cNvPr id="265" name="Google Shape;265;g2c711885e3a_0_215"/>
          <p:cNvGrpSpPr/>
          <p:nvPr/>
        </p:nvGrpSpPr>
        <p:grpSpPr>
          <a:xfrm>
            <a:off x="330200" y="5745480"/>
            <a:ext cx="11531700" cy="825000"/>
            <a:chOff x="-711496" y="909638"/>
            <a:chExt cx="11531700" cy="1125819"/>
          </a:xfrm>
        </p:grpSpPr>
        <p:sp>
          <p:nvSpPr>
            <p:cNvPr id="266" name="Google Shape;266;g2c711885e3a_0_215"/>
            <p:cNvSpPr txBox="1"/>
            <p:nvPr/>
          </p:nvSpPr>
          <p:spPr>
            <a:xfrm>
              <a:off x="-711496" y="1401541"/>
              <a:ext cx="11531700" cy="633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025" tIns="36025" rIns="36025" bIns="180175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13832"/>
                </a:buClr>
                <a:buSzPts val="1600"/>
                <a:buFont typeface="Arial"/>
                <a:buNone/>
              </a:pP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REDCO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tiene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 la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capacidad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 de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endeudamiento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sano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 ante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cualquier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necesidad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 de capital de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trabajo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 para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crecer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 </a:t>
              </a:r>
              <a:endParaRPr b="1">
                <a:latin typeface="Century Gothic" charset="0"/>
                <a:ea typeface="Century Gothic" charset="0"/>
                <a:cs typeface="Century Gothic" charset="0"/>
              </a:endParaRPr>
            </a:p>
          </p:txBody>
        </p:sp>
        <p:sp>
          <p:nvSpPr>
            <p:cNvPr id="267" name="Google Shape;267;g2c711885e3a_0_215"/>
            <p:cNvSpPr/>
            <p:nvPr/>
          </p:nvSpPr>
          <p:spPr>
            <a:xfrm>
              <a:off x="4621870" y="909638"/>
              <a:ext cx="864900" cy="491700"/>
            </a:xfrm>
            <a:prstGeom prst="downArrow">
              <a:avLst>
                <a:gd name="adj1" fmla="val 50000"/>
                <a:gd name="adj2" fmla="val 70000"/>
              </a:avLst>
            </a:prstGeom>
            <a:noFill/>
            <a:ln w="9525" cap="flat" cmpd="sng">
              <a:solidFill>
                <a:srgbClr val="C1383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8" name="Google Shape;268;g2c711885e3a_0_215"/>
            <p:cNvCxnSpPr/>
            <p:nvPr/>
          </p:nvCxnSpPr>
          <p:spPr>
            <a:xfrm>
              <a:off x="-711496" y="1237643"/>
              <a:ext cx="5419800" cy="0"/>
            </a:xfrm>
            <a:prstGeom prst="straightConnector1">
              <a:avLst/>
            </a:prstGeom>
            <a:noFill/>
            <a:ln w="9525" cap="flat" cmpd="sng">
              <a:solidFill>
                <a:srgbClr val="C1383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69" name="Google Shape;269;g2c711885e3a_0_215"/>
            <p:cNvCxnSpPr/>
            <p:nvPr/>
          </p:nvCxnSpPr>
          <p:spPr>
            <a:xfrm>
              <a:off x="5400252" y="1237643"/>
              <a:ext cx="5419800" cy="0"/>
            </a:xfrm>
            <a:prstGeom prst="straightConnector1">
              <a:avLst/>
            </a:prstGeom>
            <a:noFill/>
            <a:ln w="9525" cap="flat" cmpd="sng">
              <a:solidFill>
                <a:srgbClr val="C1383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AC315F40-CE57-B377-87D1-653EE1BF61C9}"/>
              </a:ext>
            </a:extLst>
          </p:cNvPr>
          <p:cNvGraphicFramePr/>
          <p:nvPr/>
        </p:nvGraphicFramePr>
        <p:xfrm>
          <a:off x="6528466" y="2090860"/>
          <a:ext cx="5119002" cy="33775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C42D1B2B-92B1-D62D-CC19-2001DB3CB3FF}"/>
              </a:ext>
            </a:extLst>
          </p:cNvPr>
          <p:cNvGraphicFramePr/>
          <p:nvPr/>
        </p:nvGraphicFramePr>
        <p:xfrm>
          <a:off x="737827" y="2280886"/>
          <a:ext cx="4679438" cy="35270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874694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g2c711885e3a_0_301"/>
          <p:cNvGrpSpPr/>
          <p:nvPr/>
        </p:nvGrpSpPr>
        <p:grpSpPr>
          <a:xfrm>
            <a:off x="0" y="6926580"/>
            <a:ext cx="12192100" cy="137160"/>
            <a:chOff x="0" y="6926580"/>
            <a:chExt cx="12192100" cy="137160"/>
          </a:xfrm>
        </p:grpSpPr>
        <p:sp>
          <p:nvSpPr>
            <p:cNvPr id="277" name="Google Shape;277;g2c711885e3a_0_301"/>
            <p:cNvSpPr/>
            <p:nvPr/>
          </p:nvSpPr>
          <p:spPr>
            <a:xfrm>
              <a:off x="11861800" y="6926580"/>
              <a:ext cx="3303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g2c711885e3a_0_301"/>
            <p:cNvSpPr/>
            <p:nvPr/>
          </p:nvSpPr>
          <p:spPr>
            <a:xfrm>
              <a:off x="5829300" y="6926580"/>
              <a:ext cx="5334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9" name="Google Shape;279;g2c711885e3a_0_301"/>
            <p:cNvCxnSpPr/>
            <p:nvPr/>
          </p:nvCxnSpPr>
          <p:spPr>
            <a:xfrm rot="10800000">
              <a:off x="118618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0" name="Google Shape;280;g2c711885e3a_0_301"/>
            <p:cNvCxnSpPr/>
            <p:nvPr/>
          </p:nvCxnSpPr>
          <p:spPr>
            <a:xfrm rot="10800000">
              <a:off x="63627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81" name="Google Shape;281;g2c711885e3a_0_301"/>
            <p:cNvSpPr/>
            <p:nvPr/>
          </p:nvSpPr>
          <p:spPr>
            <a:xfrm>
              <a:off x="0" y="6926580"/>
              <a:ext cx="3303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2" name="Google Shape;282;g2c711885e3a_0_301"/>
            <p:cNvCxnSpPr/>
            <p:nvPr/>
          </p:nvCxnSpPr>
          <p:spPr>
            <a:xfrm rot="10800000">
              <a:off x="58293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3" name="Google Shape;283;g2c711885e3a_0_301"/>
            <p:cNvCxnSpPr/>
            <p:nvPr/>
          </p:nvCxnSpPr>
          <p:spPr>
            <a:xfrm rot="10800000">
              <a:off x="3302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84" name="Google Shape;284;g2c711885e3a_0_301"/>
          <p:cNvGrpSpPr/>
          <p:nvPr/>
        </p:nvGrpSpPr>
        <p:grpSpPr>
          <a:xfrm>
            <a:off x="0" y="-205740"/>
            <a:ext cx="12192100" cy="137160"/>
            <a:chOff x="0" y="-205740"/>
            <a:chExt cx="12192100" cy="137160"/>
          </a:xfrm>
        </p:grpSpPr>
        <p:sp>
          <p:nvSpPr>
            <p:cNvPr id="285" name="Google Shape;285;g2c711885e3a_0_301"/>
            <p:cNvSpPr/>
            <p:nvPr/>
          </p:nvSpPr>
          <p:spPr>
            <a:xfrm>
              <a:off x="11861800" y="-205740"/>
              <a:ext cx="3303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g2c711885e3a_0_301"/>
            <p:cNvSpPr/>
            <p:nvPr/>
          </p:nvSpPr>
          <p:spPr>
            <a:xfrm>
              <a:off x="5829300" y="-205740"/>
              <a:ext cx="5334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7" name="Google Shape;287;g2c711885e3a_0_301"/>
            <p:cNvCxnSpPr/>
            <p:nvPr/>
          </p:nvCxnSpPr>
          <p:spPr>
            <a:xfrm rot="10800000">
              <a:off x="118618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8" name="Google Shape;288;g2c711885e3a_0_301"/>
            <p:cNvCxnSpPr/>
            <p:nvPr/>
          </p:nvCxnSpPr>
          <p:spPr>
            <a:xfrm rot="10800000">
              <a:off x="63627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89" name="Google Shape;289;g2c711885e3a_0_301"/>
            <p:cNvSpPr/>
            <p:nvPr/>
          </p:nvSpPr>
          <p:spPr>
            <a:xfrm>
              <a:off x="0" y="-205740"/>
              <a:ext cx="3303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0" name="Google Shape;290;g2c711885e3a_0_301"/>
            <p:cNvCxnSpPr/>
            <p:nvPr/>
          </p:nvCxnSpPr>
          <p:spPr>
            <a:xfrm rot="10800000">
              <a:off x="58293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91" name="Google Shape;291;g2c711885e3a_0_301"/>
            <p:cNvCxnSpPr/>
            <p:nvPr/>
          </p:nvCxnSpPr>
          <p:spPr>
            <a:xfrm rot="10800000">
              <a:off x="3302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92" name="Google Shape;292;g2c711885e3a_0_301"/>
          <p:cNvSpPr txBox="1">
            <a:spLocks noGrp="1"/>
          </p:cNvSpPr>
          <p:nvPr>
            <p:ph type="title"/>
          </p:nvPr>
        </p:nvSpPr>
        <p:spPr>
          <a:xfrm>
            <a:off x="488082" y="348125"/>
            <a:ext cx="105882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720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mercado de la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minería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es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promisorio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para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diversos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metales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(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transición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energética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endParaRPr/>
          </a:p>
        </p:txBody>
      </p:sp>
      <p:grpSp>
        <p:nvGrpSpPr>
          <p:cNvPr id="293" name="Google Shape;293;g2c711885e3a_0_301"/>
          <p:cNvGrpSpPr/>
          <p:nvPr/>
        </p:nvGrpSpPr>
        <p:grpSpPr>
          <a:xfrm>
            <a:off x="334963" y="1540450"/>
            <a:ext cx="5572625" cy="388354"/>
            <a:chOff x="330200" y="1200643"/>
            <a:chExt cx="5572625" cy="388354"/>
          </a:xfrm>
        </p:grpSpPr>
        <p:sp>
          <p:nvSpPr>
            <p:cNvPr id="294" name="Google Shape;294;g2c711885e3a_0_301"/>
            <p:cNvSpPr txBox="1"/>
            <p:nvPr/>
          </p:nvSpPr>
          <p:spPr>
            <a:xfrm>
              <a:off x="403825" y="1200643"/>
              <a:ext cx="5499000" cy="318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025" tIns="36025" rIns="36025" bIns="36025" anchor="b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600"/>
                <a:buFont typeface="Arial"/>
                <a:buNone/>
              </a:pPr>
              <a:r>
                <a:rPr lang="en-US" sz="1600" b="1" err="1">
                  <a:solidFill>
                    <a:srgbClr val="333333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Necesidad</a:t>
              </a:r>
              <a:r>
                <a:rPr lang="en-US" sz="1600" b="1">
                  <a:solidFill>
                    <a:srgbClr val="333333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de </a:t>
              </a:r>
              <a:r>
                <a:rPr lang="en-US" sz="1600" b="1" err="1">
                  <a:solidFill>
                    <a:srgbClr val="333333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minerales</a:t>
              </a:r>
              <a:r>
                <a:rPr lang="en-US" sz="1600" b="1">
                  <a:solidFill>
                    <a:srgbClr val="333333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se </a:t>
              </a:r>
              <a:r>
                <a:rPr lang="en-US" sz="1600" b="1" err="1">
                  <a:solidFill>
                    <a:srgbClr val="333333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incrementan</a:t>
              </a:r>
              <a:r>
                <a:rPr lang="en-US" sz="1600" b="1">
                  <a:solidFill>
                    <a:srgbClr val="333333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2030+</a:t>
              </a:r>
              <a:endParaRPr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295" name="Google Shape;295;g2c711885e3a_0_301"/>
            <p:cNvCxnSpPr/>
            <p:nvPr/>
          </p:nvCxnSpPr>
          <p:spPr>
            <a:xfrm>
              <a:off x="330200" y="1588997"/>
              <a:ext cx="5499000" cy="0"/>
            </a:xfrm>
            <a:prstGeom prst="straightConnector1">
              <a:avLst/>
            </a:prstGeom>
            <a:noFill/>
            <a:ln w="9525" cap="flat" cmpd="sng">
              <a:solidFill>
                <a:srgbClr val="33333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96" name="Google Shape;296;g2c711885e3a_0_301"/>
          <p:cNvGrpSpPr/>
          <p:nvPr/>
        </p:nvGrpSpPr>
        <p:grpSpPr>
          <a:xfrm>
            <a:off x="6357938" y="1531489"/>
            <a:ext cx="5499000" cy="397317"/>
            <a:chOff x="330200" y="1183132"/>
            <a:chExt cx="5499000" cy="397317"/>
          </a:xfrm>
        </p:grpSpPr>
        <p:sp>
          <p:nvSpPr>
            <p:cNvPr id="297" name="Google Shape;297;g2c711885e3a_0_301"/>
            <p:cNvSpPr txBox="1"/>
            <p:nvPr/>
          </p:nvSpPr>
          <p:spPr>
            <a:xfrm>
              <a:off x="330200" y="1183132"/>
              <a:ext cx="5499000" cy="31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025" tIns="36025" rIns="36025" bIns="36025" anchor="b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600"/>
                <a:buFont typeface="Arial"/>
                <a:buNone/>
              </a:pPr>
              <a:r>
                <a:rPr lang="en-US" sz="1600" b="1">
                  <a:solidFill>
                    <a:srgbClr val="333333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Crecimiento de la demanda</a:t>
              </a:r>
              <a:endParaRPr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298" name="Google Shape;298;g2c711885e3a_0_301"/>
            <p:cNvCxnSpPr/>
            <p:nvPr/>
          </p:nvCxnSpPr>
          <p:spPr>
            <a:xfrm>
              <a:off x="330200" y="1580449"/>
              <a:ext cx="5499000" cy="0"/>
            </a:xfrm>
            <a:prstGeom prst="straightConnector1">
              <a:avLst/>
            </a:prstGeom>
            <a:noFill/>
            <a:ln w="9525" cap="flat" cmpd="sng">
              <a:solidFill>
                <a:srgbClr val="33333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99" name="Google Shape;299;g2c711885e3a_0_301"/>
          <p:cNvSpPr txBox="1"/>
          <p:nvPr/>
        </p:nvSpPr>
        <p:spPr>
          <a:xfrm>
            <a:off x="645594" y="2049816"/>
            <a:ext cx="4244700" cy="4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Producción vs Demanda proyectada</a:t>
            </a:r>
            <a:b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(Mtmf)</a:t>
            </a:r>
            <a:endParaRPr/>
          </a:p>
        </p:txBody>
      </p:sp>
      <p:sp>
        <p:nvSpPr>
          <p:cNvPr id="300" name="Google Shape;300;g2c711885e3a_0_301"/>
          <p:cNvSpPr/>
          <p:nvPr/>
        </p:nvSpPr>
        <p:spPr>
          <a:xfrm>
            <a:off x="7793964" y="2781613"/>
            <a:ext cx="1579500" cy="1579800"/>
          </a:xfrm>
          <a:prstGeom prst="ellipse">
            <a:avLst/>
          </a:prstGeom>
          <a:solidFill>
            <a:srgbClr val="EED6E5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2c711885e3a_0_301"/>
          <p:cNvSpPr/>
          <p:nvPr/>
        </p:nvSpPr>
        <p:spPr>
          <a:xfrm>
            <a:off x="8140326" y="3146642"/>
            <a:ext cx="886800" cy="887100"/>
          </a:xfrm>
          <a:prstGeom prst="ellipse">
            <a:avLst/>
          </a:prstGeom>
          <a:solidFill>
            <a:srgbClr val="973B74"/>
          </a:solidFill>
          <a:ln w="12700" cap="flat" cmpd="sng">
            <a:solidFill>
              <a:srgbClr val="973B7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2" name="Google Shape;302;g2c711885e3a_0_301"/>
          <p:cNvGrpSpPr/>
          <p:nvPr/>
        </p:nvGrpSpPr>
        <p:grpSpPr>
          <a:xfrm>
            <a:off x="8451643" y="2250933"/>
            <a:ext cx="1579752" cy="1579752"/>
            <a:chOff x="6217195" y="-365599"/>
            <a:chExt cx="2730300" cy="2730300"/>
          </a:xfrm>
        </p:grpSpPr>
        <p:sp>
          <p:nvSpPr>
            <p:cNvPr id="303" name="Google Shape;303;g2c711885e3a_0_301"/>
            <p:cNvSpPr/>
            <p:nvPr/>
          </p:nvSpPr>
          <p:spPr>
            <a:xfrm>
              <a:off x="6217195" y="-365599"/>
              <a:ext cx="2730300" cy="2730300"/>
            </a:xfrm>
            <a:prstGeom prst="ellipse">
              <a:avLst/>
            </a:prstGeom>
            <a:solidFill>
              <a:srgbClr val="CFDDB2">
                <a:alpha val="6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g2c711885e3a_0_301"/>
            <p:cNvSpPr/>
            <p:nvPr/>
          </p:nvSpPr>
          <p:spPr>
            <a:xfrm>
              <a:off x="6815869" y="265284"/>
              <a:ext cx="1533000" cy="1533000"/>
            </a:xfrm>
            <a:prstGeom prst="ellipse">
              <a:avLst/>
            </a:prstGeom>
            <a:solidFill>
              <a:srgbClr val="507867"/>
            </a:solidFill>
            <a:ln w="12700" cap="flat" cmpd="sng">
              <a:solidFill>
                <a:srgbClr val="50786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6" name="Google Shape;306;g2c711885e3a_0_301"/>
          <p:cNvSpPr/>
          <p:nvPr/>
        </p:nvSpPr>
        <p:spPr>
          <a:xfrm>
            <a:off x="9086061" y="3181398"/>
            <a:ext cx="1538700" cy="1539000"/>
          </a:xfrm>
          <a:prstGeom prst="ellipse">
            <a:avLst/>
          </a:prstGeom>
          <a:solidFill>
            <a:srgbClr val="DCE5EA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2c711885e3a_0_301"/>
          <p:cNvSpPr/>
          <p:nvPr/>
        </p:nvSpPr>
        <p:spPr>
          <a:xfrm>
            <a:off x="9423476" y="3536998"/>
            <a:ext cx="864000" cy="864000"/>
          </a:xfrm>
          <a:prstGeom prst="ellipse">
            <a:avLst/>
          </a:prstGeom>
          <a:solidFill>
            <a:srgbClr val="46647B"/>
          </a:solidFill>
          <a:ln w="12700" cap="flat" cmpd="sng">
            <a:solidFill>
              <a:srgbClr val="46647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2c711885e3a_0_301"/>
          <p:cNvSpPr txBox="1"/>
          <p:nvPr/>
        </p:nvSpPr>
        <p:spPr>
          <a:xfrm>
            <a:off x="6214656" y="2225408"/>
            <a:ext cx="2252700" cy="6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73B74"/>
              </a:buClr>
              <a:buSzPts val="1400"/>
              <a:buFont typeface="Arial"/>
              <a:buNone/>
            </a:pPr>
            <a:r>
              <a:rPr lang="en-US" sz="1400" b="1">
                <a:solidFill>
                  <a:srgbClr val="973B74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br>
              <a:rPr lang="en-US" sz="1400" b="1">
                <a:solidFill>
                  <a:srgbClr val="973B7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Relaciones con la comunidad</a:t>
            </a:r>
            <a:b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Empleados</a:t>
            </a:r>
            <a:endParaRPr/>
          </a:p>
        </p:txBody>
      </p:sp>
      <p:pic>
        <p:nvPicPr>
          <p:cNvPr id="309" name="Google Shape;309;g2c711885e3a_0_3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5653" y="3407499"/>
            <a:ext cx="436254" cy="436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g2c711885e3a_0_30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69934" y="3763575"/>
            <a:ext cx="395896" cy="395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g2c711885e3a_0_30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38572" y="2838656"/>
            <a:ext cx="434678" cy="434678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g2c711885e3a_0_301"/>
          <p:cNvSpPr txBox="1"/>
          <p:nvPr/>
        </p:nvSpPr>
        <p:spPr>
          <a:xfrm>
            <a:off x="10009632" y="2215529"/>
            <a:ext cx="2133300" cy="9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07867"/>
              </a:buClr>
              <a:buSzPts val="1400"/>
              <a:buFont typeface="Arial"/>
              <a:buNone/>
            </a:pPr>
            <a:r>
              <a:rPr lang="en-US" sz="1400" b="1">
                <a:solidFill>
                  <a:srgbClr val="507867"/>
                </a:solidFill>
                <a:latin typeface="Arial"/>
                <a:ea typeface="Arial"/>
                <a:cs typeface="Arial"/>
                <a:sym typeface="Arial"/>
              </a:rPr>
              <a:t>Planeta</a:t>
            </a:r>
            <a:br>
              <a:rPr lang="en-US" sz="1400" b="1">
                <a:solidFill>
                  <a:srgbClr val="50786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Cambio climático</a:t>
            </a:r>
            <a:b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Manejo de agua </a:t>
            </a:r>
            <a:b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Biodiversidad &amp; Ecosistemas</a:t>
            </a:r>
            <a:b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Economía circular</a:t>
            </a:r>
            <a:endParaRPr/>
          </a:p>
        </p:txBody>
      </p:sp>
      <p:sp>
        <p:nvSpPr>
          <p:cNvPr id="314" name="Google Shape;314;g2c711885e3a_0_301"/>
          <p:cNvSpPr txBox="1"/>
          <p:nvPr/>
        </p:nvSpPr>
        <p:spPr>
          <a:xfrm>
            <a:off x="374188" y="6520527"/>
            <a:ext cx="11531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6424A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36424A"/>
                </a:solidFill>
                <a:latin typeface="Arial"/>
                <a:ea typeface="Arial"/>
                <a:cs typeface="Arial"/>
                <a:sym typeface="Arial"/>
              </a:rPr>
              <a:t>Fuente: </a:t>
            </a:r>
            <a:r>
              <a:rPr lang="en-US" sz="800">
                <a:latin typeface="Roboto Condensed"/>
                <a:ea typeface="Roboto Condensed"/>
                <a:cs typeface="Roboto Condensed"/>
                <a:sym typeface="Roboto Condensed"/>
              </a:rPr>
              <a:t>Energy Transition </a:t>
            </a:r>
            <a:r>
              <a:rPr lang="en-US" sz="800" err="1">
                <a:latin typeface="Roboto Condensed"/>
                <a:ea typeface="Roboto Condensed"/>
                <a:cs typeface="Roboto Condensed"/>
                <a:sym typeface="Roboto Condensed"/>
              </a:rPr>
              <a:t>Committe</a:t>
            </a:r>
            <a:endParaRPr sz="800">
              <a:solidFill>
                <a:srgbClr val="3642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5" name="Google Shape;315;g2c711885e3a_0_301"/>
          <p:cNvPicPr preferRelativeResize="0"/>
          <p:nvPr/>
        </p:nvPicPr>
        <p:blipFill rotWithShape="1">
          <a:blip r:embed="rId6">
            <a:alphaModFix/>
          </a:blip>
          <a:srcRect t="8650"/>
          <a:stretch/>
        </p:blipFill>
        <p:spPr>
          <a:xfrm>
            <a:off x="374188" y="1968811"/>
            <a:ext cx="5494199" cy="288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g2c711885e3a_0_30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90162" y="1968807"/>
            <a:ext cx="5572626" cy="28821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65;g2c711885e3a_0_215">
            <a:extLst>
              <a:ext uri="{FF2B5EF4-FFF2-40B4-BE49-F238E27FC236}">
                <a16:creationId xmlns:a16="http://schemas.microsoft.com/office/drawing/2014/main" id="{3E65D7BA-EA9C-566A-CA77-04CC999DF322}"/>
              </a:ext>
            </a:extLst>
          </p:cNvPr>
          <p:cNvGrpSpPr/>
          <p:nvPr/>
        </p:nvGrpSpPr>
        <p:grpSpPr>
          <a:xfrm>
            <a:off x="321985" y="5230762"/>
            <a:ext cx="11531700" cy="824999"/>
            <a:chOff x="-711496" y="909638"/>
            <a:chExt cx="11531700" cy="1125818"/>
          </a:xfrm>
        </p:grpSpPr>
        <p:sp>
          <p:nvSpPr>
            <p:cNvPr id="3" name="Google Shape;266;g2c711885e3a_0_215">
              <a:extLst>
                <a:ext uri="{FF2B5EF4-FFF2-40B4-BE49-F238E27FC236}">
                  <a16:creationId xmlns:a16="http://schemas.microsoft.com/office/drawing/2014/main" id="{B490F649-DA25-7435-3D28-2141AD791488}"/>
                </a:ext>
              </a:extLst>
            </p:cNvPr>
            <p:cNvSpPr txBox="1"/>
            <p:nvPr/>
          </p:nvSpPr>
          <p:spPr>
            <a:xfrm>
              <a:off x="-711496" y="1401541"/>
              <a:ext cx="11531700" cy="6339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025" tIns="36025" rIns="36025" bIns="180175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13832"/>
                </a:buClr>
                <a:buSzPts val="1600"/>
                <a:buFont typeface="Arial"/>
                <a:buNone/>
              </a:pP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REDCO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tiene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 y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tendrá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 la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oportunidad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 de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capturar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 las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necesidades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 de pasar de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Recursos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 a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Reservas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 …..</a:t>
              </a:r>
              <a:endParaRPr b="1">
                <a:latin typeface="Century Gothic" charset="0"/>
                <a:ea typeface="Century Gothic" charset="0"/>
                <a:cs typeface="Century Gothic" charset="0"/>
              </a:endParaRPr>
            </a:p>
          </p:txBody>
        </p:sp>
        <p:sp>
          <p:nvSpPr>
            <p:cNvPr id="4" name="Google Shape;267;g2c711885e3a_0_215">
              <a:extLst>
                <a:ext uri="{FF2B5EF4-FFF2-40B4-BE49-F238E27FC236}">
                  <a16:creationId xmlns:a16="http://schemas.microsoft.com/office/drawing/2014/main" id="{E2C4A471-51A4-DDD9-81F4-7EE3F5027146}"/>
                </a:ext>
              </a:extLst>
            </p:cNvPr>
            <p:cNvSpPr/>
            <p:nvPr/>
          </p:nvSpPr>
          <p:spPr>
            <a:xfrm>
              <a:off x="4621870" y="909638"/>
              <a:ext cx="864900" cy="491700"/>
            </a:xfrm>
            <a:prstGeom prst="downArrow">
              <a:avLst>
                <a:gd name="adj1" fmla="val 50000"/>
                <a:gd name="adj2" fmla="val 70000"/>
              </a:avLst>
            </a:prstGeom>
            <a:noFill/>
            <a:ln w="9525" cap="flat" cmpd="sng">
              <a:solidFill>
                <a:srgbClr val="C1383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" name="Google Shape;268;g2c711885e3a_0_215">
              <a:extLst>
                <a:ext uri="{FF2B5EF4-FFF2-40B4-BE49-F238E27FC236}">
                  <a16:creationId xmlns:a16="http://schemas.microsoft.com/office/drawing/2014/main" id="{B146519C-02A0-8D17-B72F-4CD431574C74}"/>
                </a:ext>
              </a:extLst>
            </p:cNvPr>
            <p:cNvCxnSpPr/>
            <p:nvPr/>
          </p:nvCxnSpPr>
          <p:spPr>
            <a:xfrm>
              <a:off x="-711496" y="1237643"/>
              <a:ext cx="5419800" cy="0"/>
            </a:xfrm>
            <a:prstGeom prst="straightConnector1">
              <a:avLst/>
            </a:prstGeom>
            <a:noFill/>
            <a:ln w="9525" cap="flat" cmpd="sng">
              <a:solidFill>
                <a:srgbClr val="C1383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" name="Google Shape;269;g2c711885e3a_0_215">
              <a:extLst>
                <a:ext uri="{FF2B5EF4-FFF2-40B4-BE49-F238E27FC236}">
                  <a16:creationId xmlns:a16="http://schemas.microsoft.com/office/drawing/2014/main" id="{1F4207C9-9749-455A-CBDF-76F9ED4FC2E8}"/>
                </a:ext>
              </a:extLst>
            </p:cNvPr>
            <p:cNvCxnSpPr/>
            <p:nvPr/>
          </p:nvCxnSpPr>
          <p:spPr>
            <a:xfrm>
              <a:off x="5400252" y="1237643"/>
              <a:ext cx="5419800" cy="0"/>
            </a:xfrm>
            <a:prstGeom prst="straightConnector1">
              <a:avLst/>
            </a:prstGeom>
            <a:noFill/>
            <a:ln w="9525" cap="flat" cmpd="sng">
              <a:solidFill>
                <a:srgbClr val="C1383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20300720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AF61E75D-F094-211B-8BD3-CC784B4089F1}"/>
              </a:ext>
            </a:extLst>
          </p:cNvPr>
          <p:cNvSpPr/>
          <p:nvPr/>
        </p:nvSpPr>
        <p:spPr>
          <a:xfrm>
            <a:off x="7661108" y="1435510"/>
            <a:ext cx="4127765" cy="45129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276" name="Google Shape;276;g2c711885e3a_0_301"/>
          <p:cNvGrpSpPr/>
          <p:nvPr/>
        </p:nvGrpSpPr>
        <p:grpSpPr>
          <a:xfrm>
            <a:off x="0" y="6926580"/>
            <a:ext cx="12192100" cy="137160"/>
            <a:chOff x="0" y="6926580"/>
            <a:chExt cx="12192100" cy="137160"/>
          </a:xfrm>
        </p:grpSpPr>
        <p:sp>
          <p:nvSpPr>
            <p:cNvPr id="277" name="Google Shape;277;g2c711885e3a_0_301"/>
            <p:cNvSpPr/>
            <p:nvPr/>
          </p:nvSpPr>
          <p:spPr>
            <a:xfrm>
              <a:off x="11861800" y="6926580"/>
              <a:ext cx="3303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g2c711885e3a_0_301"/>
            <p:cNvSpPr/>
            <p:nvPr/>
          </p:nvSpPr>
          <p:spPr>
            <a:xfrm>
              <a:off x="5829300" y="6926580"/>
              <a:ext cx="5334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9" name="Google Shape;279;g2c711885e3a_0_301"/>
            <p:cNvCxnSpPr/>
            <p:nvPr/>
          </p:nvCxnSpPr>
          <p:spPr>
            <a:xfrm rot="10800000">
              <a:off x="118618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0" name="Google Shape;280;g2c711885e3a_0_301"/>
            <p:cNvCxnSpPr/>
            <p:nvPr/>
          </p:nvCxnSpPr>
          <p:spPr>
            <a:xfrm rot="10800000">
              <a:off x="63627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81" name="Google Shape;281;g2c711885e3a_0_301"/>
            <p:cNvSpPr/>
            <p:nvPr/>
          </p:nvSpPr>
          <p:spPr>
            <a:xfrm>
              <a:off x="0" y="6926580"/>
              <a:ext cx="3303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2" name="Google Shape;282;g2c711885e3a_0_301"/>
            <p:cNvCxnSpPr/>
            <p:nvPr/>
          </p:nvCxnSpPr>
          <p:spPr>
            <a:xfrm rot="10800000">
              <a:off x="58293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3" name="Google Shape;283;g2c711885e3a_0_301"/>
            <p:cNvCxnSpPr/>
            <p:nvPr/>
          </p:nvCxnSpPr>
          <p:spPr>
            <a:xfrm rot="10800000">
              <a:off x="3302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84" name="Google Shape;284;g2c711885e3a_0_301"/>
          <p:cNvGrpSpPr/>
          <p:nvPr/>
        </p:nvGrpSpPr>
        <p:grpSpPr>
          <a:xfrm>
            <a:off x="0" y="-205740"/>
            <a:ext cx="12192100" cy="137160"/>
            <a:chOff x="0" y="-205740"/>
            <a:chExt cx="12192100" cy="137160"/>
          </a:xfrm>
        </p:grpSpPr>
        <p:sp>
          <p:nvSpPr>
            <p:cNvPr id="285" name="Google Shape;285;g2c711885e3a_0_301"/>
            <p:cNvSpPr/>
            <p:nvPr/>
          </p:nvSpPr>
          <p:spPr>
            <a:xfrm>
              <a:off x="11861800" y="-205740"/>
              <a:ext cx="3303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g2c711885e3a_0_301"/>
            <p:cNvSpPr/>
            <p:nvPr/>
          </p:nvSpPr>
          <p:spPr>
            <a:xfrm>
              <a:off x="5829300" y="-205740"/>
              <a:ext cx="5334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7" name="Google Shape;287;g2c711885e3a_0_301"/>
            <p:cNvCxnSpPr/>
            <p:nvPr/>
          </p:nvCxnSpPr>
          <p:spPr>
            <a:xfrm rot="10800000">
              <a:off x="118618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8" name="Google Shape;288;g2c711885e3a_0_301"/>
            <p:cNvCxnSpPr/>
            <p:nvPr/>
          </p:nvCxnSpPr>
          <p:spPr>
            <a:xfrm rot="10800000">
              <a:off x="63627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89" name="Google Shape;289;g2c711885e3a_0_301"/>
            <p:cNvSpPr/>
            <p:nvPr/>
          </p:nvSpPr>
          <p:spPr>
            <a:xfrm>
              <a:off x="0" y="-205740"/>
              <a:ext cx="3303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0" name="Google Shape;290;g2c711885e3a_0_301"/>
            <p:cNvCxnSpPr/>
            <p:nvPr/>
          </p:nvCxnSpPr>
          <p:spPr>
            <a:xfrm rot="10800000">
              <a:off x="58293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91" name="Google Shape;291;g2c711885e3a_0_301"/>
            <p:cNvCxnSpPr/>
            <p:nvPr/>
          </p:nvCxnSpPr>
          <p:spPr>
            <a:xfrm rot="10800000">
              <a:off x="3302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92" name="Google Shape;292;g2c711885e3a_0_301"/>
          <p:cNvSpPr txBox="1">
            <a:spLocks noGrp="1"/>
          </p:cNvSpPr>
          <p:nvPr>
            <p:ph type="title"/>
          </p:nvPr>
        </p:nvSpPr>
        <p:spPr>
          <a:xfrm>
            <a:off x="500636" y="174922"/>
            <a:ext cx="105882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720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800">
                <a:solidFill>
                  <a:srgbClr val="2F5496"/>
                </a:solidFill>
                <a:latin typeface="Century Gothic"/>
                <a:sym typeface="Century Gothic"/>
              </a:rPr>
              <a:t>Al </a:t>
            </a:r>
            <a:r>
              <a:rPr lang="en-US" sz="2800" err="1">
                <a:solidFill>
                  <a:srgbClr val="2F5496"/>
                </a:solidFill>
                <a:latin typeface="Century Gothic"/>
                <a:sym typeface="Century Gothic"/>
              </a:rPr>
              <a:t>hacer</a:t>
            </a:r>
            <a:r>
              <a:rPr lang="en-US" sz="2800">
                <a:solidFill>
                  <a:srgbClr val="2F5496"/>
                </a:solidFill>
                <a:latin typeface="Century Gothic"/>
                <a:sym typeface="Century Gothic"/>
              </a:rPr>
              <a:t> un zoom </a:t>
            </a:r>
            <a:r>
              <a:rPr lang="en-US" sz="2800" err="1">
                <a:solidFill>
                  <a:srgbClr val="2F5496"/>
                </a:solidFill>
                <a:latin typeface="Century Gothic"/>
                <a:sym typeface="Century Gothic"/>
              </a:rPr>
              <a:t>en</a:t>
            </a:r>
            <a:r>
              <a:rPr lang="en-US" sz="2800">
                <a:solidFill>
                  <a:srgbClr val="2F5496"/>
                </a:solidFill>
                <a:latin typeface="Century Gothic"/>
                <a:sym typeface="Century Gothic"/>
              </a:rPr>
              <a:t> </a:t>
            </a:r>
            <a:r>
              <a:rPr lang="en-US" sz="2800" err="1">
                <a:solidFill>
                  <a:srgbClr val="2F5496"/>
                </a:solidFill>
                <a:latin typeface="Century Gothic"/>
                <a:sym typeface="Century Gothic"/>
              </a:rPr>
              <a:t>el</a:t>
            </a:r>
            <a:r>
              <a:rPr lang="en-US" sz="2800">
                <a:solidFill>
                  <a:srgbClr val="2F5496"/>
                </a:solidFill>
                <a:latin typeface="Century Gothic"/>
                <a:sym typeface="Century Gothic"/>
              </a:rPr>
              <a:t> mercado del </a:t>
            </a:r>
            <a:r>
              <a:rPr lang="en-US" sz="2800" err="1">
                <a:solidFill>
                  <a:srgbClr val="2F5496"/>
                </a:solidFill>
                <a:latin typeface="Century Gothic"/>
                <a:sym typeface="Century Gothic"/>
              </a:rPr>
              <a:t>Cobre</a:t>
            </a:r>
            <a:r>
              <a:rPr lang="en-US" sz="2800">
                <a:solidFill>
                  <a:srgbClr val="2F5496"/>
                </a:solidFill>
                <a:latin typeface="Century Gothic"/>
                <a:sym typeface="Century Gothic"/>
              </a:rPr>
              <a:t> se </a:t>
            </a:r>
            <a:r>
              <a:rPr lang="en-US" sz="2800" err="1">
                <a:solidFill>
                  <a:srgbClr val="2F5496"/>
                </a:solidFill>
                <a:latin typeface="Century Gothic"/>
                <a:sym typeface="Century Gothic"/>
              </a:rPr>
              <a:t>estiman</a:t>
            </a:r>
            <a:r>
              <a:rPr lang="en-US" sz="2800">
                <a:solidFill>
                  <a:srgbClr val="2F5496"/>
                </a:solidFill>
                <a:latin typeface="Century Gothic"/>
                <a:sym typeface="Century Gothic"/>
              </a:rPr>
              <a:t> que </a:t>
            </a:r>
            <a:r>
              <a:rPr lang="en-US" sz="2800" err="1">
                <a:solidFill>
                  <a:srgbClr val="2F5496"/>
                </a:solidFill>
                <a:latin typeface="Century Gothic"/>
                <a:sym typeface="Century Gothic"/>
              </a:rPr>
              <a:t>faltan</a:t>
            </a:r>
            <a:r>
              <a:rPr lang="en-US" sz="2800">
                <a:solidFill>
                  <a:srgbClr val="2F5496"/>
                </a:solidFill>
                <a:latin typeface="Century Gothic"/>
                <a:sym typeface="Century Gothic"/>
              </a:rPr>
              <a:t> 131 </a:t>
            </a:r>
            <a:r>
              <a:rPr lang="en-US" sz="2800" err="1">
                <a:solidFill>
                  <a:srgbClr val="2F5496"/>
                </a:solidFill>
                <a:latin typeface="Century Gothic"/>
                <a:sym typeface="Century Gothic"/>
              </a:rPr>
              <a:t>bUS</a:t>
            </a:r>
            <a:r>
              <a:rPr lang="en-US" sz="2800">
                <a:solidFill>
                  <a:srgbClr val="2F5496"/>
                </a:solidFill>
                <a:latin typeface="Century Gothic"/>
                <a:sym typeface="Century Gothic"/>
              </a:rPr>
              <a:t>$ </a:t>
            </a:r>
            <a:r>
              <a:rPr lang="en-US" sz="2800" err="1">
                <a:solidFill>
                  <a:srgbClr val="2F5496"/>
                </a:solidFill>
                <a:latin typeface="Century Gothic"/>
                <a:sym typeface="Century Gothic"/>
              </a:rPr>
              <a:t>en</a:t>
            </a:r>
            <a:r>
              <a:rPr lang="en-US" sz="2800">
                <a:solidFill>
                  <a:srgbClr val="2F5496"/>
                </a:solidFill>
                <a:latin typeface="Century Gothic"/>
                <a:sym typeface="Century Gothic"/>
              </a:rPr>
              <a:t> </a:t>
            </a:r>
            <a:r>
              <a:rPr lang="en-US" sz="2800" err="1">
                <a:solidFill>
                  <a:srgbClr val="2F5496"/>
                </a:solidFill>
                <a:latin typeface="Century Gothic"/>
                <a:sym typeface="Century Gothic"/>
              </a:rPr>
              <a:t>proyectos</a:t>
            </a:r>
            <a:r>
              <a:rPr lang="en-US" sz="2800">
                <a:solidFill>
                  <a:srgbClr val="2F5496"/>
                </a:solidFill>
                <a:latin typeface="Century Gothic"/>
                <a:sym typeface="Century Gothic"/>
              </a:rPr>
              <a:t> para </a:t>
            </a:r>
            <a:r>
              <a:rPr lang="en-US" sz="2800" err="1">
                <a:solidFill>
                  <a:srgbClr val="2F5496"/>
                </a:solidFill>
                <a:latin typeface="Century Gothic"/>
                <a:sym typeface="Century Gothic"/>
              </a:rPr>
              <a:t>cubrir</a:t>
            </a:r>
            <a:r>
              <a:rPr lang="en-US" sz="2800">
                <a:solidFill>
                  <a:srgbClr val="2F5496"/>
                </a:solidFill>
                <a:latin typeface="Century Gothic"/>
                <a:sym typeface="Century Gothic"/>
              </a:rPr>
              <a:t> </a:t>
            </a:r>
            <a:r>
              <a:rPr lang="en-US" sz="2800" err="1">
                <a:solidFill>
                  <a:srgbClr val="2F5496"/>
                </a:solidFill>
                <a:latin typeface="Century Gothic"/>
                <a:sym typeface="Century Gothic"/>
              </a:rPr>
              <a:t>dda</a:t>
            </a:r>
            <a:r>
              <a:rPr lang="en-US" sz="2800">
                <a:solidFill>
                  <a:srgbClr val="2F5496"/>
                </a:solidFill>
                <a:latin typeface="Century Gothic"/>
                <a:sym typeface="Century Gothic"/>
              </a:rPr>
              <a:t> al 2031</a:t>
            </a:r>
            <a:endParaRPr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F9068D03-F05F-107A-95BA-BAD8A7BAB330}"/>
              </a:ext>
            </a:extLst>
          </p:cNvPr>
          <p:cNvGrpSpPr/>
          <p:nvPr/>
        </p:nvGrpSpPr>
        <p:grpSpPr>
          <a:xfrm>
            <a:off x="0" y="1514168"/>
            <a:ext cx="6987446" cy="4080943"/>
            <a:chOff x="1656794" y="2079193"/>
            <a:chExt cx="8950443" cy="4285090"/>
          </a:xfrm>
        </p:grpSpPr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103A6840-D58A-4202-07F0-2383D1C7833D}"/>
                </a:ext>
              </a:extLst>
            </p:cNvPr>
            <p:cNvSpPr txBox="1"/>
            <p:nvPr/>
          </p:nvSpPr>
          <p:spPr>
            <a:xfrm>
              <a:off x="1656794" y="2316985"/>
              <a:ext cx="810473" cy="276868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 defTabSz="1101717">
                <a:lnSpc>
                  <a:spcPct val="90000"/>
                </a:lnSpc>
                <a:spcAft>
                  <a:spcPts val="722"/>
                </a:spcAft>
                <a:defRPr/>
              </a:pPr>
              <a:r>
                <a:rPr lang="es-ES_tradnl" sz="844" err="1">
                  <a:solidFill>
                    <a:srgbClr val="004E59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 panose="020B0604020202020204" pitchFamily="34" charset="0"/>
                </a:rPr>
                <a:t>Kton</a:t>
              </a:r>
              <a:r>
                <a:rPr lang="es-ES_tradnl" sz="844">
                  <a:solidFill>
                    <a:srgbClr val="004E59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 panose="020B0604020202020204" pitchFamily="34" charset="0"/>
                </a:rPr>
                <a:t> cobre</a:t>
              </a: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ECF2D594-B88B-7E80-B7CB-015E1790BE24}"/>
                </a:ext>
              </a:extLst>
            </p:cNvPr>
            <p:cNvSpPr txBox="1"/>
            <p:nvPr/>
          </p:nvSpPr>
          <p:spPr>
            <a:xfrm>
              <a:off x="3961351" y="2079193"/>
              <a:ext cx="5515932" cy="317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101717">
                <a:defRPr/>
              </a:pPr>
              <a:r>
                <a:rPr lang="es-ES_tradnl" sz="1465" b="1">
                  <a:solidFill>
                    <a:srgbClr val="9E480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Escenarios de brechas de capacidad</a:t>
              </a:r>
            </a:p>
          </p:txBody>
        </p:sp>
        <p:sp>
          <p:nvSpPr>
            <p:cNvPr id="39" name="TextBox 10">
              <a:extLst>
                <a:ext uri="{FF2B5EF4-FFF2-40B4-BE49-F238E27FC236}">
                  <a16:creationId xmlns:a16="http://schemas.microsoft.com/office/drawing/2014/main" id="{0347E92E-F52A-B412-CF39-9F5B477308BC}"/>
                </a:ext>
              </a:extLst>
            </p:cNvPr>
            <p:cNvSpPr txBox="1"/>
            <p:nvPr/>
          </p:nvSpPr>
          <p:spPr>
            <a:xfrm>
              <a:off x="1697179" y="6000273"/>
              <a:ext cx="8878155" cy="3640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101717" fontAlgn="base">
                <a:lnSpc>
                  <a:spcPts val="722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s-CL" sz="733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Fuente: </a:t>
              </a:r>
              <a:r>
                <a:rPr lang="es-CL" sz="733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Woodmac</a:t>
              </a:r>
              <a:r>
                <a:rPr lang="es-CL" sz="733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2q2022. *: incluye un ajuste de 5% por disrupciones que aproxima al promedio de los últimos 15 años. </a:t>
              </a:r>
              <a:r>
                <a:rPr lang="es-CL" sz="733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Cagr</a:t>
              </a:r>
              <a:r>
                <a:rPr lang="es-CL" sz="733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: Tasa de crecimiento anual promedio compuesto. </a:t>
              </a:r>
              <a:br>
                <a:rPr lang="es-CL" sz="733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s-CL" sz="733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**: </a:t>
              </a:r>
              <a:r>
                <a:rPr lang="es-CL" sz="733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Cagr</a:t>
              </a:r>
              <a:r>
                <a:rPr lang="es-CL" sz="733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1,9%: Tasa de crecimiento promedio anual estimado por IEA. </a:t>
              </a:r>
              <a:r>
                <a:rPr lang="es-CL" sz="733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Cagr</a:t>
              </a:r>
              <a:r>
                <a:rPr lang="es-CL" sz="733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2,2%: Tasa de crecimiento anual estimada por </a:t>
              </a:r>
              <a:r>
                <a:rPr lang="es-CL" sz="733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Woodmac</a:t>
              </a:r>
              <a:r>
                <a:rPr lang="es-CL" sz="733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 Cagr2,6%: Tasa de crecimiento promedio anual de los últimos 32 años. </a:t>
              </a:r>
              <a:br>
                <a:rPr lang="es-CL" sz="733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s-CL" sz="733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Demanda Primaria: Demanda de cobre refinado..</a:t>
              </a:r>
            </a:p>
          </p:txBody>
        </p:sp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08179EC1-FAEC-59D5-A456-287282576040}"/>
                </a:ext>
              </a:extLst>
            </p:cNvPr>
            <p:cNvSpPr/>
            <p:nvPr/>
          </p:nvSpPr>
          <p:spPr>
            <a:xfrm>
              <a:off x="2482552" y="2974384"/>
              <a:ext cx="8124685" cy="1199753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101717">
                <a:defRPr/>
              </a:pPr>
              <a:r>
                <a:rPr lang="es-ES_tradnl" sz="1687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5FDD0651-ECC4-9C8A-41AE-05C64D157F84}"/>
                </a:ext>
              </a:extLst>
            </p:cNvPr>
            <p:cNvSpPr txBox="1"/>
            <p:nvPr/>
          </p:nvSpPr>
          <p:spPr>
            <a:xfrm>
              <a:off x="7987912" y="3357565"/>
              <a:ext cx="407210" cy="330993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defTabSz="1101717">
                <a:defRPr/>
              </a:pPr>
              <a:r>
                <a:rPr lang="es-ES_tradnl" sz="964">
                  <a:solidFill>
                    <a:srgbClr val="004E59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Symbol" pitchFamily="2" charset="2"/>
                </a:rPr>
                <a:t></a:t>
              </a:r>
              <a:r>
                <a:rPr lang="es-ES_tradnl" sz="964" b="1">
                  <a:solidFill>
                    <a:srgbClr val="004E59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 panose="020B0604020202020204" pitchFamily="34" charset="0"/>
                </a:rPr>
                <a:t>2,7</a:t>
              </a:r>
            </a:p>
            <a:p>
              <a:pPr defTabSz="1101717">
                <a:defRPr/>
              </a:pPr>
              <a:r>
                <a:rPr lang="es-ES_tradnl" sz="964" b="1" err="1">
                  <a:solidFill>
                    <a:srgbClr val="004E59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 panose="020B0604020202020204" pitchFamily="34" charset="0"/>
                </a:rPr>
                <a:t>Mton</a:t>
              </a:r>
              <a:endParaRPr lang="es-ES_tradnl" sz="964" b="1">
                <a:solidFill>
                  <a:srgbClr val="004E59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endParaRPr>
            </a:p>
          </p:txBody>
        </p: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B19A6DAF-5ACF-C69C-DDCA-A7B9F1A675F5}"/>
                </a:ext>
              </a:extLst>
            </p:cNvPr>
            <p:cNvCxnSpPr>
              <a:cxnSpLocks/>
            </p:cNvCxnSpPr>
            <p:nvPr/>
          </p:nvCxnSpPr>
          <p:spPr>
            <a:xfrm>
              <a:off x="7415852" y="2978688"/>
              <a:ext cx="3172061" cy="0"/>
            </a:xfrm>
            <a:prstGeom prst="line">
              <a:avLst/>
            </a:prstGeom>
            <a:ln w="15875">
              <a:solidFill>
                <a:srgbClr val="FFA80E"/>
              </a:solidFill>
              <a:prstDash val="dash"/>
              <a:miter lim="800000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8065BA73-CC79-D7E9-B13E-346585B7CA34}"/>
                </a:ext>
              </a:extLst>
            </p:cNvPr>
            <p:cNvCxnSpPr>
              <a:cxnSpLocks/>
            </p:cNvCxnSpPr>
            <p:nvPr/>
          </p:nvCxnSpPr>
          <p:spPr>
            <a:xfrm>
              <a:off x="7178241" y="3773878"/>
              <a:ext cx="1674164" cy="0"/>
            </a:xfrm>
            <a:prstGeom prst="line">
              <a:avLst/>
            </a:prstGeom>
            <a:ln w="15875">
              <a:solidFill>
                <a:srgbClr val="C7B299"/>
              </a:solidFill>
              <a:prstDash val="dash"/>
              <a:miter lim="800000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3CC5362C-4EC7-E0D1-D162-5107AE43545B}"/>
                </a:ext>
              </a:extLst>
            </p:cNvPr>
            <p:cNvCxnSpPr>
              <a:cxnSpLocks/>
            </p:cNvCxnSpPr>
            <p:nvPr/>
          </p:nvCxnSpPr>
          <p:spPr>
            <a:xfrm>
              <a:off x="7490309" y="3293396"/>
              <a:ext cx="1886187" cy="0"/>
            </a:xfrm>
            <a:prstGeom prst="line">
              <a:avLst/>
            </a:prstGeom>
            <a:ln w="15875">
              <a:solidFill>
                <a:srgbClr val="C94200"/>
              </a:solidFill>
              <a:prstDash val="dash"/>
              <a:miter lim="800000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de flecha 37">
              <a:extLst>
                <a:ext uri="{FF2B5EF4-FFF2-40B4-BE49-F238E27FC236}">
                  <a16:creationId xmlns:a16="http://schemas.microsoft.com/office/drawing/2014/main" id="{1F046810-5837-B680-AD15-9D595947F688}"/>
                </a:ext>
              </a:extLst>
            </p:cNvPr>
            <p:cNvCxnSpPr>
              <a:cxnSpLocks/>
            </p:cNvCxnSpPr>
            <p:nvPr/>
          </p:nvCxnSpPr>
          <p:spPr>
            <a:xfrm>
              <a:off x="7947242" y="3289843"/>
              <a:ext cx="0" cy="490125"/>
            </a:xfrm>
            <a:prstGeom prst="straightConnector1">
              <a:avLst/>
            </a:prstGeom>
            <a:ln w="19050">
              <a:solidFill>
                <a:srgbClr val="004E59"/>
              </a:solidFill>
              <a:miter lim="800000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de flecha 39">
              <a:extLst>
                <a:ext uri="{FF2B5EF4-FFF2-40B4-BE49-F238E27FC236}">
                  <a16:creationId xmlns:a16="http://schemas.microsoft.com/office/drawing/2014/main" id="{D9C35EAA-2E89-2002-CF4E-60D64122302C}"/>
                </a:ext>
              </a:extLst>
            </p:cNvPr>
            <p:cNvCxnSpPr>
              <a:cxnSpLocks/>
            </p:cNvCxnSpPr>
            <p:nvPr/>
          </p:nvCxnSpPr>
          <p:spPr>
            <a:xfrm>
              <a:off x="8410929" y="2974385"/>
              <a:ext cx="0" cy="794988"/>
            </a:xfrm>
            <a:prstGeom prst="straightConnector1">
              <a:avLst/>
            </a:prstGeom>
            <a:ln w="15875">
              <a:solidFill>
                <a:srgbClr val="004E59"/>
              </a:solidFill>
              <a:miter lim="800000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6468E90B-3522-3C9F-C466-54798A22897D}"/>
                </a:ext>
              </a:extLst>
            </p:cNvPr>
            <p:cNvSpPr txBox="1"/>
            <p:nvPr/>
          </p:nvSpPr>
          <p:spPr>
            <a:xfrm>
              <a:off x="8441756" y="3357565"/>
              <a:ext cx="455633" cy="279966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defTabSz="1101717">
                <a:defRPr/>
              </a:pPr>
              <a:r>
                <a:rPr lang="es-ES_tradnl" sz="964">
                  <a:solidFill>
                    <a:srgbClr val="004E59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Symbol" pitchFamily="2" charset="2"/>
                </a:rPr>
                <a:t></a:t>
              </a:r>
              <a:r>
                <a:rPr lang="es-ES_tradnl" sz="964" b="1">
                  <a:solidFill>
                    <a:srgbClr val="004E59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 panose="020B0604020202020204" pitchFamily="34" charset="0"/>
                </a:rPr>
                <a:t>4,6</a:t>
              </a:r>
            </a:p>
            <a:p>
              <a:pPr defTabSz="1101717">
                <a:defRPr/>
              </a:pPr>
              <a:r>
                <a:rPr lang="es-ES_tradnl" sz="964" b="1" err="1">
                  <a:solidFill>
                    <a:srgbClr val="004E59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 panose="020B0604020202020204" pitchFamily="34" charset="0"/>
                </a:rPr>
                <a:t>Mton</a:t>
              </a:r>
              <a:endParaRPr lang="es-ES_tradnl" sz="964" b="1">
                <a:solidFill>
                  <a:srgbClr val="004E59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655DBB8A-3EB9-6362-6681-51FE939E7D7E}"/>
                </a:ext>
              </a:extLst>
            </p:cNvPr>
            <p:cNvSpPr txBox="1"/>
            <p:nvPr/>
          </p:nvSpPr>
          <p:spPr>
            <a:xfrm rot="20797535">
              <a:off x="7230086" y="2949528"/>
              <a:ext cx="1028115" cy="177733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defTabSz="1101717">
                <a:defRPr/>
              </a:pPr>
              <a:r>
                <a:rPr lang="es-ES_tradnl" sz="1084" b="1" err="1">
                  <a:solidFill>
                    <a:srgbClr val="004E59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 panose="020B0604020202020204" pitchFamily="34" charset="0"/>
                </a:rPr>
                <a:t>Cagr</a:t>
              </a:r>
              <a:r>
                <a:rPr lang="es-ES_tradnl" sz="1084" b="1">
                  <a:solidFill>
                    <a:srgbClr val="004E59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 panose="020B0604020202020204" pitchFamily="34" charset="0"/>
                </a:rPr>
                <a:t>: 2,2%</a:t>
              </a:r>
            </a:p>
          </p:txBody>
        </p:sp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33677343-C94D-D2FA-3F38-D8DC6ECD9A82}"/>
                </a:ext>
              </a:extLst>
            </p:cNvPr>
            <p:cNvSpPr txBox="1"/>
            <p:nvPr/>
          </p:nvSpPr>
          <p:spPr>
            <a:xfrm rot="20593672">
              <a:off x="7211797" y="2753730"/>
              <a:ext cx="847233" cy="167859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defTabSz="1101717">
                <a:defRPr/>
              </a:pPr>
              <a:r>
                <a:rPr lang="es-ES_tradnl" sz="1084" b="1" err="1">
                  <a:solidFill>
                    <a:srgbClr val="FFA80E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 panose="020B0604020202020204" pitchFamily="34" charset="0"/>
                </a:rPr>
                <a:t>Cagr</a:t>
              </a:r>
              <a:r>
                <a:rPr lang="es-ES_tradnl" sz="1084" b="1">
                  <a:solidFill>
                    <a:srgbClr val="FFA80E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 panose="020B0604020202020204" pitchFamily="34" charset="0"/>
                </a:rPr>
                <a:t>: 2,6%</a:t>
              </a:r>
            </a:p>
          </p:txBody>
        </p: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22F34077-D221-41B0-C684-B5FAEFC5050E}"/>
                </a:ext>
              </a:extLst>
            </p:cNvPr>
            <p:cNvCxnSpPr>
              <a:cxnSpLocks/>
            </p:cNvCxnSpPr>
            <p:nvPr/>
          </p:nvCxnSpPr>
          <p:spPr>
            <a:xfrm>
              <a:off x="7190002" y="4165547"/>
              <a:ext cx="3397912" cy="0"/>
            </a:xfrm>
            <a:prstGeom prst="line">
              <a:avLst/>
            </a:prstGeom>
            <a:ln w="15875">
              <a:solidFill>
                <a:srgbClr val="A5AD3C"/>
              </a:solidFill>
              <a:prstDash val="dash"/>
              <a:miter lim="800000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de flecha 44">
              <a:extLst>
                <a:ext uri="{FF2B5EF4-FFF2-40B4-BE49-F238E27FC236}">
                  <a16:creationId xmlns:a16="http://schemas.microsoft.com/office/drawing/2014/main" id="{A4F21312-F409-A6D6-D712-08BE28E58FAA}"/>
                </a:ext>
              </a:extLst>
            </p:cNvPr>
            <p:cNvCxnSpPr>
              <a:cxnSpLocks/>
            </p:cNvCxnSpPr>
            <p:nvPr/>
          </p:nvCxnSpPr>
          <p:spPr>
            <a:xfrm>
              <a:off x="9676811" y="2989978"/>
              <a:ext cx="0" cy="1166563"/>
            </a:xfrm>
            <a:prstGeom prst="straightConnector1">
              <a:avLst/>
            </a:prstGeom>
            <a:ln w="19050">
              <a:solidFill>
                <a:srgbClr val="004E59"/>
              </a:solidFill>
              <a:miter lim="800000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E172244A-01A2-6513-E7A7-C3696B62B8CF}"/>
                </a:ext>
              </a:extLst>
            </p:cNvPr>
            <p:cNvSpPr txBox="1"/>
            <p:nvPr/>
          </p:nvSpPr>
          <p:spPr>
            <a:xfrm>
              <a:off x="9724651" y="3357565"/>
              <a:ext cx="663738" cy="279966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defTabSz="1101717">
                <a:defRPr/>
              </a:pPr>
              <a:r>
                <a:rPr lang="es-ES_tradnl" sz="964">
                  <a:solidFill>
                    <a:srgbClr val="004E59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Symbol" pitchFamily="2" charset="2"/>
                </a:rPr>
                <a:t></a:t>
              </a:r>
              <a:r>
                <a:rPr lang="es-ES_tradnl" sz="964" b="1">
                  <a:solidFill>
                    <a:srgbClr val="004E59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 panose="020B0604020202020204" pitchFamily="34" charset="0"/>
                </a:rPr>
                <a:t>6,9</a:t>
              </a:r>
            </a:p>
            <a:p>
              <a:pPr defTabSz="1101717">
                <a:defRPr/>
              </a:pPr>
              <a:r>
                <a:rPr lang="es-ES_tradnl" sz="964" b="1" err="1">
                  <a:solidFill>
                    <a:srgbClr val="004E59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 panose="020B0604020202020204" pitchFamily="34" charset="0"/>
                </a:rPr>
                <a:t>Mton</a:t>
              </a:r>
              <a:endParaRPr lang="es-ES_tradnl" sz="964" b="1">
                <a:solidFill>
                  <a:srgbClr val="004E59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endParaRPr>
            </a:p>
          </p:txBody>
        </p:sp>
        <p:cxnSp>
          <p:nvCxnSpPr>
            <p:cNvPr id="47" name="Conector recto de flecha 46">
              <a:extLst>
                <a:ext uri="{FF2B5EF4-FFF2-40B4-BE49-F238E27FC236}">
                  <a16:creationId xmlns:a16="http://schemas.microsoft.com/office/drawing/2014/main" id="{2A38412E-2AE8-1AD2-58CA-B247AF885C6B}"/>
                </a:ext>
              </a:extLst>
            </p:cNvPr>
            <p:cNvCxnSpPr>
              <a:cxnSpLocks/>
            </p:cNvCxnSpPr>
            <p:nvPr/>
          </p:nvCxnSpPr>
          <p:spPr>
            <a:xfrm>
              <a:off x="9035590" y="3289843"/>
              <a:ext cx="2087" cy="866698"/>
            </a:xfrm>
            <a:prstGeom prst="straightConnector1">
              <a:avLst/>
            </a:prstGeom>
            <a:ln w="19050">
              <a:solidFill>
                <a:srgbClr val="004E59"/>
              </a:solidFill>
              <a:miter lim="800000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D3057DE8-F054-9211-45C3-87662AEF9AE2}"/>
                </a:ext>
              </a:extLst>
            </p:cNvPr>
            <p:cNvSpPr txBox="1"/>
            <p:nvPr/>
          </p:nvSpPr>
          <p:spPr>
            <a:xfrm>
              <a:off x="9078761" y="3357565"/>
              <a:ext cx="398523" cy="279966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defTabSz="1101717">
                <a:defRPr/>
              </a:pPr>
              <a:r>
                <a:rPr lang="es-ES_tradnl" sz="964">
                  <a:solidFill>
                    <a:srgbClr val="004E59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Symbol" pitchFamily="2" charset="2"/>
                </a:rPr>
                <a:t></a:t>
              </a:r>
              <a:r>
                <a:rPr lang="es-ES_tradnl" sz="964" b="1">
                  <a:solidFill>
                    <a:srgbClr val="004E59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 panose="020B0604020202020204" pitchFamily="34" charset="0"/>
                </a:rPr>
                <a:t>5,0</a:t>
              </a:r>
            </a:p>
            <a:p>
              <a:pPr defTabSz="1101717">
                <a:defRPr/>
              </a:pPr>
              <a:r>
                <a:rPr lang="es-ES_tradnl" sz="964" b="1" err="1">
                  <a:solidFill>
                    <a:srgbClr val="004E59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 panose="020B0604020202020204" pitchFamily="34" charset="0"/>
                </a:rPr>
                <a:t>Mton</a:t>
              </a:r>
              <a:endParaRPr lang="es-ES_tradnl" sz="964" b="1">
                <a:solidFill>
                  <a:srgbClr val="004E59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9" name="CuadroTexto 48">
              <a:extLst>
                <a:ext uri="{FF2B5EF4-FFF2-40B4-BE49-F238E27FC236}">
                  <a16:creationId xmlns:a16="http://schemas.microsoft.com/office/drawing/2014/main" id="{8BD3CCAD-B0B3-257A-5E9B-9BB439094649}"/>
                </a:ext>
              </a:extLst>
            </p:cNvPr>
            <p:cNvSpPr txBox="1"/>
            <p:nvPr/>
          </p:nvSpPr>
          <p:spPr>
            <a:xfrm rot="20797535">
              <a:off x="7226689" y="3123725"/>
              <a:ext cx="908837" cy="155042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defTabSz="1101717">
                <a:defRPr/>
              </a:pPr>
              <a:r>
                <a:rPr lang="es-ES_tradnl" sz="1084" b="1" err="1">
                  <a:solidFill>
                    <a:srgbClr val="C9420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 panose="020B0604020202020204" pitchFamily="34" charset="0"/>
                </a:rPr>
                <a:t>Cagr</a:t>
              </a:r>
              <a:r>
                <a:rPr lang="es-ES_tradnl" sz="1084" b="1">
                  <a:solidFill>
                    <a:srgbClr val="C9420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 panose="020B0604020202020204" pitchFamily="34" charset="0"/>
                </a:rPr>
                <a:t>: 1,9%</a:t>
              </a:r>
            </a:p>
          </p:txBody>
        </p:sp>
        <p:sp>
          <p:nvSpPr>
            <p:cNvPr id="50" name="AutoShape 2">
              <a:extLst>
                <a:ext uri="{FF2B5EF4-FFF2-40B4-BE49-F238E27FC236}">
                  <a16:creationId xmlns:a16="http://schemas.microsoft.com/office/drawing/2014/main" id="{FBCF05C2-05CD-7F5A-CE29-36589F7356A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11430" y="3245387"/>
              <a:ext cx="367226" cy="367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10167" tIns="55084" rIns="110167" bIns="55084" numCol="1" anchor="t" anchorCtr="0" compatLnSpc="1">
              <a:prstTxWarp prst="textNoShape">
                <a:avLst/>
              </a:prstTxWarp>
            </a:bodyPr>
            <a:lstStyle/>
            <a:p>
              <a:endParaRPr lang="es-CL" sz="2169"/>
            </a:p>
          </p:txBody>
        </p:sp>
        <p:graphicFrame>
          <p:nvGraphicFramePr>
            <p:cNvPr id="5" name="Gráfico 4">
              <a:extLst>
                <a:ext uri="{FF2B5EF4-FFF2-40B4-BE49-F238E27FC236}">
                  <a16:creationId xmlns:a16="http://schemas.microsoft.com/office/drawing/2014/main" id="{E4B0B617-772E-5DB5-F5D2-1AEF09E83CBA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821267" y="2479925"/>
            <a:ext cx="5730838" cy="346773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912A2751-60FE-F44A-1D7B-27532E8793DD}"/>
                </a:ext>
              </a:extLst>
            </p:cNvPr>
            <p:cNvSpPr txBox="1"/>
            <p:nvPr/>
          </p:nvSpPr>
          <p:spPr>
            <a:xfrm>
              <a:off x="3531944" y="4241302"/>
              <a:ext cx="3567939" cy="355442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 defTabSz="1101717">
                <a:lnSpc>
                  <a:spcPct val="90000"/>
                </a:lnSpc>
                <a:defRPr/>
              </a:pPr>
              <a:r>
                <a:rPr lang="es-ES_tradnl" sz="844" b="1">
                  <a:solidFill>
                    <a:srgbClr val="004E59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 panose="020B0604020202020204" pitchFamily="34" charset="0"/>
                </a:rPr>
                <a:t>Capacidad base*</a:t>
              </a:r>
            </a:p>
            <a:p>
              <a:pPr algn="ctr" defTabSz="1101717">
                <a:lnSpc>
                  <a:spcPct val="90000"/>
                </a:lnSpc>
                <a:defRPr/>
              </a:pPr>
              <a:r>
                <a:rPr lang="es-ES_tradnl" sz="844">
                  <a:solidFill>
                    <a:srgbClr val="004E59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 panose="020B0604020202020204" pitchFamily="34" charset="0"/>
                </a:rPr>
                <a:t>(producción base + proyectos en construcción)</a:t>
              </a:r>
              <a:endParaRPr lang="es-ES_tradnl" sz="844">
                <a:solidFill>
                  <a:srgbClr val="004E59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Rectangle 67">
              <a:extLst>
                <a:ext uri="{FF2B5EF4-FFF2-40B4-BE49-F238E27FC236}">
                  <a16:creationId xmlns:a16="http://schemas.microsoft.com/office/drawing/2014/main" id="{EA193A48-1392-D869-1A30-4C556BE2F998}"/>
                </a:ext>
              </a:extLst>
            </p:cNvPr>
            <p:cNvSpPr/>
            <p:nvPr/>
          </p:nvSpPr>
          <p:spPr>
            <a:xfrm>
              <a:off x="7218222" y="4194818"/>
              <a:ext cx="3369736" cy="738562"/>
            </a:xfrm>
            <a:prstGeom prst="rect">
              <a:avLst/>
            </a:prstGeom>
            <a:solidFill>
              <a:srgbClr val="C7B299">
                <a:alpha val="68807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2169"/>
            </a:p>
          </p:txBody>
        </p:sp>
        <p:sp>
          <p:nvSpPr>
            <p:cNvPr id="52" name="TextBox 71">
              <a:extLst>
                <a:ext uri="{FF2B5EF4-FFF2-40B4-BE49-F238E27FC236}">
                  <a16:creationId xmlns:a16="http://schemas.microsoft.com/office/drawing/2014/main" id="{272EA8DE-6ABF-1CE9-5934-2A4C4AE9556F}"/>
                </a:ext>
              </a:extLst>
            </p:cNvPr>
            <p:cNvSpPr txBox="1"/>
            <p:nvPr/>
          </p:nvSpPr>
          <p:spPr>
            <a:xfrm>
              <a:off x="7237535" y="4287820"/>
              <a:ext cx="2812842" cy="3744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1101717">
                <a:lnSpc>
                  <a:spcPts val="1084"/>
                </a:lnSpc>
                <a:defRPr/>
              </a:pPr>
              <a:r>
                <a:rPr lang="es-ES_tradnl" sz="964" b="1">
                  <a:solidFill>
                    <a:srgbClr val="004E59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 panose="020B0604020202020204" pitchFamily="34" charset="0"/>
                </a:rPr>
                <a:t>Entre 5 y 6,9 </a:t>
              </a:r>
              <a:r>
                <a:rPr lang="es-ES_tradnl" sz="964" b="1" err="1">
                  <a:solidFill>
                    <a:srgbClr val="004E59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 panose="020B0604020202020204" pitchFamily="34" charset="0"/>
                </a:rPr>
                <a:t>Mton</a:t>
              </a:r>
              <a:r>
                <a:rPr lang="es-ES_tradnl" sz="964" b="1">
                  <a:solidFill>
                    <a:srgbClr val="004E59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 panose="020B0604020202020204" pitchFamily="34" charset="0"/>
                </a:rPr>
                <a:t> adicionales se necesitan para cubrir las necesidades de cobre al 2031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ED31FF2B-8B19-0BBF-7256-E26311692CBD}"/>
                </a:ext>
              </a:extLst>
            </p:cNvPr>
            <p:cNvSpPr txBox="1"/>
            <p:nvPr/>
          </p:nvSpPr>
          <p:spPr>
            <a:xfrm>
              <a:off x="5818516" y="3667442"/>
              <a:ext cx="1313378" cy="273586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 defTabSz="1101717">
                <a:lnSpc>
                  <a:spcPct val="90000"/>
                </a:lnSpc>
                <a:defRPr/>
              </a:pPr>
              <a:r>
                <a:rPr lang="es-ES_tradnl" sz="879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 panose="020B0604020202020204" pitchFamily="34" charset="0"/>
                </a:rPr>
                <a:t>Proyectos probables </a:t>
              </a:r>
            </a:p>
            <a:p>
              <a:pPr algn="ctr" defTabSz="1101717">
                <a:lnSpc>
                  <a:spcPct val="90000"/>
                </a:lnSpc>
                <a:defRPr/>
              </a:pPr>
              <a:r>
                <a:rPr lang="es-ES_tradnl" sz="879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 panose="020B0604020202020204" pitchFamily="34" charset="0"/>
                </a:rPr>
                <a:t>(no aprobados)</a:t>
              </a: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4CFACAAC-8C99-B8D8-698E-09C61E9FFF8E}"/>
              </a:ext>
            </a:extLst>
          </p:cNvPr>
          <p:cNvGrpSpPr/>
          <p:nvPr/>
        </p:nvGrpSpPr>
        <p:grpSpPr>
          <a:xfrm>
            <a:off x="7807494" y="1673503"/>
            <a:ext cx="3759760" cy="3964779"/>
            <a:chOff x="8484338" y="2897262"/>
            <a:chExt cx="2495438" cy="2464299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21E33F9B-CF8D-550E-02D5-3D35B360B103}"/>
                </a:ext>
              </a:extLst>
            </p:cNvPr>
            <p:cNvSpPr/>
            <p:nvPr/>
          </p:nvSpPr>
          <p:spPr>
            <a:xfrm>
              <a:off x="9021207" y="4950479"/>
              <a:ext cx="1662381" cy="240299"/>
            </a:xfrm>
            <a:prstGeom prst="rect">
              <a:avLst/>
            </a:prstGeom>
            <a:solidFill>
              <a:srgbClr val="C69F8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51820">
                <a:defRPr/>
              </a:pPr>
              <a:endParaRPr lang="es-ES_tradnl" sz="900" err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AEE9B8A0-CD9B-FD06-B991-C78C12452238}"/>
                </a:ext>
              </a:extLst>
            </p:cNvPr>
            <p:cNvSpPr/>
            <p:nvPr/>
          </p:nvSpPr>
          <p:spPr>
            <a:xfrm>
              <a:off x="8987249" y="4253987"/>
              <a:ext cx="1686352" cy="652060"/>
            </a:xfrm>
            <a:prstGeom prst="rect">
              <a:avLst/>
            </a:prstGeom>
            <a:solidFill>
              <a:srgbClr val="CACE9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51820">
                <a:defRPr/>
              </a:pPr>
              <a:endParaRPr lang="es-ES_tradnl" sz="900" err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1A81E20F-ED3D-E59B-FA5C-42785D923379}"/>
                </a:ext>
              </a:extLst>
            </p:cNvPr>
            <p:cNvSpPr/>
            <p:nvPr/>
          </p:nvSpPr>
          <p:spPr>
            <a:xfrm>
              <a:off x="8997779" y="3438937"/>
              <a:ext cx="1675822" cy="740060"/>
            </a:xfrm>
            <a:prstGeom prst="rect">
              <a:avLst/>
            </a:prstGeom>
            <a:solidFill>
              <a:srgbClr val="F5A78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51820">
                <a:defRPr/>
              </a:pPr>
              <a:endParaRPr lang="es-ES_tradnl" sz="900" err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9B12EB8F-8C22-E7BE-B292-016625256B71}"/>
                </a:ext>
              </a:extLst>
            </p:cNvPr>
            <p:cNvSpPr txBox="1"/>
            <p:nvPr/>
          </p:nvSpPr>
          <p:spPr>
            <a:xfrm>
              <a:off x="9523278" y="4982446"/>
              <a:ext cx="1194268" cy="15303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>
              <a:spAutoFit/>
            </a:bodyPr>
            <a:lstStyle/>
            <a:p>
              <a:pPr defTabSz="751820">
                <a:defRPr/>
              </a:pPr>
              <a:r>
                <a:rPr lang="es-ES_tradnl" sz="1000" b="1">
                  <a:solidFill>
                    <a:srgbClr val="004E59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Proyectos en construcción </a:t>
              </a: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9065A79A-3A1B-8C4A-735A-E0E9C8157A9B}"/>
                </a:ext>
              </a:extLst>
            </p:cNvPr>
            <p:cNvSpPr txBox="1"/>
            <p:nvPr/>
          </p:nvSpPr>
          <p:spPr>
            <a:xfrm>
              <a:off x="9524811" y="4485914"/>
              <a:ext cx="1055049" cy="248687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>
              <a:spAutoFit/>
            </a:bodyPr>
            <a:lstStyle/>
            <a:p>
              <a:pPr defTabSz="751820">
                <a:defRPr/>
              </a:pPr>
              <a:r>
                <a:rPr lang="es-ES_tradnl" sz="1000" b="1">
                  <a:solidFill>
                    <a:srgbClr val="004E59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Proyectos Probables</a:t>
              </a:r>
            </a:p>
            <a:p>
              <a:pPr defTabSz="751820">
                <a:defRPr/>
              </a:pPr>
              <a:r>
                <a:rPr lang="es-ES_tradnl" sz="1000">
                  <a:solidFill>
                    <a:srgbClr val="004E59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(no aprobados)</a:t>
              </a: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101ED972-5F05-DC79-EDF5-5994454CCDAB}"/>
                </a:ext>
              </a:extLst>
            </p:cNvPr>
            <p:cNvSpPr txBox="1"/>
            <p:nvPr/>
          </p:nvSpPr>
          <p:spPr>
            <a:xfrm>
              <a:off x="9518845" y="3684624"/>
              <a:ext cx="1031035" cy="248687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>
              <a:spAutoFit/>
            </a:bodyPr>
            <a:lstStyle/>
            <a:p>
              <a:pPr defTabSz="751820">
                <a:defRPr/>
              </a:pPr>
              <a:r>
                <a:rPr lang="es-ES_tradnl" sz="1000" b="1">
                  <a:solidFill>
                    <a:srgbClr val="004E59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Proyectos Posibles</a:t>
              </a:r>
            </a:p>
            <a:p>
              <a:pPr defTabSz="751820">
                <a:defRPr/>
              </a:pPr>
              <a:r>
                <a:rPr lang="es-ES_tradnl" sz="1000">
                  <a:solidFill>
                    <a:srgbClr val="004E59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(no aprobados)</a:t>
              </a:r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8E2751D6-B6CF-9B3F-416A-C828161A08A6}"/>
                </a:ext>
              </a:extLst>
            </p:cNvPr>
            <p:cNvSpPr/>
            <p:nvPr/>
          </p:nvSpPr>
          <p:spPr>
            <a:xfrm>
              <a:off x="8484338" y="2897262"/>
              <a:ext cx="2495438" cy="258013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wrap="square">
              <a:spAutoFit/>
            </a:bodyPr>
            <a:lstStyle/>
            <a:p>
              <a:pPr defTabSz="751820">
                <a:lnSpc>
                  <a:spcPts val="822"/>
                </a:lnSpc>
                <a:defRPr sz="1600" b="1" i="0" u="none" strike="noStrike" kern="1200" spc="0" baseline="0">
                  <a:solidFill>
                    <a:prstClr val="black"/>
                  </a:solidFill>
                  <a:latin typeface="+mn-lt"/>
                  <a:ea typeface="+mn-ea"/>
                  <a:cs typeface="+mn-cs"/>
                </a:defRPr>
              </a:pPr>
              <a:r>
                <a:rPr lang="es-ES_tradnl" sz="1200" err="1">
                  <a:solidFill>
                    <a:srgbClr val="9E480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Capex</a:t>
              </a:r>
              <a:r>
                <a:rPr lang="es-ES_tradnl" sz="1200">
                  <a:solidFill>
                    <a:srgbClr val="9E480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inicial de proyectos de cobre a nivel mundial</a:t>
              </a:r>
            </a:p>
            <a:p>
              <a:pPr defTabSz="751820">
                <a:lnSpc>
                  <a:spcPts val="822"/>
                </a:lnSpc>
                <a:defRPr sz="1600" b="1" i="0" u="none" strike="noStrike" kern="1200" spc="0" baseline="0">
                  <a:solidFill>
                    <a:prstClr val="black"/>
                  </a:solidFill>
                  <a:latin typeface="+mn-lt"/>
                  <a:ea typeface="+mn-ea"/>
                  <a:cs typeface="+mn-cs"/>
                </a:defRPr>
              </a:pPr>
              <a:endParaRPr lang="es-ES_tradnl" sz="1200">
                <a:solidFill>
                  <a:srgbClr val="9E480D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defTabSz="751820">
                <a:lnSpc>
                  <a:spcPts val="822"/>
                </a:lnSpc>
                <a:defRPr sz="1600" b="1" i="0" u="none" strike="noStrike" kern="1200" spc="0" baseline="0">
                  <a:solidFill>
                    <a:prstClr val="black"/>
                  </a:solidFill>
                  <a:latin typeface="+mn-lt"/>
                  <a:ea typeface="+mn-ea"/>
                  <a:cs typeface="+mn-cs"/>
                </a:defRPr>
              </a:pPr>
              <a:r>
                <a:rPr lang="es-ES_tradnl" sz="1200">
                  <a:solidFill>
                    <a:srgbClr val="9E480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para satisfacer la demanda primaria al 2031 (BUS$)*</a:t>
              </a:r>
            </a:p>
          </p:txBody>
        </p:sp>
        <p:graphicFrame>
          <p:nvGraphicFramePr>
            <p:cNvPr id="17" name="Gráfico 16">
              <a:extLst>
                <a:ext uri="{FF2B5EF4-FFF2-40B4-BE49-F238E27FC236}">
                  <a16:creationId xmlns:a16="http://schemas.microsoft.com/office/drawing/2014/main" id="{F5E9E6BE-4590-95AB-769F-78A8E2BAC293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8721399" y="3180372"/>
            <a:ext cx="927802" cy="218118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505DD14A-88E1-BF5E-89D2-521D3E2FEE29}"/>
                </a:ext>
              </a:extLst>
            </p:cNvPr>
            <p:cNvSpPr txBox="1"/>
            <p:nvPr/>
          </p:nvSpPr>
          <p:spPr>
            <a:xfrm>
              <a:off x="8997779" y="3200210"/>
              <a:ext cx="568306" cy="229053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 defTabSz="751820">
                <a:defRPr/>
              </a:pPr>
              <a:r>
                <a:rPr lang="es-ES_tradnl" b="1">
                  <a:solidFill>
                    <a:srgbClr val="004E59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153</a:t>
              </a:r>
            </a:p>
          </p:txBody>
        </p:sp>
      </p:grp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9A5A27F4-B922-2110-9ED0-E7D91DD9B608}"/>
              </a:ext>
            </a:extLst>
          </p:cNvPr>
          <p:cNvSpPr/>
          <p:nvPr/>
        </p:nvSpPr>
        <p:spPr>
          <a:xfrm>
            <a:off x="7256364" y="2944563"/>
            <a:ext cx="252789" cy="1886398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4DA5D70-1D90-16B9-E626-39D34310F64E}"/>
              </a:ext>
            </a:extLst>
          </p:cNvPr>
          <p:cNvSpPr txBox="1"/>
          <p:nvPr/>
        </p:nvSpPr>
        <p:spPr>
          <a:xfrm>
            <a:off x="7694456" y="5714783"/>
            <a:ext cx="87075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500"/>
              <a:t>Fuente: Wood </a:t>
            </a:r>
            <a:r>
              <a:rPr lang="es-MX" sz="500" err="1"/>
              <a:t>Mckensei</a:t>
            </a:r>
            <a:endParaRPr lang="es-CL" sz="500"/>
          </a:p>
        </p:txBody>
      </p:sp>
      <p:grpSp>
        <p:nvGrpSpPr>
          <p:cNvPr id="21" name="Google Shape;265;g2c711885e3a_0_215">
            <a:extLst>
              <a:ext uri="{FF2B5EF4-FFF2-40B4-BE49-F238E27FC236}">
                <a16:creationId xmlns:a16="http://schemas.microsoft.com/office/drawing/2014/main" id="{5D0EEE8C-0C0D-8158-94F6-54A95BF89EE5}"/>
              </a:ext>
            </a:extLst>
          </p:cNvPr>
          <p:cNvGrpSpPr/>
          <p:nvPr/>
        </p:nvGrpSpPr>
        <p:grpSpPr>
          <a:xfrm>
            <a:off x="165150" y="5843163"/>
            <a:ext cx="11531700" cy="824999"/>
            <a:chOff x="-711496" y="909638"/>
            <a:chExt cx="11531700" cy="1125818"/>
          </a:xfrm>
        </p:grpSpPr>
        <p:sp>
          <p:nvSpPr>
            <p:cNvPr id="22" name="Google Shape;266;g2c711885e3a_0_215">
              <a:extLst>
                <a:ext uri="{FF2B5EF4-FFF2-40B4-BE49-F238E27FC236}">
                  <a16:creationId xmlns:a16="http://schemas.microsoft.com/office/drawing/2014/main" id="{47005C81-26C3-C433-8694-D9FBEC60D970}"/>
                </a:ext>
              </a:extLst>
            </p:cNvPr>
            <p:cNvSpPr txBox="1"/>
            <p:nvPr/>
          </p:nvSpPr>
          <p:spPr>
            <a:xfrm>
              <a:off x="-711496" y="1401541"/>
              <a:ext cx="11531700" cy="6339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025" tIns="36025" rIns="36025" bIns="180175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13832"/>
                </a:buClr>
                <a:buSzPts val="1600"/>
                <a:buFont typeface="Arial"/>
                <a:buNone/>
              </a:pP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Si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consideramos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el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 10%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en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gastos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 de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Ingenieria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 ~ 13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bUS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$ seria un mercado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potencial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 </a:t>
              </a:r>
              <a:endParaRPr b="1">
                <a:latin typeface="Century Gothic" charset="0"/>
                <a:ea typeface="Century Gothic" charset="0"/>
                <a:cs typeface="Century Gothic" charset="0"/>
              </a:endParaRPr>
            </a:p>
          </p:txBody>
        </p:sp>
        <p:sp>
          <p:nvSpPr>
            <p:cNvPr id="24" name="Google Shape;267;g2c711885e3a_0_215">
              <a:extLst>
                <a:ext uri="{FF2B5EF4-FFF2-40B4-BE49-F238E27FC236}">
                  <a16:creationId xmlns:a16="http://schemas.microsoft.com/office/drawing/2014/main" id="{BE7DCEAD-3301-7690-52A2-1B561568BFCC}"/>
                </a:ext>
              </a:extLst>
            </p:cNvPr>
            <p:cNvSpPr/>
            <p:nvPr/>
          </p:nvSpPr>
          <p:spPr>
            <a:xfrm>
              <a:off x="4621870" y="909638"/>
              <a:ext cx="864900" cy="491700"/>
            </a:xfrm>
            <a:prstGeom prst="downArrow">
              <a:avLst>
                <a:gd name="adj1" fmla="val 50000"/>
                <a:gd name="adj2" fmla="val 70000"/>
              </a:avLst>
            </a:prstGeom>
            <a:noFill/>
            <a:ln w="9525" cap="flat" cmpd="sng">
              <a:solidFill>
                <a:srgbClr val="C1383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" name="Google Shape;268;g2c711885e3a_0_215">
              <a:extLst>
                <a:ext uri="{FF2B5EF4-FFF2-40B4-BE49-F238E27FC236}">
                  <a16:creationId xmlns:a16="http://schemas.microsoft.com/office/drawing/2014/main" id="{DFE7E8B2-D598-01FA-D30A-5BADC3063BCB}"/>
                </a:ext>
              </a:extLst>
            </p:cNvPr>
            <p:cNvCxnSpPr/>
            <p:nvPr/>
          </p:nvCxnSpPr>
          <p:spPr>
            <a:xfrm>
              <a:off x="-711496" y="1237643"/>
              <a:ext cx="5419800" cy="0"/>
            </a:xfrm>
            <a:prstGeom prst="straightConnector1">
              <a:avLst/>
            </a:prstGeom>
            <a:noFill/>
            <a:ln w="9525" cap="flat" cmpd="sng">
              <a:solidFill>
                <a:srgbClr val="C1383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7" name="Google Shape;269;g2c711885e3a_0_215">
              <a:extLst>
                <a:ext uri="{FF2B5EF4-FFF2-40B4-BE49-F238E27FC236}">
                  <a16:creationId xmlns:a16="http://schemas.microsoft.com/office/drawing/2014/main" id="{C4171573-8AA5-83D6-58C3-8971FB59F366}"/>
                </a:ext>
              </a:extLst>
            </p:cNvPr>
            <p:cNvCxnSpPr/>
            <p:nvPr/>
          </p:nvCxnSpPr>
          <p:spPr>
            <a:xfrm>
              <a:off x="5400252" y="1237643"/>
              <a:ext cx="5419800" cy="0"/>
            </a:xfrm>
            <a:prstGeom prst="straightConnector1">
              <a:avLst/>
            </a:prstGeom>
            <a:noFill/>
            <a:ln w="9525" cap="flat" cmpd="sng">
              <a:solidFill>
                <a:srgbClr val="C1383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21305631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3" name="Google Shape;423;g2c711885e3a_0_449"/>
          <p:cNvGrpSpPr/>
          <p:nvPr/>
        </p:nvGrpSpPr>
        <p:grpSpPr>
          <a:xfrm>
            <a:off x="0" y="6926580"/>
            <a:ext cx="12192100" cy="137160"/>
            <a:chOff x="0" y="6926580"/>
            <a:chExt cx="12192100" cy="137160"/>
          </a:xfrm>
        </p:grpSpPr>
        <p:sp>
          <p:nvSpPr>
            <p:cNvPr id="424" name="Google Shape;424;g2c711885e3a_0_449"/>
            <p:cNvSpPr/>
            <p:nvPr/>
          </p:nvSpPr>
          <p:spPr>
            <a:xfrm>
              <a:off x="11861800" y="6926580"/>
              <a:ext cx="3303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g2c711885e3a_0_449"/>
            <p:cNvSpPr/>
            <p:nvPr/>
          </p:nvSpPr>
          <p:spPr>
            <a:xfrm>
              <a:off x="9448800" y="6926580"/>
              <a:ext cx="5334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6" name="Google Shape;426;g2c711885e3a_0_449"/>
            <p:cNvCxnSpPr/>
            <p:nvPr/>
          </p:nvCxnSpPr>
          <p:spPr>
            <a:xfrm rot="10800000">
              <a:off x="118618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27" name="Google Shape;427;g2c711885e3a_0_449"/>
            <p:cNvCxnSpPr/>
            <p:nvPr/>
          </p:nvCxnSpPr>
          <p:spPr>
            <a:xfrm rot="10800000">
              <a:off x="99822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428" name="Google Shape;428;g2c711885e3a_0_449"/>
            <p:cNvSpPr/>
            <p:nvPr/>
          </p:nvSpPr>
          <p:spPr>
            <a:xfrm>
              <a:off x="7035800" y="6926580"/>
              <a:ext cx="5334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9" name="Google Shape;429;g2c711885e3a_0_449"/>
            <p:cNvCxnSpPr/>
            <p:nvPr/>
          </p:nvCxnSpPr>
          <p:spPr>
            <a:xfrm rot="10800000">
              <a:off x="94488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30" name="Google Shape;430;g2c711885e3a_0_449"/>
            <p:cNvCxnSpPr/>
            <p:nvPr/>
          </p:nvCxnSpPr>
          <p:spPr>
            <a:xfrm rot="10800000">
              <a:off x="75692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431" name="Google Shape;431;g2c711885e3a_0_449"/>
            <p:cNvSpPr/>
            <p:nvPr/>
          </p:nvSpPr>
          <p:spPr>
            <a:xfrm>
              <a:off x="4622800" y="6926580"/>
              <a:ext cx="5334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2" name="Google Shape;432;g2c711885e3a_0_449"/>
            <p:cNvCxnSpPr/>
            <p:nvPr/>
          </p:nvCxnSpPr>
          <p:spPr>
            <a:xfrm rot="10800000">
              <a:off x="70358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33" name="Google Shape;433;g2c711885e3a_0_449"/>
            <p:cNvCxnSpPr/>
            <p:nvPr/>
          </p:nvCxnSpPr>
          <p:spPr>
            <a:xfrm rot="10800000">
              <a:off x="51562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434" name="Google Shape;434;g2c711885e3a_0_449"/>
            <p:cNvSpPr/>
            <p:nvPr/>
          </p:nvSpPr>
          <p:spPr>
            <a:xfrm>
              <a:off x="2209800" y="6926580"/>
              <a:ext cx="5334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5" name="Google Shape;435;g2c711885e3a_0_449"/>
            <p:cNvCxnSpPr/>
            <p:nvPr/>
          </p:nvCxnSpPr>
          <p:spPr>
            <a:xfrm rot="10800000">
              <a:off x="46228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36" name="Google Shape;436;g2c711885e3a_0_449"/>
            <p:cNvCxnSpPr/>
            <p:nvPr/>
          </p:nvCxnSpPr>
          <p:spPr>
            <a:xfrm rot="10800000">
              <a:off x="27432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437" name="Google Shape;437;g2c711885e3a_0_449"/>
            <p:cNvSpPr/>
            <p:nvPr/>
          </p:nvSpPr>
          <p:spPr>
            <a:xfrm>
              <a:off x="0" y="6926580"/>
              <a:ext cx="3303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8" name="Google Shape;438;g2c711885e3a_0_449"/>
            <p:cNvCxnSpPr/>
            <p:nvPr/>
          </p:nvCxnSpPr>
          <p:spPr>
            <a:xfrm rot="10800000">
              <a:off x="22098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39" name="Google Shape;439;g2c711885e3a_0_449"/>
            <p:cNvCxnSpPr/>
            <p:nvPr/>
          </p:nvCxnSpPr>
          <p:spPr>
            <a:xfrm rot="10800000">
              <a:off x="3302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440" name="Google Shape;440;g2c711885e3a_0_449"/>
          <p:cNvGrpSpPr/>
          <p:nvPr/>
        </p:nvGrpSpPr>
        <p:grpSpPr>
          <a:xfrm>
            <a:off x="0" y="-205740"/>
            <a:ext cx="12192100" cy="137160"/>
            <a:chOff x="0" y="-205740"/>
            <a:chExt cx="12192100" cy="137160"/>
          </a:xfrm>
        </p:grpSpPr>
        <p:sp>
          <p:nvSpPr>
            <p:cNvPr id="441" name="Google Shape;441;g2c711885e3a_0_449"/>
            <p:cNvSpPr/>
            <p:nvPr/>
          </p:nvSpPr>
          <p:spPr>
            <a:xfrm>
              <a:off x="11861800" y="-205740"/>
              <a:ext cx="3303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g2c711885e3a_0_449"/>
            <p:cNvSpPr/>
            <p:nvPr/>
          </p:nvSpPr>
          <p:spPr>
            <a:xfrm>
              <a:off x="9448800" y="-205740"/>
              <a:ext cx="5334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3" name="Google Shape;443;g2c711885e3a_0_449"/>
            <p:cNvCxnSpPr/>
            <p:nvPr/>
          </p:nvCxnSpPr>
          <p:spPr>
            <a:xfrm rot="10800000">
              <a:off x="118618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44" name="Google Shape;444;g2c711885e3a_0_449"/>
            <p:cNvCxnSpPr/>
            <p:nvPr/>
          </p:nvCxnSpPr>
          <p:spPr>
            <a:xfrm rot="10800000">
              <a:off x="99822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445" name="Google Shape;445;g2c711885e3a_0_449"/>
            <p:cNvSpPr/>
            <p:nvPr/>
          </p:nvSpPr>
          <p:spPr>
            <a:xfrm>
              <a:off x="7035800" y="-205740"/>
              <a:ext cx="5334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6" name="Google Shape;446;g2c711885e3a_0_449"/>
            <p:cNvCxnSpPr/>
            <p:nvPr/>
          </p:nvCxnSpPr>
          <p:spPr>
            <a:xfrm rot="10800000">
              <a:off x="94488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47" name="Google Shape;447;g2c711885e3a_0_449"/>
            <p:cNvCxnSpPr/>
            <p:nvPr/>
          </p:nvCxnSpPr>
          <p:spPr>
            <a:xfrm rot="10800000">
              <a:off x="75692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448" name="Google Shape;448;g2c711885e3a_0_449"/>
            <p:cNvSpPr/>
            <p:nvPr/>
          </p:nvSpPr>
          <p:spPr>
            <a:xfrm>
              <a:off x="4622800" y="-205740"/>
              <a:ext cx="5334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9" name="Google Shape;449;g2c711885e3a_0_449"/>
            <p:cNvCxnSpPr/>
            <p:nvPr/>
          </p:nvCxnSpPr>
          <p:spPr>
            <a:xfrm rot="10800000">
              <a:off x="70358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50" name="Google Shape;450;g2c711885e3a_0_449"/>
            <p:cNvCxnSpPr/>
            <p:nvPr/>
          </p:nvCxnSpPr>
          <p:spPr>
            <a:xfrm rot="10800000">
              <a:off x="51562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451" name="Google Shape;451;g2c711885e3a_0_449"/>
            <p:cNvSpPr/>
            <p:nvPr/>
          </p:nvSpPr>
          <p:spPr>
            <a:xfrm>
              <a:off x="2209800" y="-205740"/>
              <a:ext cx="5334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2" name="Google Shape;452;g2c711885e3a_0_449"/>
            <p:cNvCxnSpPr/>
            <p:nvPr/>
          </p:nvCxnSpPr>
          <p:spPr>
            <a:xfrm rot="10800000">
              <a:off x="46228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53" name="Google Shape;453;g2c711885e3a_0_449"/>
            <p:cNvCxnSpPr/>
            <p:nvPr/>
          </p:nvCxnSpPr>
          <p:spPr>
            <a:xfrm rot="10800000">
              <a:off x="27432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454" name="Google Shape;454;g2c711885e3a_0_449"/>
            <p:cNvSpPr/>
            <p:nvPr/>
          </p:nvSpPr>
          <p:spPr>
            <a:xfrm>
              <a:off x="0" y="-205740"/>
              <a:ext cx="3303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5" name="Google Shape;455;g2c711885e3a_0_449"/>
            <p:cNvCxnSpPr/>
            <p:nvPr/>
          </p:nvCxnSpPr>
          <p:spPr>
            <a:xfrm rot="10800000">
              <a:off x="22098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56" name="Google Shape;456;g2c711885e3a_0_449"/>
            <p:cNvCxnSpPr/>
            <p:nvPr/>
          </p:nvCxnSpPr>
          <p:spPr>
            <a:xfrm rot="10800000">
              <a:off x="3302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457" name="Google Shape;457;g2c711885e3a_0_449"/>
          <p:cNvSpPr txBox="1">
            <a:spLocks noGrp="1"/>
          </p:cNvSpPr>
          <p:nvPr>
            <p:ph type="title"/>
          </p:nvPr>
        </p:nvSpPr>
        <p:spPr>
          <a:xfrm>
            <a:off x="334963" y="2"/>
            <a:ext cx="105882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720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Por lo tanto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los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principales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fundamentos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la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estrategia</a:t>
            </a:r>
            <a:endParaRPr sz="2800">
              <a:solidFill>
                <a:srgbClr val="2F549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8" name="Google Shape;458;g2c711885e3a_0_449"/>
          <p:cNvSpPr txBox="1"/>
          <p:nvPr/>
        </p:nvSpPr>
        <p:spPr>
          <a:xfrm>
            <a:off x="334962" y="4533762"/>
            <a:ext cx="1874700" cy="20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1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Nuevas</a:t>
            </a:r>
            <a:r>
              <a:rPr lang="en-US" sz="1600" b="1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b="1" i="1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tendencias</a:t>
            </a:r>
            <a:r>
              <a:rPr lang="en-US" sz="1600" b="1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 mercado </a:t>
            </a:r>
            <a:r>
              <a:rPr lang="en-US" sz="1600" i="1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garantizan</a:t>
            </a:r>
            <a:r>
              <a:rPr lang="en-US" sz="1600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i="1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una</a:t>
            </a:r>
            <a:r>
              <a:rPr lang="en-US" sz="1600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b="1" i="1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creciente</a:t>
            </a:r>
            <a:r>
              <a:rPr lang="en-US" sz="1600" b="1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</a:t>
            </a:r>
            <a:r>
              <a:rPr lang="en-US" sz="1600" b="1" i="1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demanda</a:t>
            </a:r>
            <a:r>
              <a:rPr lang="en-US" sz="1600" b="1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600" b="1" i="1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minerales</a:t>
            </a:r>
            <a:r>
              <a:rPr lang="en-US" sz="1600" b="1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 </a:t>
            </a:r>
            <a:r>
              <a:rPr lang="en-US" sz="1600" i="1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nuestros</a:t>
            </a:r>
            <a:r>
              <a:rPr lang="en-US" sz="1600" b="1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b="1" i="1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clientes</a:t>
            </a:r>
            <a:r>
              <a:rPr lang="en-US" sz="1600" b="1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9" name="Google Shape;459;g2c711885e3a_0_449"/>
          <p:cNvSpPr txBox="1"/>
          <p:nvPr/>
        </p:nvSpPr>
        <p:spPr>
          <a:xfrm>
            <a:off x="2743196" y="4581659"/>
            <a:ext cx="1874700" cy="1796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i="1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Ejecución</a:t>
            </a:r>
            <a:r>
              <a:rPr lang="en-US" sz="1600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600" b="1" i="1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calidad</a:t>
            </a:r>
            <a:r>
              <a:rPr lang="en-US" sz="1600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de </a:t>
            </a:r>
            <a:r>
              <a:rPr lang="en-US" sz="1600" b="1" i="1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proyectos</a:t>
            </a:r>
            <a:r>
              <a:rPr lang="en-US" sz="1600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es </a:t>
            </a:r>
            <a:r>
              <a:rPr lang="en-US" sz="1600" i="1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escencial</a:t>
            </a:r>
            <a:r>
              <a:rPr lang="en-US" sz="1600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para </a:t>
            </a:r>
            <a:r>
              <a:rPr lang="en-US" sz="1600" i="1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solidas</a:t>
            </a:r>
            <a:r>
              <a:rPr lang="en-US" sz="1600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i="1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relaciones</a:t>
            </a:r>
            <a:r>
              <a:rPr lang="en-US" sz="1600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con </a:t>
            </a:r>
            <a:r>
              <a:rPr lang="en-US" sz="1600" b="1" i="1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Clientes</a:t>
            </a:r>
            <a:r>
              <a:rPr lang="en-US" sz="1600" b="1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claves   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0" name="Google Shape;460;g2c711885e3a_0_449"/>
          <p:cNvSpPr txBox="1"/>
          <p:nvPr/>
        </p:nvSpPr>
        <p:spPr>
          <a:xfrm>
            <a:off x="7569200" y="4581659"/>
            <a:ext cx="1879500" cy="155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</a:t>
            </a:r>
            <a:r>
              <a:rPr lang="en-US" sz="1600" i="1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contexto</a:t>
            </a:r>
            <a:r>
              <a:rPr lang="en-US" sz="1600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i="1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está</a:t>
            </a:r>
            <a:r>
              <a:rPr lang="en-US" sz="1600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i="1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demandando</a:t>
            </a:r>
            <a:r>
              <a:rPr lang="en-US" sz="1600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 </a:t>
            </a:r>
            <a:r>
              <a:rPr lang="en-US" sz="1600" i="1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nuestros</a:t>
            </a:r>
            <a:r>
              <a:rPr lang="en-US" sz="1600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i="1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clientes</a:t>
            </a:r>
            <a:r>
              <a:rPr lang="en-US" sz="1600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y </a:t>
            </a:r>
            <a:r>
              <a:rPr lang="en-US" sz="1600" i="1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generará</a:t>
            </a:r>
            <a:r>
              <a:rPr lang="en-US" sz="1600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un </a:t>
            </a:r>
            <a:r>
              <a:rPr lang="en-US" sz="1600" i="1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ciclo</a:t>
            </a:r>
            <a:r>
              <a:rPr lang="en-US" sz="1600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600" b="1" i="1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escasez</a:t>
            </a:r>
            <a:r>
              <a:rPr lang="en-US" sz="1600" b="1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600" b="1" i="1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profesionales</a:t>
            </a:r>
            <a:endParaRPr sz="1600" b="1" i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6" name="Google Shape;476;g2c711885e3a_0_449"/>
          <p:cNvSpPr txBox="1"/>
          <p:nvPr/>
        </p:nvSpPr>
        <p:spPr>
          <a:xfrm>
            <a:off x="5151429" y="4581659"/>
            <a:ext cx="1879500" cy="15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1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Financieramente</a:t>
            </a:r>
            <a:r>
              <a:rPr lang="en-US" sz="1600" b="1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 </a:t>
            </a:r>
            <a:r>
              <a:rPr lang="en-US" sz="1600" i="1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una</a:t>
            </a:r>
            <a:r>
              <a:rPr lang="en-US" sz="1600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b="1" i="1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compañía</a:t>
            </a:r>
            <a:r>
              <a:rPr lang="en-US" sz="1600" b="1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sana</a:t>
            </a:r>
            <a:r>
              <a:rPr lang="en-US" sz="1600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y con </a:t>
            </a:r>
            <a:r>
              <a:rPr lang="en-US" sz="1600" i="1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capacidad</a:t>
            </a:r>
            <a:r>
              <a:rPr lang="en-US" sz="1600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600" b="1" i="1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autosoportar</a:t>
            </a:r>
            <a:r>
              <a:rPr lang="en-US" sz="1600" b="1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b="1" i="1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</a:t>
            </a:r>
            <a:r>
              <a:rPr lang="en-US" sz="1600" b="1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b="1" i="1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crecimiento</a:t>
            </a:r>
            <a:r>
              <a:rPr lang="en-US" sz="1600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7" name="Google Shape;477;g2c711885e3a_0_449"/>
          <p:cNvSpPr txBox="1"/>
          <p:nvPr/>
        </p:nvSpPr>
        <p:spPr>
          <a:xfrm>
            <a:off x="9986970" y="4589069"/>
            <a:ext cx="1870200" cy="2042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MX" sz="1600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 Transición Energética requerirá a nuestros clientes nuevos </a:t>
            </a:r>
            <a:r>
              <a:rPr lang="es-MX" sz="1600" b="1" i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estándares ambientales y sociales </a:t>
            </a:r>
            <a:endParaRPr sz="1600" b="1" i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43F707A-9F96-E455-111E-865B41E6E2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242" t="14084" r="242" b="12993"/>
          <a:stretch/>
        </p:blipFill>
        <p:spPr>
          <a:xfrm>
            <a:off x="-4821" y="947080"/>
            <a:ext cx="12192000" cy="2518342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034" y="3620596"/>
            <a:ext cx="11178544" cy="89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6568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oogle Shape;210;g2c81a6a4e8f_0_2"/>
          <p:cNvGrpSpPr/>
          <p:nvPr/>
        </p:nvGrpSpPr>
        <p:grpSpPr>
          <a:xfrm>
            <a:off x="0" y="6926580"/>
            <a:ext cx="12192100" cy="137160"/>
            <a:chOff x="0" y="6926580"/>
            <a:chExt cx="12192100" cy="137160"/>
          </a:xfrm>
        </p:grpSpPr>
        <p:sp>
          <p:nvSpPr>
            <p:cNvPr id="211" name="Google Shape;211;g2c81a6a4e8f_0_2"/>
            <p:cNvSpPr/>
            <p:nvPr/>
          </p:nvSpPr>
          <p:spPr>
            <a:xfrm>
              <a:off x="11861800" y="6926580"/>
              <a:ext cx="3303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g2c81a6a4e8f_0_2"/>
            <p:cNvSpPr/>
            <p:nvPr/>
          </p:nvSpPr>
          <p:spPr>
            <a:xfrm>
              <a:off x="7840133" y="6926580"/>
              <a:ext cx="5334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3" name="Google Shape;213;g2c81a6a4e8f_0_2"/>
            <p:cNvCxnSpPr/>
            <p:nvPr/>
          </p:nvCxnSpPr>
          <p:spPr>
            <a:xfrm rot="10800000">
              <a:off x="118618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4" name="Google Shape;214;g2c81a6a4e8f_0_2"/>
            <p:cNvCxnSpPr/>
            <p:nvPr/>
          </p:nvCxnSpPr>
          <p:spPr>
            <a:xfrm rot="10800000">
              <a:off x="8373533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15" name="Google Shape;215;g2c81a6a4e8f_0_2"/>
            <p:cNvSpPr/>
            <p:nvPr/>
          </p:nvSpPr>
          <p:spPr>
            <a:xfrm>
              <a:off x="3818467" y="6926580"/>
              <a:ext cx="5334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6" name="Google Shape;216;g2c81a6a4e8f_0_2"/>
            <p:cNvCxnSpPr/>
            <p:nvPr/>
          </p:nvCxnSpPr>
          <p:spPr>
            <a:xfrm rot="10800000">
              <a:off x="7840133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7" name="Google Shape;217;g2c81a6a4e8f_0_2"/>
            <p:cNvCxnSpPr/>
            <p:nvPr/>
          </p:nvCxnSpPr>
          <p:spPr>
            <a:xfrm rot="10800000">
              <a:off x="4351867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18" name="Google Shape;218;g2c81a6a4e8f_0_2"/>
            <p:cNvSpPr/>
            <p:nvPr/>
          </p:nvSpPr>
          <p:spPr>
            <a:xfrm>
              <a:off x="0" y="6926580"/>
              <a:ext cx="3303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9" name="Google Shape;219;g2c81a6a4e8f_0_2"/>
            <p:cNvCxnSpPr/>
            <p:nvPr/>
          </p:nvCxnSpPr>
          <p:spPr>
            <a:xfrm rot="10800000">
              <a:off x="3818467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0" name="Google Shape;220;g2c81a6a4e8f_0_2"/>
            <p:cNvCxnSpPr/>
            <p:nvPr/>
          </p:nvCxnSpPr>
          <p:spPr>
            <a:xfrm rot="10800000">
              <a:off x="3302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21" name="Google Shape;221;g2c81a6a4e8f_0_2"/>
          <p:cNvGrpSpPr/>
          <p:nvPr/>
        </p:nvGrpSpPr>
        <p:grpSpPr>
          <a:xfrm>
            <a:off x="0" y="-205740"/>
            <a:ext cx="12192100" cy="137160"/>
            <a:chOff x="0" y="-205740"/>
            <a:chExt cx="12192100" cy="137160"/>
          </a:xfrm>
        </p:grpSpPr>
        <p:sp>
          <p:nvSpPr>
            <p:cNvPr id="222" name="Google Shape;222;g2c81a6a4e8f_0_2"/>
            <p:cNvSpPr/>
            <p:nvPr/>
          </p:nvSpPr>
          <p:spPr>
            <a:xfrm>
              <a:off x="11861800" y="-205740"/>
              <a:ext cx="3303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g2c81a6a4e8f_0_2"/>
            <p:cNvSpPr/>
            <p:nvPr/>
          </p:nvSpPr>
          <p:spPr>
            <a:xfrm>
              <a:off x="7840133" y="-205740"/>
              <a:ext cx="5334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4" name="Google Shape;224;g2c81a6a4e8f_0_2"/>
            <p:cNvCxnSpPr/>
            <p:nvPr/>
          </p:nvCxnSpPr>
          <p:spPr>
            <a:xfrm rot="10800000">
              <a:off x="118618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5" name="Google Shape;225;g2c81a6a4e8f_0_2"/>
            <p:cNvCxnSpPr/>
            <p:nvPr/>
          </p:nvCxnSpPr>
          <p:spPr>
            <a:xfrm rot="10800000">
              <a:off x="8373533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26" name="Google Shape;226;g2c81a6a4e8f_0_2"/>
            <p:cNvSpPr/>
            <p:nvPr/>
          </p:nvSpPr>
          <p:spPr>
            <a:xfrm>
              <a:off x="3818467" y="-205740"/>
              <a:ext cx="5334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7" name="Google Shape;227;g2c81a6a4e8f_0_2"/>
            <p:cNvCxnSpPr/>
            <p:nvPr/>
          </p:nvCxnSpPr>
          <p:spPr>
            <a:xfrm rot="10800000">
              <a:off x="7840133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8" name="Google Shape;228;g2c81a6a4e8f_0_2"/>
            <p:cNvCxnSpPr/>
            <p:nvPr/>
          </p:nvCxnSpPr>
          <p:spPr>
            <a:xfrm rot="10800000">
              <a:off x="4351867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29" name="Google Shape;229;g2c81a6a4e8f_0_2"/>
            <p:cNvSpPr/>
            <p:nvPr/>
          </p:nvSpPr>
          <p:spPr>
            <a:xfrm>
              <a:off x="0" y="-205740"/>
              <a:ext cx="3303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0" name="Google Shape;230;g2c81a6a4e8f_0_2"/>
            <p:cNvCxnSpPr/>
            <p:nvPr/>
          </p:nvCxnSpPr>
          <p:spPr>
            <a:xfrm rot="10800000">
              <a:off x="3818467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1" name="Google Shape;231;g2c81a6a4e8f_0_2"/>
            <p:cNvCxnSpPr/>
            <p:nvPr/>
          </p:nvCxnSpPr>
          <p:spPr>
            <a:xfrm rot="10800000">
              <a:off x="3302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32" name="Google Shape;232;g2c81a6a4e8f_0_2"/>
          <p:cNvSpPr txBox="1">
            <a:spLocks noGrp="1"/>
          </p:cNvSpPr>
          <p:nvPr>
            <p:ph type="title"/>
          </p:nvPr>
        </p:nvSpPr>
        <p:spPr>
          <a:xfrm>
            <a:off x="580395" y="739457"/>
            <a:ext cx="11031209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720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crecer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con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rentabilidades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sostenibles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lo primordial es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cuidar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el core del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negocio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todo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mometo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…. y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desde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ahí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desarrollar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adyacencias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300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3C97AFF4-8A69-9B48-6831-73CC669B00BE}"/>
              </a:ext>
            </a:extLst>
          </p:cNvPr>
          <p:cNvGrpSpPr/>
          <p:nvPr/>
        </p:nvGrpSpPr>
        <p:grpSpPr>
          <a:xfrm>
            <a:off x="7647918" y="1957960"/>
            <a:ext cx="3619851" cy="3895832"/>
            <a:chOff x="7116976" y="1948128"/>
            <a:chExt cx="3619851" cy="3895832"/>
          </a:xfrm>
        </p:grpSpPr>
        <p:pic>
          <p:nvPicPr>
            <p:cNvPr id="1025" name="Picture 1" descr="Any strategy starts with &#10;core definition &#10;The core is your most distinctive and &#10;powerful assets and capabilities &#10;It defines where. ..and why you &#10;can win and earn profits &#10;Itis why your mostloyal and &#10;profitable customers choose you &#10;It provides a correctview of who &#10;your real competitors are to &#10;monitor and respond to &#10;It is your stabilizer during the &#10;toug hes t market conditions &#10;It enables your bestgrowth &#10;opportunities &#10;It is the cornerstone of &#10;strategy, making resource &#10;allocation decisions transparent &#10;Where we &#10;make &#10;money &#10;Our source of &#10;competitive &#10;advantage ">
              <a:extLst>
                <a:ext uri="{FF2B5EF4-FFF2-40B4-BE49-F238E27FC236}">
                  <a16:creationId xmlns:a16="http://schemas.microsoft.com/office/drawing/2014/main" id="{44D640C9-4DFE-A0B1-D0FF-218CA9CDD91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541" t="34987" r="3717" b="454"/>
            <a:stretch/>
          </p:blipFill>
          <p:spPr bwMode="auto">
            <a:xfrm>
              <a:off x="7116976" y="1948128"/>
              <a:ext cx="3619851" cy="389583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</p:pic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0CDC549F-13E0-9175-3FDC-BB129EB356B1}"/>
                </a:ext>
              </a:extLst>
            </p:cNvPr>
            <p:cNvSpPr txBox="1"/>
            <p:nvPr/>
          </p:nvSpPr>
          <p:spPr>
            <a:xfrm>
              <a:off x="7538474" y="3406595"/>
              <a:ext cx="1136718" cy="107721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600" b="1">
                  <a:solidFill>
                    <a:schemeClr val="tx1"/>
                  </a:solidFill>
                </a:rPr>
                <a:t>Donde genero dinero</a:t>
              </a:r>
            </a:p>
            <a:p>
              <a:pPr algn="ctr"/>
              <a:endParaRPr lang="es-CL" sz="1600" b="1">
                <a:solidFill>
                  <a:schemeClr val="tx1"/>
                </a:solidFill>
              </a:endParaRP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084CB0F0-2F30-08BD-2EA7-C1B84C6B0D04}"/>
                </a:ext>
              </a:extLst>
            </p:cNvPr>
            <p:cNvSpPr txBox="1"/>
            <p:nvPr/>
          </p:nvSpPr>
          <p:spPr>
            <a:xfrm>
              <a:off x="8986688" y="3422198"/>
              <a:ext cx="1425678" cy="914097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s-MX" sz="1600" b="1">
                  <a:solidFill>
                    <a:schemeClr val="bg1"/>
                  </a:solidFill>
                </a:rPr>
                <a:t>Fuente de ventaja competitiva</a:t>
              </a:r>
              <a:endParaRPr lang="es-CL" sz="1600" b="1">
                <a:solidFill>
                  <a:schemeClr val="bg1"/>
                </a:solidFill>
              </a:endParaRPr>
            </a:p>
          </p:txBody>
        </p:sp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C1F74B68-F534-45BD-E4B4-543070834953}"/>
              </a:ext>
            </a:extLst>
          </p:cNvPr>
          <p:cNvSpPr txBox="1"/>
          <p:nvPr/>
        </p:nvSpPr>
        <p:spPr>
          <a:xfrm>
            <a:off x="801697" y="1957960"/>
            <a:ext cx="6004283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s-MX" sz="1800" b="1">
                <a:solidFill>
                  <a:srgbClr val="C00000"/>
                </a:solidFill>
                <a:latin typeface="Century Gothic" panose="020B0502020202020204" pitchFamily="34" charset="0"/>
              </a:rPr>
              <a:t>El Core </a:t>
            </a:r>
            <a:r>
              <a:rPr lang="es-MX" sz="1800" b="1">
                <a:latin typeface="Century Gothic" panose="020B0502020202020204" pitchFamily="34" charset="0"/>
              </a:rPr>
              <a:t>es el activo y las capacidades más distintivas y potentes</a:t>
            </a:r>
            <a:endParaRPr lang="es-CL" sz="1800" b="1">
              <a:latin typeface="Century Gothic" panose="020B0502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E4FC360-FE8C-CA31-E5AC-D9F7D9343F71}"/>
              </a:ext>
            </a:extLst>
          </p:cNvPr>
          <p:cNvSpPr txBox="1"/>
          <p:nvPr/>
        </p:nvSpPr>
        <p:spPr>
          <a:xfrm>
            <a:off x="801698" y="2962085"/>
            <a:ext cx="2987514" cy="28007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>
                <a:solidFill>
                  <a:schemeClr val="tx1"/>
                </a:solidFill>
                <a:latin typeface="Century Gothic" panose="020B0502020202020204" pitchFamily="34" charset="0"/>
              </a:rPr>
              <a:t>Esto define donde y porque tú puedes </a:t>
            </a:r>
            <a:r>
              <a:rPr lang="es-MX" sz="1600" b="1">
                <a:solidFill>
                  <a:schemeClr val="tx1"/>
                </a:solidFill>
                <a:latin typeface="Century Gothic" panose="020B0502020202020204" pitchFamily="34" charset="0"/>
              </a:rPr>
              <a:t>ganar</a:t>
            </a:r>
            <a:r>
              <a:rPr lang="es-MX" sz="1600">
                <a:solidFill>
                  <a:schemeClr val="tx1"/>
                </a:solidFill>
                <a:latin typeface="Century Gothic" panose="020B0502020202020204" pitchFamily="34" charset="0"/>
              </a:rPr>
              <a:t> y generar </a:t>
            </a:r>
            <a:r>
              <a:rPr lang="es-MX" sz="1600" b="1">
                <a:solidFill>
                  <a:schemeClr val="tx1"/>
                </a:solidFill>
                <a:latin typeface="Century Gothic" panose="020B0502020202020204" pitchFamily="34" charset="0"/>
              </a:rPr>
              <a:t>utilidades</a:t>
            </a:r>
          </a:p>
          <a:p>
            <a:endParaRPr lang="es-MX" sz="160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r>
              <a:rPr lang="es-CL" sz="1600">
                <a:latin typeface="Century Gothic" panose="020B0502020202020204" pitchFamily="34" charset="0"/>
              </a:rPr>
              <a:t>Esto es porque tus más leales y rentables </a:t>
            </a:r>
            <a:r>
              <a:rPr lang="es-CL" sz="1600" b="1">
                <a:latin typeface="Century Gothic" panose="020B0502020202020204" pitchFamily="34" charset="0"/>
              </a:rPr>
              <a:t>clientes</a:t>
            </a:r>
            <a:r>
              <a:rPr lang="es-CL" sz="1600">
                <a:latin typeface="Century Gothic" panose="020B0502020202020204" pitchFamily="34" charset="0"/>
              </a:rPr>
              <a:t> te eligen</a:t>
            </a:r>
          </a:p>
          <a:p>
            <a:endParaRPr lang="es-CL" sz="1600">
              <a:latin typeface="Century Gothic" panose="020B0502020202020204" pitchFamily="34" charset="0"/>
            </a:endParaRPr>
          </a:p>
          <a:p>
            <a:r>
              <a:rPr lang="es-CL" sz="1600">
                <a:latin typeface="Century Gothic" panose="020B0502020202020204" pitchFamily="34" charset="0"/>
              </a:rPr>
              <a:t>Esto te proporciona una mirada correcta de quienes sus tus verdaderos </a:t>
            </a:r>
            <a:r>
              <a:rPr lang="es-CL" sz="1600" b="1">
                <a:latin typeface="Century Gothic" panose="020B0502020202020204" pitchFamily="34" charset="0"/>
              </a:rPr>
              <a:t>competidores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50F2F02-5B4B-1E8C-294C-33824A1C3B8B}"/>
              </a:ext>
            </a:extLst>
          </p:cNvPr>
          <p:cNvSpPr txBox="1"/>
          <p:nvPr/>
        </p:nvSpPr>
        <p:spPr>
          <a:xfrm>
            <a:off x="3818467" y="2962085"/>
            <a:ext cx="2987514" cy="28007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>
                <a:solidFill>
                  <a:schemeClr val="tx1"/>
                </a:solidFill>
                <a:latin typeface="Century Gothic" panose="020B0502020202020204" pitchFamily="34" charset="0"/>
              </a:rPr>
              <a:t>Esto es tu </a:t>
            </a:r>
            <a:r>
              <a:rPr lang="es-MX" sz="1600" b="1">
                <a:solidFill>
                  <a:schemeClr val="tx1"/>
                </a:solidFill>
                <a:latin typeface="Century Gothic" panose="020B0502020202020204" pitchFamily="34" charset="0"/>
              </a:rPr>
              <a:t>refugio</a:t>
            </a:r>
            <a:r>
              <a:rPr lang="es-MX" sz="1600">
                <a:solidFill>
                  <a:schemeClr val="tx1"/>
                </a:solidFill>
                <a:latin typeface="Century Gothic" panose="020B0502020202020204" pitchFamily="34" charset="0"/>
              </a:rPr>
              <a:t> en los momentos en las </a:t>
            </a:r>
            <a:r>
              <a:rPr lang="es-MX" sz="1600" b="1">
                <a:solidFill>
                  <a:schemeClr val="tx1"/>
                </a:solidFill>
                <a:latin typeface="Century Gothic" panose="020B0502020202020204" pitchFamily="34" charset="0"/>
              </a:rPr>
              <a:t>condiciones adversas </a:t>
            </a:r>
            <a:r>
              <a:rPr lang="es-MX" sz="1600">
                <a:solidFill>
                  <a:schemeClr val="tx1"/>
                </a:solidFill>
                <a:latin typeface="Century Gothic" panose="020B0502020202020204" pitchFamily="34" charset="0"/>
              </a:rPr>
              <a:t>de mercado</a:t>
            </a:r>
          </a:p>
          <a:p>
            <a:endParaRPr lang="es-MX" sz="160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r>
              <a:rPr lang="es-CL" sz="1600">
                <a:latin typeface="Century Gothic" panose="020B0502020202020204" pitchFamily="34" charset="0"/>
              </a:rPr>
              <a:t>Esto te habilita tus mejores oportunidades de </a:t>
            </a:r>
            <a:r>
              <a:rPr lang="es-CL" sz="1600" b="1">
                <a:latin typeface="Century Gothic" panose="020B0502020202020204" pitchFamily="34" charset="0"/>
              </a:rPr>
              <a:t>crecimiento</a:t>
            </a:r>
          </a:p>
          <a:p>
            <a:endParaRPr lang="es-CL" sz="1600">
              <a:latin typeface="Century Gothic" panose="020B0502020202020204" pitchFamily="34" charset="0"/>
            </a:endParaRPr>
          </a:p>
          <a:p>
            <a:r>
              <a:rPr lang="es-CL" sz="1600">
                <a:latin typeface="Century Gothic" panose="020B0502020202020204" pitchFamily="34" charset="0"/>
              </a:rPr>
              <a:t>Esto da claridad para la </a:t>
            </a:r>
            <a:r>
              <a:rPr lang="es-CL" sz="1600" b="1">
                <a:latin typeface="Century Gothic" panose="020B0502020202020204" pitchFamily="34" charset="0"/>
              </a:rPr>
              <a:t>asignación de recursos </a:t>
            </a:r>
            <a:r>
              <a:rPr lang="es-CL" sz="1600">
                <a:latin typeface="Century Gothic" panose="020B0502020202020204" pitchFamily="34" charset="0"/>
              </a:rPr>
              <a:t>y transparencia en las </a:t>
            </a:r>
            <a:r>
              <a:rPr lang="es-CL" sz="1600" b="1">
                <a:latin typeface="Century Gothic" panose="020B0502020202020204" pitchFamily="34" charset="0"/>
              </a:rPr>
              <a:t>decisiones</a:t>
            </a:r>
          </a:p>
        </p:txBody>
      </p:sp>
    </p:spTree>
    <p:extLst>
      <p:ext uri="{BB962C8B-B14F-4D97-AF65-F5344CB8AC3E}">
        <p14:creationId xmlns:p14="http://schemas.microsoft.com/office/powerpoint/2010/main" val="11448067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2c7666fef59_0_0"/>
          <p:cNvSpPr txBox="1"/>
          <p:nvPr/>
        </p:nvSpPr>
        <p:spPr>
          <a:xfrm>
            <a:off x="337176" y="172199"/>
            <a:ext cx="12140700" cy="9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Propuesta</a:t>
            </a:r>
            <a:r>
              <a:rPr lang="en-U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 Core Business de REDCO </a:t>
            </a:r>
            <a:endParaRPr sz="2800">
              <a:solidFill>
                <a:srgbClr val="2F549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4" name="Google Shape;524;g2c7666fef59_0_0"/>
          <p:cNvSpPr/>
          <p:nvPr/>
        </p:nvSpPr>
        <p:spPr>
          <a:xfrm>
            <a:off x="-1636813" y="6998038"/>
            <a:ext cx="1379100" cy="896400"/>
          </a:xfrm>
          <a:prstGeom prst="rect">
            <a:avLst/>
          </a:prstGeom>
          <a:solidFill>
            <a:srgbClr val="2F29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REDCO</a:t>
            </a:r>
            <a:endParaRPr/>
          </a:p>
        </p:txBody>
      </p:sp>
      <p:sp>
        <p:nvSpPr>
          <p:cNvPr id="525" name="Google Shape;525;g2c7666fef59_0_0"/>
          <p:cNvSpPr/>
          <p:nvPr/>
        </p:nvSpPr>
        <p:spPr>
          <a:xfrm>
            <a:off x="-1636813" y="7950258"/>
            <a:ext cx="1379100" cy="763200"/>
          </a:xfrm>
          <a:prstGeom prst="rect">
            <a:avLst/>
          </a:prstGeom>
          <a:solidFill>
            <a:srgbClr val="2F29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ASESORES</a:t>
            </a:r>
            <a:endParaRPr/>
          </a:p>
        </p:txBody>
      </p:sp>
      <p:sp>
        <p:nvSpPr>
          <p:cNvPr id="526" name="Google Shape;526;g2c7666fef59_0_0"/>
          <p:cNvSpPr/>
          <p:nvPr/>
        </p:nvSpPr>
        <p:spPr>
          <a:xfrm>
            <a:off x="2892476" y="765111"/>
            <a:ext cx="6064911" cy="5410696"/>
          </a:xfrm>
          <a:prstGeom prst="ellipse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br>
              <a:rPr lang="es-ES_tradnl" sz="1800"/>
            </a:br>
            <a:r>
              <a:rPr lang="es-ES_tradnl" sz="1800" b="1">
                <a:solidFill>
                  <a:srgbClr val="4472C4"/>
                </a:solidFill>
                <a:latin typeface="Century Gothic" charset="0"/>
                <a:ea typeface="Century Gothic" charset="0"/>
                <a:cs typeface="Century Gothic" charset="0"/>
              </a:rPr>
              <a:t>Consultora boutique </a:t>
            </a:r>
            <a:r>
              <a:rPr lang="es-ES_tradnl" sz="1800">
                <a:solidFill>
                  <a:srgbClr val="4472C4"/>
                </a:solidFill>
                <a:latin typeface="Century Gothic" charset="0"/>
                <a:ea typeface="Century Gothic" charset="0"/>
                <a:cs typeface="Century Gothic" charset="0"/>
              </a:rPr>
              <a:t>de confianza, reconocida por su eficiencia y flexibilidad. Destacados en el </a:t>
            </a:r>
            <a:r>
              <a:rPr lang="es-ES_tradnl" sz="1800" b="1">
                <a:solidFill>
                  <a:srgbClr val="4472C4"/>
                </a:solidFill>
                <a:latin typeface="Century Gothic" charset="0"/>
                <a:ea typeface="Century Gothic" charset="0"/>
                <a:cs typeface="Century Gothic" charset="0"/>
              </a:rPr>
              <a:t>ámbito minero </a:t>
            </a:r>
            <a:r>
              <a:rPr lang="es-ES_tradnl" sz="1800">
                <a:solidFill>
                  <a:srgbClr val="4472C4"/>
                </a:solidFill>
                <a:latin typeface="Century Gothic" charset="0"/>
                <a:ea typeface="Century Gothic" charset="0"/>
                <a:cs typeface="Century Gothic" charset="0"/>
              </a:rPr>
              <a:t>a través de una </a:t>
            </a:r>
            <a:r>
              <a:rPr lang="es-ES_tradnl" sz="1800" b="1">
                <a:solidFill>
                  <a:srgbClr val="4472C4"/>
                </a:solidFill>
                <a:latin typeface="Century Gothic" charset="0"/>
                <a:ea typeface="Century Gothic" charset="0"/>
                <a:cs typeface="Century Gothic" charset="0"/>
              </a:rPr>
              <a:t>innovación</a:t>
            </a:r>
            <a:r>
              <a:rPr lang="es-ES_tradnl" sz="1800">
                <a:solidFill>
                  <a:srgbClr val="4472C4"/>
                </a:solidFill>
                <a:latin typeface="Century Gothic" charset="0"/>
                <a:ea typeface="Century Gothic" charset="0"/>
                <a:cs typeface="Century Gothic" charset="0"/>
              </a:rPr>
              <a:t> constante, lo que permite establecer relaciones sólidas en el desarrollo de sus proyectos, con soluciones robustas y ejecución inteligente. Cuenta con un equipo de </a:t>
            </a:r>
            <a:r>
              <a:rPr lang="es-ES_tradnl" sz="1800" b="1">
                <a:solidFill>
                  <a:srgbClr val="4472C4"/>
                </a:solidFill>
                <a:latin typeface="Century Gothic" charset="0"/>
                <a:ea typeface="Century Gothic" charset="0"/>
                <a:cs typeface="Century Gothic" charset="0"/>
              </a:rPr>
              <a:t>profesionales de excelencia </a:t>
            </a:r>
            <a:r>
              <a:rPr lang="es-ES_tradnl" sz="1800">
                <a:solidFill>
                  <a:srgbClr val="4472C4"/>
                </a:solidFill>
                <a:latin typeface="Century Gothic" charset="0"/>
                <a:ea typeface="Century Gothic" charset="0"/>
                <a:cs typeface="Century Gothic" charset="0"/>
              </a:rPr>
              <a:t>que aporta capacitación técnica especializada y experiencias prácticas para </a:t>
            </a:r>
            <a:r>
              <a:rPr lang="es-ES_tradnl" sz="1800" b="1">
                <a:solidFill>
                  <a:srgbClr val="4472C4"/>
                </a:solidFill>
                <a:latin typeface="Century Gothic" charset="0"/>
                <a:ea typeface="Century Gothic" charset="0"/>
                <a:cs typeface="Century Gothic" charset="0"/>
              </a:rPr>
              <a:t>optimizar los resultados de sus clientes</a:t>
            </a:r>
            <a:r>
              <a:rPr lang="es-ES_tradnl" sz="1800">
                <a:solidFill>
                  <a:srgbClr val="4472C4"/>
                </a:solidFill>
                <a:latin typeface="Century Gothic" charset="0"/>
                <a:ea typeface="Century Gothic" charset="0"/>
                <a:cs typeface="Century Gothic" charset="0"/>
              </a:rPr>
              <a:t>.</a:t>
            </a:r>
            <a:endParaRPr sz="1800">
              <a:solidFill>
                <a:srgbClr val="4472C4"/>
              </a:solidFill>
              <a:latin typeface="Century Gothic" charset="0"/>
              <a:ea typeface="Century Gothic" charset="0"/>
              <a:cs typeface="Century Gothic" charset="0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9431240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2c7666fef59_0_7"/>
          <p:cNvSpPr txBox="1"/>
          <p:nvPr/>
        </p:nvSpPr>
        <p:spPr>
          <a:xfrm>
            <a:off x="17743" y="59483"/>
            <a:ext cx="12140700" cy="9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err="1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Adyacencias</a:t>
            </a:r>
            <a:endParaRPr sz="2800">
              <a:solidFill>
                <a:srgbClr val="2F549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9" name="Google Shape;589;g2c7666fef59_0_7"/>
          <p:cNvSpPr/>
          <p:nvPr/>
        </p:nvSpPr>
        <p:spPr>
          <a:xfrm>
            <a:off x="162958" y="6889179"/>
            <a:ext cx="1379100" cy="896400"/>
          </a:xfrm>
          <a:prstGeom prst="rect">
            <a:avLst/>
          </a:prstGeom>
          <a:solidFill>
            <a:srgbClr val="2F29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REDCO</a:t>
            </a:r>
            <a:endParaRPr/>
          </a:p>
        </p:txBody>
      </p:sp>
      <p:sp>
        <p:nvSpPr>
          <p:cNvPr id="590" name="Google Shape;590;g2c7666fef59_0_7"/>
          <p:cNvSpPr/>
          <p:nvPr/>
        </p:nvSpPr>
        <p:spPr>
          <a:xfrm>
            <a:off x="-1484413" y="6956029"/>
            <a:ext cx="1379100" cy="763200"/>
          </a:xfrm>
          <a:prstGeom prst="rect">
            <a:avLst/>
          </a:prstGeom>
          <a:solidFill>
            <a:srgbClr val="2F29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ASESORES</a:t>
            </a:r>
            <a:endParaRPr/>
          </a:p>
        </p:txBody>
      </p:sp>
      <p:sp>
        <p:nvSpPr>
          <p:cNvPr id="591" name="Google Shape;591;g2c7666fef59_0_7"/>
          <p:cNvSpPr/>
          <p:nvPr/>
        </p:nvSpPr>
        <p:spPr>
          <a:xfrm>
            <a:off x="4567818" y="2007873"/>
            <a:ext cx="3031800" cy="3017100"/>
          </a:xfrm>
          <a:prstGeom prst="ellipse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ES_tradnl" sz="900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Consultora boutique de confianza, reconocida por su eficiencia y flexibilidad. Destacados en el ámbito minero a través de una innovación constante, lo que permite establecer relaciones sólidas en el desarrollo de sus proyectos, con soluciones robustas y ejecución inteligente. Cuenta con un equipo de profesionales de excelencia que aporta capacitación técnica especializada y experiencias prácticas para optimizar los resultados de sus clientes.</a:t>
            </a:r>
            <a:endParaRPr lang="es-ES_tradnl" sz="900">
              <a:solidFill>
                <a:schemeClr val="accent1"/>
              </a:solidFill>
              <a:latin typeface="Century Gothic" charset="0"/>
              <a:ea typeface="Century Gothic" charset="0"/>
              <a:cs typeface="Century Gothic" charset="0"/>
              <a:sym typeface="Century Gothic"/>
            </a:endParaRPr>
          </a:p>
        </p:txBody>
      </p:sp>
      <p:sp>
        <p:nvSpPr>
          <p:cNvPr id="592" name="Google Shape;592;g2c7666fef59_0_7"/>
          <p:cNvSpPr/>
          <p:nvPr/>
        </p:nvSpPr>
        <p:spPr>
          <a:xfrm>
            <a:off x="4249471" y="1691085"/>
            <a:ext cx="3668700" cy="3650700"/>
          </a:xfrm>
          <a:prstGeom prst="ellipse">
            <a:avLst/>
          </a:prstGeom>
          <a:noFill/>
          <a:ln w="12700" cap="flat" cmpd="sng">
            <a:solidFill>
              <a:srgbClr val="D8E2F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3" name="Google Shape;593;g2c7666fef59_0_7"/>
          <p:cNvSpPr/>
          <p:nvPr/>
        </p:nvSpPr>
        <p:spPr>
          <a:xfrm>
            <a:off x="3861925" y="1319495"/>
            <a:ext cx="4439100" cy="4417200"/>
          </a:xfrm>
          <a:prstGeom prst="ellipse">
            <a:avLst/>
          </a:prstGeom>
          <a:noFill/>
          <a:ln w="12700" cap="flat" cmpd="sng">
            <a:solidFill>
              <a:srgbClr val="D8E2F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4" name="Google Shape;594;g2c7666fef59_0_7"/>
          <p:cNvSpPr/>
          <p:nvPr/>
        </p:nvSpPr>
        <p:spPr>
          <a:xfrm>
            <a:off x="3393490" y="839274"/>
            <a:ext cx="5371200" cy="5344800"/>
          </a:xfrm>
          <a:prstGeom prst="ellipse">
            <a:avLst/>
          </a:prstGeom>
          <a:noFill/>
          <a:ln w="12700" cap="flat" cmpd="sng">
            <a:solidFill>
              <a:srgbClr val="D8E2F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5" name="Google Shape;595;g2c7666fef59_0_7"/>
          <p:cNvSpPr/>
          <p:nvPr/>
        </p:nvSpPr>
        <p:spPr>
          <a:xfrm>
            <a:off x="2827172" y="275720"/>
            <a:ext cx="6499200" cy="6467400"/>
          </a:xfrm>
          <a:prstGeom prst="ellipse">
            <a:avLst/>
          </a:prstGeom>
          <a:noFill/>
          <a:ln w="12700" cap="flat" cmpd="sng">
            <a:solidFill>
              <a:srgbClr val="D8E2F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596" name="Google Shape;596;g2c7666fef59_0_7"/>
          <p:cNvCxnSpPr/>
          <p:nvPr/>
        </p:nvCxnSpPr>
        <p:spPr>
          <a:xfrm flipV="1">
            <a:off x="7024394" y="574858"/>
            <a:ext cx="1126453" cy="173568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7" name="Google Shape;597;g2c7666fef59_0_7"/>
          <p:cNvCxnSpPr>
            <a:stCxn id="591" idx="6"/>
          </p:cNvCxnSpPr>
          <p:nvPr/>
        </p:nvCxnSpPr>
        <p:spPr>
          <a:xfrm flipV="1">
            <a:off x="7599618" y="3506436"/>
            <a:ext cx="4446770" cy="998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8" name="Google Shape;598;g2c7666fef59_0_7"/>
          <p:cNvCxnSpPr>
            <a:stCxn id="591" idx="2"/>
          </p:cNvCxnSpPr>
          <p:nvPr/>
        </p:nvCxnSpPr>
        <p:spPr>
          <a:xfrm flipH="1" flipV="1">
            <a:off x="214340" y="3482540"/>
            <a:ext cx="4353478" cy="3388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9" name="Google Shape;599;g2c7666fef59_0_7"/>
          <p:cNvCxnSpPr>
            <a:stCxn id="591" idx="5"/>
          </p:cNvCxnSpPr>
          <p:nvPr/>
        </p:nvCxnSpPr>
        <p:spPr>
          <a:xfrm>
            <a:off x="7155621" y="4583129"/>
            <a:ext cx="2895615" cy="214438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00" name="Google Shape;600;g2c7666fef59_0_7"/>
          <p:cNvCxnSpPr>
            <a:stCxn id="591" idx="3"/>
          </p:cNvCxnSpPr>
          <p:nvPr/>
        </p:nvCxnSpPr>
        <p:spPr>
          <a:xfrm flipH="1">
            <a:off x="2400915" y="4583129"/>
            <a:ext cx="2610900" cy="1869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01" name="Google Shape;601;g2c7666fef59_0_7"/>
          <p:cNvSpPr/>
          <p:nvPr/>
        </p:nvSpPr>
        <p:spPr>
          <a:xfrm>
            <a:off x="10882349" y="3534570"/>
            <a:ext cx="517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Países</a:t>
            </a:r>
            <a:endParaRPr sz="1800" b="1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2" name="Google Shape;602;g2c7666fef59_0_7"/>
          <p:cNvSpPr/>
          <p:nvPr/>
        </p:nvSpPr>
        <p:spPr>
          <a:xfrm rot="-3685871">
            <a:off x="6690714" y="1132391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Perú</a:t>
            </a:r>
            <a:endParaRPr/>
          </a:p>
        </p:txBody>
      </p:sp>
      <p:sp>
        <p:nvSpPr>
          <p:cNvPr id="603" name="Google Shape;603;g2c7666fef59_0_7"/>
          <p:cNvSpPr/>
          <p:nvPr/>
        </p:nvSpPr>
        <p:spPr>
          <a:xfrm rot="-3685871">
            <a:off x="7051394" y="1132391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Brasil</a:t>
            </a:r>
            <a:endParaRPr/>
          </a:p>
        </p:txBody>
      </p:sp>
      <p:sp>
        <p:nvSpPr>
          <p:cNvPr id="604" name="Google Shape;604;g2c7666fef59_0_7"/>
          <p:cNvSpPr/>
          <p:nvPr/>
        </p:nvSpPr>
        <p:spPr>
          <a:xfrm rot="-3685871">
            <a:off x="8027272" y="1093840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USA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5" name="Google Shape;605;g2c7666fef59_0_7"/>
          <p:cNvSpPr/>
          <p:nvPr/>
        </p:nvSpPr>
        <p:spPr>
          <a:xfrm rot="-3685871">
            <a:off x="7465051" y="1124239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Rusia</a:t>
            </a:r>
            <a:endParaRPr/>
          </a:p>
        </p:txBody>
      </p:sp>
      <p:sp>
        <p:nvSpPr>
          <p:cNvPr id="606" name="Google Shape;606;g2c7666fef59_0_7"/>
          <p:cNvSpPr/>
          <p:nvPr/>
        </p:nvSpPr>
        <p:spPr>
          <a:xfrm rot="-3685871">
            <a:off x="6310135" y="1132387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Chile</a:t>
            </a:r>
            <a:endParaRPr/>
          </a:p>
        </p:txBody>
      </p:sp>
      <p:sp>
        <p:nvSpPr>
          <p:cNvPr id="607" name="Google Shape;607;g2c7666fef59_0_7"/>
          <p:cNvSpPr/>
          <p:nvPr/>
        </p:nvSpPr>
        <p:spPr>
          <a:xfrm>
            <a:off x="7455827" y="6261716"/>
            <a:ext cx="517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</a:t>
            </a:r>
            <a:r>
              <a:rPr lang="en-US" sz="18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800" b="1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producto</a:t>
            </a:r>
            <a:endParaRPr b="1"/>
          </a:p>
        </p:txBody>
      </p:sp>
      <p:sp>
        <p:nvSpPr>
          <p:cNvPr id="609" name="Google Shape;609;g2c7666fef59_0_7"/>
          <p:cNvSpPr/>
          <p:nvPr/>
        </p:nvSpPr>
        <p:spPr>
          <a:xfrm rot="-838548">
            <a:off x="7495085" y="4085949"/>
            <a:ext cx="5172415" cy="307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Estudios: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Ingeniería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FEL 0-1-2A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0" name="Google Shape;610;g2c7666fef59_0_7"/>
          <p:cNvSpPr/>
          <p:nvPr/>
        </p:nvSpPr>
        <p:spPr>
          <a:xfrm rot="-838548">
            <a:off x="7145479" y="3862259"/>
            <a:ext cx="5172415" cy="307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Consultoría</a:t>
            </a:r>
            <a:endParaRPr/>
          </a:p>
        </p:txBody>
      </p:sp>
      <p:sp>
        <p:nvSpPr>
          <p:cNvPr id="611" name="Google Shape;611;g2c7666fef59_0_7"/>
          <p:cNvSpPr/>
          <p:nvPr/>
        </p:nvSpPr>
        <p:spPr>
          <a:xfrm>
            <a:off x="2808772" y="6045479"/>
            <a:ext cx="517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Especialidades</a:t>
            </a:r>
            <a:r>
              <a:rPr lang="en-US" sz="18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</a:p>
          <a:p>
            <a:pPr marL="4762" marR="0" lvl="0" indent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Técnicas</a:t>
            </a:r>
            <a:r>
              <a:rPr lang="en-US" sz="18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1800" b="1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2" name="Google Shape;612;g2c7666fef59_0_7"/>
          <p:cNvSpPr/>
          <p:nvPr/>
        </p:nvSpPr>
        <p:spPr>
          <a:xfrm rot="966584">
            <a:off x="-94860" y="3731419"/>
            <a:ext cx="5172306" cy="30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err="1">
                <a:latin typeface="Century Gothic"/>
                <a:sym typeface="Century Gothic"/>
              </a:rPr>
              <a:t>Minería</a:t>
            </a:r>
            <a:endParaRPr/>
          </a:p>
        </p:txBody>
      </p:sp>
      <p:sp>
        <p:nvSpPr>
          <p:cNvPr id="613" name="Google Shape;613;g2c7666fef59_0_7"/>
          <p:cNvSpPr/>
          <p:nvPr/>
        </p:nvSpPr>
        <p:spPr>
          <a:xfrm rot="966584">
            <a:off x="-400217" y="3912357"/>
            <a:ext cx="5172306" cy="30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err="1">
                <a:latin typeface="Century Gothic"/>
                <a:sym typeface="Century Gothic"/>
              </a:rPr>
              <a:t>Geomecánicos</a:t>
            </a:r>
            <a:r>
              <a:rPr lang="en-US">
                <a:latin typeface="Century Gothic"/>
                <a:sym typeface="Century Gothic"/>
              </a:rPr>
              <a:t>/</a:t>
            </a:r>
            <a:r>
              <a:rPr lang="en-US" err="1">
                <a:latin typeface="Century Gothic"/>
                <a:sym typeface="Century Gothic"/>
              </a:rPr>
              <a:t>técnicos</a:t>
            </a:r>
            <a:endParaRPr/>
          </a:p>
        </p:txBody>
      </p:sp>
      <p:sp>
        <p:nvSpPr>
          <p:cNvPr id="614" name="Google Shape;614;g2c7666fef59_0_7"/>
          <p:cNvSpPr/>
          <p:nvPr/>
        </p:nvSpPr>
        <p:spPr>
          <a:xfrm rot="966584">
            <a:off x="-718246" y="4132766"/>
            <a:ext cx="5172306" cy="30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Metalurgia</a:t>
            </a:r>
            <a:endParaRPr/>
          </a:p>
        </p:txBody>
      </p:sp>
      <p:sp>
        <p:nvSpPr>
          <p:cNvPr id="615" name="Google Shape;615;g2c7666fef59_0_7"/>
          <p:cNvSpPr/>
          <p:nvPr/>
        </p:nvSpPr>
        <p:spPr>
          <a:xfrm>
            <a:off x="209157" y="3462073"/>
            <a:ext cx="3169718" cy="7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>
                <a:latin typeface="Century Gothic"/>
                <a:ea typeface="Century Gothic"/>
                <a:cs typeface="Century Gothic"/>
                <a:sym typeface="Century Gothic"/>
              </a:rPr>
              <a:t>Ámbitos de </a:t>
            </a:r>
            <a:r>
              <a:rPr lang="en-US" sz="1800" b="1" err="1">
                <a:latin typeface="Century Gothic"/>
                <a:ea typeface="Century Gothic"/>
                <a:cs typeface="Century Gothic"/>
                <a:sym typeface="Century Gothic"/>
              </a:rPr>
              <a:t>acción</a:t>
            </a:r>
            <a:endParaRPr b="1"/>
          </a:p>
        </p:txBody>
      </p:sp>
      <p:sp>
        <p:nvSpPr>
          <p:cNvPr id="616" name="Google Shape;616;g2c7666fef59_0_7"/>
          <p:cNvSpPr/>
          <p:nvPr/>
        </p:nvSpPr>
        <p:spPr>
          <a:xfrm>
            <a:off x="8282464" y="314371"/>
            <a:ext cx="517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Alianzas</a:t>
            </a:r>
            <a:endParaRPr b="1"/>
          </a:p>
        </p:txBody>
      </p:sp>
      <p:sp>
        <p:nvSpPr>
          <p:cNvPr id="617" name="Google Shape;617;g2c7666fef59_0_7"/>
          <p:cNvSpPr/>
          <p:nvPr/>
        </p:nvSpPr>
        <p:spPr>
          <a:xfrm>
            <a:off x="7099520" y="2168135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Consultoría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Boutique</a:t>
            </a:r>
            <a:endParaRPr/>
          </a:p>
        </p:txBody>
      </p:sp>
      <p:sp>
        <p:nvSpPr>
          <p:cNvPr id="618" name="Google Shape;618;g2c7666fef59_0_7"/>
          <p:cNvSpPr/>
          <p:nvPr/>
        </p:nvSpPr>
        <p:spPr>
          <a:xfrm>
            <a:off x="7378067" y="1797202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 de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consultores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asociados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9" name="Google Shape;619;g2c7666fef59_0_7"/>
          <p:cNvSpPr/>
          <p:nvPr/>
        </p:nvSpPr>
        <p:spPr>
          <a:xfrm>
            <a:off x="7909432" y="1056182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Alianzas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distintos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players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0" name="Google Shape;620;g2c7666fef59_0_7"/>
          <p:cNvSpPr/>
          <p:nvPr/>
        </p:nvSpPr>
        <p:spPr>
          <a:xfrm rot="2321519">
            <a:off x="1081494" y="2897746"/>
            <a:ext cx="5172335" cy="30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Estrategia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desarrollo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activos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1" name="Google Shape;621;g2c7666fef59_0_7"/>
          <p:cNvSpPr/>
          <p:nvPr/>
        </p:nvSpPr>
        <p:spPr>
          <a:xfrm rot="2321519">
            <a:off x="441585" y="3261863"/>
            <a:ext cx="5172335" cy="30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Gestión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implementación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2" name="Google Shape;622;g2c7666fef59_0_7"/>
          <p:cNvSpPr/>
          <p:nvPr/>
        </p:nvSpPr>
        <p:spPr>
          <a:xfrm rot="2321519">
            <a:off x="2395615" y="3620979"/>
            <a:ext cx="5172335" cy="30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Planificación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y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diseño</a:t>
            </a:r>
            <a:endParaRPr/>
          </a:p>
        </p:txBody>
      </p:sp>
      <p:sp>
        <p:nvSpPr>
          <p:cNvPr id="623" name="Google Shape;623;g2c7666fef59_0_7"/>
          <p:cNvSpPr/>
          <p:nvPr/>
        </p:nvSpPr>
        <p:spPr>
          <a:xfrm rot="2321519">
            <a:off x="-1045359" y="1511264"/>
            <a:ext cx="5172335" cy="30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Optimización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cadena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valor</a:t>
            </a:r>
          </a:p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(mina-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uer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endParaRPr/>
          </a:p>
        </p:txBody>
      </p:sp>
      <p:sp>
        <p:nvSpPr>
          <p:cNvPr id="625" name="Google Shape;625;g2c7666fef59_0_7"/>
          <p:cNvSpPr/>
          <p:nvPr/>
        </p:nvSpPr>
        <p:spPr>
          <a:xfrm rot="966584">
            <a:off x="-2279958" y="5186703"/>
            <a:ext cx="5172306" cy="30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Infraestructuras</a:t>
            </a:r>
            <a:endParaRPr/>
          </a:p>
        </p:txBody>
      </p:sp>
      <p:sp>
        <p:nvSpPr>
          <p:cNvPr id="629" name="Google Shape;629;g2c7666fef59_0_7"/>
          <p:cNvSpPr/>
          <p:nvPr/>
        </p:nvSpPr>
        <p:spPr>
          <a:xfrm rot="1049938">
            <a:off x="2851955" y="5544225"/>
            <a:ext cx="5172234" cy="30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Simulación</a:t>
            </a:r>
            <a:endParaRPr/>
          </a:p>
        </p:txBody>
      </p:sp>
      <p:sp>
        <p:nvSpPr>
          <p:cNvPr id="630" name="Google Shape;630;g2c7666fef59_0_7"/>
          <p:cNvSpPr/>
          <p:nvPr/>
        </p:nvSpPr>
        <p:spPr>
          <a:xfrm rot="898782">
            <a:off x="849340" y="6367252"/>
            <a:ext cx="5172234" cy="30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Comercialización</a:t>
            </a:r>
            <a:endParaRPr/>
          </a:p>
        </p:txBody>
      </p:sp>
      <p:sp>
        <p:nvSpPr>
          <p:cNvPr id="631" name="Google Shape;631;g2c7666fef59_0_7"/>
          <p:cNvSpPr/>
          <p:nvPr/>
        </p:nvSpPr>
        <p:spPr>
          <a:xfrm>
            <a:off x="8084632" y="711332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M&amp;A con players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grandes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6" name="Google Shape;600;g2c7666fef59_0_7"/>
          <p:cNvCxnSpPr/>
          <p:nvPr/>
        </p:nvCxnSpPr>
        <p:spPr>
          <a:xfrm flipH="1" flipV="1">
            <a:off x="3938412" y="515712"/>
            <a:ext cx="1163832" cy="183025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8" name="Google Shape;607;g2c7666fef59_0_7"/>
          <p:cNvSpPr/>
          <p:nvPr/>
        </p:nvSpPr>
        <p:spPr>
          <a:xfrm>
            <a:off x="3176360" y="127479"/>
            <a:ext cx="517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</a:t>
            </a:r>
            <a:r>
              <a:rPr lang="en-US" sz="18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800" b="1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cliente</a:t>
            </a:r>
            <a:endParaRPr b="1"/>
          </a:p>
        </p:txBody>
      </p:sp>
      <p:sp>
        <p:nvSpPr>
          <p:cNvPr id="49" name="Google Shape;617;g2c7666fef59_0_7"/>
          <p:cNvSpPr/>
          <p:nvPr/>
        </p:nvSpPr>
        <p:spPr>
          <a:xfrm rot="19994503">
            <a:off x="4722477" y="850114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Empresas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Mineras</a:t>
            </a:r>
            <a:endParaRPr/>
          </a:p>
        </p:txBody>
      </p:sp>
      <p:sp>
        <p:nvSpPr>
          <p:cNvPr id="50" name="Google Shape;617;g2c7666fef59_0_7"/>
          <p:cNvSpPr/>
          <p:nvPr/>
        </p:nvSpPr>
        <p:spPr>
          <a:xfrm rot="19933095">
            <a:off x="4497002" y="549362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Consultoras</a:t>
            </a:r>
            <a:endParaRPr/>
          </a:p>
        </p:txBody>
      </p:sp>
      <p:sp>
        <p:nvSpPr>
          <p:cNvPr id="51" name="Google Shape;617;g2c7666fef59_0_7"/>
          <p:cNvSpPr/>
          <p:nvPr/>
        </p:nvSpPr>
        <p:spPr>
          <a:xfrm rot="19933095">
            <a:off x="4331045" y="262694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Financieras</a:t>
            </a:r>
            <a:endParaRPr/>
          </a:p>
        </p:txBody>
      </p:sp>
      <p:sp>
        <p:nvSpPr>
          <p:cNvPr id="52" name="Google Shape;617;g2c7666fef59_0_7"/>
          <p:cNvSpPr/>
          <p:nvPr/>
        </p:nvSpPr>
        <p:spPr>
          <a:xfrm rot="19933095">
            <a:off x="4167625" y="33827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Buffet de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bogados</a:t>
            </a:r>
            <a:endParaRPr/>
          </a:p>
        </p:txBody>
      </p:sp>
      <p:sp>
        <p:nvSpPr>
          <p:cNvPr id="53" name="Google Shape;617;g2c7666fef59_0_7"/>
          <p:cNvSpPr/>
          <p:nvPr/>
        </p:nvSpPr>
        <p:spPr>
          <a:xfrm rot="19933095">
            <a:off x="3958643" y="-244032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Directorio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empresas</a:t>
            </a:r>
            <a:endParaRPr/>
          </a:p>
        </p:txBody>
      </p:sp>
      <p:sp>
        <p:nvSpPr>
          <p:cNvPr id="54" name="Google Shape;604;g2c7666fef59_0_7"/>
          <p:cNvSpPr/>
          <p:nvPr/>
        </p:nvSpPr>
        <p:spPr>
          <a:xfrm rot="-3685871">
            <a:off x="8450537" y="1093544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Canada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" name="Google Shape;604;g2c7666fef59_0_7"/>
          <p:cNvSpPr/>
          <p:nvPr/>
        </p:nvSpPr>
        <p:spPr>
          <a:xfrm rot="-3685871">
            <a:off x="8874521" y="1075903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Australia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" name="Google Shape;604;g2c7666fef59_0_7"/>
          <p:cNvSpPr/>
          <p:nvPr/>
        </p:nvSpPr>
        <p:spPr>
          <a:xfrm rot="-3685871">
            <a:off x="9345490" y="1007616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KAZ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" name="Google Shape;604;g2c7666fef59_0_7"/>
          <p:cNvSpPr/>
          <p:nvPr/>
        </p:nvSpPr>
        <p:spPr>
          <a:xfrm rot="-3685871">
            <a:off x="9785115" y="1023686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Sudáfrica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" name="Google Shape;619;g2c7666fef59_0_7"/>
          <p:cNvSpPr/>
          <p:nvPr/>
        </p:nvSpPr>
        <p:spPr>
          <a:xfrm>
            <a:off x="7675788" y="1444505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Alianzas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con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consultoras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mineras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más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chicas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" name="Google Shape;623;g2c7666fef59_0_7"/>
          <p:cNvSpPr/>
          <p:nvPr/>
        </p:nvSpPr>
        <p:spPr>
          <a:xfrm rot="2321519">
            <a:off x="-2257890" y="1460953"/>
            <a:ext cx="5172335" cy="30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Desarrollo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negocios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</a:p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(M&amp;A,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compras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royalty)</a:t>
            </a:r>
            <a:endParaRPr/>
          </a:p>
        </p:txBody>
      </p:sp>
      <p:sp>
        <p:nvSpPr>
          <p:cNvPr id="62" name="Google Shape;623;g2c7666fef59_0_7"/>
          <p:cNvSpPr/>
          <p:nvPr/>
        </p:nvSpPr>
        <p:spPr>
          <a:xfrm rot="2321519">
            <a:off x="-1589697" y="2661072"/>
            <a:ext cx="5172335" cy="30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Desarrollo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modelos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IA</a:t>
            </a:r>
          </a:p>
          <a:p>
            <a:pPr marL="4762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3" name="Google Shape;623;g2c7666fef59_0_7"/>
          <p:cNvSpPr/>
          <p:nvPr/>
        </p:nvSpPr>
        <p:spPr>
          <a:xfrm rot="2321519">
            <a:off x="-1895581" y="2810116"/>
            <a:ext cx="5172335" cy="30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Peer review /DD</a:t>
            </a:r>
            <a:endParaRPr/>
          </a:p>
        </p:txBody>
      </p:sp>
      <p:sp>
        <p:nvSpPr>
          <p:cNvPr id="65" name="Google Shape;609;g2c7666fef59_0_7"/>
          <p:cNvSpPr/>
          <p:nvPr/>
        </p:nvSpPr>
        <p:spPr>
          <a:xfrm rot="-838548">
            <a:off x="7819656" y="4322708"/>
            <a:ext cx="5172415" cy="307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Proyectos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Ingeniería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FEL 2B-3-4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09;g2c7666fef59_0_7"/>
          <p:cNvSpPr/>
          <p:nvPr/>
        </p:nvSpPr>
        <p:spPr>
          <a:xfrm rot="-838548">
            <a:off x="8175098" y="4541491"/>
            <a:ext cx="5172415" cy="307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Gestión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operativa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proyectos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" name="Google Shape;609;g2c7666fef59_0_7"/>
          <p:cNvSpPr/>
          <p:nvPr/>
        </p:nvSpPr>
        <p:spPr>
          <a:xfrm rot="-838548">
            <a:off x="8492652" y="4798269"/>
            <a:ext cx="5172415" cy="307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Capacitación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8" name="Google Shape;609;g2c7666fef59_0_7"/>
          <p:cNvSpPr/>
          <p:nvPr/>
        </p:nvSpPr>
        <p:spPr>
          <a:xfrm rot="-838548">
            <a:off x="8829940" y="5051388"/>
            <a:ext cx="5172415" cy="307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Análisis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riesgo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9" name="Google Shape;609;g2c7666fef59_0_7"/>
          <p:cNvSpPr/>
          <p:nvPr/>
        </p:nvSpPr>
        <p:spPr>
          <a:xfrm rot="-838548">
            <a:off x="9118768" y="5291729"/>
            <a:ext cx="5172415" cy="307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Operación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y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construcción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0" name="Google Shape;609;g2c7666fef59_0_7"/>
          <p:cNvSpPr/>
          <p:nvPr/>
        </p:nvSpPr>
        <p:spPr>
          <a:xfrm rot="-838548">
            <a:off x="9497743" y="5562052"/>
            <a:ext cx="5172415" cy="307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Equipo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dueño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proyecto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" name="Google Shape;609;g2c7666fef59_0_7"/>
          <p:cNvSpPr/>
          <p:nvPr/>
        </p:nvSpPr>
        <p:spPr>
          <a:xfrm rot="-838548">
            <a:off x="9783606" y="5813536"/>
            <a:ext cx="5172415" cy="307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EPCM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2" name="Google Shape;625;g2c7666fef59_0_7"/>
          <p:cNvSpPr/>
          <p:nvPr/>
        </p:nvSpPr>
        <p:spPr>
          <a:xfrm rot="966584">
            <a:off x="-1809658" y="4775856"/>
            <a:ext cx="5172306" cy="30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Manejo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materiales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</a:p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agua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relaves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suministro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endParaRPr/>
          </a:p>
        </p:txBody>
      </p:sp>
      <p:sp>
        <p:nvSpPr>
          <p:cNvPr id="64" name="Google Shape;629;g2c7666fef59_0_7"/>
          <p:cNvSpPr/>
          <p:nvPr/>
        </p:nvSpPr>
        <p:spPr>
          <a:xfrm rot="1049938">
            <a:off x="2488797" y="5751334"/>
            <a:ext cx="5172234" cy="30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Geología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592535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2c7666fef59_0_7"/>
          <p:cNvSpPr/>
          <p:nvPr/>
        </p:nvSpPr>
        <p:spPr>
          <a:xfrm>
            <a:off x="-1484413" y="7977750"/>
            <a:ext cx="1379100" cy="896400"/>
          </a:xfrm>
          <a:prstGeom prst="rect">
            <a:avLst/>
          </a:prstGeom>
          <a:solidFill>
            <a:srgbClr val="2F29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REDCO</a:t>
            </a:r>
            <a:endParaRPr/>
          </a:p>
        </p:txBody>
      </p:sp>
      <p:sp>
        <p:nvSpPr>
          <p:cNvPr id="590" name="Google Shape;590;g2c7666fef59_0_7"/>
          <p:cNvSpPr/>
          <p:nvPr/>
        </p:nvSpPr>
        <p:spPr>
          <a:xfrm>
            <a:off x="-1636813" y="8407458"/>
            <a:ext cx="1379100" cy="763200"/>
          </a:xfrm>
          <a:prstGeom prst="rect">
            <a:avLst/>
          </a:prstGeom>
          <a:solidFill>
            <a:srgbClr val="2F29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ASESORES</a:t>
            </a:r>
            <a:endParaRPr/>
          </a:p>
        </p:txBody>
      </p:sp>
      <p:sp>
        <p:nvSpPr>
          <p:cNvPr id="591" name="Google Shape;591;g2c7666fef59_0_7"/>
          <p:cNvSpPr/>
          <p:nvPr/>
        </p:nvSpPr>
        <p:spPr>
          <a:xfrm>
            <a:off x="4567818" y="2007873"/>
            <a:ext cx="3031800" cy="3017100"/>
          </a:xfrm>
          <a:prstGeom prst="ellipse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br>
              <a:rPr lang="es-ES_tradnl" sz="900"/>
            </a:br>
            <a:r>
              <a:rPr lang="es-ES_tradnl" sz="900" b="1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Consultora boutique </a:t>
            </a:r>
            <a:r>
              <a:rPr lang="es-ES_tradnl" sz="900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de confianza, reconocida por su eficiencia y flexibilidad. Destacados en el </a:t>
            </a:r>
            <a:r>
              <a:rPr lang="es-ES_tradnl" sz="900" b="1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ámbito minero </a:t>
            </a:r>
            <a:r>
              <a:rPr lang="es-ES_tradnl" sz="900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a través de una </a:t>
            </a:r>
            <a:r>
              <a:rPr lang="es-ES_tradnl" sz="900" b="1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innovación</a:t>
            </a:r>
            <a:r>
              <a:rPr lang="es-ES_tradnl" sz="900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 constante, lo que permite establecer relaciones sólidas en el desarrollo de sus proyectos, con soluciones robustas y ejecución inteligente. Cuenta con un equipo de </a:t>
            </a:r>
            <a:r>
              <a:rPr lang="es-ES_tradnl" sz="900" b="1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profesionales de excelencia </a:t>
            </a:r>
            <a:r>
              <a:rPr lang="es-ES_tradnl" sz="900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que aporta conocimiento técnico especializado y experiencias prácticas para </a:t>
            </a:r>
            <a:r>
              <a:rPr lang="es-ES_tradnl" sz="900" b="1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optimizar los resultados de sus clientes</a:t>
            </a:r>
            <a:r>
              <a:rPr lang="es-ES_tradnl" sz="900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.</a:t>
            </a:r>
            <a:endParaRPr lang="es-ES_tradnl" sz="900">
              <a:solidFill>
                <a:schemeClr val="accent1"/>
              </a:solidFill>
              <a:latin typeface="Century Gothic" charset="0"/>
              <a:ea typeface="Century Gothic" charset="0"/>
              <a:cs typeface="Century Gothic" charset="0"/>
              <a:sym typeface="Century Gothic"/>
            </a:endParaRPr>
          </a:p>
        </p:txBody>
      </p:sp>
      <p:sp>
        <p:nvSpPr>
          <p:cNvPr id="592" name="Google Shape;592;g2c7666fef59_0_7"/>
          <p:cNvSpPr/>
          <p:nvPr/>
        </p:nvSpPr>
        <p:spPr>
          <a:xfrm>
            <a:off x="4249471" y="1691085"/>
            <a:ext cx="3668700" cy="3650700"/>
          </a:xfrm>
          <a:prstGeom prst="ellipse">
            <a:avLst/>
          </a:prstGeom>
          <a:noFill/>
          <a:ln w="12700" cap="flat" cmpd="sng">
            <a:solidFill>
              <a:srgbClr val="D8E2F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3" name="Google Shape;593;g2c7666fef59_0_7"/>
          <p:cNvSpPr/>
          <p:nvPr/>
        </p:nvSpPr>
        <p:spPr>
          <a:xfrm>
            <a:off x="3861925" y="1319495"/>
            <a:ext cx="4439100" cy="4417200"/>
          </a:xfrm>
          <a:prstGeom prst="ellipse">
            <a:avLst/>
          </a:prstGeom>
          <a:noFill/>
          <a:ln w="12700" cap="flat" cmpd="sng">
            <a:solidFill>
              <a:srgbClr val="D8E2F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4" name="Google Shape;594;g2c7666fef59_0_7"/>
          <p:cNvSpPr/>
          <p:nvPr/>
        </p:nvSpPr>
        <p:spPr>
          <a:xfrm>
            <a:off x="3393490" y="839274"/>
            <a:ext cx="5371200" cy="5344800"/>
          </a:xfrm>
          <a:prstGeom prst="ellipse">
            <a:avLst/>
          </a:prstGeom>
          <a:noFill/>
          <a:ln w="12700" cap="flat" cmpd="sng">
            <a:solidFill>
              <a:srgbClr val="D8E2F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5" name="Google Shape;595;g2c7666fef59_0_7"/>
          <p:cNvSpPr/>
          <p:nvPr/>
        </p:nvSpPr>
        <p:spPr>
          <a:xfrm>
            <a:off x="2827172" y="275720"/>
            <a:ext cx="6499200" cy="6467400"/>
          </a:xfrm>
          <a:prstGeom prst="ellipse">
            <a:avLst/>
          </a:prstGeom>
          <a:noFill/>
          <a:ln w="12700" cap="flat" cmpd="sng">
            <a:solidFill>
              <a:srgbClr val="D8E2F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596" name="Google Shape;596;g2c7666fef59_0_7"/>
          <p:cNvCxnSpPr/>
          <p:nvPr/>
        </p:nvCxnSpPr>
        <p:spPr>
          <a:xfrm flipV="1">
            <a:off x="7024394" y="574858"/>
            <a:ext cx="1126453" cy="173568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7" name="Google Shape;597;g2c7666fef59_0_7"/>
          <p:cNvCxnSpPr>
            <a:stCxn id="591" idx="6"/>
          </p:cNvCxnSpPr>
          <p:nvPr/>
        </p:nvCxnSpPr>
        <p:spPr>
          <a:xfrm flipV="1">
            <a:off x="7599618" y="3506436"/>
            <a:ext cx="4446770" cy="998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8" name="Google Shape;598;g2c7666fef59_0_7"/>
          <p:cNvCxnSpPr>
            <a:stCxn id="591" idx="2"/>
          </p:cNvCxnSpPr>
          <p:nvPr/>
        </p:nvCxnSpPr>
        <p:spPr>
          <a:xfrm flipH="1" flipV="1">
            <a:off x="214340" y="3482540"/>
            <a:ext cx="4353478" cy="3388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9" name="Google Shape;599;g2c7666fef59_0_7"/>
          <p:cNvCxnSpPr>
            <a:stCxn id="591" idx="5"/>
          </p:cNvCxnSpPr>
          <p:nvPr/>
        </p:nvCxnSpPr>
        <p:spPr>
          <a:xfrm>
            <a:off x="7155621" y="4583129"/>
            <a:ext cx="2895615" cy="214438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00" name="Google Shape;600;g2c7666fef59_0_7"/>
          <p:cNvCxnSpPr>
            <a:stCxn id="591" idx="3"/>
          </p:cNvCxnSpPr>
          <p:nvPr/>
        </p:nvCxnSpPr>
        <p:spPr>
          <a:xfrm flipH="1">
            <a:off x="2400915" y="4583129"/>
            <a:ext cx="2610900" cy="1869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01" name="Google Shape;601;g2c7666fef59_0_7"/>
          <p:cNvSpPr/>
          <p:nvPr/>
        </p:nvSpPr>
        <p:spPr>
          <a:xfrm>
            <a:off x="10882349" y="3534570"/>
            <a:ext cx="517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Países</a:t>
            </a:r>
            <a:endParaRPr sz="1800" b="1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2" name="Google Shape;602;g2c7666fef59_0_7"/>
          <p:cNvSpPr/>
          <p:nvPr/>
        </p:nvSpPr>
        <p:spPr>
          <a:xfrm rot="-3685871">
            <a:off x="6690714" y="1132391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Perú</a:t>
            </a:r>
            <a:endParaRPr/>
          </a:p>
        </p:txBody>
      </p:sp>
      <p:sp>
        <p:nvSpPr>
          <p:cNvPr id="603" name="Google Shape;603;g2c7666fef59_0_7"/>
          <p:cNvSpPr/>
          <p:nvPr/>
        </p:nvSpPr>
        <p:spPr>
          <a:xfrm rot="-3685871">
            <a:off x="7051394" y="1132391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Brasil</a:t>
            </a:r>
            <a:endParaRPr/>
          </a:p>
        </p:txBody>
      </p:sp>
      <p:sp>
        <p:nvSpPr>
          <p:cNvPr id="604" name="Google Shape;604;g2c7666fef59_0_7"/>
          <p:cNvSpPr/>
          <p:nvPr/>
        </p:nvSpPr>
        <p:spPr>
          <a:xfrm rot="-3685871">
            <a:off x="8027272" y="1093840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USA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5" name="Google Shape;605;g2c7666fef59_0_7"/>
          <p:cNvSpPr/>
          <p:nvPr/>
        </p:nvSpPr>
        <p:spPr>
          <a:xfrm rot="-3685871">
            <a:off x="7465051" y="1124239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Rusia</a:t>
            </a:r>
            <a:endParaRPr/>
          </a:p>
        </p:txBody>
      </p:sp>
      <p:sp>
        <p:nvSpPr>
          <p:cNvPr id="606" name="Google Shape;606;g2c7666fef59_0_7"/>
          <p:cNvSpPr/>
          <p:nvPr/>
        </p:nvSpPr>
        <p:spPr>
          <a:xfrm rot="-3685871">
            <a:off x="6310135" y="1132387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Chile</a:t>
            </a:r>
            <a:endParaRPr/>
          </a:p>
        </p:txBody>
      </p:sp>
      <p:sp>
        <p:nvSpPr>
          <p:cNvPr id="607" name="Google Shape;607;g2c7666fef59_0_7"/>
          <p:cNvSpPr/>
          <p:nvPr/>
        </p:nvSpPr>
        <p:spPr>
          <a:xfrm>
            <a:off x="7455827" y="6261716"/>
            <a:ext cx="517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</a:t>
            </a:r>
            <a:r>
              <a:rPr lang="en-US" sz="18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800" b="1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producto</a:t>
            </a:r>
            <a:endParaRPr b="1"/>
          </a:p>
        </p:txBody>
      </p:sp>
      <p:sp>
        <p:nvSpPr>
          <p:cNvPr id="609" name="Google Shape;609;g2c7666fef59_0_7"/>
          <p:cNvSpPr/>
          <p:nvPr/>
        </p:nvSpPr>
        <p:spPr>
          <a:xfrm rot="-838548">
            <a:off x="7868761" y="4401498"/>
            <a:ext cx="5172415" cy="307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Estudios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FEL 0-1-2A-2B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0" name="Google Shape;610;g2c7666fef59_0_7"/>
          <p:cNvSpPr/>
          <p:nvPr/>
        </p:nvSpPr>
        <p:spPr>
          <a:xfrm rot="-838548">
            <a:off x="7128755" y="3834342"/>
            <a:ext cx="5172415" cy="307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Consultoría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y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análisis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riesgo</a:t>
            </a:r>
            <a:endParaRPr/>
          </a:p>
        </p:txBody>
      </p:sp>
      <p:sp>
        <p:nvSpPr>
          <p:cNvPr id="611" name="Google Shape;611;g2c7666fef59_0_7"/>
          <p:cNvSpPr/>
          <p:nvPr/>
        </p:nvSpPr>
        <p:spPr>
          <a:xfrm>
            <a:off x="2808772" y="6045479"/>
            <a:ext cx="517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Especialidades</a:t>
            </a:r>
            <a:r>
              <a:rPr lang="en-US" sz="18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</a:p>
          <a:p>
            <a:pPr marL="4762" marR="0" lvl="0" indent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Técnicas</a:t>
            </a:r>
            <a:r>
              <a:rPr lang="en-US" sz="18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1800" b="1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2" name="Google Shape;612;g2c7666fef59_0_7"/>
          <p:cNvSpPr/>
          <p:nvPr/>
        </p:nvSpPr>
        <p:spPr>
          <a:xfrm rot="966584">
            <a:off x="-94860" y="3731419"/>
            <a:ext cx="5172306" cy="30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err="1">
                <a:latin typeface="Century Gothic"/>
                <a:sym typeface="Century Gothic"/>
              </a:rPr>
              <a:t>Minería</a:t>
            </a:r>
            <a:endParaRPr/>
          </a:p>
        </p:txBody>
      </p:sp>
      <p:sp>
        <p:nvSpPr>
          <p:cNvPr id="613" name="Google Shape;613;g2c7666fef59_0_7"/>
          <p:cNvSpPr/>
          <p:nvPr/>
        </p:nvSpPr>
        <p:spPr>
          <a:xfrm rot="966584">
            <a:off x="-773613" y="4136000"/>
            <a:ext cx="5172306" cy="30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err="1">
                <a:latin typeface="Century Gothic"/>
                <a:sym typeface="Century Gothic"/>
              </a:rPr>
              <a:t>Geomecánicos</a:t>
            </a:r>
            <a:r>
              <a:rPr lang="en-US">
                <a:latin typeface="Century Gothic"/>
                <a:sym typeface="Century Gothic"/>
              </a:rPr>
              <a:t>/</a:t>
            </a:r>
            <a:r>
              <a:rPr lang="en-US" err="1">
                <a:latin typeface="Century Gothic"/>
                <a:sym typeface="Century Gothic"/>
              </a:rPr>
              <a:t>técnicos</a:t>
            </a:r>
            <a:endParaRPr/>
          </a:p>
        </p:txBody>
      </p:sp>
      <p:sp>
        <p:nvSpPr>
          <p:cNvPr id="614" name="Google Shape;614;g2c7666fef59_0_7"/>
          <p:cNvSpPr/>
          <p:nvPr/>
        </p:nvSpPr>
        <p:spPr>
          <a:xfrm rot="966584">
            <a:off x="-1091642" y="4356409"/>
            <a:ext cx="5172306" cy="30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Procesos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de mineral y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m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etalurgia</a:t>
            </a:r>
            <a:endParaRPr/>
          </a:p>
        </p:txBody>
      </p:sp>
      <p:sp>
        <p:nvSpPr>
          <p:cNvPr id="615" name="Google Shape;615;g2c7666fef59_0_7"/>
          <p:cNvSpPr/>
          <p:nvPr/>
        </p:nvSpPr>
        <p:spPr>
          <a:xfrm>
            <a:off x="209157" y="3462073"/>
            <a:ext cx="3169718" cy="7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>
                <a:latin typeface="Century Gothic"/>
                <a:ea typeface="Century Gothic"/>
                <a:cs typeface="Century Gothic"/>
                <a:sym typeface="Century Gothic"/>
              </a:rPr>
              <a:t>Ámbitos de </a:t>
            </a:r>
            <a:r>
              <a:rPr lang="en-US" sz="1800" b="1" err="1">
                <a:latin typeface="Century Gothic"/>
                <a:ea typeface="Century Gothic"/>
                <a:cs typeface="Century Gothic"/>
                <a:sym typeface="Century Gothic"/>
              </a:rPr>
              <a:t>acción</a:t>
            </a:r>
            <a:endParaRPr b="1"/>
          </a:p>
        </p:txBody>
      </p:sp>
      <p:sp>
        <p:nvSpPr>
          <p:cNvPr id="616" name="Google Shape;616;g2c7666fef59_0_7"/>
          <p:cNvSpPr/>
          <p:nvPr/>
        </p:nvSpPr>
        <p:spPr>
          <a:xfrm>
            <a:off x="8282464" y="314371"/>
            <a:ext cx="517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Alianzas</a:t>
            </a:r>
            <a:endParaRPr b="1"/>
          </a:p>
        </p:txBody>
      </p:sp>
      <p:sp>
        <p:nvSpPr>
          <p:cNvPr id="617" name="Google Shape;617;g2c7666fef59_0_7"/>
          <p:cNvSpPr/>
          <p:nvPr/>
        </p:nvSpPr>
        <p:spPr>
          <a:xfrm>
            <a:off x="7099520" y="2168135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Consultoría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Boutique</a:t>
            </a:r>
            <a:endParaRPr/>
          </a:p>
        </p:txBody>
      </p:sp>
      <p:sp>
        <p:nvSpPr>
          <p:cNvPr id="618" name="Google Shape;618;g2c7666fef59_0_7"/>
          <p:cNvSpPr/>
          <p:nvPr/>
        </p:nvSpPr>
        <p:spPr>
          <a:xfrm>
            <a:off x="7378067" y="1797202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 de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consultores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asociados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9" name="Google Shape;619;g2c7666fef59_0_7"/>
          <p:cNvSpPr/>
          <p:nvPr/>
        </p:nvSpPr>
        <p:spPr>
          <a:xfrm>
            <a:off x="7909432" y="1056182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Alianzas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distintos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players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0" name="Google Shape;620;g2c7666fef59_0_7"/>
          <p:cNvSpPr/>
          <p:nvPr/>
        </p:nvSpPr>
        <p:spPr>
          <a:xfrm rot="2321519">
            <a:off x="706744" y="2897746"/>
            <a:ext cx="5172335" cy="30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Estrategia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desarrollo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activos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1" name="Google Shape;621;g2c7666fef59_0_7"/>
          <p:cNvSpPr/>
          <p:nvPr/>
        </p:nvSpPr>
        <p:spPr>
          <a:xfrm rot="2321519">
            <a:off x="66835" y="3261863"/>
            <a:ext cx="5172335" cy="30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Gestión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implementación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2" name="Google Shape;622;g2c7666fef59_0_7"/>
          <p:cNvSpPr/>
          <p:nvPr/>
        </p:nvSpPr>
        <p:spPr>
          <a:xfrm rot="2321519">
            <a:off x="2395615" y="3620979"/>
            <a:ext cx="5172335" cy="30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Planificación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y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diseño</a:t>
            </a:r>
            <a:endParaRPr/>
          </a:p>
        </p:txBody>
      </p:sp>
      <p:sp>
        <p:nvSpPr>
          <p:cNvPr id="623" name="Google Shape;623;g2c7666fef59_0_7"/>
          <p:cNvSpPr/>
          <p:nvPr/>
        </p:nvSpPr>
        <p:spPr>
          <a:xfrm rot="2321519">
            <a:off x="-1420109" y="1511264"/>
            <a:ext cx="5172335" cy="30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Optimización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cadena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valor</a:t>
            </a:r>
          </a:p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(mina-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uer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endParaRPr/>
          </a:p>
        </p:txBody>
      </p:sp>
      <p:sp>
        <p:nvSpPr>
          <p:cNvPr id="625" name="Google Shape;625;g2c7666fef59_0_7"/>
          <p:cNvSpPr/>
          <p:nvPr/>
        </p:nvSpPr>
        <p:spPr>
          <a:xfrm rot="966584">
            <a:off x="-2279958" y="5186703"/>
            <a:ext cx="5172306" cy="30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Infraestructuras</a:t>
            </a:r>
            <a:endParaRPr/>
          </a:p>
        </p:txBody>
      </p:sp>
      <p:sp>
        <p:nvSpPr>
          <p:cNvPr id="629" name="Google Shape;629;g2c7666fef59_0_7"/>
          <p:cNvSpPr/>
          <p:nvPr/>
        </p:nvSpPr>
        <p:spPr>
          <a:xfrm rot="1049938">
            <a:off x="3435154" y="5064158"/>
            <a:ext cx="5172234" cy="30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Simulación</a:t>
            </a:r>
            <a:endParaRPr/>
          </a:p>
        </p:txBody>
      </p:sp>
      <p:sp>
        <p:nvSpPr>
          <p:cNvPr id="630" name="Google Shape;630;g2c7666fef59_0_7"/>
          <p:cNvSpPr/>
          <p:nvPr/>
        </p:nvSpPr>
        <p:spPr>
          <a:xfrm rot="898782">
            <a:off x="849340" y="6367252"/>
            <a:ext cx="5172234" cy="30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Comercialización</a:t>
            </a:r>
            <a:endParaRPr/>
          </a:p>
        </p:txBody>
      </p:sp>
      <p:sp>
        <p:nvSpPr>
          <p:cNvPr id="631" name="Google Shape;631;g2c7666fef59_0_7"/>
          <p:cNvSpPr/>
          <p:nvPr/>
        </p:nvSpPr>
        <p:spPr>
          <a:xfrm>
            <a:off x="8084632" y="711332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M&amp;A con players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grandes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6" name="Google Shape;600;g2c7666fef59_0_7"/>
          <p:cNvCxnSpPr/>
          <p:nvPr/>
        </p:nvCxnSpPr>
        <p:spPr>
          <a:xfrm flipH="1" flipV="1">
            <a:off x="3938412" y="515712"/>
            <a:ext cx="1163832" cy="183025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8" name="Google Shape;607;g2c7666fef59_0_7"/>
          <p:cNvSpPr/>
          <p:nvPr/>
        </p:nvSpPr>
        <p:spPr>
          <a:xfrm>
            <a:off x="2247406" y="607308"/>
            <a:ext cx="517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</a:t>
            </a:r>
            <a:r>
              <a:rPr lang="en-US" sz="18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800" b="1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cliente</a:t>
            </a:r>
            <a:endParaRPr b="1"/>
          </a:p>
        </p:txBody>
      </p:sp>
      <p:sp>
        <p:nvSpPr>
          <p:cNvPr id="49" name="Google Shape;617;g2c7666fef59_0_7"/>
          <p:cNvSpPr/>
          <p:nvPr/>
        </p:nvSpPr>
        <p:spPr>
          <a:xfrm rot="19994503">
            <a:off x="4555151" y="595141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Empresas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gran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minería</a:t>
            </a:r>
            <a:endParaRPr/>
          </a:p>
        </p:txBody>
      </p:sp>
      <p:sp>
        <p:nvSpPr>
          <p:cNvPr id="50" name="Google Shape;617;g2c7666fef59_0_7"/>
          <p:cNvSpPr/>
          <p:nvPr/>
        </p:nvSpPr>
        <p:spPr>
          <a:xfrm rot="19933095">
            <a:off x="4225927" y="100536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Consultoras</a:t>
            </a:r>
            <a:endParaRPr/>
          </a:p>
        </p:txBody>
      </p:sp>
      <p:sp>
        <p:nvSpPr>
          <p:cNvPr id="51" name="Google Shape;617;g2c7666fef59_0_7"/>
          <p:cNvSpPr/>
          <p:nvPr/>
        </p:nvSpPr>
        <p:spPr>
          <a:xfrm rot="19933095">
            <a:off x="4377321" y="309586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Financieras</a:t>
            </a:r>
            <a:endParaRPr/>
          </a:p>
        </p:txBody>
      </p:sp>
      <p:sp>
        <p:nvSpPr>
          <p:cNvPr id="52" name="Google Shape;617;g2c7666fef59_0_7"/>
          <p:cNvSpPr/>
          <p:nvPr/>
        </p:nvSpPr>
        <p:spPr>
          <a:xfrm rot="19933095">
            <a:off x="3941968" y="-324527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B.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bogados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&amp;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asegur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/>
          </a:p>
        </p:txBody>
      </p:sp>
      <p:sp>
        <p:nvSpPr>
          <p:cNvPr id="53" name="Google Shape;617;g2c7666fef59_0_7"/>
          <p:cNvSpPr/>
          <p:nvPr/>
        </p:nvSpPr>
        <p:spPr>
          <a:xfrm rot="19933095">
            <a:off x="3838901" y="-528494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>
                <a:latin typeface="Century Gothic" charset="0"/>
                <a:ea typeface="Century Gothic" charset="0"/>
                <a:cs typeface="Century Gothic" charset="0"/>
              </a:rPr>
              <a:t>Proveedores</a:t>
            </a:r>
            <a:endParaRPr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54" name="Google Shape;604;g2c7666fef59_0_7"/>
          <p:cNvSpPr/>
          <p:nvPr/>
        </p:nvSpPr>
        <p:spPr>
          <a:xfrm rot="-3685871">
            <a:off x="8450537" y="1093544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Canada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" name="Google Shape;604;g2c7666fef59_0_7"/>
          <p:cNvSpPr/>
          <p:nvPr/>
        </p:nvSpPr>
        <p:spPr>
          <a:xfrm rot="-3685871">
            <a:off x="8874521" y="1075903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Australia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" name="Google Shape;604;g2c7666fef59_0_7"/>
          <p:cNvSpPr/>
          <p:nvPr/>
        </p:nvSpPr>
        <p:spPr>
          <a:xfrm rot="-3685871">
            <a:off x="9345490" y="1007616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KAZ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" name="Google Shape;604;g2c7666fef59_0_7"/>
          <p:cNvSpPr/>
          <p:nvPr/>
        </p:nvSpPr>
        <p:spPr>
          <a:xfrm rot="-3685871">
            <a:off x="9785115" y="1023686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Sudáfrica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" name="Google Shape;619;g2c7666fef59_0_7"/>
          <p:cNvSpPr/>
          <p:nvPr/>
        </p:nvSpPr>
        <p:spPr>
          <a:xfrm>
            <a:off x="7675788" y="1444505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Alianzas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con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consultoras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mineras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más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chicas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" name="Google Shape;623;g2c7666fef59_0_7"/>
          <p:cNvSpPr/>
          <p:nvPr/>
        </p:nvSpPr>
        <p:spPr>
          <a:xfrm rot="2321519">
            <a:off x="-2632640" y="1460953"/>
            <a:ext cx="5172335" cy="30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Desarrollo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negocios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</a:p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(M&amp;A,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compras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royalty)</a:t>
            </a:r>
            <a:endParaRPr/>
          </a:p>
        </p:txBody>
      </p:sp>
      <p:sp>
        <p:nvSpPr>
          <p:cNvPr id="62" name="Google Shape;623;g2c7666fef59_0_7"/>
          <p:cNvSpPr/>
          <p:nvPr/>
        </p:nvSpPr>
        <p:spPr>
          <a:xfrm rot="2321519">
            <a:off x="-1693837" y="2839373"/>
            <a:ext cx="5172335" cy="30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D.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modelos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IA</a:t>
            </a:r>
          </a:p>
          <a:p>
            <a:pPr marL="4762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3" name="Google Shape;623;g2c7666fef59_0_7"/>
          <p:cNvSpPr/>
          <p:nvPr/>
        </p:nvSpPr>
        <p:spPr>
          <a:xfrm rot="2321519">
            <a:off x="922398" y="2808732"/>
            <a:ext cx="5172335" cy="30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Peer review /DD</a:t>
            </a:r>
            <a:endParaRPr/>
          </a:p>
        </p:txBody>
      </p:sp>
      <p:sp>
        <p:nvSpPr>
          <p:cNvPr id="65" name="Google Shape;609;g2c7666fef59_0_7"/>
          <p:cNvSpPr/>
          <p:nvPr/>
        </p:nvSpPr>
        <p:spPr>
          <a:xfrm rot="-838548">
            <a:off x="8951245" y="5217292"/>
            <a:ext cx="5172415" cy="307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Ingeniería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FEL 3-4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09;g2c7666fef59_0_7"/>
          <p:cNvSpPr/>
          <p:nvPr/>
        </p:nvSpPr>
        <p:spPr>
          <a:xfrm rot="-838548">
            <a:off x="7507041" y="4106908"/>
            <a:ext cx="5172415" cy="307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Gestión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operativa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0" name="Google Shape;609;g2c7666fef59_0_7"/>
          <p:cNvSpPr/>
          <p:nvPr/>
        </p:nvSpPr>
        <p:spPr>
          <a:xfrm rot="-838548">
            <a:off x="8639937" y="4931752"/>
            <a:ext cx="5172415" cy="307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Equipo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dueño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proyecto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" name="Google Shape;609;g2c7666fef59_0_7"/>
          <p:cNvSpPr/>
          <p:nvPr/>
        </p:nvSpPr>
        <p:spPr>
          <a:xfrm rot="-838548">
            <a:off x="9375054" y="5456515"/>
            <a:ext cx="5172415" cy="307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EPCM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2" name="Google Shape;625;g2c7666fef59_0_7"/>
          <p:cNvSpPr/>
          <p:nvPr/>
        </p:nvSpPr>
        <p:spPr>
          <a:xfrm rot="966584">
            <a:off x="-1809658" y="4775856"/>
            <a:ext cx="5172306" cy="30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Manejo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materiales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</a:p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agua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relaves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suministro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endParaRPr/>
          </a:p>
        </p:txBody>
      </p:sp>
      <p:sp>
        <p:nvSpPr>
          <p:cNvPr id="64" name="Google Shape;629;g2c7666fef59_0_7"/>
          <p:cNvSpPr/>
          <p:nvPr/>
        </p:nvSpPr>
        <p:spPr>
          <a:xfrm rot="1049938">
            <a:off x="2488797" y="5751334"/>
            <a:ext cx="5172234" cy="30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Geología</a:t>
            </a:r>
            <a:endParaRPr/>
          </a:p>
        </p:txBody>
      </p:sp>
      <p:sp>
        <p:nvSpPr>
          <p:cNvPr id="73" name="Google Shape;617;g2c7666fef59_0_7"/>
          <p:cNvSpPr/>
          <p:nvPr/>
        </p:nvSpPr>
        <p:spPr>
          <a:xfrm rot="19994503">
            <a:off x="4721924" y="837331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Empresas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mediana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minería</a:t>
            </a:r>
            <a:endParaRPr/>
          </a:p>
        </p:txBody>
      </p:sp>
      <p:sp>
        <p:nvSpPr>
          <p:cNvPr id="74" name="Google Shape;617;g2c7666fef59_0_7"/>
          <p:cNvSpPr/>
          <p:nvPr/>
        </p:nvSpPr>
        <p:spPr>
          <a:xfrm rot="19933095">
            <a:off x="4064584" y="-113176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Obras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mina</a:t>
            </a:r>
            <a:endParaRPr/>
          </a:p>
        </p:txBody>
      </p:sp>
      <p:sp>
        <p:nvSpPr>
          <p:cNvPr id="75" name="Google Shape;617;g2c7666fef59_0_7"/>
          <p:cNvSpPr/>
          <p:nvPr/>
        </p:nvSpPr>
        <p:spPr>
          <a:xfrm rot="19933095">
            <a:off x="3688246" y="-748903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Directorios</a:t>
            </a:r>
            <a:endParaRPr/>
          </a:p>
        </p:txBody>
      </p:sp>
      <p:sp>
        <p:nvSpPr>
          <p:cNvPr id="76" name="Google Shape;609;g2c7666fef59_0_7"/>
          <p:cNvSpPr/>
          <p:nvPr/>
        </p:nvSpPr>
        <p:spPr>
          <a:xfrm rot="-838548">
            <a:off x="8270790" y="4681023"/>
            <a:ext cx="5172415" cy="307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Gestión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proyectos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" name="Google Shape;743;p15"/>
          <p:cNvSpPr txBox="1"/>
          <p:nvPr/>
        </p:nvSpPr>
        <p:spPr>
          <a:xfrm>
            <a:off x="-36026" y="12231"/>
            <a:ext cx="12045841" cy="898982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defTabSz="914400" eaLnBrk="1" latinLnBrk="0" hangingPunct="1">
              <a:defRPr sz="2800" kern="12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ym typeface="Century Gothic"/>
              </a:rPr>
              <a:t>Core actual de REDCO</a:t>
            </a:r>
            <a:endParaRPr>
              <a:sym typeface="Century Gothic"/>
            </a:endParaRPr>
          </a:p>
        </p:txBody>
      </p:sp>
      <p:sp>
        <p:nvSpPr>
          <p:cNvPr id="4" name="Forma libre 3"/>
          <p:cNvSpPr/>
          <p:nvPr/>
        </p:nvSpPr>
        <p:spPr>
          <a:xfrm>
            <a:off x="51395" y="571046"/>
            <a:ext cx="10985327" cy="5030972"/>
          </a:xfrm>
          <a:custGeom>
            <a:avLst/>
            <a:gdLst>
              <a:gd name="connsiteX0" fmla="*/ 4686390 w 10985327"/>
              <a:gd name="connsiteY0" fmla="*/ 1139460 h 5030972"/>
              <a:gd name="connsiteX1" fmla="*/ 6934915 w 10985327"/>
              <a:gd name="connsiteY1" fmla="*/ 207 h 5030972"/>
              <a:gd name="connsiteX2" fmla="*/ 7264698 w 10985327"/>
              <a:gd name="connsiteY2" fmla="*/ 1244391 h 5030972"/>
              <a:gd name="connsiteX3" fmla="*/ 10967269 w 10985327"/>
              <a:gd name="connsiteY3" fmla="*/ 1289361 h 5030972"/>
              <a:gd name="connsiteX4" fmla="*/ 8673774 w 10985327"/>
              <a:gd name="connsiteY4" fmla="*/ 2368653 h 5030972"/>
              <a:gd name="connsiteX5" fmla="*/ 8553852 w 10985327"/>
              <a:gd name="connsiteY5" fmla="*/ 3193112 h 5030972"/>
              <a:gd name="connsiteX6" fmla="*/ 10892318 w 10985327"/>
              <a:gd name="connsiteY6" fmla="*/ 4077532 h 5030972"/>
              <a:gd name="connsiteX7" fmla="*/ 8104147 w 10985327"/>
              <a:gd name="connsiteY7" fmla="*/ 5021912 h 5030972"/>
              <a:gd name="connsiteX8" fmla="*/ 3936882 w 10985327"/>
              <a:gd name="connsiteY8" fmla="*/ 4512246 h 5030972"/>
              <a:gd name="connsiteX9" fmla="*/ 1883229 w 10985327"/>
              <a:gd name="connsiteY9" fmla="*/ 3807709 h 5030972"/>
              <a:gd name="connsiteX10" fmla="*/ 2677708 w 10985327"/>
              <a:gd name="connsiteY10" fmla="*/ 2848338 h 5030972"/>
              <a:gd name="connsiteX11" fmla="*/ 264292 w 10985327"/>
              <a:gd name="connsiteY11" fmla="*/ 779696 h 5030972"/>
              <a:gd name="connsiteX12" fmla="*/ 564095 w 10985327"/>
              <a:gd name="connsiteY12" fmla="*/ 374961 h 5030972"/>
              <a:gd name="connsiteX13" fmla="*/ 4686390 w 10985327"/>
              <a:gd name="connsiteY13" fmla="*/ 1139460 h 5030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85327" h="5030972">
                <a:moveTo>
                  <a:pt x="4686390" y="1139460"/>
                </a:moveTo>
                <a:cubicBezTo>
                  <a:pt x="5748193" y="1077001"/>
                  <a:pt x="6505197" y="-17281"/>
                  <a:pt x="6934915" y="207"/>
                </a:cubicBezTo>
                <a:cubicBezTo>
                  <a:pt x="7364633" y="17695"/>
                  <a:pt x="6592639" y="1029532"/>
                  <a:pt x="7264698" y="1244391"/>
                </a:cubicBezTo>
                <a:cubicBezTo>
                  <a:pt x="7936757" y="1459250"/>
                  <a:pt x="10732423" y="1101984"/>
                  <a:pt x="10967269" y="1289361"/>
                </a:cubicBezTo>
                <a:cubicBezTo>
                  <a:pt x="11202115" y="1476738"/>
                  <a:pt x="9076010" y="2051361"/>
                  <a:pt x="8673774" y="2368653"/>
                </a:cubicBezTo>
                <a:cubicBezTo>
                  <a:pt x="8271538" y="2685945"/>
                  <a:pt x="8184095" y="2908299"/>
                  <a:pt x="8553852" y="3193112"/>
                </a:cubicBezTo>
                <a:cubicBezTo>
                  <a:pt x="8923609" y="3477925"/>
                  <a:pt x="10967269" y="3772732"/>
                  <a:pt x="10892318" y="4077532"/>
                </a:cubicBezTo>
                <a:cubicBezTo>
                  <a:pt x="10817367" y="4382332"/>
                  <a:pt x="9263386" y="4949460"/>
                  <a:pt x="8104147" y="5021912"/>
                </a:cubicBezTo>
                <a:cubicBezTo>
                  <a:pt x="6944908" y="5094364"/>
                  <a:pt x="4973702" y="4714613"/>
                  <a:pt x="3936882" y="4512246"/>
                </a:cubicBezTo>
                <a:cubicBezTo>
                  <a:pt x="2900062" y="4309879"/>
                  <a:pt x="2093091" y="4085027"/>
                  <a:pt x="1883229" y="3807709"/>
                </a:cubicBezTo>
                <a:cubicBezTo>
                  <a:pt x="1673367" y="3530391"/>
                  <a:pt x="2947531" y="3353007"/>
                  <a:pt x="2677708" y="2848338"/>
                </a:cubicBezTo>
                <a:cubicBezTo>
                  <a:pt x="2407885" y="2343669"/>
                  <a:pt x="616561" y="1191926"/>
                  <a:pt x="264292" y="779696"/>
                </a:cubicBezTo>
                <a:cubicBezTo>
                  <a:pt x="-87977" y="367466"/>
                  <a:pt x="-177918" y="317499"/>
                  <a:pt x="564095" y="374961"/>
                </a:cubicBezTo>
                <a:cubicBezTo>
                  <a:pt x="1306108" y="432423"/>
                  <a:pt x="3624587" y="1201919"/>
                  <a:pt x="4686390" y="1139460"/>
                </a:cubicBezTo>
                <a:close/>
              </a:path>
            </a:pathLst>
          </a:custGeom>
          <a:solidFill>
            <a:srgbClr val="4472C4">
              <a:alpha val="2588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19312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2c7666fef59_0_7"/>
          <p:cNvSpPr/>
          <p:nvPr/>
        </p:nvSpPr>
        <p:spPr>
          <a:xfrm>
            <a:off x="-1484413" y="7977750"/>
            <a:ext cx="1379100" cy="896400"/>
          </a:xfrm>
          <a:prstGeom prst="rect">
            <a:avLst/>
          </a:prstGeom>
          <a:solidFill>
            <a:srgbClr val="2F29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REDCO</a:t>
            </a:r>
            <a:endParaRPr/>
          </a:p>
        </p:txBody>
      </p:sp>
      <p:sp>
        <p:nvSpPr>
          <p:cNvPr id="590" name="Google Shape;590;g2c7666fef59_0_7"/>
          <p:cNvSpPr/>
          <p:nvPr/>
        </p:nvSpPr>
        <p:spPr>
          <a:xfrm>
            <a:off x="-1636813" y="8407458"/>
            <a:ext cx="1379100" cy="763200"/>
          </a:xfrm>
          <a:prstGeom prst="rect">
            <a:avLst/>
          </a:prstGeom>
          <a:solidFill>
            <a:srgbClr val="2F29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ASESORES</a:t>
            </a:r>
            <a:endParaRPr/>
          </a:p>
        </p:txBody>
      </p:sp>
      <p:sp>
        <p:nvSpPr>
          <p:cNvPr id="591" name="Google Shape;591;g2c7666fef59_0_7"/>
          <p:cNvSpPr/>
          <p:nvPr/>
        </p:nvSpPr>
        <p:spPr>
          <a:xfrm>
            <a:off x="4567818" y="2007873"/>
            <a:ext cx="3031800" cy="3017100"/>
          </a:xfrm>
          <a:prstGeom prst="ellipse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br>
              <a:rPr lang="es-ES_tradnl" sz="900"/>
            </a:br>
            <a:r>
              <a:rPr lang="es-ES_tradnl" sz="900" b="1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Consultora boutique </a:t>
            </a:r>
            <a:r>
              <a:rPr lang="es-ES_tradnl" sz="900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de confianza, reconocida por su eficiencia y flexibilidad. Destacados en el </a:t>
            </a:r>
            <a:r>
              <a:rPr lang="es-ES_tradnl" sz="900" b="1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ámbito minero </a:t>
            </a:r>
            <a:r>
              <a:rPr lang="es-ES_tradnl" sz="900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a través de una </a:t>
            </a:r>
            <a:r>
              <a:rPr lang="es-ES_tradnl" sz="900" b="1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innovación</a:t>
            </a:r>
            <a:r>
              <a:rPr lang="es-ES_tradnl" sz="900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 constante, lo que permite establecer relaciones sólidas en el desarrollo de sus proyectos, con soluciones robustas y ejecución inteligente. Cuenta con un equipo de </a:t>
            </a:r>
            <a:r>
              <a:rPr lang="es-ES_tradnl" sz="900" b="1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profesionales de excelencia </a:t>
            </a:r>
            <a:r>
              <a:rPr lang="es-ES_tradnl" sz="900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que aporta conocimiento técnico especializado y experiencias prácticas para </a:t>
            </a:r>
            <a:r>
              <a:rPr lang="es-ES_tradnl" sz="900" b="1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optimizar los resultados de sus clientes</a:t>
            </a:r>
            <a:r>
              <a:rPr lang="es-ES_tradnl" sz="900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.</a:t>
            </a:r>
            <a:endParaRPr lang="es-ES_tradnl" sz="900">
              <a:solidFill>
                <a:schemeClr val="accent1"/>
              </a:solidFill>
              <a:latin typeface="Century Gothic" charset="0"/>
              <a:ea typeface="Century Gothic" charset="0"/>
              <a:cs typeface="Century Gothic" charset="0"/>
              <a:sym typeface="Century Gothic"/>
            </a:endParaRPr>
          </a:p>
        </p:txBody>
      </p:sp>
      <p:sp>
        <p:nvSpPr>
          <p:cNvPr id="592" name="Google Shape;592;g2c7666fef59_0_7"/>
          <p:cNvSpPr/>
          <p:nvPr/>
        </p:nvSpPr>
        <p:spPr>
          <a:xfrm>
            <a:off x="4249471" y="1691085"/>
            <a:ext cx="3668700" cy="3650700"/>
          </a:xfrm>
          <a:prstGeom prst="ellipse">
            <a:avLst/>
          </a:prstGeom>
          <a:noFill/>
          <a:ln w="12700" cap="flat" cmpd="sng">
            <a:solidFill>
              <a:srgbClr val="D8E2F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3" name="Google Shape;593;g2c7666fef59_0_7"/>
          <p:cNvSpPr/>
          <p:nvPr/>
        </p:nvSpPr>
        <p:spPr>
          <a:xfrm>
            <a:off x="3861925" y="1319495"/>
            <a:ext cx="4439100" cy="4417200"/>
          </a:xfrm>
          <a:prstGeom prst="ellipse">
            <a:avLst/>
          </a:prstGeom>
          <a:noFill/>
          <a:ln w="12700" cap="flat" cmpd="sng">
            <a:solidFill>
              <a:srgbClr val="D8E2F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4" name="Google Shape;594;g2c7666fef59_0_7"/>
          <p:cNvSpPr/>
          <p:nvPr/>
        </p:nvSpPr>
        <p:spPr>
          <a:xfrm>
            <a:off x="3393490" y="839274"/>
            <a:ext cx="5371200" cy="5344800"/>
          </a:xfrm>
          <a:prstGeom prst="ellipse">
            <a:avLst/>
          </a:prstGeom>
          <a:noFill/>
          <a:ln w="12700" cap="flat" cmpd="sng">
            <a:solidFill>
              <a:srgbClr val="D8E2F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5" name="Google Shape;595;g2c7666fef59_0_7"/>
          <p:cNvSpPr/>
          <p:nvPr/>
        </p:nvSpPr>
        <p:spPr>
          <a:xfrm>
            <a:off x="2827172" y="275720"/>
            <a:ext cx="6499200" cy="6467400"/>
          </a:xfrm>
          <a:prstGeom prst="ellipse">
            <a:avLst/>
          </a:prstGeom>
          <a:noFill/>
          <a:ln w="12700" cap="flat" cmpd="sng">
            <a:solidFill>
              <a:srgbClr val="D8E2F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596" name="Google Shape;596;g2c7666fef59_0_7"/>
          <p:cNvCxnSpPr/>
          <p:nvPr/>
        </p:nvCxnSpPr>
        <p:spPr>
          <a:xfrm flipV="1">
            <a:off x="7024394" y="574858"/>
            <a:ext cx="1126453" cy="173568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7" name="Google Shape;597;g2c7666fef59_0_7"/>
          <p:cNvCxnSpPr>
            <a:stCxn id="591" idx="6"/>
          </p:cNvCxnSpPr>
          <p:nvPr/>
        </p:nvCxnSpPr>
        <p:spPr>
          <a:xfrm flipV="1">
            <a:off x="7599618" y="3506436"/>
            <a:ext cx="4446770" cy="998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8" name="Google Shape;598;g2c7666fef59_0_7"/>
          <p:cNvCxnSpPr>
            <a:stCxn id="591" idx="2"/>
          </p:cNvCxnSpPr>
          <p:nvPr/>
        </p:nvCxnSpPr>
        <p:spPr>
          <a:xfrm flipH="1" flipV="1">
            <a:off x="214340" y="3482540"/>
            <a:ext cx="4353478" cy="3388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9" name="Google Shape;599;g2c7666fef59_0_7"/>
          <p:cNvCxnSpPr>
            <a:stCxn id="591" idx="5"/>
          </p:cNvCxnSpPr>
          <p:nvPr/>
        </p:nvCxnSpPr>
        <p:spPr>
          <a:xfrm>
            <a:off x="7155621" y="4583129"/>
            <a:ext cx="2895615" cy="214438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00" name="Google Shape;600;g2c7666fef59_0_7"/>
          <p:cNvCxnSpPr>
            <a:stCxn id="591" idx="3"/>
          </p:cNvCxnSpPr>
          <p:nvPr/>
        </p:nvCxnSpPr>
        <p:spPr>
          <a:xfrm flipH="1">
            <a:off x="2400915" y="4583129"/>
            <a:ext cx="2610900" cy="1869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01" name="Google Shape;601;g2c7666fef59_0_7"/>
          <p:cNvSpPr/>
          <p:nvPr/>
        </p:nvSpPr>
        <p:spPr>
          <a:xfrm>
            <a:off x="10882349" y="3534570"/>
            <a:ext cx="517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Países</a:t>
            </a:r>
            <a:endParaRPr sz="1800" b="1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2" name="Google Shape;602;g2c7666fef59_0_7"/>
          <p:cNvSpPr/>
          <p:nvPr/>
        </p:nvSpPr>
        <p:spPr>
          <a:xfrm rot="-3685871">
            <a:off x="6690714" y="1132391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Perú</a:t>
            </a:r>
            <a:endParaRPr/>
          </a:p>
        </p:txBody>
      </p:sp>
      <p:sp>
        <p:nvSpPr>
          <p:cNvPr id="603" name="Google Shape;603;g2c7666fef59_0_7"/>
          <p:cNvSpPr/>
          <p:nvPr/>
        </p:nvSpPr>
        <p:spPr>
          <a:xfrm rot="-3685871">
            <a:off x="7051394" y="1132391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Brasil</a:t>
            </a:r>
            <a:endParaRPr/>
          </a:p>
        </p:txBody>
      </p:sp>
      <p:sp>
        <p:nvSpPr>
          <p:cNvPr id="604" name="Google Shape;604;g2c7666fef59_0_7"/>
          <p:cNvSpPr/>
          <p:nvPr/>
        </p:nvSpPr>
        <p:spPr>
          <a:xfrm rot="-3685871">
            <a:off x="8027272" y="1093840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USA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5" name="Google Shape;605;g2c7666fef59_0_7"/>
          <p:cNvSpPr/>
          <p:nvPr/>
        </p:nvSpPr>
        <p:spPr>
          <a:xfrm rot="-3685871">
            <a:off x="7465051" y="1124239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Rusia</a:t>
            </a:r>
            <a:endParaRPr/>
          </a:p>
        </p:txBody>
      </p:sp>
      <p:sp>
        <p:nvSpPr>
          <p:cNvPr id="606" name="Google Shape;606;g2c7666fef59_0_7"/>
          <p:cNvSpPr/>
          <p:nvPr/>
        </p:nvSpPr>
        <p:spPr>
          <a:xfrm rot="-3685871">
            <a:off x="6310135" y="1132387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Chile</a:t>
            </a:r>
            <a:endParaRPr/>
          </a:p>
        </p:txBody>
      </p:sp>
      <p:sp>
        <p:nvSpPr>
          <p:cNvPr id="607" name="Google Shape;607;g2c7666fef59_0_7"/>
          <p:cNvSpPr/>
          <p:nvPr/>
        </p:nvSpPr>
        <p:spPr>
          <a:xfrm>
            <a:off x="7455827" y="6261716"/>
            <a:ext cx="517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</a:t>
            </a:r>
            <a:r>
              <a:rPr lang="en-US" sz="18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800" b="1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producto</a:t>
            </a:r>
            <a:endParaRPr b="1"/>
          </a:p>
        </p:txBody>
      </p:sp>
      <p:sp>
        <p:nvSpPr>
          <p:cNvPr id="609" name="Google Shape;609;g2c7666fef59_0_7"/>
          <p:cNvSpPr/>
          <p:nvPr/>
        </p:nvSpPr>
        <p:spPr>
          <a:xfrm rot="-838548">
            <a:off x="7868761" y="4401498"/>
            <a:ext cx="5172415" cy="307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Estudios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FEL 0-1-2A-2B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0" name="Google Shape;610;g2c7666fef59_0_7"/>
          <p:cNvSpPr/>
          <p:nvPr/>
        </p:nvSpPr>
        <p:spPr>
          <a:xfrm rot="-838548">
            <a:off x="7128755" y="3834342"/>
            <a:ext cx="5172415" cy="307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Consultoría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y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análisis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riesgo</a:t>
            </a:r>
            <a:endParaRPr/>
          </a:p>
        </p:txBody>
      </p:sp>
      <p:sp>
        <p:nvSpPr>
          <p:cNvPr id="611" name="Google Shape;611;g2c7666fef59_0_7"/>
          <p:cNvSpPr/>
          <p:nvPr/>
        </p:nvSpPr>
        <p:spPr>
          <a:xfrm>
            <a:off x="2808772" y="6045479"/>
            <a:ext cx="517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Especialidades</a:t>
            </a:r>
            <a:r>
              <a:rPr lang="en-US" sz="18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</a:p>
          <a:p>
            <a:pPr marL="4762" marR="0" lvl="0" indent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Técnicas</a:t>
            </a:r>
            <a:r>
              <a:rPr lang="en-US" sz="18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1800" b="1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2" name="Google Shape;612;g2c7666fef59_0_7"/>
          <p:cNvSpPr/>
          <p:nvPr/>
        </p:nvSpPr>
        <p:spPr>
          <a:xfrm rot="966584">
            <a:off x="-94860" y="3731419"/>
            <a:ext cx="5172306" cy="30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err="1">
                <a:latin typeface="Century Gothic"/>
                <a:sym typeface="Century Gothic"/>
              </a:rPr>
              <a:t>Minería</a:t>
            </a:r>
            <a:endParaRPr/>
          </a:p>
        </p:txBody>
      </p:sp>
      <p:sp>
        <p:nvSpPr>
          <p:cNvPr id="613" name="Google Shape;613;g2c7666fef59_0_7"/>
          <p:cNvSpPr/>
          <p:nvPr/>
        </p:nvSpPr>
        <p:spPr>
          <a:xfrm rot="966584">
            <a:off x="-773613" y="4136000"/>
            <a:ext cx="5172306" cy="30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err="1">
                <a:latin typeface="Century Gothic"/>
                <a:sym typeface="Century Gothic"/>
              </a:rPr>
              <a:t>Geomecánicos</a:t>
            </a:r>
            <a:r>
              <a:rPr lang="en-US">
                <a:latin typeface="Century Gothic"/>
                <a:sym typeface="Century Gothic"/>
              </a:rPr>
              <a:t>/</a:t>
            </a:r>
            <a:r>
              <a:rPr lang="en-US" err="1">
                <a:latin typeface="Century Gothic"/>
                <a:sym typeface="Century Gothic"/>
              </a:rPr>
              <a:t>técnicos</a:t>
            </a:r>
            <a:endParaRPr/>
          </a:p>
        </p:txBody>
      </p:sp>
      <p:sp>
        <p:nvSpPr>
          <p:cNvPr id="614" name="Google Shape;614;g2c7666fef59_0_7"/>
          <p:cNvSpPr/>
          <p:nvPr/>
        </p:nvSpPr>
        <p:spPr>
          <a:xfrm rot="966584">
            <a:off x="-1091642" y="4356409"/>
            <a:ext cx="5172306" cy="30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Procesos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de mineral y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m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etalurgia</a:t>
            </a:r>
            <a:endParaRPr/>
          </a:p>
        </p:txBody>
      </p:sp>
      <p:sp>
        <p:nvSpPr>
          <p:cNvPr id="615" name="Google Shape;615;g2c7666fef59_0_7"/>
          <p:cNvSpPr/>
          <p:nvPr/>
        </p:nvSpPr>
        <p:spPr>
          <a:xfrm>
            <a:off x="209157" y="3462073"/>
            <a:ext cx="3169718" cy="7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>
                <a:latin typeface="Century Gothic"/>
                <a:ea typeface="Century Gothic"/>
                <a:cs typeface="Century Gothic"/>
                <a:sym typeface="Century Gothic"/>
              </a:rPr>
              <a:t>Ámbitos de </a:t>
            </a:r>
            <a:r>
              <a:rPr lang="en-US" sz="1800" b="1" err="1">
                <a:latin typeface="Century Gothic"/>
                <a:ea typeface="Century Gothic"/>
                <a:cs typeface="Century Gothic"/>
                <a:sym typeface="Century Gothic"/>
              </a:rPr>
              <a:t>acción</a:t>
            </a:r>
            <a:endParaRPr b="1"/>
          </a:p>
        </p:txBody>
      </p:sp>
      <p:sp>
        <p:nvSpPr>
          <p:cNvPr id="616" name="Google Shape;616;g2c7666fef59_0_7"/>
          <p:cNvSpPr/>
          <p:nvPr/>
        </p:nvSpPr>
        <p:spPr>
          <a:xfrm>
            <a:off x="8282464" y="314371"/>
            <a:ext cx="517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Alianzas</a:t>
            </a:r>
            <a:endParaRPr b="1"/>
          </a:p>
        </p:txBody>
      </p:sp>
      <p:sp>
        <p:nvSpPr>
          <p:cNvPr id="617" name="Google Shape;617;g2c7666fef59_0_7"/>
          <p:cNvSpPr/>
          <p:nvPr/>
        </p:nvSpPr>
        <p:spPr>
          <a:xfrm>
            <a:off x="7099520" y="2168135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Consultoría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Boutique</a:t>
            </a:r>
            <a:endParaRPr/>
          </a:p>
        </p:txBody>
      </p:sp>
      <p:sp>
        <p:nvSpPr>
          <p:cNvPr id="618" name="Google Shape;618;g2c7666fef59_0_7"/>
          <p:cNvSpPr/>
          <p:nvPr/>
        </p:nvSpPr>
        <p:spPr>
          <a:xfrm>
            <a:off x="7378067" y="1797202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 de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consultores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asociados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9" name="Google Shape;619;g2c7666fef59_0_7"/>
          <p:cNvSpPr/>
          <p:nvPr/>
        </p:nvSpPr>
        <p:spPr>
          <a:xfrm>
            <a:off x="7909432" y="1056182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Alianzas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distintos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players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0" name="Google Shape;620;g2c7666fef59_0_7"/>
          <p:cNvSpPr/>
          <p:nvPr/>
        </p:nvSpPr>
        <p:spPr>
          <a:xfrm rot="2321519">
            <a:off x="706744" y="2897746"/>
            <a:ext cx="5172335" cy="30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Estrategia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desarrollo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activos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1" name="Google Shape;621;g2c7666fef59_0_7"/>
          <p:cNvSpPr/>
          <p:nvPr/>
        </p:nvSpPr>
        <p:spPr>
          <a:xfrm rot="2321519">
            <a:off x="66835" y="3261863"/>
            <a:ext cx="5172335" cy="30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Gestión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implementación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2" name="Google Shape;622;g2c7666fef59_0_7"/>
          <p:cNvSpPr/>
          <p:nvPr/>
        </p:nvSpPr>
        <p:spPr>
          <a:xfrm rot="2321519">
            <a:off x="2395615" y="3620979"/>
            <a:ext cx="5172335" cy="30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Planificación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y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diseño</a:t>
            </a:r>
            <a:endParaRPr/>
          </a:p>
        </p:txBody>
      </p:sp>
      <p:sp>
        <p:nvSpPr>
          <p:cNvPr id="623" name="Google Shape;623;g2c7666fef59_0_7"/>
          <p:cNvSpPr/>
          <p:nvPr/>
        </p:nvSpPr>
        <p:spPr>
          <a:xfrm rot="2321519">
            <a:off x="-1420109" y="1511264"/>
            <a:ext cx="5172335" cy="30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Optimización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cadena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valor</a:t>
            </a:r>
          </a:p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(mina-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uer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endParaRPr/>
          </a:p>
        </p:txBody>
      </p:sp>
      <p:sp>
        <p:nvSpPr>
          <p:cNvPr id="625" name="Google Shape;625;g2c7666fef59_0_7"/>
          <p:cNvSpPr/>
          <p:nvPr/>
        </p:nvSpPr>
        <p:spPr>
          <a:xfrm rot="966584">
            <a:off x="-2279958" y="5186703"/>
            <a:ext cx="5172306" cy="30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Infraestructuras</a:t>
            </a:r>
            <a:endParaRPr/>
          </a:p>
        </p:txBody>
      </p:sp>
      <p:sp>
        <p:nvSpPr>
          <p:cNvPr id="629" name="Google Shape;629;g2c7666fef59_0_7"/>
          <p:cNvSpPr/>
          <p:nvPr/>
        </p:nvSpPr>
        <p:spPr>
          <a:xfrm rot="1049938">
            <a:off x="3435154" y="5064158"/>
            <a:ext cx="5172234" cy="30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Simulación</a:t>
            </a:r>
            <a:endParaRPr/>
          </a:p>
        </p:txBody>
      </p:sp>
      <p:sp>
        <p:nvSpPr>
          <p:cNvPr id="630" name="Google Shape;630;g2c7666fef59_0_7"/>
          <p:cNvSpPr/>
          <p:nvPr/>
        </p:nvSpPr>
        <p:spPr>
          <a:xfrm rot="898782">
            <a:off x="849340" y="6367252"/>
            <a:ext cx="5172234" cy="30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Comercialización</a:t>
            </a:r>
            <a:endParaRPr/>
          </a:p>
        </p:txBody>
      </p:sp>
      <p:sp>
        <p:nvSpPr>
          <p:cNvPr id="631" name="Google Shape;631;g2c7666fef59_0_7"/>
          <p:cNvSpPr/>
          <p:nvPr/>
        </p:nvSpPr>
        <p:spPr>
          <a:xfrm>
            <a:off x="8084632" y="711332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M&amp;A con players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grandes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6" name="Google Shape;600;g2c7666fef59_0_7"/>
          <p:cNvCxnSpPr/>
          <p:nvPr/>
        </p:nvCxnSpPr>
        <p:spPr>
          <a:xfrm flipH="1" flipV="1">
            <a:off x="3938412" y="515712"/>
            <a:ext cx="1163832" cy="183025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8" name="Google Shape;607;g2c7666fef59_0_7"/>
          <p:cNvSpPr/>
          <p:nvPr/>
        </p:nvSpPr>
        <p:spPr>
          <a:xfrm>
            <a:off x="2398707" y="845466"/>
            <a:ext cx="517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</a:t>
            </a:r>
            <a:r>
              <a:rPr lang="en-US" sz="18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800" b="1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cliente</a:t>
            </a:r>
            <a:endParaRPr b="1"/>
          </a:p>
        </p:txBody>
      </p:sp>
      <p:sp>
        <p:nvSpPr>
          <p:cNvPr id="49" name="Google Shape;617;g2c7666fef59_0_7"/>
          <p:cNvSpPr/>
          <p:nvPr/>
        </p:nvSpPr>
        <p:spPr>
          <a:xfrm rot="19994503">
            <a:off x="4555151" y="595141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Empresas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gran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minería</a:t>
            </a:r>
            <a:endParaRPr/>
          </a:p>
        </p:txBody>
      </p:sp>
      <p:sp>
        <p:nvSpPr>
          <p:cNvPr id="50" name="Google Shape;617;g2c7666fef59_0_7"/>
          <p:cNvSpPr/>
          <p:nvPr/>
        </p:nvSpPr>
        <p:spPr>
          <a:xfrm rot="19933095">
            <a:off x="4225927" y="100536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Consultoras</a:t>
            </a:r>
            <a:endParaRPr/>
          </a:p>
        </p:txBody>
      </p:sp>
      <p:sp>
        <p:nvSpPr>
          <p:cNvPr id="51" name="Google Shape;617;g2c7666fef59_0_7"/>
          <p:cNvSpPr/>
          <p:nvPr/>
        </p:nvSpPr>
        <p:spPr>
          <a:xfrm rot="19933095">
            <a:off x="4377321" y="309586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Financieras</a:t>
            </a:r>
            <a:endParaRPr/>
          </a:p>
        </p:txBody>
      </p:sp>
      <p:sp>
        <p:nvSpPr>
          <p:cNvPr id="52" name="Google Shape;617;g2c7666fef59_0_7"/>
          <p:cNvSpPr/>
          <p:nvPr/>
        </p:nvSpPr>
        <p:spPr>
          <a:xfrm rot="19933095">
            <a:off x="3941968" y="-324527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B.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bogados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&amp;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asegur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/>
          </a:p>
        </p:txBody>
      </p:sp>
      <p:sp>
        <p:nvSpPr>
          <p:cNvPr id="53" name="Google Shape;617;g2c7666fef59_0_7"/>
          <p:cNvSpPr/>
          <p:nvPr/>
        </p:nvSpPr>
        <p:spPr>
          <a:xfrm rot="19933095">
            <a:off x="3838901" y="-528494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>
                <a:latin typeface="Century Gothic" charset="0"/>
                <a:ea typeface="Century Gothic" charset="0"/>
                <a:cs typeface="Century Gothic" charset="0"/>
              </a:rPr>
              <a:t>Proveedores</a:t>
            </a:r>
            <a:endParaRPr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54" name="Google Shape;604;g2c7666fef59_0_7"/>
          <p:cNvSpPr/>
          <p:nvPr/>
        </p:nvSpPr>
        <p:spPr>
          <a:xfrm rot="-3685871">
            <a:off x="8450537" y="1093544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Canada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" name="Google Shape;604;g2c7666fef59_0_7"/>
          <p:cNvSpPr/>
          <p:nvPr/>
        </p:nvSpPr>
        <p:spPr>
          <a:xfrm rot="-3685871">
            <a:off x="8874521" y="1075903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Australia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" name="Google Shape;604;g2c7666fef59_0_7"/>
          <p:cNvSpPr/>
          <p:nvPr/>
        </p:nvSpPr>
        <p:spPr>
          <a:xfrm rot="-3685871">
            <a:off x="9345490" y="1007616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KAZ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" name="Google Shape;604;g2c7666fef59_0_7"/>
          <p:cNvSpPr/>
          <p:nvPr/>
        </p:nvSpPr>
        <p:spPr>
          <a:xfrm rot="-3685871">
            <a:off x="9785115" y="1023686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Sudáfrica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" name="Google Shape;619;g2c7666fef59_0_7"/>
          <p:cNvSpPr/>
          <p:nvPr/>
        </p:nvSpPr>
        <p:spPr>
          <a:xfrm>
            <a:off x="7675788" y="1444505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Alianzas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con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consultoras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mineras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más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chicas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" name="Google Shape;623;g2c7666fef59_0_7"/>
          <p:cNvSpPr/>
          <p:nvPr/>
        </p:nvSpPr>
        <p:spPr>
          <a:xfrm rot="2321519">
            <a:off x="-2632640" y="1460953"/>
            <a:ext cx="5172335" cy="30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Desarrollo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negocios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</a:p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(M&amp;A,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compras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royalty)</a:t>
            </a:r>
            <a:endParaRPr/>
          </a:p>
        </p:txBody>
      </p:sp>
      <p:sp>
        <p:nvSpPr>
          <p:cNvPr id="62" name="Google Shape;623;g2c7666fef59_0_7"/>
          <p:cNvSpPr/>
          <p:nvPr/>
        </p:nvSpPr>
        <p:spPr>
          <a:xfrm rot="2321519">
            <a:off x="-1693837" y="2839373"/>
            <a:ext cx="5172335" cy="30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D.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modelos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IA</a:t>
            </a:r>
          </a:p>
          <a:p>
            <a:pPr marL="4762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3" name="Google Shape;623;g2c7666fef59_0_7"/>
          <p:cNvSpPr/>
          <p:nvPr/>
        </p:nvSpPr>
        <p:spPr>
          <a:xfrm rot="2321519">
            <a:off x="922398" y="2808732"/>
            <a:ext cx="5172335" cy="30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Peer review /DD</a:t>
            </a:r>
            <a:endParaRPr/>
          </a:p>
        </p:txBody>
      </p:sp>
      <p:sp>
        <p:nvSpPr>
          <p:cNvPr id="65" name="Google Shape;609;g2c7666fef59_0_7"/>
          <p:cNvSpPr/>
          <p:nvPr/>
        </p:nvSpPr>
        <p:spPr>
          <a:xfrm rot="-838548">
            <a:off x="8951245" y="5217292"/>
            <a:ext cx="5172415" cy="307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Ingeniería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FEL 3-4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09;g2c7666fef59_0_7"/>
          <p:cNvSpPr/>
          <p:nvPr/>
        </p:nvSpPr>
        <p:spPr>
          <a:xfrm rot="-838548">
            <a:off x="7507041" y="4106908"/>
            <a:ext cx="5172415" cy="307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Gestión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operativa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0" name="Google Shape;609;g2c7666fef59_0_7"/>
          <p:cNvSpPr/>
          <p:nvPr/>
        </p:nvSpPr>
        <p:spPr>
          <a:xfrm rot="-838548">
            <a:off x="8639937" y="4931752"/>
            <a:ext cx="5172415" cy="307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Equipo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dueño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proyecto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" name="Google Shape;609;g2c7666fef59_0_7"/>
          <p:cNvSpPr/>
          <p:nvPr/>
        </p:nvSpPr>
        <p:spPr>
          <a:xfrm rot="-838548">
            <a:off x="9375054" y="5456515"/>
            <a:ext cx="5172415" cy="307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EPCM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2" name="Google Shape;625;g2c7666fef59_0_7"/>
          <p:cNvSpPr/>
          <p:nvPr/>
        </p:nvSpPr>
        <p:spPr>
          <a:xfrm rot="966584">
            <a:off x="-1809658" y="4775856"/>
            <a:ext cx="5172306" cy="30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Manejo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materiales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</a:p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agua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relaves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suministro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endParaRPr/>
          </a:p>
        </p:txBody>
      </p:sp>
      <p:sp>
        <p:nvSpPr>
          <p:cNvPr id="64" name="Google Shape;629;g2c7666fef59_0_7"/>
          <p:cNvSpPr/>
          <p:nvPr/>
        </p:nvSpPr>
        <p:spPr>
          <a:xfrm rot="1049938">
            <a:off x="2488797" y="5751334"/>
            <a:ext cx="5172234" cy="30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Geología</a:t>
            </a:r>
            <a:endParaRPr/>
          </a:p>
        </p:txBody>
      </p:sp>
      <p:sp>
        <p:nvSpPr>
          <p:cNvPr id="73" name="Google Shape;617;g2c7666fef59_0_7"/>
          <p:cNvSpPr/>
          <p:nvPr/>
        </p:nvSpPr>
        <p:spPr>
          <a:xfrm rot="19994503">
            <a:off x="4721924" y="837331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Empresas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mediana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minería</a:t>
            </a:r>
            <a:endParaRPr/>
          </a:p>
        </p:txBody>
      </p:sp>
      <p:sp>
        <p:nvSpPr>
          <p:cNvPr id="74" name="Google Shape;617;g2c7666fef59_0_7"/>
          <p:cNvSpPr/>
          <p:nvPr/>
        </p:nvSpPr>
        <p:spPr>
          <a:xfrm rot="19933095">
            <a:off x="4064584" y="-113176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Obras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mina</a:t>
            </a:r>
            <a:endParaRPr/>
          </a:p>
        </p:txBody>
      </p:sp>
      <p:sp>
        <p:nvSpPr>
          <p:cNvPr id="75" name="Google Shape;617;g2c7666fef59_0_7"/>
          <p:cNvSpPr/>
          <p:nvPr/>
        </p:nvSpPr>
        <p:spPr>
          <a:xfrm rot="19933095">
            <a:off x="3688246" y="-748903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Directorios</a:t>
            </a:r>
            <a:endParaRPr/>
          </a:p>
        </p:txBody>
      </p:sp>
      <p:sp>
        <p:nvSpPr>
          <p:cNvPr id="76" name="Google Shape;609;g2c7666fef59_0_7"/>
          <p:cNvSpPr/>
          <p:nvPr/>
        </p:nvSpPr>
        <p:spPr>
          <a:xfrm rot="-838548">
            <a:off x="8270790" y="4681023"/>
            <a:ext cx="5172415" cy="307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Gestión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proyectos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" name="Forma libre 3"/>
          <p:cNvSpPr/>
          <p:nvPr/>
        </p:nvSpPr>
        <p:spPr>
          <a:xfrm>
            <a:off x="200402" y="584410"/>
            <a:ext cx="10985327" cy="5030972"/>
          </a:xfrm>
          <a:custGeom>
            <a:avLst/>
            <a:gdLst>
              <a:gd name="connsiteX0" fmla="*/ 4686390 w 10985327"/>
              <a:gd name="connsiteY0" fmla="*/ 1139460 h 5030972"/>
              <a:gd name="connsiteX1" fmla="*/ 6934915 w 10985327"/>
              <a:gd name="connsiteY1" fmla="*/ 207 h 5030972"/>
              <a:gd name="connsiteX2" fmla="*/ 7264698 w 10985327"/>
              <a:gd name="connsiteY2" fmla="*/ 1244391 h 5030972"/>
              <a:gd name="connsiteX3" fmla="*/ 10967269 w 10985327"/>
              <a:gd name="connsiteY3" fmla="*/ 1289361 h 5030972"/>
              <a:gd name="connsiteX4" fmla="*/ 8673774 w 10985327"/>
              <a:gd name="connsiteY4" fmla="*/ 2368653 h 5030972"/>
              <a:gd name="connsiteX5" fmla="*/ 8553852 w 10985327"/>
              <a:gd name="connsiteY5" fmla="*/ 3193112 h 5030972"/>
              <a:gd name="connsiteX6" fmla="*/ 10892318 w 10985327"/>
              <a:gd name="connsiteY6" fmla="*/ 4077532 h 5030972"/>
              <a:gd name="connsiteX7" fmla="*/ 8104147 w 10985327"/>
              <a:gd name="connsiteY7" fmla="*/ 5021912 h 5030972"/>
              <a:gd name="connsiteX8" fmla="*/ 3936882 w 10985327"/>
              <a:gd name="connsiteY8" fmla="*/ 4512246 h 5030972"/>
              <a:gd name="connsiteX9" fmla="*/ 1883229 w 10985327"/>
              <a:gd name="connsiteY9" fmla="*/ 3807709 h 5030972"/>
              <a:gd name="connsiteX10" fmla="*/ 2677708 w 10985327"/>
              <a:gd name="connsiteY10" fmla="*/ 2848338 h 5030972"/>
              <a:gd name="connsiteX11" fmla="*/ 264292 w 10985327"/>
              <a:gd name="connsiteY11" fmla="*/ 779696 h 5030972"/>
              <a:gd name="connsiteX12" fmla="*/ 564095 w 10985327"/>
              <a:gd name="connsiteY12" fmla="*/ 374961 h 5030972"/>
              <a:gd name="connsiteX13" fmla="*/ 4686390 w 10985327"/>
              <a:gd name="connsiteY13" fmla="*/ 1139460 h 5030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85327" h="5030972">
                <a:moveTo>
                  <a:pt x="4686390" y="1139460"/>
                </a:moveTo>
                <a:cubicBezTo>
                  <a:pt x="5748193" y="1077001"/>
                  <a:pt x="6505197" y="-17281"/>
                  <a:pt x="6934915" y="207"/>
                </a:cubicBezTo>
                <a:cubicBezTo>
                  <a:pt x="7364633" y="17695"/>
                  <a:pt x="6592639" y="1029532"/>
                  <a:pt x="7264698" y="1244391"/>
                </a:cubicBezTo>
                <a:cubicBezTo>
                  <a:pt x="7936757" y="1459250"/>
                  <a:pt x="10732423" y="1101984"/>
                  <a:pt x="10967269" y="1289361"/>
                </a:cubicBezTo>
                <a:cubicBezTo>
                  <a:pt x="11202115" y="1476738"/>
                  <a:pt x="9076010" y="2051361"/>
                  <a:pt x="8673774" y="2368653"/>
                </a:cubicBezTo>
                <a:cubicBezTo>
                  <a:pt x="8271538" y="2685945"/>
                  <a:pt x="8184095" y="2908299"/>
                  <a:pt x="8553852" y="3193112"/>
                </a:cubicBezTo>
                <a:cubicBezTo>
                  <a:pt x="8923609" y="3477925"/>
                  <a:pt x="10967269" y="3772732"/>
                  <a:pt x="10892318" y="4077532"/>
                </a:cubicBezTo>
                <a:cubicBezTo>
                  <a:pt x="10817367" y="4382332"/>
                  <a:pt x="9263386" y="4949460"/>
                  <a:pt x="8104147" y="5021912"/>
                </a:cubicBezTo>
                <a:cubicBezTo>
                  <a:pt x="6944908" y="5094364"/>
                  <a:pt x="4973702" y="4714613"/>
                  <a:pt x="3936882" y="4512246"/>
                </a:cubicBezTo>
                <a:cubicBezTo>
                  <a:pt x="2900062" y="4309879"/>
                  <a:pt x="2093091" y="4085027"/>
                  <a:pt x="1883229" y="3807709"/>
                </a:cubicBezTo>
                <a:cubicBezTo>
                  <a:pt x="1673367" y="3530391"/>
                  <a:pt x="2947531" y="3353007"/>
                  <a:pt x="2677708" y="2848338"/>
                </a:cubicBezTo>
                <a:cubicBezTo>
                  <a:pt x="2407885" y="2343669"/>
                  <a:pt x="616561" y="1191926"/>
                  <a:pt x="264292" y="779696"/>
                </a:cubicBezTo>
                <a:cubicBezTo>
                  <a:pt x="-87977" y="367466"/>
                  <a:pt x="-177918" y="317499"/>
                  <a:pt x="564095" y="374961"/>
                </a:cubicBezTo>
                <a:cubicBezTo>
                  <a:pt x="1306108" y="432423"/>
                  <a:pt x="3624587" y="1201919"/>
                  <a:pt x="4686390" y="1139460"/>
                </a:cubicBezTo>
                <a:close/>
              </a:path>
            </a:pathLst>
          </a:custGeom>
          <a:solidFill>
            <a:srgbClr val="4472C4">
              <a:alpha val="2588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" name="Rectángulo 1"/>
          <p:cNvSpPr/>
          <p:nvPr/>
        </p:nvSpPr>
        <p:spPr>
          <a:xfrm>
            <a:off x="3822742" y="3580388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8" name="Rectángulo 67"/>
          <p:cNvSpPr/>
          <p:nvPr/>
        </p:nvSpPr>
        <p:spPr>
          <a:xfrm>
            <a:off x="3510478" y="3583012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9" name="Rectángulo 68"/>
          <p:cNvSpPr/>
          <p:nvPr/>
        </p:nvSpPr>
        <p:spPr>
          <a:xfrm>
            <a:off x="3213266" y="3585132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7" name="Rectángulo 76"/>
          <p:cNvSpPr/>
          <p:nvPr/>
        </p:nvSpPr>
        <p:spPr>
          <a:xfrm>
            <a:off x="4819521" y="4999731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8" name="Rectángulo 77"/>
          <p:cNvSpPr/>
          <p:nvPr/>
        </p:nvSpPr>
        <p:spPr>
          <a:xfrm>
            <a:off x="4521495" y="5002585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9" name="Rectángulo 78"/>
          <p:cNvSpPr/>
          <p:nvPr/>
        </p:nvSpPr>
        <p:spPr>
          <a:xfrm>
            <a:off x="8575259" y="15266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0" name="Rectángulo 79"/>
          <p:cNvSpPr/>
          <p:nvPr/>
        </p:nvSpPr>
        <p:spPr>
          <a:xfrm>
            <a:off x="8262995" y="17890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1" name="Rectángulo 80"/>
          <p:cNvSpPr/>
          <p:nvPr/>
        </p:nvSpPr>
        <p:spPr>
          <a:xfrm>
            <a:off x="7965783" y="20010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2" name="Rectángulo 81"/>
          <p:cNvSpPr/>
          <p:nvPr/>
        </p:nvSpPr>
        <p:spPr>
          <a:xfrm>
            <a:off x="9479178" y="16645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3" name="Rectángulo 82"/>
          <p:cNvSpPr/>
          <p:nvPr/>
        </p:nvSpPr>
        <p:spPr>
          <a:xfrm>
            <a:off x="9166914" y="19269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4" name="Rectángulo 83"/>
          <p:cNvSpPr/>
          <p:nvPr/>
        </p:nvSpPr>
        <p:spPr>
          <a:xfrm>
            <a:off x="8869702" y="21389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5" name="Rectángulo 84"/>
          <p:cNvSpPr/>
          <p:nvPr/>
        </p:nvSpPr>
        <p:spPr>
          <a:xfrm>
            <a:off x="10380924" y="19823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6" name="Rectángulo 85"/>
          <p:cNvSpPr/>
          <p:nvPr/>
        </p:nvSpPr>
        <p:spPr>
          <a:xfrm>
            <a:off x="10068660" y="22447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7" name="Rectángulo 86"/>
          <p:cNvSpPr/>
          <p:nvPr/>
        </p:nvSpPr>
        <p:spPr>
          <a:xfrm>
            <a:off x="9771448" y="24567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8" name="Rectángulo 87"/>
          <p:cNvSpPr/>
          <p:nvPr/>
        </p:nvSpPr>
        <p:spPr>
          <a:xfrm>
            <a:off x="10639055" y="37419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9" name="Rectángulo 88"/>
          <p:cNvSpPr/>
          <p:nvPr/>
        </p:nvSpPr>
        <p:spPr>
          <a:xfrm>
            <a:off x="1741416" y="3735445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0" name="Rectángulo 89"/>
          <p:cNvSpPr/>
          <p:nvPr/>
        </p:nvSpPr>
        <p:spPr>
          <a:xfrm>
            <a:off x="1429152" y="3738069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1" name="Rectángulo 90"/>
          <p:cNvSpPr/>
          <p:nvPr/>
        </p:nvSpPr>
        <p:spPr>
          <a:xfrm>
            <a:off x="1131940" y="3740189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2" name="Rectángulo 91"/>
          <p:cNvSpPr/>
          <p:nvPr/>
        </p:nvSpPr>
        <p:spPr>
          <a:xfrm>
            <a:off x="2645335" y="3736824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3" name="Rectángulo 92"/>
          <p:cNvSpPr/>
          <p:nvPr/>
        </p:nvSpPr>
        <p:spPr>
          <a:xfrm>
            <a:off x="2333071" y="3739448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4" name="Rectángulo 93"/>
          <p:cNvSpPr/>
          <p:nvPr/>
        </p:nvSpPr>
        <p:spPr>
          <a:xfrm>
            <a:off x="2035859" y="3741568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5" name="Rectángulo 94"/>
          <p:cNvSpPr/>
          <p:nvPr/>
        </p:nvSpPr>
        <p:spPr>
          <a:xfrm>
            <a:off x="2937605" y="3744746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6" name="Rectángulo 95"/>
          <p:cNvSpPr/>
          <p:nvPr/>
        </p:nvSpPr>
        <p:spPr>
          <a:xfrm>
            <a:off x="4262244" y="5446809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7" name="Rectángulo 96"/>
          <p:cNvSpPr/>
          <p:nvPr/>
        </p:nvSpPr>
        <p:spPr>
          <a:xfrm>
            <a:off x="3949980" y="5449433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8" name="Rectángulo 97"/>
          <p:cNvSpPr/>
          <p:nvPr/>
        </p:nvSpPr>
        <p:spPr>
          <a:xfrm>
            <a:off x="3652768" y="5451553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9" name="Rectángulo 98"/>
          <p:cNvSpPr/>
          <p:nvPr/>
        </p:nvSpPr>
        <p:spPr>
          <a:xfrm>
            <a:off x="5166163" y="5448188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0" name="Rectángulo 99"/>
          <p:cNvSpPr/>
          <p:nvPr/>
        </p:nvSpPr>
        <p:spPr>
          <a:xfrm>
            <a:off x="4853899" y="5450812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1" name="Rectángulo 100"/>
          <p:cNvSpPr/>
          <p:nvPr/>
        </p:nvSpPr>
        <p:spPr>
          <a:xfrm>
            <a:off x="4556687" y="5452932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2" name="Rectángulo 101"/>
          <p:cNvSpPr/>
          <p:nvPr/>
        </p:nvSpPr>
        <p:spPr>
          <a:xfrm>
            <a:off x="5458433" y="5456110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3" name="Rectángulo 102"/>
          <p:cNvSpPr/>
          <p:nvPr/>
        </p:nvSpPr>
        <p:spPr>
          <a:xfrm>
            <a:off x="3368372" y="5795897"/>
            <a:ext cx="209157" cy="357856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4" name="Rectángulo 103"/>
          <p:cNvSpPr/>
          <p:nvPr/>
        </p:nvSpPr>
        <p:spPr>
          <a:xfrm>
            <a:off x="4290730" y="77432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5" name="Rectángulo 104"/>
          <p:cNvSpPr/>
          <p:nvPr/>
        </p:nvSpPr>
        <p:spPr>
          <a:xfrm>
            <a:off x="3978466" y="80056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6" name="Rectángulo 105"/>
          <p:cNvSpPr/>
          <p:nvPr/>
        </p:nvSpPr>
        <p:spPr>
          <a:xfrm>
            <a:off x="3681254" y="82176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8" name="Rectángulo 107"/>
          <p:cNvSpPr/>
          <p:nvPr/>
        </p:nvSpPr>
        <p:spPr>
          <a:xfrm>
            <a:off x="4882385" y="81435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9" name="Rectángulo 108"/>
          <p:cNvSpPr/>
          <p:nvPr/>
        </p:nvSpPr>
        <p:spPr>
          <a:xfrm>
            <a:off x="4585173" y="83555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4" name="Rectángulo 113"/>
          <p:cNvSpPr/>
          <p:nvPr/>
        </p:nvSpPr>
        <p:spPr>
          <a:xfrm>
            <a:off x="3800416" y="529023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5" name="Rectángulo 114"/>
          <p:cNvSpPr/>
          <p:nvPr/>
        </p:nvSpPr>
        <p:spPr>
          <a:xfrm>
            <a:off x="4702162" y="532201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6" name="Rectángulo 115"/>
          <p:cNvSpPr/>
          <p:nvPr/>
        </p:nvSpPr>
        <p:spPr>
          <a:xfrm>
            <a:off x="4389898" y="534825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7" name="Rectángulo 116"/>
          <p:cNvSpPr/>
          <p:nvPr/>
        </p:nvSpPr>
        <p:spPr>
          <a:xfrm>
            <a:off x="4092686" y="536945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8" name="Rectángulo 117"/>
          <p:cNvSpPr/>
          <p:nvPr/>
        </p:nvSpPr>
        <p:spPr>
          <a:xfrm>
            <a:off x="4960293" y="549797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9" name="Rectángulo 118"/>
          <p:cNvSpPr/>
          <p:nvPr/>
        </p:nvSpPr>
        <p:spPr>
          <a:xfrm>
            <a:off x="8982262" y="3526977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0" name="Rectángulo 119"/>
          <p:cNvSpPr/>
          <p:nvPr/>
        </p:nvSpPr>
        <p:spPr>
          <a:xfrm>
            <a:off x="8669998" y="3529601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1" name="Rectángulo 120"/>
          <p:cNvSpPr/>
          <p:nvPr/>
        </p:nvSpPr>
        <p:spPr>
          <a:xfrm>
            <a:off x="8372786" y="3531721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2" name="Rectángulo 121"/>
          <p:cNvSpPr/>
          <p:nvPr/>
        </p:nvSpPr>
        <p:spPr>
          <a:xfrm>
            <a:off x="9886181" y="3528356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3" name="Rectángulo 122"/>
          <p:cNvSpPr/>
          <p:nvPr/>
        </p:nvSpPr>
        <p:spPr>
          <a:xfrm>
            <a:off x="9573917" y="3530980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4" name="Rectángulo 123"/>
          <p:cNvSpPr/>
          <p:nvPr/>
        </p:nvSpPr>
        <p:spPr>
          <a:xfrm>
            <a:off x="9276705" y="3533100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5" name="Rectángulo 124"/>
          <p:cNvSpPr/>
          <p:nvPr/>
        </p:nvSpPr>
        <p:spPr>
          <a:xfrm>
            <a:off x="10787927" y="3531534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6" name="Rectángulo 125"/>
          <p:cNvSpPr/>
          <p:nvPr/>
        </p:nvSpPr>
        <p:spPr>
          <a:xfrm>
            <a:off x="10475663" y="3534158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7" name="Rectángulo 126"/>
          <p:cNvSpPr/>
          <p:nvPr/>
        </p:nvSpPr>
        <p:spPr>
          <a:xfrm>
            <a:off x="10178451" y="3536278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8" name="Rectángulo 127"/>
          <p:cNvSpPr/>
          <p:nvPr/>
        </p:nvSpPr>
        <p:spPr>
          <a:xfrm>
            <a:off x="11046058" y="3549130"/>
            <a:ext cx="209157" cy="357856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9" name="Rectángulo 128"/>
          <p:cNvSpPr/>
          <p:nvPr/>
        </p:nvSpPr>
        <p:spPr>
          <a:xfrm>
            <a:off x="8594716" y="5390281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0" name="Rectángulo 129"/>
          <p:cNvSpPr/>
          <p:nvPr/>
        </p:nvSpPr>
        <p:spPr>
          <a:xfrm>
            <a:off x="8448059" y="4927022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1" name="Rectángulo 130"/>
          <p:cNvSpPr/>
          <p:nvPr/>
        </p:nvSpPr>
        <p:spPr>
          <a:xfrm>
            <a:off x="8150847" y="4929142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2" name="Rectángulo 131"/>
          <p:cNvSpPr/>
          <p:nvPr/>
        </p:nvSpPr>
        <p:spPr>
          <a:xfrm>
            <a:off x="9498635" y="5391660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3" name="Rectángulo 132"/>
          <p:cNvSpPr/>
          <p:nvPr/>
        </p:nvSpPr>
        <p:spPr>
          <a:xfrm>
            <a:off x="9186371" y="5394284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4" name="Rectángulo 133"/>
          <p:cNvSpPr/>
          <p:nvPr/>
        </p:nvSpPr>
        <p:spPr>
          <a:xfrm>
            <a:off x="8889159" y="5396404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9" name="Rectángulo 138"/>
          <p:cNvSpPr/>
          <p:nvPr/>
        </p:nvSpPr>
        <p:spPr>
          <a:xfrm>
            <a:off x="9259413" y="5841917"/>
            <a:ext cx="209157" cy="357856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40" name="Rectángulo 139"/>
          <p:cNvSpPr/>
          <p:nvPr/>
        </p:nvSpPr>
        <p:spPr>
          <a:xfrm>
            <a:off x="10163332" y="5843296"/>
            <a:ext cx="209157" cy="357856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41" name="Rectángulo 140"/>
          <p:cNvSpPr/>
          <p:nvPr/>
        </p:nvSpPr>
        <p:spPr>
          <a:xfrm>
            <a:off x="9851068" y="5845920"/>
            <a:ext cx="209157" cy="357856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42" name="Rectángulo 141"/>
          <p:cNvSpPr/>
          <p:nvPr/>
        </p:nvSpPr>
        <p:spPr>
          <a:xfrm>
            <a:off x="9553856" y="5848040"/>
            <a:ext cx="209157" cy="357856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43" name="Google Shape;743;p15"/>
          <p:cNvSpPr txBox="1"/>
          <p:nvPr/>
        </p:nvSpPr>
        <p:spPr>
          <a:xfrm>
            <a:off x="-36026" y="12231"/>
            <a:ext cx="4067707" cy="898982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defTabSz="914400" eaLnBrk="1" latinLnBrk="0" hangingPunct="1">
              <a:defRPr sz="2800" kern="12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err="1">
                <a:sym typeface="Century Gothic"/>
              </a:rPr>
              <a:t>Fortalezas</a:t>
            </a:r>
            <a:r>
              <a:rPr lang="en-US" sz="2400">
                <a:sym typeface="Century Gothic"/>
              </a:rPr>
              <a:t> para </a:t>
            </a:r>
            <a:r>
              <a:rPr lang="en-US" sz="2400" err="1">
                <a:sym typeface="Century Gothic"/>
              </a:rPr>
              <a:t>crecer</a:t>
            </a:r>
            <a:r>
              <a:rPr lang="en-US" sz="2400">
                <a:sym typeface="Century Gothic"/>
              </a:rPr>
              <a:t> </a:t>
            </a:r>
            <a:r>
              <a:rPr lang="en-US" sz="2400" err="1">
                <a:sym typeface="Century Gothic"/>
              </a:rPr>
              <a:t>en</a:t>
            </a:r>
            <a:r>
              <a:rPr lang="en-US" sz="2400">
                <a:sym typeface="Century Gothic"/>
              </a:rPr>
              <a:t> </a:t>
            </a:r>
            <a:r>
              <a:rPr lang="en-US" sz="2400" err="1">
                <a:sym typeface="Century Gothic"/>
              </a:rPr>
              <a:t>cada</a:t>
            </a:r>
            <a:r>
              <a:rPr lang="en-US" sz="2400">
                <a:sym typeface="Century Gothic"/>
              </a:rPr>
              <a:t> </a:t>
            </a:r>
            <a:r>
              <a:rPr lang="en-US" sz="2400" err="1">
                <a:sym typeface="Century Gothic"/>
              </a:rPr>
              <a:t>adyacencia</a:t>
            </a:r>
            <a:endParaRPr sz="2400"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3794409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2c7666fef59_0_7"/>
          <p:cNvSpPr/>
          <p:nvPr/>
        </p:nvSpPr>
        <p:spPr>
          <a:xfrm>
            <a:off x="-1484413" y="7977750"/>
            <a:ext cx="1379100" cy="896400"/>
          </a:xfrm>
          <a:prstGeom prst="rect">
            <a:avLst/>
          </a:prstGeom>
          <a:solidFill>
            <a:srgbClr val="2F29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REDCO</a:t>
            </a:r>
            <a:endParaRPr/>
          </a:p>
        </p:txBody>
      </p:sp>
      <p:sp>
        <p:nvSpPr>
          <p:cNvPr id="590" name="Google Shape;590;g2c7666fef59_0_7"/>
          <p:cNvSpPr/>
          <p:nvPr/>
        </p:nvSpPr>
        <p:spPr>
          <a:xfrm>
            <a:off x="-1636813" y="8407458"/>
            <a:ext cx="1379100" cy="763200"/>
          </a:xfrm>
          <a:prstGeom prst="rect">
            <a:avLst/>
          </a:prstGeom>
          <a:solidFill>
            <a:srgbClr val="2F29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ASESORES</a:t>
            </a:r>
            <a:endParaRPr/>
          </a:p>
        </p:txBody>
      </p:sp>
      <p:sp>
        <p:nvSpPr>
          <p:cNvPr id="591" name="Google Shape;591;g2c7666fef59_0_7"/>
          <p:cNvSpPr/>
          <p:nvPr/>
        </p:nvSpPr>
        <p:spPr>
          <a:xfrm>
            <a:off x="4567818" y="2007873"/>
            <a:ext cx="3031800" cy="3017100"/>
          </a:xfrm>
          <a:prstGeom prst="ellipse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br>
              <a:rPr lang="es-ES_tradnl" sz="900"/>
            </a:br>
            <a:r>
              <a:rPr lang="es-ES_tradnl" sz="900" b="1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Consultora boutique </a:t>
            </a:r>
            <a:r>
              <a:rPr lang="es-ES_tradnl" sz="900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de confianza, reconocida por su eficiencia y flexibilidad. Destacados en el </a:t>
            </a:r>
            <a:r>
              <a:rPr lang="es-ES_tradnl" sz="900" b="1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ámbito minero </a:t>
            </a:r>
            <a:r>
              <a:rPr lang="es-ES_tradnl" sz="900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a través de una </a:t>
            </a:r>
            <a:r>
              <a:rPr lang="es-ES_tradnl" sz="900" b="1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innovación</a:t>
            </a:r>
            <a:r>
              <a:rPr lang="es-ES_tradnl" sz="900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 constante, lo que permite establecer relaciones sólidas en el desarrollo de sus proyectos, con soluciones robustas y ejecución inteligente. Cuenta con un equipo de </a:t>
            </a:r>
            <a:r>
              <a:rPr lang="es-ES_tradnl" sz="900" b="1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profesionales de excelencia </a:t>
            </a:r>
            <a:r>
              <a:rPr lang="es-ES_tradnl" sz="900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que aporta conocimiento técnico especializado y experiencias prácticas para </a:t>
            </a:r>
            <a:r>
              <a:rPr lang="es-ES_tradnl" sz="900" b="1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optimizar los resultados de sus clientes</a:t>
            </a:r>
            <a:r>
              <a:rPr lang="es-ES_tradnl" sz="900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.</a:t>
            </a:r>
            <a:endParaRPr lang="es-ES_tradnl" sz="900">
              <a:solidFill>
                <a:schemeClr val="accent1"/>
              </a:solidFill>
              <a:latin typeface="Century Gothic" charset="0"/>
              <a:ea typeface="Century Gothic" charset="0"/>
              <a:cs typeface="Century Gothic" charset="0"/>
              <a:sym typeface="Century Gothic"/>
            </a:endParaRPr>
          </a:p>
        </p:txBody>
      </p:sp>
      <p:sp>
        <p:nvSpPr>
          <p:cNvPr id="592" name="Google Shape;592;g2c7666fef59_0_7"/>
          <p:cNvSpPr/>
          <p:nvPr/>
        </p:nvSpPr>
        <p:spPr>
          <a:xfrm>
            <a:off x="4249471" y="1691085"/>
            <a:ext cx="3668700" cy="3650700"/>
          </a:xfrm>
          <a:prstGeom prst="ellipse">
            <a:avLst/>
          </a:prstGeom>
          <a:noFill/>
          <a:ln w="12700" cap="flat" cmpd="sng">
            <a:solidFill>
              <a:srgbClr val="D8E2F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3" name="Google Shape;593;g2c7666fef59_0_7"/>
          <p:cNvSpPr/>
          <p:nvPr/>
        </p:nvSpPr>
        <p:spPr>
          <a:xfrm>
            <a:off x="3861925" y="1319495"/>
            <a:ext cx="4439100" cy="4417200"/>
          </a:xfrm>
          <a:prstGeom prst="ellipse">
            <a:avLst/>
          </a:prstGeom>
          <a:noFill/>
          <a:ln w="12700" cap="flat" cmpd="sng">
            <a:solidFill>
              <a:srgbClr val="D8E2F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4" name="Google Shape;594;g2c7666fef59_0_7"/>
          <p:cNvSpPr/>
          <p:nvPr/>
        </p:nvSpPr>
        <p:spPr>
          <a:xfrm>
            <a:off x="3393490" y="839274"/>
            <a:ext cx="5371200" cy="5344800"/>
          </a:xfrm>
          <a:prstGeom prst="ellipse">
            <a:avLst/>
          </a:prstGeom>
          <a:noFill/>
          <a:ln w="12700" cap="flat" cmpd="sng">
            <a:solidFill>
              <a:srgbClr val="D8E2F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5" name="Google Shape;595;g2c7666fef59_0_7"/>
          <p:cNvSpPr/>
          <p:nvPr/>
        </p:nvSpPr>
        <p:spPr>
          <a:xfrm>
            <a:off x="2827172" y="275720"/>
            <a:ext cx="6499200" cy="6467400"/>
          </a:xfrm>
          <a:prstGeom prst="ellipse">
            <a:avLst/>
          </a:prstGeom>
          <a:noFill/>
          <a:ln w="12700" cap="flat" cmpd="sng">
            <a:solidFill>
              <a:srgbClr val="D8E2F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596" name="Google Shape;596;g2c7666fef59_0_7"/>
          <p:cNvCxnSpPr/>
          <p:nvPr/>
        </p:nvCxnSpPr>
        <p:spPr>
          <a:xfrm flipV="1">
            <a:off x="7024394" y="574858"/>
            <a:ext cx="1126453" cy="173568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7" name="Google Shape;597;g2c7666fef59_0_7"/>
          <p:cNvCxnSpPr>
            <a:stCxn id="591" idx="6"/>
          </p:cNvCxnSpPr>
          <p:nvPr/>
        </p:nvCxnSpPr>
        <p:spPr>
          <a:xfrm flipV="1">
            <a:off x="7599618" y="3506436"/>
            <a:ext cx="4446770" cy="998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8" name="Google Shape;598;g2c7666fef59_0_7"/>
          <p:cNvCxnSpPr>
            <a:stCxn id="591" idx="2"/>
          </p:cNvCxnSpPr>
          <p:nvPr/>
        </p:nvCxnSpPr>
        <p:spPr>
          <a:xfrm flipH="1" flipV="1">
            <a:off x="214340" y="3482540"/>
            <a:ext cx="4353478" cy="3388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9" name="Google Shape;599;g2c7666fef59_0_7"/>
          <p:cNvCxnSpPr>
            <a:stCxn id="591" idx="5"/>
          </p:cNvCxnSpPr>
          <p:nvPr/>
        </p:nvCxnSpPr>
        <p:spPr>
          <a:xfrm>
            <a:off x="7155621" y="4583129"/>
            <a:ext cx="2895615" cy="214438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00" name="Google Shape;600;g2c7666fef59_0_7"/>
          <p:cNvCxnSpPr>
            <a:stCxn id="591" idx="3"/>
          </p:cNvCxnSpPr>
          <p:nvPr/>
        </p:nvCxnSpPr>
        <p:spPr>
          <a:xfrm flipH="1">
            <a:off x="2400915" y="4583129"/>
            <a:ext cx="2610900" cy="1869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01" name="Google Shape;601;g2c7666fef59_0_7"/>
          <p:cNvSpPr/>
          <p:nvPr/>
        </p:nvSpPr>
        <p:spPr>
          <a:xfrm>
            <a:off x="10882349" y="3534570"/>
            <a:ext cx="517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Países</a:t>
            </a:r>
            <a:endParaRPr sz="1800" b="1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2" name="Google Shape;602;g2c7666fef59_0_7"/>
          <p:cNvSpPr/>
          <p:nvPr/>
        </p:nvSpPr>
        <p:spPr>
          <a:xfrm rot="-3685871">
            <a:off x="6690714" y="1132391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Perú</a:t>
            </a:r>
            <a:endParaRPr/>
          </a:p>
        </p:txBody>
      </p:sp>
      <p:sp>
        <p:nvSpPr>
          <p:cNvPr id="603" name="Google Shape;603;g2c7666fef59_0_7"/>
          <p:cNvSpPr/>
          <p:nvPr/>
        </p:nvSpPr>
        <p:spPr>
          <a:xfrm rot="-3685871">
            <a:off x="7051394" y="1132391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Brasil</a:t>
            </a:r>
            <a:endParaRPr/>
          </a:p>
        </p:txBody>
      </p:sp>
      <p:sp>
        <p:nvSpPr>
          <p:cNvPr id="604" name="Google Shape;604;g2c7666fef59_0_7"/>
          <p:cNvSpPr/>
          <p:nvPr/>
        </p:nvSpPr>
        <p:spPr>
          <a:xfrm rot="-3685871">
            <a:off x="8027272" y="1093840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USA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5" name="Google Shape;605;g2c7666fef59_0_7"/>
          <p:cNvSpPr/>
          <p:nvPr/>
        </p:nvSpPr>
        <p:spPr>
          <a:xfrm rot="-3685871">
            <a:off x="7465051" y="1124239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Rusia</a:t>
            </a:r>
            <a:endParaRPr/>
          </a:p>
        </p:txBody>
      </p:sp>
      <p:sp>
        <p:nvSpPr>
          <p:cNvPr id="606" name="Google Shape;606;g2c7666fef59_0_7"/>
          <p:cNvSpPr/>
          <p:nvPr/>
        </p:nvSpPr>
        <p:spPr>
          <a:xfrm rot="-3685871">
            <a:off x="6310135" y="1132387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Chile</a:t>
            </a:r>
            <a:endParaRPr/>
          </a:p>
        </p:txBody>
      </p:sp>
      <p:sp>
        <p:nvSpPr>
          <p:cNvPr id="607" name="Google Shape;607;g2c7666fef59_0_7"/>
          <p:cNvSpPr/>
          <p:nvPr/>
        </p:nvSpPr>
        <p:spPr>
          <a:xfrm>
            <a:off x="7455827" y="6261716"/>
            <a:ext cx="517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</a:t>
            </a:r>
            <a:r>
              <a:rPr lang="en-US" sz="18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800" b="1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producto</a:t>
            </a:r>
            <a:endParaRPr b="1"/>
          </a:p>
        </p:txBody>
      </p:sp>
      <p:sp>
        <p:nvSpPr>
          <p:cNvPr id="609" name="Google Shape;609;g2c7666fef59_0_7"/>
          <p:cNvSpPr/>
          <p:nvPr/>
        </p:nvSpPr>
        <p:spPr>
          <a:xfrm rot="-838548">
            <a:off x="7868761" y="4401498"/>
            <a:ext cx="5172415" cy="307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Estudios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FEL 0-1-2A-2B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0" name="Google Shape;610;g2c7666fef59_0_7"/>
          <p:cNvSpPr/>
          <p:nvPr/>
        </p:nvSpPr>
        <p:spPr>
          <a:xfrm rot="-838548">
            <a:off x="7128755" y="3834342"/>
            <a:ext cx="5172415" cy="307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Consultoría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y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análisis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riesgo</a:t>
            </a:r>
            <a:endParaRPr/>
          </a:p>
        </p:txBody>
      </p:sp>
      <p:sp>
        <p:nvSpPr>
          <p:cNvPr id="611" name="Google Shape;611;g2c7666fef59_0_7"/>
          <p:cNvSpPr/>
          <p:nvPr/>
        </p:nvSpPr>
        <p:spPr>
          <a:xfrm>
            <a:off x="2808772" y="6045479"/>
            <a:ext cx="517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Especialidades</a:t>
            </a:r>
            <a:r>
              <a:rPr lang="en-US" sz="18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</a:p>
          <a:p>
            <a:pPr marL="4762" marR="0" lvl="0" indent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Técnicas</a:t>
            </a:r>
            <a:r>
              <a:rPr lang="en-US" sz="18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1800" b="1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2" name="Google Shape;612;g2c7666fef59_0_7"/>
          <p:cNvSpPr/>
          <p:nvPr/>
        </p:nvSpPr>
        <p:spPr>
          <a:xfrm rot="966584">
            <a:off x="-94860" y="3731419"/>
            <a:ext cx="5172306" cy="30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err="1">
                <a:latin typeface="Century Gothic"/>
                <a:sym typeface="Century Gothic"/>
              </a:rPr>
              <a:t>Minería</a:t>
            </a:r>
            <a:endParaRPr/>
          </a:p>
        </p:txBody>
      </p:sp>
      <p:sp>
        <p:nvSpPr>
          <p:cNvPr id="613" name="Google Shape;613;g2c7666fef59_0_7"/>
          <p:cNvSpPr/>
          <p:nvPr/>
        </p:nvSpPr>
        <p:spPr>
          <a:xfrm rot="966584">
            <a:off x="-773613" y="4136000"/>
            <a:ext cx="5172306" cy="30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err="1">
                <a:latin typeface="Century Gothic"/>
                <a:sym typeface="Century Gothic"/>
              </a:rPr>
              <a:t>Geomecánicos</a:t>
            </a:r>
            <a:r>
              <a:rPr lang="en-US">
                <a:latin typeface="Century Gothic"/>
                <a:sym typeface="Century Gothic"/>
              </a:rPr>
              <a:t>/</a:t>
            </a:r>
            <a:r>
              <a:rPr lang="en-US" err="1">
                <a:latin typeface="Century Gothic"/>
                <a:sym typeface="Century Gothic"/>
              </a:rPr>
              <a:t>técnicos</a:t>
            </a:r>
            <a:endParaRPr/>
          </a:p>
        </p:txBody>
      </p:sp>
      <p:sp>
        <p:nvSpPr>
          <p:cNvPr id="614" name="Google Shape;614;g2c7666fef59_0_7"/>
          <p:cNvSpPr/>
          <p:nvPr/>
        </p:nvSpPr>
        <p:spPr>
          <a:xfrm rot="966584">
            <a:off x="-1091642" y="4356409"/>
            <a:ext cx="5172306" cy="30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Procesos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de mineral y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m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etalurgia</a:t>
            </a:r>
            <a:endParaRPr/>
          </a:p>
        </p:txBody>
      </p:sp>
      <p:sp>
        <p:nvSpPr>
          <p:cNvPr id="615" name="Google Shape;615;g2c7666fef59_0_7"/>
          <p:cNvSpPr/>
          <p:nvPr/>
        </p:nvSpPr>
        <p:spPr>
          <a:xfrm>
            <a:off x="209157" y="3462073"/>
            <a:ext cx="3169718" cy="7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>
                <a:latin typeface="Century Gothic"/>
                <a:ea typeface="Century Gothic"/>
                <a:cs typeface="Century Gothic"/>
                <a:sym typeface="Century Gothic"/>
              </a:rPr>
              <a:t>Ámbitos de </a:t>
            </a:r>
            <a:r>
              <a:rPr lang="en-US" sz="1800" b="1" err="1">
                <a:latin typeface="Century Gothic"/>
                <a:ea typeface="Century Gothic"/>
                <a:cs typeface="Century Gothic"/>
                <a:sym typeface="Century Gothic"/>
              </a:rPr>
              <a:t>acción</a:t>
            </a:r>
            <a:endParaRPr b="1"/>
          </a:p>
        </p:txBody>
      </p:sp>
      <p:sp>
        <p:nvSpPr>
          <p:cNvPr id="616" name="Google Shape;616;g2c7666fef59_0_7"/>
          <p:cNvSpPr/>
          <p:nvPr/>
        </p:nvSpPr>
        <p:spPr>
          <a:xfrm>
            <a:off x="8282464" y="314371"/>
            <a:ext cx="517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Alianzas</a:t>
            </a:r>
            <a:endParaRPr b="1"/>
          </a:p>
        </p:txBody>
      </p:sp>
      <p:sp>
        <p:nvSpPr>
          <p:cNvPr id="617" name="Google Shape;617;g2c7666fef59_0_7"/>
          <p:cNvSpPr/>
          <p:nvPr/>
        </p:nvSpPr>
        <p:spPr>
          <a:xfrm>
            <a:off x="7099520" y="2168135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Consultoría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Boutique</a:t>
            </a:r>
            <a:endParaRPr/>
          </a:p>
        </p:txBody>
      </p:sp>
      <p:sp>
        <p:nvSpPr>
          <p:cNvPr id="618" name="Google Shape;618;g2c7666fef59_0_7"/>
          <p:cNvSpPr/>
          <p:nvPr/>
        </p:nvSpPr>
        <p:spPr>
          <a:xfrm>
            <a:off x="7378067" y="1797202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 de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consultores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asociados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9" name="Google Shape;619;g2c7666fef59_0_7"/>
          <p:cNvSpPr/>
          <p:nvPr/>
        </p:nvSpPr>
        <p:spPr>
          <a:xfrm>
            <a:off x="7894442" y="1086162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Alianzas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distintos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players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0" name="Google Shape;620;g2c7666fef59_0_7"/>
          <p:cNvSpPr/>
          <p:nvPr/>
        </p:nvSpPr>
        <p:spPr>
          <a:xfrm rot="2321519">
            <a:off x="706744" y="2897746"/>
            <a:ext cx="5172335" cy="30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Estrategia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desarrollo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activos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1" name="Google Shape;621;g2c7666fef59_0_7"/>
          <p:cNvSpPr/>
          <p:nvPr/>
        </p:nvSpPr>
        <p:spPr>
          <a:xfrm rot="2321519">
            <a:off x="66835" y="3261863"/>
            <a:ext cx="5172335" cy="30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Gestión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implementación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2" name="Google Shape;622;g2c7666fef59_0_7"/>
          <p:cNvSpPr/>
          <p:nvPr/>
        </p:nvSpPr>
        <p:spPr>
          <a:xfrm rot="2321519">
            <a:off x="2395615" y="3620979"/>
            <a:ext cx="5172335" cy="30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Planificación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y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diseño</a:t>
            </a:r>
            <a:endParaRPr/>
          </a:p>
        </p:txBody>
      </p:sp>
      <p:sp>
        <p:nvSpPr>
          <p:cNvPr id="623" name="Google Shape;623;g2c7666fef59_0_7"/>
          <p:cNvSpPr/>
          <p:nvPr/>
        </p:nvSpPr>
        <p:spPr>
          <a:xfrm rot="2321519">
            <a:off x="-1420109" y="1511264"/>
            <a:ext cx="5172335" cy="30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Optimización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cadena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valor</a:t>
            </a:r>
          </a:p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(mina-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uer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endParaRPr/>
          </a:p>
        </p:txBody>
      </p:sp>
      <p:sp>
        <p:nvSpPr>
          <p:cNvPr id="625" name="Google Shape;625;g2c7666fef59_0_7"/>
          <p:cNvSpPr/>
          <p:nvPr/>
        </p:nvSpPr>
        <p:spPr>
          <a:xfrm rot="966584">
            <a:off x="-2279958" y="5186703"/>
            <a:ext cx="5172306" cy="30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Infraestructuras</a:t>
            </a:r>
            <a:endParaRPr/>
          </a:p>
        </p:txBody>
      </p:sp>
      <p:sp>
        <p:nvSpPr>
          <p:cNvPr id="629" name="Google Shape;629;g2c7666fef59_0_7"/>
          <p:cNvSpPr/>
          <p:nvPr/>
        </p:nvSpPr>
        <p:spPr>
          <a:xfrm rot="1049938">
            <a:off x="3435154" y="5064158"/>
            <a:ext cx="5172234" cy="30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Simulación</a:t>
            </a:r>
            <a:endParaRPr/>
          </a:p>
        </p:txBody>
      </p:sp>
      <p:sp>
        <p:nvSpPr>
          <p:cNvPr id="630" name="Google Shape;630;g2c7666fef59_0_7"/>
          <p:cNvSpPr/>
          <p:nvPr/>
        </p:nvSpPr>
        <p:spPr>
          <a:xfrm rot="898782">
            <a:off x="849340" y="6367252"/>
            <a:ext cx="5172234" cy="30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Comercialización</a:t>
            </a:r>
            <a:endParaRPr/>
          </a:p>
        </p:txBody>
      </p:sp>
      <p:sp>
        <p:nvSpPr>
          <p:cNvPr id="631" name="Google Shape;631;g2c7666fef59_0_7"/>
          <p:cNvSpPr/>
          <p:nvPr/>
        </p:nvSpPr>
        <p:spPr>
          <a:xfrm>
            <a:off x="8084632" y="711332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M&amp;A con players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grandes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6" name="Google Shape;600;g2c7666fef59_0_7"/>
          <p:cNvCxnSpPr/>
          <p:nvPr/>
        </p:nvCxnSpPr>
        <p:spPr>
          <a:xfrm flipH="1" flipV="1">
            <a:off x="3938412" y="515712"/>
            <a:ext cx="1163832" cy="183025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8" name="Google Shape;607;g2c7666fef59_0_7"/>
          <p:cNvSpPr/>
          <p:nvPr/>
        </p:nvSpPr>
        <p:spPr>
          <a:xfrm>
            <a:off x="2428272" y="922140"/>
            <a:ext cx="517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</a:t>
            </a:r>
            <a:r>
              <a:rPr lang="en-US" sz="18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800" b="1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cliente</a:t>
            </a:r>
            <a:endParaRPr b="1"/>
          </a:p>
        </p:txBody>
      </p:sp>
      <p:sp>
        <p:nvSpPr>
          <p:cNvPr id="49" name="Google Shape;617;g2c7666fef59_0_7"/>
          <p:cNvSpPr/>
          <p:nvPr/>
        </p:nvSpPr>
        <p:spPr>
          <a:xfrm rot="19994503">
            <a:off x="4555151" y="595141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Empresas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gran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minería</a:t>
            </a:r>
            <a:endParaRPr/>
          </a:p>
        </p:txBody>
      </p:sp>
      <p:sp>
        <p:nvSpPr>
          <p:cNvPr id="50" name="Google Shape;617;g2c7666fef59_0_7"/>
          <p:cNvSpPr/>
          <p:nvPr/>
        </p:nvSpPr>
        <p:spPr>
          <a:xfrm rot="19933095">
            <a:off x="4225927" y="100536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Consultoras</a:t>
            </a:r>
            <a:endParaRPr/>
          </a:p>
        </p:txBody>
      </p:sp>
      <p:sp>
        <p:nvSpPr>
          <p:cNvPr id="51" name="Google Shape;617;g2c7666fef59_0_7"/>
          <p:cNvSpPr/>
          <p:nvPr/>
        </p:nvSpPr>
        <p:spPr>
          <a:xfrm rot="19933095">
            <a:off x="4377321" y="309586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Financieras</a:t>
            </a:r>
            <a:endParaRPr/>
          </a:p>
        </p:txBody>
      </p:sp>
      <p:sp>
        <p:nvSpPr>
          <p:cNvPr id="52" name="Google Shape;617;g2c7666fef59_0_7"/>
          <p:cNvSpPr/>
          <p:nvPr/>
        </p:nvSpPr>
        <p:spPr>
          <a:xfrm rot="19933095">
            <a:off x="3941968" y="-324527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B.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bogados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&amp;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asegur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/>
          </a:p>
        </p:txBody>
      </p:sp>
      <p:sp>
        <p:nvSpPr>
          <p:cNvPr id="53" name="Google Shape;617;g2c7666fef59_0_7"/>
          <p:cNvSpPr/>
          <p:nvPr/>
        </p:nvSpPr>
        <p:spPr>
          <a:xfrm rot="19933095">
            <a:off x="3838901" y="-528494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>
                <a:latin typeface="Century Gothic" charset="0"/>
                <a:ea typeface="Century Gothic" charset="0"/>
                <a:cs typeface="Century Gothic" charset="0"/>
              </a:rPr>
              <a:t>Proveedores</a:t>
            </a:r>
            <a:endParaRPr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54" name="Google Shape;604;g2c7666fef59_0_7"/>
          <p:cNvSpPr/>
          <p:nvPr/>
        </p:nvSpPr>
        <p:spPr>
          <a:xfrm rot="-3685871">
            <a:off x="8435547" y="1153504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Canada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" name="Google Shape;604;g2c7666fef59_0_7"/>
          <p:cNvSpPr/>
          <p:nvPr/>
        </p:nvSpPr>
        <p:spPr>
          <a:xfrm rot="-3685871">
            <a:off x="8874521" y="1075903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Australia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" name="Google Shape;604;g2c7666fef59_0_7"/>
          <p:cNvSpPr/>
          <p:nvPr/>
        </p:nvSpPr>
        <p:spPr>
          <a:xfrm rot="-3685871">
            <a:off x="9345490" y="1007616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KAZ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" name="Google Shape;604;g2c7666fef59_0_7"/>
          <p:cNvSpPr/>
          <p:nvPr/>
        </p:nvSpPr>
        <p:spPr>
          <a:xfrm rot="-3685871">
            <a:off x="9785115" y="1023686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Sudáfrica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" name="Google Shape;619;g2c7666fef59_0_7"/>
          <p:cNvSpPr/>
          <p:nvPr/>
        </p:nvSpPr>
        <p:spPr>
          <a:xfrm>
            <a:off x="7675788" y="1444505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Alianzas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con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consultoras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mineras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más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chicas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" name="Google Shape;623;g2c7666fef59_0_7"/>
          <p:cNvSpPr/>
          <p:nvPr/>
        </p:nvSpPr>
        <p:spPr>
          <a:xfrm rot="2321519">
            <a:off x="-2632640" y="1460953"/>
            <a:ext cx="5172335" cy="30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Desarrollo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negocios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</a:p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(M&amp;A,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compras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royalty)</a:t>
            </a:r>
            <a:endParaRPr/>
          </a:p>
        </p:txBody>
      </p:sp>
      <p:sp>
        <p:nvSpPr>
          <p:cNvPr id="62" name="Google Shape;623;g2c7666fef59_0_7"/>
          <p:cNvSpPr/>
          <p:nvPr/>
        </p:nvSpPr>
        <p:spPr>
          <a:xfrm rot="2321519">
            <a:off x="-1693837" y="2839373"/>
            <a:ext cx="5172335" cy="30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D.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modelos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IA</a:t>
            </a:r>
          </a:p>
          <a:p>
            <a:pPr marL="4762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3" name="Google Shape;623;g2c7666fef59_0_7"/>
          <p:cNvSpPr/>
          <p:nvPr/>
        </p:nvSpPr>
        <p:spPr>
          <a:xfrm rot="2321519">
            <a:off x="922398" y="2808732"/>
            <a:ext cx="5172335" cy="30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Peer review /DD</a:t>
            </a:r>
            <a:endParaRPr/>
          </a:p>
        </p:txBody>
      </p:sp>
      <p:sp>
        <p:nvSpPr>
          <p:cNvPr id="65" name="Google Shape;609;g2c7666fef59_0_7"/>
          <p:cNvSpPr/>
          <p:nvPr/>
        </p:nvSpPr>
        <p:spPr>
          <a:xfrm rot="-838548">
            <a:off x="8951245" y="5217292"/>
            <a:ext cx="5172415" cy="307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Ingeniería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FEL 3-4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09;g2c7666fef59_0_7"/>
          <p:cNvSpPr/>
          <p:nvPr/>
        </p:nvSpPr>
        <p:spPr>
          <a:xfrm rot="-838548">
            <a:off x="7507041" y="4106908"/>
            <a:ext cx="5172415" cy="307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Gestión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operativa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0" name="Google Shape;609;g2c7666fef59_0_7"/>
          <p:cNvSpPr/>
          <p:nvPr/>
        </p:nvSpPr>
        <p:spPr>
          <a:xfrm rot="-838548">
            <a:off x="8639937" y="4931752"/>
            <a:ext cx="5172415" cy="307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Equipo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dueño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proyecto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" name="Google Shape;609;g2c7666fef59_0_7"/>
          <p:cNvSpPr/>
          <p:nvPr/>
        </p:nvSpPr>
        <p:spPr>
          <a:xfrm rot="-838548">
            <a:off x="9375054" y="5456515"/>
            <a:ext cx="5172415" cy="307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EPCM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2" name="Google Shape;625;g2c7666fef59_0_7"/>
          <p:cNvSpPr/>
          <p:nvPr/>
        </p:nvSpPr>
        <p:spPr>
          <a:xfrm rot="966584">
            <a:off x="-1809658" y="4775856"/>
            <a:ext cx="5172306" cy="30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Manejo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materiales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</a:p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agua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relaves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suministro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endParaRPr/>
          </a:p>
        </p:txBody>
      </p:sp>
      <p:sp>
        <p:nvSpPr>
          <p:cNvPr id="64" name="Google Shape;629;g2c7666fef59_0_7"/>
          <p:cNvSpPr/>
          <p:nvPr/>
        </p:nvSpPr>
        <p:spPr>
          <a:xfrm rot="1049938">
            <a:off x="2488797" y="5751334"/>
            <a:ext cx="5172234" cy="30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Geología</a:t>
            </a:r>
            <a:endParaRPr/>
          </a:p>
        </p:txBody>
      </p:sp>
      <p:sp>
        <p:nvSpPr>
          <p:cNvPr id="73" name="Google Shape;617;g2c7666fef59_0_7"/>
          <p:cNvSpPr/>
          <p:nvPr/>
        </p:nvSpPr>
        <p:spPr>
          <a:xfrm rot="19994503">
            <a:off x="4721924" y="837331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Empresas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mediana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minería</a:t>
            </a:r>
            <a:endParaRPr/>
          </a:p>
        </p:txBody>
      </p:sp>
      <p:sp>
        <p:nvSpPr>
          <p:cNvPr id="74" name="Google Shape;617;g2c7666fef59_0_7"/>
          <p:cNvSpPr/>
          <p:nvPr/>
        </p:nvSpPr>
        <p:spPr>
          <a:xfrm rot="19933095">
            <a:off x="4064584" y="-113176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Obras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mina</a:t>
            </a:r>
            <a:endParaRPr/>
          </a:p>
        </p:txBody>
      </p:sp>
      <p:sp>
        <p:nvSpPr>
          <p:cNvPr id="75" name="Google Shape;617;g2c7666fef59_0_7"/>
          <p:cNvSpPr/>
          <p:nvPr/>
        </p:nvSpPr>
        <p:spPr>
          <a:xfrm rot="19933095">
            <a:off x="3688246" y="-748903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Directorios</a:t>
            </a:r>
            <a:endParaRPr/>
          </a:p>
        </p:txBody>
      </p:sp>
      <p:sp>
        <p:nvSpPr>
          <p:cNvPr id="76" name="Google Shape;609;g2c7666fef59_0_7"/>
          <p:cNvSpPr/>
          <p:nvPr/>
        </p:nvSpPr>
        <p:spPr>
          <a:xfrm rot="-838548">
            <a:off x="8270790" y="4681023"/>
            <a:ext cx="5172415" cy="307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Gestión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proyectos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" name="Forma libre 3"/>
          <p:cNvSpPr/>
          <p:nvPr/>
        </p:nvSpPr>
        <p:spPr>
          <a:xfrm>
            <a:off x="200402" y="584410"/>
            <a:ext cx="10985327" cy="5030972"/>
          </a:xfrm>
          <a:custGeom>
            <a:avLst/>
            <a:gdLst>
              <a:gd name="connsiteX0" fmla="*/ 4686390 w 10985327"/>
              <a:gd name="connsiteY0" fmla="*/ 1139460 h 5030972"/>
              <a:gd name="connsiteX1" fmla="*/ 6934915 w 10985327"/>
              <a:gd name="connsiteY1" fmla="*/ 207 h 5030972"/>
              <a:gd name="connsiteX2" fmla="*/ 7264698 w 10985327"/>
              <a:gd name="connsiteY2" fmla="*/ 1244391 h 5030972"/>
              <a:gd name="connsiteX3" fmla="*/ 10967269 w 10985327"/>
              <a:gd name="connsiteY3" fmla="*/ 1289361 h 5030972"/>
              <a:gd name="connsiteX4" fmla="*/ 8673774 w 10985327"/>
              <a:gd name="connsiteY4" fmla="*/ 2368653 h 5030972"/>
              <a:gd name="connsiteX5" fmla="*/ 8553852 w 10985327"/>
              <a:gd name="connsiteY5" fmla="*/ 3193112 h 5030972"/>
              <a:gd name="connsiteX6" fmla="*/ 10892318 w 10985327"/>
              <a:gd name="connsiteY6" fmla="*/ 4077532 h 5030972"/>
              <a:gd name="connsiteX7" fmla="*/ 8104147 w 10985327"/>
              <a:gd name="connsiteY7" fmla="*/ 5021912 h 5030972"/>
              <a:gd name="connsiteX8" fmla="*/ 3936882 w 10985327"/>
              <a:gd name="connsiteY8" fmla="*/ 4512246 h 5030972"/>
              <a:gd name="connsiteX9" fmla="*/ 1883229 w 10985327"/>
              <a:gd name="connsiteY9" fmla="*/ 3807709 h 5030972"/>
              <a:gd name="connsiteX10" fmla="*/ 2677708 w 10985327"/>
              <a:gd name="connsiteY10" fmla="*/ 2848338 h 5030972"/>
              <a:gd name="connsiteX11" fmla="*/ 264292 w 10985327"/>
              <a:gd name="connsiteY11" fmla="*/ 779696 h 5030972"/>
              <a:gd name="connsiteX12" fmla="*/ 564095 w 10985327"/>
              <a:gd name="connsiteY12" fmla="*/ 374961 h 5030972"/>
              <a:gd name="connsiteX13" fmla="*/ 4686390 w 10985327"/>
              <a:gd name="connsiteY13" fmla="*/ 1139460 h 5030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85327" h="5030972">
                <a:moveTo>
                  <a:pt x="4686390" y="1139460"/>
                </a:moveTo>
                <a:cubicBezTo>
                  <a:pt x="5748193" y="1077001"/>
                  <a:pt x="6505197" y="-17281"/>
                  <a:pt x="6934915" y="207"/>
                </a:cubicBezTo>
                <a:cubicBezTo>
                  <a:pt x="7364633" y="17695"/>
                  <a:pt x="6592639" y="1029532"/>
                  <a:pt x="7264698" y="1244391"/>
                </a:cubicBezTo>
                <a:cubicBezTo>
                  <a:pt x="7936757" y="1459250"/>
                  <a:pt x="10732423" y="1101984"/>
                  <a:pt x="10967269" y="1289361"/>
                </a:cubicBezTo>
                <a:cubicBezTo>
                  <a:pt x="11202115" y="1476738"/>
                  <a:pt x="9076010" y="2051361"/>
                  <a:pt x="8673774" y="2368653"/>
                </a:cubicBezTo>
                <a:cubicBezTo>
                  <a:pt x="8271538" y="2685945"/>
                  <a:pt x="8184095" y="2908299"/>
                  <a:pt x="8553852" y="3193112"/>
                </a:cubicBezTo>
                <a:cubicBezTo>
                  <a:pt x="8923609" y="3477925"/>
                  <a:pt x="10967269" y="3772732"/>
                  <a:pt x="10892318" y="4077532"/>
                </a:cubicBezTo>
                <a:cubicBezTo>
                  <a:pt x="10817367" y="4382332"/>
                  <a:pt x="9263386" y="4949460"/>
                  <a:pt x="8104147" y="5021912"/>
                </a:cubicBezTo>
                <a:cubicBezTo>
                  <a:pt x="6944908" y="5094364"/>
                  <a:pt x="4973702" y="4714613"/>
                  <a:pt x="3936882" y="4512246"/>
                </a:cubicBezTo>
                <a:cubicBezTo>
                  <a:pt x="2900062" y="4309879"/>
                  <a:pt x="2093091" y="4085027"/>
                  <a:pt x="1883229" y="3807709"/>
                </a:cubicBezTo>
                <a:cubicBezTo>
                  <a:pt x="1673367" y="3530391"/>
                  <a:pt x="2947531" y="3353007"/>
                  <a:pt x="2677708" y="2848338"/>
                </a:cubicBezTo>
                <a:cubicBezTo>
                  <a:pt x="2407885" y="2343669"/>
                  <a:pt x="616561" y="1191926"/>
                  <a:pt x="264292" y="779696"/>
                </a:cubicBezTo>
                <a:cubicBezTo>
                  <a:pt x="-87977" y="367466"/>
                  <a:pt x="-177918" y="317499"/>
                  <a:pt x="564095" y="374961"/>
                </a:cubicBezTo>
                <a:cubicBezTo>
                  <a:pt x="1306108" y="432423"/>
                  <a:pt x="3624587" y="1201919"/>
                  <a:pt x="4686390" y="1139460"/>
                </a:cubicBezTo>
                <a:close/>
              </a:path>
            </a:pathLst>
          </a:custGeom>
          <a:solidFill>
            <a:srgbClr val="4472C4">
              <a:alpha val="2588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" name="Rectángulo 1"/>
          <p:cNvSpPr/>
          <p:nvPr/>
        </p:nvSpPr>
        <p:spPr>
          <a:xfrm>
            <a:off x="3822742" y="3580388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8" name="Rectángulo 67"/>
          <p:cNvSpPr/>
          <p:nvPr/>
        </p:nvSpPr>
        <p:spPr>
          <a:xfrm>
            <a:off x="3510478" y="3583012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9" name="Rectángulo 68"/>
          <p:cNvSpPr/>
          <p:nvPr/>
        </p:nvSpPr>
        <p:spPr>
          <a:xfrm>
            <a:off x="3213266" y="3585132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7" name="Rectángulo 76"/>
          <p:cNvSpPr/>
          <p:nvPr/>
        </p:nvSpPr>
        <p:spPr>
          <a:xfrm>
            <a:off x="4819521" y="4999731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8" name="Rectángulo 77"/>
          <p:cNvSpPr/>
          <p:nvPr/>
        </p:nvSpPr>
        <p:spPr>
          <a:xfrm>
            <a:off x="4521495" y="5002585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9" name="Rectángulo 78"/>
          <p:cNvSpPr/>
          <p:nvPr/>
        </p:nvSpPr>
        <p:spPr>
          <a:xfrm>
            <a:off x="8575259" y="15266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0" name="Rectángulo 79"/>
          <p:cNvSpPr/>
          <p:nvPr/>
        </p:nvSpPr>
        <p:spPr>
          <a:xfrm>
            <a:off x="8262995" y="17890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1" name="Rectángulo 80"/>
          <p:cNvSpPr/>
          <p:nvPr/>
        </p:nvSpPr>
        <p:spPr>
          <a:xfrm>
            <a:off x="7965783" y="20010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2" name="Rectángulo 81"/>
          <p:cNvSpPr/>
          <p:nvPr/>
        </p:nvSpPr>
        <p:spPr>
          <a:xfrm>
            <a:off x="9479178" y="16645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3" name="Rectángulo 82"/>
          <p:cNvSpPr/>
          <p:nvPr/>
        </p:nvSpPr>
        <p:spPr>
          <a:xfrm>
            <a:off x="9166914" y="19269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4" name="Rectángulo 83"/>
          <p:cNvSpPr/>
          <p:nvPr/>
        </p:nvSpPr>
        <p:spPr>
          <a:xfrm>
            <a:off x="8869702" y="21389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5" name="Rectángulo 84"/>
          <p:cNvSpPr/>
          <p:nvPr/>
        </p:nvSpPr>
        <p:spPr>
          <a:xfrm>
            <a:off x="10380924" y="19823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6" name="Rectángulo 85"/>
          <p:cNvSpPr/>
          <p:nvPr/>
        </p:nvSpPr>
        <p:spPr>
          <a:xfrm>
            <a:off x="10068660" y="22447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7" name="Rectángulo 86"/>
          <p:cNvSpPr/>
          <p:nvPr/>
        </p:nvSpPr>
        <p:spPr>
          <a:xfrm>
            <a:off x="9771448" y="24567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8" name="Rectángulo 87"/>
          <p:cNvSpPr/>
          <p:nvPr/>
        </p:nvSpPr>
        <p:spPr>
          <a:xfrm>
            <a:off x="10639055" y="37419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9" name="Rectángulo 88"/>
          <p:cNvSpPr/>
          <p:nvPr/>
        </p:nvSpPr>
        <p:spPr>
          <a:xfrm>
            <a:off x="1741416" y="3735445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0" name="Rectángulo 89"/>
          <p:cNvSpPr/>
          <p:nvPr/>
        </p:nvSpPr>
        <p:spPr>
          <a:xfrm>
            <a:off x="1429152" y="3738069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1" name="Rectángulo 90"/>
          <p:cNvSpPr/>
          <p:nvPr/>
        </p:nvSpPr>
        <p:spPr>
          <a:xfrm>
            <a:off x="1131940" y="3740189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2" name="Rectángulo 91"/>
          <p:cNvSpPr/>
          <p:nvPr/>
        </p:nvSpPr>
        <p:spPr>
          <a:xfrm>
            <a:off x="2645335" y="3736824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3" name="Rectángulo 92"/>
          <p:cNvSpPr/>
          <p:nvPr/>
        </p:nvSpPr>
        <p:spPr>
          <a:xfrm>
            <a:off x="2333071" y="3739448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4" name="Rectángulo 93"/>
          <p:cNvSpPr/>
          <p:nvPr/>
        </p:nvSpPr>
        <p:spPr>
          <a:xfrm>
            <a:off x="2035859" y="3741568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5" name="Rectángulo 94"/>
          <p:cNvSpPr/>
          <p:nvPr/>
        </p:nvSpPr>
        <p:spPr>
          <a:xfrm>
            <a:off x="2937605" y="3744746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6" name="Rectángulo 95"/>
          <p:cNvSpPr/>
          <p:nvPr/>
        </p:nvSpPr>
        <p:spPr>
          <a:xfrm>
            <a:off x="4262244" y="5446809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7" name="Rectángulo 96"/>
          <p:cNvSpPr/>
          <p:nvPr/>
        </p:nvSpPr>
        <p:spPr>
          <a:xfrm>
            <a:off x="3949980" y="5449433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8" name="Rectángulo 97"/>
          <p:cNvSpPr/>
          <p:nvPr/>
        </p:nvSpPr>
        <p:spPr>
          <a:xfrm>
            <a:off x="3652768" y="5451553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9" name="Rectángulo 98"/>
          <p:cNvSpPr/>
          <p:nvPr/>
        </p:nvSpPr>
        <p:spPr>
          <a:xfrm>
            <a:off x="5166163" y="5448188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0" name="Rectángulo 99"/>
          <p:cNvSpPr/>
          <p:nvPr/>
        </p:nvSpPr>
        <p:spPr>
          <a:xfrm>
            <a:off x="4853899" y="5450812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1" name="Rectángulo 100"/>
          <p:cNvSpPr/>
          <p:nvPr/>
        </p:nvSpPr>
        <p:spPr>
          <a:xfrm>
            <a:off x="4556687" y="5452932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2" name="Rectángulo 101"/>
          <p:cNvSpPr/>
          <p:nvPr/>
        </p:nvSpPr>
        <p:spPr>
          <a:xfrm>
            <a:off x="5458433" y="5456110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3" name="Rectángulo 102"/>
          <p:cNvSpPr/>
          <p:nvPr/>
        </p:nvSpPr>
        <p:spPr>
          <a:xfrm>
            <a:off x="3368372" y="5795897"/>
            <a:ext cx="209157" cy="357856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4" name="Rectángulo 103"/>
          <p:cNvSpPr/>
          <p:nvPr/>
        </p:nvSpPr>
        <p:spPr>
          <a:xfrm>
            <a:off x="4290730" y="77432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5" name="Rectángulo 104"/>
          <p:cNvSpPr/>
          <p:nvPr/>
        </p:nvSpPr>
        <p:spPr>
          <a:xfrm>
            <a:off x="3978466" y="80056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6" name="Rectángulo 105"/>
          <p:cNvSpPr/>
          <p:nvPr/>
        </p:nvSpPr>
        <p:spPr>
          <a:xfrm>
            <a:off x="3681254" y="82176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8" name="Rectángulo 107"/>
          <p:cNvSpPr/>
          <p:nvPr/>
        </p:nvSpPr>
        <p:spPr>
          <a:xfrm>
            <a:off x="4882385" y="81435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9" name="Rectángulo 108"/>
          <p:cNvSpPr/>
          <p:nvPr/>
        </p:nvSpPr>
        <p:spPr>
          <a:xfrm>
            <a:off x="4585173" y="83555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4" name="Rectángulo 113"/>
          <p:cNvSpPr/>
          <p:nvPr/>
        </p:nvSpPr>
        <p:spPr>
          <a:xfrm>
            <a:off x="3800416" y="529023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5" name="Rectángulo 114"/>
          <p:cNvSpPr/>
          <p:nvPr/>
        </p:nvSpPr>
        <p:spPr>
          <a:xfrm>
            <a:off x="4702162" y="532201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6" name="Rectángulo 115"/>
          <p:cNvSpPr/>
          <p:nvPr/>
        </p:nvSpPr>
        <p:spPr>
          <a:xfrm>
            <a:off x="4389898" y="534825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7" name="Rectángulo 116"/>
          <p:cNvSpPr/>
          <p:nvPr/>
        </p:nvSpPr>
        <p:spPr>
          <a:xfrm>
            <a:off x="4092686" y="536945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8" name="Rectángulo 117"/>
          <p:cNvSpPr/>
          <p:nvPr/>
        </p:nvSpPr>
        <p:spPr>
          <a:xfrm>
            <a:off x="4960293" y="549797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9" name="Rectángulo 118"/>
          <p:cNvSpPr/>
          <p:nvPr/>
        </p:nvSpPr>
        <p:spPr>
          <a:xfrm>
            <a:off x="8967272" y="3571948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0" name="Rectángulo 119"/>
          <p:cNvSpPr/>
          <p:nvPr/>
        </p:nvSpPr>
        <p:spPr>
          <a:xfrm>
            <a:off x="8655008" y="3574572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1" name="Rectángulo 120"/>
          <p:cNvSpPr/>
          <p:nvPr/>
        </p:nvSpPr>
        <p:spPr>
          <a:xfrm>
            <a:off x="8357796" y="3576692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2" name="Rectángulo 121"/>
          <p:cNvSpPr/>
          <p:nvPr/>
        </p:nvSpPr>
        <p:spPr>
          <a:xfrm>
            <a:off x="9871191" y="3573327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3" name="Rectángulo 122"/>
          <p:cNvSpPr/>
          <p:nvPr/>
        </p:nvSpPr>
        <p:spPr>
          <a:xfrm>
            <a:off x="9558927" y="3575951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4" name="Rectángulo 123"/>
          <p:cNvSpPr/>
          <p:nvPr/>
        </p:nvSpPr>
        <p:spPr>
          <a:xfrm>
            <a:off x="9261715" y="3578071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5" name="Rectángulo 124"/>
          <p:cNvSpPr/>
          <p:nvPr/>
        </p:nvSpPr>
        <p:spPr>
          <a:xfrm>
            <a:off x="10772937" y="3576505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6" name="Rectángulo 125"/>
          <p:cNvSpPr/>
          <p:nvPr/>
        </p:nvSpPr>
        <p:spPr>
          <a:xfrm>
            <a:off x="10460673" y="3579129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7" name="Rectángulo 126"/>
          <p:cNvSpPr/>
          <p:nvPr/>
        </p:nvSpPr>
        <p:spPr>
          <a:xfrm>
            <a:off x="10163461" y="3581249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8" name="Rectángulo 127"/>
          <p:cNvSpPr/>
          <p:nvPr/>
        </p:nvSpPr>
        <p:spPr>
          <a:xfrm>
            <a:off x="11031068" y="3594101"/>
            <a:ext cx="209157" cy="357856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9" name="Rectángulo 128"/>
          <p:cNvSpPr/>
          <p:nvPr/>
        </p:nvSpPr>
        <p:spPr>
          <a:xfrm>
            <a:off x="8594716" y="5390281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0" name="Rectángulo 129"/>
          <p:cNvSpPr/>
          <p:nvPr/>
        </p:nvSpPr>
        <p:spPr>
          <a:xfrm>
            <a:off x="8448059" y="4927022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1" name="Rectángulo 130"/>
          <p:cNvSpPr/>
          <p:nvPr/>
        </p:nvSpPr>
        <p:spPr>
          <a:xfrm>
            <a:off x="8150847" y="4929142"/>
            <a:ext cx="209157" cy="357856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2" name="Rectángulo 131"/>
          <p:cNvSpPr/>
          <p:nvPr/>
        </p:nvSpPr>
        <p:spPr>
          <a:xfrm>
            <a:off x="9498635" y="5391660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3" name="Rectángulo 132"/>
          <p:cNvSpPr/>
          <p:nvPr/>
        </p:nvSpPr>
        <p:spPr>
          <a:xfrm>
            <a:off x="9186371" y="5394284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4" name="Rectángulo 133"/>
          <p:cNvSpPr/>
          <p:nvPr/>
        </p:nvSpPr>
        <p:spPr>
          <a:xfrm>
            <a:off x="8889159" y="5396404"/>
            <a:ext cx="209157" cy="3578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9" name="Rectángulo 138"/>
          <p:cNvSpPr/>
          <p:nvPr/>
        </p:nvSpPr>
        <p:spPr>
          <a:xfrm>
            <a:off x="9259413" y="5841917"/>
            <a:ext cx="209157" cy="357856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40" name="Rectángulo 139"/>
          <p:cNvSpPr/>
          <p:nvPr/>
        </p:nvSpPr>
        <p:spPr>
          <a:xfrm>
            <a:off x="10163332" y="5843296"/>
            <a:ext cx="209157" cy="357856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41" name="Rectángulo 140"/>
          <p:cNvSpPr/>
          <p:nvPr/>
        </p:nvSpPr>
        <p:spPr>
          <a:xfrm>
            <a:off x="9851068" y="5845920"/>
            <a:ext cx="209157" cy="357856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42" name="Rectángulo 141"/>
          <p:cNvSpPr/>
          <p:nvPr/>
        </p:nvSpPr>
        <p:spPr>
          <a:xfrm>
            <a:off x="9553856" y="5848040"/>
            <a:ext cx="209157" cy="357856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5" name="Rectángulo 134"/>
          <p:cNvSpPr/>
          <p:nvPr/>
        </p:nvSpPr>
        <p:spPr>
          <a:xfrm>
            <a:off x="4325342" y="3065428"/>
            <a:ext cx="209157" cy="357856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6" name="Rectángulo 135"/>
          <p:cNvSpPr/>
          <p:nvPr/>
        </p:nvSpPr>
        <p:spPr>
          <a:xfrm>
            <a:off x="4343205" y="3502880"/>
            <a:ext cx="209157" cy="357856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7" name="Rectángulo 136"/>
          <p:cNvSpPr/>
          <p:nvPr/>
        </p:nvSpPr>
        <p:spPr>
          <a:xfrm>
            <a:off x="5106883" y="4460768"/>
            <a:ext cx="209157" cy="357856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8" name="Rectángulo 137"/>
          <p:cNvSpPr/>
          <p:nvPr/>
        </p:nvSpPr>
        <p:spPr>
          <a:xfrm>
            <a:off x="5124746" y="4898220"/>
            <a:ext cx="209157" cy="357856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43" name="Rectángulo 142"/>
          <p:cNvSpPr/>
          <p:nvPr/>
        </p:nvSpPr>
        <p:spPr>
          <a:xfrm>
            <a:off x="5380140" y="4492829"/>
            <a:ext cx="209157" cy="357856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44" name="Rectángulo 143"/>
          <p:cNvSpPr/>
          <p:nvPr/>
        </p:nvSpPr>
        <p:spPr>
          <a:xfrm>
            <a:off x="5398003" y="4930281"/>
            <a:ext cx="209157" cy="357856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47" name="Rectángulo 146"/>
          <p:cNvSpPr/>
          <p:nvPr/>
        </p:nvSpPr>
        <p:spPr>
          <a:xfrm>
            <a:off x="5005404" y="1495118"/>
            <a:ext cx="209157" cy="357856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48" name="Rectángulo 147"/>
          <p:cNvSpPr/>
          <p:nvPr/>
        </p:nvSpPr>
        <p:spPr>
          <a:xfrm>
            <a:off x="5023267" y="1932570"/>
            <a:ext cx="209157" cy="357856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49" name="Rectángulo 148"/>
          <p:cNvSpPr/>
          <p:nvPr/>
        </p:nvSpPr>
        <p:spPr>
          <a:xfrm>
            <a:off x="5278661" y="1527179"/>
            <a:ext cx="209157" cy="357856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0" name="Rectángulo 149"/>
          <p:cNvSpPr/>
          <p:nvPr/>
        </p:nvSpPr>
        <p:spPr>
          <a:xfrm>
            <a:off x="5296524" y="1964631"/>
            <a:ext cx="209157" cy="357856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1" name="Rectángulo 150"/>
          <p:cNvSpPr/>
          <p:nvPr/>
        </p:nvSpPr>
        <p:spPr>
          <a:xfrm>
            <a:off x="5567050" y="1527179"/>
            <a:ext cx="209157" cy="357856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3" name="Rectángulo 152"/>
          <p:cNvSpPr/>
          <p:nvPr/>
        </p:nvSpPr>
        <p:spPr>
          <a:xfrm>
            <a:off x="7422632" y="2951131"/>
            <a:ext cx="209157" cy="357856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4" name="Rectángulo 153"/>
          <p:cNvSpPr/>
          <p:nvPr/>
        </p:nvSpPr>
        <p:spPr>
          <a:xfrm>
            <a:off x="7440495" y="3388583"/>
            <a:ext cx="209157" cy="357856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5" name="Rectángulo 154"/>
          <p:cNvSpPr/>
          <p:nvPr/>
        </p:nvSpPr>
        <p:spPr>
          <a:xfrm>
            <a:off x="7695889" y="2983192"/>
            <a:ext cx="209157" cy="357856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6" name="Rectángulo 155"/>
          <p:cNvSpPr/>
          <p:nvPr/>
        </p:nvSpPr>
        <p:spPr>
          <a:xfrm>
            <a:off x="7713752" y="3420644"/>
            <a:ext cx="209157" cy="357856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7" name="Rectángulo 156"/>
          <p:cNvSpPr/>
          <p:nvPr/>
        </p:nvSpPr>
        <p:spPr>
          <a:xfrm>
            <a:off x="7984278" y="2983192"/>
            <a:ext cx="209157" cy="357856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8" name="Rectángulo 157"/>
          <p:cNvSpPr/>
          <p:nvPr/>
        </p:nvSpPr>
        <p:spPr>
          <a:xfrm>
            <a:off x="7988167" y="3432159"/>
            <a:ext cx="209157" cy="357856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9" name="Rectángulo 158"/>
          <p:cNvSpPr/>
          <p:nvPr/>
        </p:nvSpPr>
        <p:spPr>
          <a:xfrm>
            <a:off x="7317119" y="4545534"/>
            <a:ext cx="209157" cy="357856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60" name="Google Shape;743;p15"/>
          <p:cNvSpPr txBox="1"/>
          <p:nvPr/>
        </p:nvSpPr>
        <p:spPr>
          <a:xfrm>
            <a:off x="-36026" y="12231"/>
            <a:ext cx="4067707" cy="898982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defTabSz="914400" eaLnBrk="1" latinLnBrk="0" hangingPunct="1">
              <a:defRPr sz="2800" kern="12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sym typeface="Century Gothic"/>
              </a:rPr>
              <a:t>¿</a:t>
            </a:r>
            <a:r>
              <a:rPr lang="en-US" sz="1800" err="1">
                <a:sym typeface="Century Gothic"/>
              </a:rPr>
              <a:t>Dónde</a:t>
            </a:r>
            <a:r>
              <a:rPr lang="en-US" sz="1800">
                <a:sym typeface="Century Gothic"/>
              </a:rPr>
              <a:t> </a:t>
            </a:r>
            <a:r>
              <a:rPr lang="en-US" sz="1800" err="1">
                <a:sym typeface="Century Gothic"/>
              </a:rPr>
              <a:t>debiesen</a:t>
            </a:r>
            <a:r>
              <a:rPr lang="en-US" sz="1800">
                <a:sym typeface="Century Gothic"/>
              </a:rPr>
              <a:t> </a:t>
            </a:r>
            <a:r>
              <a:rPr lang="en-US" sz="1800" err="1">
                <a:sym typeface="Century Gothic"/>
              </a:rPr>
              <a:t>estar</a:t>
            </a:r>
            <a:r>
              <a:rPr lang="en-US" sz="1800">
                <a:sym typeface="Century Gothic"/>
              </a:rPr>
              <a:t> las </a:t>
            </a:r>
            <a:r>
              <a:rPr lang="en-US" sz="1800" err="1">
                <a:sym typeface="Century Gothic"/>
              </a:rPr>
              <a:t>energías</a:t>
            </a:r>
            <a:r>
              <a:rPr lang="en-US" sz="1800">
                <a:sym typeface="Century Gothic"/>
              </a:rPr>
              <a:t> para </a:t>
            </a:r>
            <a:r>
              <a:rPr lang="en-US" sz="1800" err="1">
                <a:sym typeface="Century Gothic"/>
              </a:rPr>
              <a:t>crecer</a:t>
            </a:r>
            <a:r>
              <a:rPr lang="en-US" sz="1800">
                <a:sym typeface="Century Gothic"/>
              </a:rPr>
              <a:t> y </a:t>
            </a:r>
            <a:r>
              <a:rPr lang="en-US" sz="1800" err="1">
                <a:sym typeface="Century Gothic"/>
              </a:rPr>
              <a:t>vivir</a:t>
            </a:r>
            <a:r>
              <a:rPr lang="en-US" sz="1800">
                <a:sym typeface="Century Gothic"/>
              </a:rPr>
              <a:t> </a:t>
            </a:r>
            <a:r>
              <a:rPr lang="en-US" sz="1800" err="1">
                <a:sym typeface="Century Gothic"/>
              </a:rPr>
              <a:t>en</a:t>
            </a:r>
            <a:r>
              <a:rPr lang="en-US" sz="1800">
                <a:sym typeface="Century Gothic"/>
              </a:rPr>
              <a:t> el </a:t>
            </a:r>
            <a:r>
              <a:rPr lang="en-US" sz="1800" err="1">
                <a:sym typeface="Century Gothic"/>
              </a:rPr>
              <a:t>propósto</a:t>
            </a:r>
            <a:r>
              <a:rPr lang="en-US" sz="1800">
                <a:sym typeface="Century Gothic"/>
              </a:rPr>
              <a:t>?</a:t>
            </a:r>
            <a:endParaRPr sz="1800"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8568826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2c7666fef59_0_7"/>
          <p:cNvSpPr/>
          <p:nvPr/>
        </p:nvSpPr>
        <p:spPr>
          <a:xfrm>
            <a:off x="-1484413" y="7977750"/>
            <a:ext cx="1379100" cy="896400"/>
          </a:xfrm>
          <a:prstGeom prst="rect">
            <a:avLst/>
          </a:prstGeom>
          <a:solidFill>
            <a:srgbClr val="2F29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REDCO</a:t>
            </a:r>
            <a:endParaRPr/>
          </a:p>
        </p:txBody>
      </p:sp>
      <p:sp>
        <p:nvSpPr>
          <p:cNvPr id="590" name="Google Shape;590;g2c7666fef59_0_7"/>
          <p:cNvSpPr/>
          <p:nvPr/>
        </p:nvSpPr>
        <p:spPr>
          <a:xfrm>
            <a:off x="-1636813" y="8407458"/>
            <a:ext cx="1379100" cy="763200"/>
          </a:xfrm>
          <a:prstGeom prst="rect">
            <a:avLst/>
          </a:prstGeom>
          <a:solidFill>
            <a:srgbClr val="2F29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ASESORES</a:t>
            </a:r>
            <a:endParaRPr/>
          </a:p>
        </p:txBody>
      </p:sp>
      <p:sp>
        <p:nvSpPr>
          <p:cNvPr id="591" name="Google Shape;591;g2c7666fef59_0_7"/>
          <p:cNvSpPr/>
          <p:nvPr/>
        </p:nvSpPr>
        <p:spPr>
          <a:xfrm>
            <a:off x="4567818" y="2007873"/>
            <a:ext cx="3031800" cy="3017100"/>
          </a:xfrm>
          <a:prstGeom prst="ellipse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br>
              <a:rPr lang="es-ES_tradnl" sz="900"/>
            </a:br>
            <a:r>
              <a:rPr lang="es-ES_tradnl" sz="900" b="1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Consultora boutique </a:t>
            </a:r>
            <a:r>
              <a:rPr lang="es-ES_tradnl" sz="900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de confianza, reconocida por su eficiencia y flexibilidad. Destacados en el </a:t>
            </a:r>
            <a:r>
              <a:rPr lang="es-ES_tradnl" sz="900" b="1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ámbito minero </a:t>
            </a:r>
            <a:r>
              <a:rPr lang="es-ES_tradnl" sz="900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a través de una </a:t>
            </a:r>
            <a:r>
              <a:rPr lang="es-ES_tradnl" sz="900" b="1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innovación</a:t>
            </a:r>
            <a:r>
              <a:rPr lang="es-ES_tradnl" sz="900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 constante, lo que permite establecer relaciones sólidas en el desarrollo de sus proyectos, con soluciones robustas y ejecución inteligente. Cuenta con un equipo de </a:t>
            </a:r>
            <a:r>
              <a:rPr lang="es-ES_tradnl" sz="900" b="1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profesionales de excelencia </a:t>
            </a:r>
            <a:r>
              <a:rPr lang="es-ES_tradnl" sz="900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que aporta conocimiento técnico especializado y experiencias prácticas para </a:t>
            </a:r>
            <a:r>
              <a:rPr lang="es-ES_tradnl" sz="900" b="1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optimizar los resultados de sus clientes</a:t>
            </a:r>
            <a:r>
              <a:rPr lang="es-ES_tradnl" sz="900">
                <a:solidFill>
                  <a:schemeClr val="accent1"/>
                </a:solidFill>
                <a:latin typeface="Century Gothic" charset="0"/>
                <a:ea typeface="Century Gothic" charset="0"/>
                <a:cs typeface="Century Gothic" charset="0"/>
              </a:rPr>
              <a:t>.</a:t>
            </a:r>
            <a:endParaRPr lang="es-ES_tradnl" sz="900">
              <a:solidFill>
                <a:schemeClr val="accent1"/>
              </a:solidFill>
              <a:latin typeface="Century Gothic" charset="0"/>
              <a:ea typeface="Century Gothic" charset="0"/>
              <a:cs typeface="Century Gothic" charset="0"/>
              <a:sym typeface="Century Gothic"/>
            </a:endParaRPr>
          </a:p>
        </p:txBody>
      </p:sp>
      <p:sp>
        <p:nvSpPr>
          <p:cNvPr id="592" name="Google Shape;592;g2c7666fef59_0_7"/>
          <p:cNvSpPr/>
          <p:nvPr/>
        </p:nvSpPr>
        <p:spPr>
          <a:xfrm>
            <a:off x="4249471" y="1691085"/>
            <a:ext cx="3668700" cy="3650700"/>
          </a:xfrm>
          <a:prstGeom prst="ellipse">
            <a:avLst/>
          </a:prstGeom>
          <a:noFill/>
          <a:ln w="12700" cap="flat" cmpd="sng">
            <a:solidFill>
              <a:srgbClr val="D8E2F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3" name="Google Shape;593;g2c7666fef59_0_7"/>
          <p:cNvSpPr/>
          <p:nvPr/>
        </p:nvSpPr>
        <p:spPr>
          <a:xfrm>
            <a:off x="3861925" y="1319495"/>
            <a:ext cx="4439100" cy="4417200"/>
          </a:xfrm>
          <a:prstGeom prst="ellipse">
            <a:avLst/>
          </a:prstGeom>
          <a:noFill/>
          <a:ln w="12700" cap="flat" cmpd="sng">
            <a:solidFill>
              <a:srgbClr val="D8E2F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4" name="Google Shape;594;g2c7666fef59_0_7"/>
          <p:cNvSpPr/>
          <p:nvPr/>
        </p:nvSpPr>
        <p:spPr>
          <a:xfrm>
            <a:off x="3393490" y="839274"/>
            <a:ext cx="5371200" cy="5344800"/>
          </a:xfrm>
          <a:prstGeom prst="ellipse">
            <a:avLst/>
          </a:prstGeom>
          <a:noFill/>
          <a:ln w="12700" cap="flat" cmpd="sng">
            <a:solidFill>
              <a:srgbClr val="D8E2F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5" name="Google Shape;595;g2c7666fef59_0_7"/>
          <p:cNvSpPr/>
          <p:nvPr/>
        </p:nvSpPr>
        <p:spPr>
          <a:xfrm>
            <a:off x="2827172" y="275720"/>
            <a:ext cx="6499200" cy="6467400"/>
          </a:xfrm>
          <a:prstGeom prst="ellipse">
            <a:avLst/>
          </a:prstGeom>
          <a:noFill/>
          <a:ln w="12700" cap="flat" cmpd="sng">
            <a:solidFill>
              <a:srgbClr val="D8E2F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596" name="Google Shape;596;g2c7666fef59_0_7"/>
          <p:cNvCxnSpPr/>
          <p:nvPr/>
        </p:nvCxnSpPr>
        <p:spPr>
          <a:xfrm flipV="1">
            <a:off x="7024394" y="574858"/>
            <a:ext cx="1126453" cy="173568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7" name="Google Shape;597;g2c7666fef59_0_7"/>
          <p:cNvCxnSpPr>
            <a:stCxn id="591" idx="6"/>
          </p:cNvCxnSpPr>
          <p:nvPr/>
        </p:nvCxnSpPr>
        <p:spPr>
          <a:xfrm flipV="1">
            <a:off x="7599618" y="3506436"/>
            <a:ext cx="4446770" cy="998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8" name="Google Shape;598;g2c7666fef59_0_7"/>
          <p:cNvCxnSpPr>
            <a:stCxn id="591" idx="2"/>
          </p:cNvCxnSpPr>
          <p:nvPr/>
        </p:nvCxnSpPr>
        <p:spPr>
          <a:xfrm flipH="1" flipV="1">
            <a:off x="214340" y="3482540"/>
            <a:ext cx="4353478" cy="3388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9" name="Google Shape;599;g2c7666fef59_0_7"/>
          <p:cNvCxnSpPr>
            <a:stCxn id="591" idx="5"/>
          </p:cNvCxnSpPr>
          <p:nvPr/>
        </p:nvCxnSpPr>
        <p:spPr>
          <a:xfrm>
            <a:off x="7155621" y="4583129"/>
            <a:ext cx="2895615" cy="214438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00" name="Google Shape;600;g2c7666fef59_0_7"/>
          <p:cNvCxnSpPr>
            <a:stCxn id="591" idx="3"/>
          </p:cNvCxnSpPr>
          <p:nvPr/>
        </p:nvCxnSpPr>
        <p:spPr>
          <a:xfrm flipH="1">
            <a:off x="2400915" y="4583129"/>
            <a:ext cx="2610900" cy="1869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01" name="Google Shape;601;g2c7666fef59_0_7"/>
          <p:cNvSpPr/>
          <p:nvPr/>
        </p:nvSpPr>
        <p:spPr>
          <a:xfrm>
            <a:off x="10882349" y="3534570"/>
            <a:ext cx="517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Países</a:t>
            </a:r>
            <a:endParaRPr sz="1800" b="1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2" name="Google Shape;602;g2c7666fef59_0_7"/>
          <p:cNvSpPr/>
          <p:nvPr/>
        </p:nvSpPr>
        <p:spPr>
          <a:xfrm rot="-3685871">
            <a:off x="6690714" y="1132391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Perú</a:t>
            </a:r>
            <a:endParaRPr/>
          </a:p>
        </p:txBody>
      </p:sp>
      <p:sp>
        <p:nvSpPr>
          <p:cNvPr id="603" name="Google Shape;603;g2c7666fef59_0_7"/>
          <p:cNvSpPr/>
          <p:nvPr/>
        </p:nvSpPr>
        <p:spPr>
          <a:xfrm rot="-3685871">
            <a:off x="7051394" y="1132391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Brasil</a:t>
            </a:r>
            <a:endParaRPr/>
          </a:p>
        </p:txBody>
      </p:sp>
      <p:sp>
        <p:nvSpPr>
          <p:cNvPr id="604" name="Google Shape;604;g2c7666fef59_0_7"/>
          <p:cNvSpPr/>
          <p:nvPr/>
        </p:nvSpPr>
        <p:spPr>
          <a:xfrm rot="-3685871">
            <a:off x="8027272" y="1093840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USA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5" name="Google Shape;605;g2c7666fef59_0_7"/>
          <p:cNvSpPr/>
          <p:nvPr/>
        </p:nvSpPr>
        <p:spPr>
          <a:xfrm rot="-3685871">
            <a:off x="7465051" y="1124239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Rusia</a:t>
            </a:r>
            <a:endParaRPr/>
          </a:p>
        </p:txBody>
      </p:sp>
      <p:sp>
        <p:nvSpPr>
          <p:cNvPr id="606" name="Google Shape;606;g2c7666fef59_0_7"/>
          <p:cNvSpPr/>
          <p:nvPr/>
        </p:nvSpPr>
        <p:spPr>
          <a:xfrm rot="-3685871">
            <a:off x="6310135" y="1132387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Chile</a:t>
            </a:r>
            <a:endParaRPr/>
          </a:p>
        </p:txBody>
      </p:sp>
      <p:sp>
        <p:nvSpPr>
          <p:cNvPr id="607" name="Google Shape;607;g2c7666fef59_0_7"/>
          <p:cNvSpPr/>
          <p:nvPr/>
        </p:nvSpPr>
        <p:spPr>
          <a:xfrm>
            <a:off x="7455827" y="6261716"/>
            <a:ext cx="517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</a:t>
            </a:r>
            <a:r>
              <a:rPr lang="en-US" sz="18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800" b="1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producto</a:t>
            </a:r>
            <a:endParaRPr b="1"/>
          </a:p>
        </p:txBody>
      </p:sp>
      <p:sp>
        <p:nvSpPr>
          <p:cNvPr id="609" name="Google Shape;609;g2c7666fef59_0_7"/>
          <p:cNvSpPr/>
          <p:nvPr/>
        </p:nvSpPr>
        <p:spPr>
          <a:xfrm rot="-838548">
            <a:off x="7868761" y="4401498"/>
            <a:ext cx="5172415" cy="307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Estudios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FEL 0-1-2A-2B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0" name="Google Shape;610;g2c7666fef59_0_7"/>
          <p:cNvSpPr/>
          <p:nvPr/>
        </p:nvSpPr>
        <p:spPr>
          <a:xfrm rot="-838548">
            <a:off x="7128755" y="3834342"/>
            <a:ext cx="5172415" cy="307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Consultoría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y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análisis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riesgo</a:t>
            </a:r>
            <a:endParaRPr/>
          </a:p>
        </p:txBody>
      </p:sp>
      <p:sp>
        <p:nvSpPr>
          <p:cNvPr id="611" name="Google Shape;611;g2c7666fef59_0_7"/>
          <p:cNvSpPr/>
          <p:nvPr/>
        </p:nvSpPr>
        <p:spPr>
          <a:xfrm>
            <a:off x="2808772" y="6045479"/>
            <a:ext cx="517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Especialidades</a:t>
            </a:r>
            <a:r>
              <a:rPr lang="en-US" sz="18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</a:p>
          <a:p>
            <a:pPr marL="4762" marR="0" lvl="0" indent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Técnicas</a:t>
            </a:r>
            <a:r>
              <a:rPr lang="en-US" sz="18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1800" b="1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2" name="Google Shape;612;g2c7666fef59_0_7"/>
          <p:cNvSpPr/>
          <p:nvPr/>
        </p:nvSpPr>
        <p:spPr>
          <a:xfrm rot="966584">
            <a:off x="-94860" y="3731419"/>
            <a:ext cx="5172306" cy="30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err="1">
                <a:latin typeface="Century Gothic"/>
                <a:sym typeface="Century Gothic"/>
              </a:rPr>
              <a:t>Minería</a:t>
            </a:r>
            <a:endParaRPr/>
          </a:p>
        </p:txBody>
      </p:sp>
      <p:sp>
        <p:nvSpPr>
          <p:cNvPr id="613" name="Google Shape;613;g2c7666fef59_0_7"/>
          <p:cNvSpPr/>
          <p:nvPr/>
        </p:nvSpPr>
        <p:spPr>
          <a:xfrm rot="966584">
            <a:off x="-773613" y="4136000"/>
            <a:ext cx="5172306" cy="30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err="1">
                <a:latin typeface="Century Gothic"/>
                <a:sym typeface="Century Gothic"/>
              </a:rPr>
              <a:t>Geomecánicos</a:t>
            </a:r>
            <a:r>
              <a:rPr lang="en-US">
                <a:latin typeface="Century Gothic"/>
                <a:sym typeface="Century Gothic"/>
              </a:rPr>
              <a:t>/</a:t>
            </a:r>
            <a:r>
              <a:rPr lang="en-US" err="1">
                <a:latin typeface="Century Gothic"/>
                <a:sym typeface="Century Gothic"/>
              </a:rPr>
              <a:t>técnicos</a:t>
            </a:r>
            <a:endParaRPr/>
          </a:p>
        </p:txBody>
      </p:sp>
      <p:sp>
        <p:nvSpPr>
          <p:cNvPr id="614" name="Google Shape;614;g2c7666fef59_0_7"/>
          <p:cNvSpPr/>
          <p:nvPr/>
        </p:nvSpPr>
        <p:spPr>
          <a:xfrm rot="966584">
            <a:off x="-1091642" y="4356409"/>
            <a:ext cx="5172306" cy="30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Procesos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de mineral y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m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etalurgia</a:t>
            </a:r>
            <a:endParaRPr/>
          </a:p>
        </p:txBody>
      </p:sp>
      <p:sp>
        <p:nvSpPr>
          <p:cNvPr id="615" name="Google Shape;615;g2c7666fef59_0_7"/>
          <p:cNvSpPr/>
          <p:nvPr/>
        </p:nvSpPr>
        <p:spPr>
          <a:xfrm>
            <a:off x="209157" y="3462073"/>
            <a:ext cx="3169718" cy="7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>
                <a:latin typeface="Century Gothic"/>
                <a:ea typeface="Century Gothic"/>
                <a:cs typeface="Century Gothic"/>
                <a:sym typeface="Century Gothic"/>
              </a:rPr>
              <a:t>Ámbitos de </a:t>
            </a:r>
            <a:r>
              <a:rPr lang="en-US" sz="1800" b="1" err="1">
                <a:latin typeface="Century Gothic"/>
                <a:ea typeface="Century Gothic"/>
                <a:cs typeface="Century Gothic"/>
                <a:sym typeface="Century Gothic"/>
              </a:rPr>
              <a:t>acción</a:t>
            </a:r>
            <a:endParaRPr b="1"/>
          </a:p>
        </p:txBody>
      </p:sp>
      <p:sp>
        <p:nvSpPr>
          <p:cNvPr id="616" name="Google Shape;616;g2c7666fef59_0_7"/>
          <p:cNvSpPr/>
          <p:nvPr/>
        </p:nvSpPr>
        <p:spPr>
          <a:xfrm>
            <a:off x="8282464" y="314371"/>
            <a:ext cx="517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Alianzas</a:t>
            </a:r>
            <a:endParaRPr b="1"/>
          </a:p>
        </p:txBody>
      </p:sp>
      <p:sp>
        <p:nvSpPr>
          <p:cNvPr id="617" name="Google Shape;617;g2c7666fef59_0_7"/>
          <p:cNvSpPr/>
          <p:nvPr/>
        </p:nvSpPr>
        <p:spPr>
          <a:xfrm>
            <a:off x="7099520" y="2168135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Consultoría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Boutique</a:t>
            </a:r>
            <a:endParaRPr/>
          </a:p>
        </p:txBody>
      </p:sp>
      <p:sp>
        <p:nvSpPr>
          <p:cNvPr id="618" name="Google Shape;618;g2c7666fef59_0_7"/>
          <p:cNvSpPr/>
          <p:nvPr/>
        </p:nvSpPr>
        <p:spPr>
          <a:xfrm>
            <a:off x="7378067" y="1797202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 de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consultores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asociados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9" name="Google Shape;619;g2c7666fef59_0_7"/>
          <p:cNvSpPr/>
          <p:nvPr/>
        </p:nvSpPr>
        <p:spPr>
          <a:xfrm>
            <a:off x="7909432" y="1056182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Alianzas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distintos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players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0" name="Google Shape;620;g2c7666fef59_0_7"/>
          <p:cNvSpPr/>
          <p:nvPr/>
        </p:nvSpPr>
        <p:spPr>
          <a:xfrm rot="2321519">
            <a:off x="706744" y="2897746"/>
            <a:ext cx="5172335" cy="30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Estrategia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desarrollo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activos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1" name="Google Shape;621;g2c7666fef59_0_7"/>
          <p:cNvSpPr/>
          <p:nvPr/>
        </p:nvSpPr>
        <p:spPr>
          <a:xfrm rot="2321519">
            <a:off x="66835" y="3261863"/>
            <a:ext cx="5172335" cy="30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Gestión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implementación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2" name="Google Shape;622;g2c7666fef59_0_7"/>
          <p:cNvSpPr/>
          <p:nvPr/>
        </p:nvSpPr>
        <p:spPr>
          <a:xfrm rot="2321519">
            <a:off x="2395615" y="3620979"/>
            <a:ext cx="5172335" cy="30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Planificación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y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diseño</a:t>
            </a:r>
            <a:endParaRPr/>
          </a:p>
        </p:txBody>
      </p:sp>
      <p:sp>
        <p:nvSpPr>
          <p:cNvPr id="623" name="Google Shape;623;g2c7666fef59_0_7"/>
          <p:cNvSpPr/>
          <p:nvPr/>
        </p:nvSpPr>
        <p:spPr>
          <a:xfrm rot="2321519">
            <a:off x="-1420109" y="1511264"/>
            <a:ext cx="5172335" cy="30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Optimización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cadena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valor</a:t>
            </a:r>
          </a:p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(mina-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uer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endParaRPr/>
          </a:p>
        </p:txBody>
      </p:sp>
      <p:sp>
        <p:nvSpPr>
          <p:cNvPr id="625" name="Google Shape;625;g2c7666fef59_0_7"/>
          <p:cNvSpPr/>
          <p:nvPr/>
        </p:nvSpPr>
        <p:spPr>
          <a:xfrm rot="966584">
            <a:off x="-2279958" y="5186703"/>
            <a:ext cx="5172306" cy="30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Infraestructuras</a:t>
            </a:r>
            <a:endParaRPr/>
          </a:p>
        </p:txBody>
      </p:sp>
      <p:sp>
        <p:nvSpPr>
          <p:cNvPr id="629" name="Google Shape;629;g2c7666fef59_0_7"/>
          <p:cNvSpPr/>
          <p:nvPr/>
        </p:nvSpPr>
        <p:spPr>
          <a:xfrm rot="1049938">
            <a:off x="3435154" y="5064158"/>
            <a:ext cx="5172234" cy="30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Simulación</a:t>
            </a:r>
            <a:endParaRPr/>
          </a:p>
        </p:txBody>
      </p:sp>
      <p:sp>
        <p:nvSpPr>
          <p:cNvPr id="630" name="Google Shape;630;g2c7666fef59_0_7"/>
          <p:cNvSpPr/>
          <p:nvPr/>
        </p:nvSpPr>
        <p:spPr>
          <a:xfrm rot="898782">
            <a:off x="849340" y="6367252"/>
            <a:ext cx="5172234" cy="30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Comercialización</a:t>
            </a:r>
            <a:endParaRPr/>
          </a:p>
        </p:txBody>
      </p:sp>
      <p:sp>
        <p:nvSpPr>
          <p:cNvPr id="631" name="Google Shape;631;g2c7666fef59_0_7"/>
          <p:cNvSpPr/>
          <p:nvPr/>
        </p:nvSpPr>
        <p:spPr>
          <a:xfrm>
            <a:off x="8084632" y="711332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M&amp;A con players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grandes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6" name="Google Shape;600;g2c7666fef59_0_7"/>
          <p:cNvCxnSpPr/>
          <p:nvPr/>
        </p:nvCxnSpPr>
        <p:spPr>
          <a:xfrm flipH="1" flipV="1">
            <a:off x="3938412" y="515712"/>
            <a:ext cx="1163832" cy="183025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8" name="Google Shape;607;g2c7666fef59_0_7"/>
          <p:cNvSpPr/>
          <p:nvPr/>
        </p:nvSpPr>
        <p:spPr>
          <a:xfrm>
            <a:off x="2247406" y="607308"/>
            <a:ext cx="517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</a:t>
            </a:r>
            <a:r>
              <a:rPr lang="en-US" sz="18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800" b="1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cliente</a:t>
            </a:r>
            <a:endParaRPr b="1"/>
          </a:p>
        </p:txBody>
      </p:sp>
      <p:sp>
        <p:nvSpPr>
          <p:cNvPr id="49" name="Google Shape;617;g2c7666fef59_0_7"/>
          <p:cNvSpPr/>
          <p:nvPr/>
        </p:nvSpPr>
        <p:spPr>
          <a:xfrm rot="19994503">
            <a:off x="4555151" y="595141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Empresas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gran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minería</a:t>
            </a:r>
            <a:endParaRPr/>
          </a:p>
        </p:txBody>
      </p:sp>
      <p:sp>
        <p:nvSpPr>
          <p:cNvPr id="50" name="Google Shape;617;g2c7666fef59_0_7"/>
          <p:cNvSpPr/>
          <p:nvPr/>
        </p:nvSpPr>
        <p:spPr>
          <a:xfrm rot="19933095">
            <a:off x="4225927" y="100536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Consultoras</a:t>
            </a:r>
            <a:endParaRPr/>
          </a:p>
        </p:txBody>
      </p:sp>
      <p:sp>
        <p:nvSpPr>
          <p:cNvPr id="51" name="Google Shape;617;g2c7666fef59_0_7"/>
          <p:cNvSpPr/>
          <p:nvPr/>
        </p:nvSpPr>
        <p:spPr>
          <a:xfrm rot="19933095">
            <a:off x="4377321" y="309586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Financieras</a:t>
            </a:r>
            <a:endParaRPr/>
          </a:p>
        </p:txBody>
      </p:sp>
      <p:sp>
        <p:nvSpPr>
          <p:cNvPr id="52" name="Google Shape;617;g2c7666fef59_0_7"/>
          <p:cNvSpPr/>
          <p:nvPr/>
        </p:nvSpPr>
        <p:spPr>
          <a:xfrm rot="19933095">
            <a:off x="3941968" y="-324527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B.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bogados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&amp;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asegur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/>
          </a:p>
        </p:txBody>
      </p:sp>
      <p:sp>
        <p:nvSpPr>
          <p:cNvPr id="53" name="Google Shape;617;g2c7666fef59_0_7"/>
          <p:cNvSpPr/>
          <p:nvPr/>
        </p:nvSpPr>
        <p:spPr>
          <a:xfrm rot="19933095">
            <a:off x="3838901" y="-528494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>
                <a:latin typeface="Century Gothic" charset="0"/>
                <a:ea typeface="Century Gothic" charset="0"/>
                <a:cs typeface="Century Gothic" charset="0"/>
              </a:rPr>
              <a:t>Proveedores</a:t>
            </a:r>
            <a:endParaRPr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54" name="Google Shape;604;g2c7666fef59_0_7"/>
          <p:cNvSpPr/>
          <p:nvPr/>
        </p:nvSpPr>
        <p:spPr>
          <a:xfrm rot="-3685871">
            <a:off x="8450537" y="1093544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Canada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" name="Google Shape;604;g2c7666fef59_0_7"/>
          <p:cNvSpPr/>
          <p:nvPr/>
        </p:nvSpPr>
        <p:spPr>
          <a:xfrm rot="-3685871">
            <a:off x="8874521" y="1075903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Australia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" name="Google Shape;604;g2c7666fef59_0_7"/>
          <p:cNvSpPr/>
          <p:nvPr/>
        </p:nvSpPr>
        <p:spPr>
          <a:xfrm rot="-3685871">
            <a:off x="9345490" y="1007616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KAZ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" name="Google Shape;604;g2c7666fef59_0_7"/>
          <p:cNvSpPr/>
          <p:nvPr/>
        </p:nvSpPr>
        <p:spPr>
          <a:xfrm rot="-3685871">
            <a:off x="9785115" y="1023686"/>
            <a:ext cx="5172371" cy="30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Sudáfrica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" name="Google Shape;619;g2c7666fef59_0_7"/>
          <p:cNvSpPr/>
          <p:nvPr/>
        </p:nvSpPr>
        <p:spPr>
          <a:xfrm>
            <a:off x="7675788" y="1444505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Alianzas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con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consultoras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mineras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más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chicas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" name="Google Shape;623;g2c7666fef59_0_7"/>
          <p:cNvSpPr/>
          <p:nvPr/>
        </p:nvSpPr>
        <p:spPr>
          <a:xfrm rot="2321519">
            <a:off x="-2632640" y="1460953"/>
            <a:ext cx="5172335" cy="30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Desarrollo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negocios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</a:p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(M&amp;A,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compras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royalty)</a:t>
            </a:r>
            <a:endParaRPr/>
          </a:p>
        </p:txBody>
      </p:sp>
      <p:sp>
        <p:nvSpPr>
          <p:cNvPr id="62" name="Google Shape;623;g2c7666fef59_0_7"/>
          <p:cNvSpPr/>
          <p:nvPr/>
        </p:nvSpPr>
        <p:spPr>
          <a:xfrm rot="2321519">
            <a:off x="-1693837" y="2839373"/>
            <a:ext cx="5172335" cy="30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D.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modelos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IA</a:t>
            </a:r>
          </a:p>
          <a:p>
            <a:pPr marL="4762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3" name="Google Shape;623;g2c7666fef59_0_7"/>
          <p:cNvSpPr/>
          <p:nvPr/>
        </p:nvSpPr>
        <p:spPr>
          <a:xfrm rot="2321519">
            <a:off x="922398" y="2808732"/>
            <a:ext cx="5172335" cy="30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Peer review /DD</a:t>
            </a:r>
            <a:endParaRPr/>
          </a:p>
        </p:txBody>
      </p:sp>
      <p:sp>
        <p:nvSpPr>
          <p:cNvPr id="65" name="Google Shape;609;g2c7666fef59_0_7"/>
          <p:cNvSpPr/>
          <p:nvPr/>
        </p:nvSpPr>
        <p:spPr>
          <a:xfrm rot="-838548">
            <a:off x="8951245" y="5217292"/>
            <a:ext cx="5172415" cy="307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Ingeniería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FEL 3-4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09;g2c7666fef59_0_7"/>
          <p:cNvSpPr/>
          <p:nvPr/>
        </p:nvSpPr>
        <p:spPr>
          <a:xfrm rot="-838548">
            <a:off x="7507041" y="4106908"/>
            <a:ext cx="5172415" cy="307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Gestión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operativa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0" name="Google Shape;609;g2c7666fef59_0_7"/>
          <p:cNvSpPr/>
          <p:nvPr/>
        </p:nvSpPr>
        <p:spPr>
          <a:xfrm rot="-838548">
            <a:off x="8639937" y="4931752"/>
            <a:ext cx="5172415" cy="307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Equipo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dueño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proyecto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" name="Google Shape;609;g2c7666fef59_0_7"/>
          <p:cNvSpPr/>
          <p:nvPr/>
        </p:nvSpPr>
        <p:spPr>
          <a:xfrm rot="-838548">
            <a:off x="9375054" y="5456515"/>
            <a:ext cx="5172415" cy="307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EPCM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2" name="Google Shape;625;g2c7666fef59_0_7"/>
          <p:cNvSpPr/>
          <p:nvPr/>
        </p:nvSpPr>
        <p:spPr>
          <a:xfrm rot="966584">
            <a:off x="-1809658" y="4775856"/>
            <a:ext cx="5172306" cy="30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Manejo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materiales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</a:p>
          <a:p>
            <a:pPr marL="4762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agua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relaves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suministro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endParaRPr/>
          </a:p>
        </p:txBody>
      </p:sp>
      <p:sp>
        <p:nvSpPr>
          <p:cNvPr id="64" name="Google Shape;629;g2c7666fef59_0_7"/>
          <p:cNvSpPr/>
          <p:nvPr/>
        </p:nvSpPr>
        <p:spPr>
          <a:xfrm rot="1049938">
            <a:off x="2488797" y="5751334"/>
            <a:ext cx="5172234" cy="30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Geología</a:t>
            </a:r>
            <a:endParaRPr/>
          </a:p>
        </p:txBody>
      </p:sp>
      <p:sp>
        <p:nvSpPr>
          <p:cNvPr id="73" name="Google Shape;617;g2c7666fef59_0_7"/>
          <p:cNvSpPr/>
          <p:nvPr/>
        </p:nvSpPr>
        <p:spPr>
          <a:xfrm rot="19994503">
            <a:off x="4721924" y="837331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Empresas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mediana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minería</a:t>
            </a:r>
            <a:endParaRPr/>
          </a:p>
        </p:txBody>
      </p:sp>
      <p:sp>
        <p:nvSpPr>
          <p:cNvPr id="74" name="Google Shape;617;g2c7666fef59_0_7"/>
          <p:cNvSpPr/>
          <p:nvPr/>
        </p:nvSpPr>
        <p:spPr>
          <a:xfrm rot="19933095">
            <a:off x="4064584" y="-113176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Obras</a:t>
            </a:r>
            <a:r>
              <a:rPr lang="en-US" sz="14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mina</a:t>
            </a:r>
            <a:endParaRPr/>
          </a:p>
        </p:txBody>
      </p:sp>
      <p:sp>
        <p:nvSpPr>
          <p:cNvPr id="75" name="Google Shape;617;g2c7666fef59_0_7"/>
          <p:cNvSpPr/>
          <p:nvPr/>
        </p:nvSpPr>
        <p:spPr>
          <a:xfrm rot="19933095">
            <a:off x="3688246" y="-748903"/>
            <a:ext cx="517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Directorios</a:t>
            </a:r>
            <a:endParaRPr/>
          </a:p>
        </p:txBody>
      </p:sp>
      <p:sp>
        <p:nvSpPr>
          <p:cNvPr id="76" name="Google Shape;609;g2c7666fef59_0_7"/>
          <p:cNvSpPr/>
          <p:nvPr/>
        </p:nvSpPr>
        <p:spPr>
          <a:xfrm rot="-838548">
            <a:off x="8270790" y="4681023"/>
            <a:ext cx="5172415" cy="307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Gestión</a:t>
            </a: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err="1">
                <a:latin typeface="Century Gothic"/>
                <a:ea typeface="Century Gothic"/>
                <a:cs typeface="Century Gothic"/>
                <a:sym typeface="Century Gothic"/>
              </a:rPr>
              <a:t>proyectos</a:t>
            </a:r>
            <a:endParaRPr sz="14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" name="Forma libre 4"/>
          <p:cNvSpPr/>
          <p:nvPr/>
        </p:nvSpPr>
        <p:spPr>
          <a:xfrm>
            <a:off x="115308" y="2729"/>
            <a:ext cx="12020993" cy="5678653"/>
          </a:xfrm>
          <a:custGeom>
            <a:avLst/>
            <a:gdLst>
              <a:gd name="connsiteX0" fmla="*/ 19604 w 11802111"/>
              <a:gd name="connsiteY0" fmla="*/ 911671 h 5678653"/>
              <a:gd name="connsiteX1" fmla="*/ 4336771 w 11802111"/>
              <a:gd name="connsiteY1" fmla="*/ 102202 h 5678653"/>
              <a:gd name="connsiteX2" fmla="*/ 8638948 w 11802111"/>
              <a:gd name="connsiteY2" fmla="*/ 162163 h 5678653"/>
              <a:gd name="connsiteX3" fmla="*/ 11801873 w 11802111"/>
              <a:gd name="connsiteY3" fmla="*/ 1466307 h 5678653"/>
              <a:gd name="connsiteX4" fmla="*/ 8489047 w 11802111"/>
              <a:gd name="connsiteY4" fmla="*/ 3070255 h 5678653"/>
              <a:gd name="connsiteX5" fmla="*/ 11142306 w 11802111"/>
              <a:gd name="connsiteY5" fmla="*/ 4614242 h 5678653"/>
              <a:gd name="connsiteX6" fmla="*/ 7949401 w 11802111"/>
              <a:gd name="connsiteY6" fmla="*/ 5678543 h 5678653"/>
              <a:gd name="connsiteX7" fmla="*/ 2223158 w 11802111"/>
              <a:gd name="connsiteY7" fmla="*/ 4674202 h 5678653"/>
              <a:gd name="connsiteX8" fmla="*/ 2717834 w 11802111"/>
              <a:gd name="connsiteY8" fmla="*/ 3624891 h 5678653"/>
              <a:gd name="connsiteX9" fmla="*/ 19604 w 11802111"/>
              <a:gd name="connsiteY9" fmla="*/ 911671 h 5678653"/>
              <a:gd name="connsiteX0" fmla="*/ 19604 w 12020993"/>
              <a:gd name="connsiteY0" fmla="*/ 911671 h 5678653"/>
              <a:gd name="connsiteX1" fmla="*/ 4336771 w 12020993"/>
              <a:gd name="connsiteY1" fmla="*/ 102202 h 5678653"/>
              <a:gd name="connsiteX2" fmla="*/ 8638948 w 12020993"/>
              <a:gd name="connsiteY2" fmla="*/ 162163 h 5678653"/>
              <a:gd name="connsiteX3" fmla="*/ 11801873 w 12020993"/>
              <a:gd name="connsiteY3" fmla="*/ 1466307 h 5678653"/>
              <a:gd name="connsiteX4" fmla="*/ 11681952 w 12020993"/>
              <a:gd name="connsiteY4" fmla="*/ 3220157 h 5678653"/>
              <a:gd name="connsiteX5" fmla="*/ 11142306 w 12020993"/>
              <a:gd name="connsiteY5" fmla="*/ 4614242 h 5678653"/>
              <a:gd name="connsiteX6" fmla="*/ 7949401 w 12020993"/>
              <a:gd name="connsiteY6" fmla="*/ 5678543 h 5678653"/>
              <a:gd name="connsiteX7" fmla="*/ 2223158 w 12020993"/>
              <a:gd name="connsiteY7" fmla="*/ 4674202 h 5678653"/>
              <a:gd name="connsiteX8" fmla="*/ 2717834 w 12020993"/>
              <a:gd name="connsiteY8" fmla="*/ 3624891 h 5678653"/>
              <a:gd name="connsiteX9" fmla="*/ 19604 w 12020993"/>
              <a:gd name="connsiteY9" fmla="*/ 911671 h 5678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020993" h="5678653">
                <a:moveTo>
                  <a:pt x="19604" y="911671"/>
                </a:moveTo>
                <a:cubicBezTo>
                  <a:pt x="289427" y="324556"/>
                  <a:pt x="2900214" y="227120"/>
                  <a:pt x="4336771" y="102202"/>
                </a:cubicBezTo>
                <a:cubicBezTo>
                  <a:pt x="5773328" y="-22716"/>
                  <a:pt x="7394764" y="-65188"/>
                  <a:pt x="8638948" y="162163"/>
                </a:cubicBezTo>
                <a:cubicBezTo>
                  <a:pt x="9883132" y="389514"/>
                  <a:pt x="11294706" y="956641"/>
                  <a:pt x="11801873" y="1466307"/>
                </a:cubicBezTo>
                <a:cubicBezTo>
                  <a:pt x="12309040" y="1975973"/>
                  <a:pt x="11791880" y="2695501"/>
                  <a:pt x="11681952" y="3220157"/>
                </a:cubicBezTo>
                <a:cubicBezTo>
                  <a:pt x="11572024" y="3744813"/>
                  <a:pt x="11764398" y="4204511"/>
                  <a:pt x="11142306" y="4614242"/>
                </a:cubicBezTo>
                <a:cubicBezTo>
                  <a:pt x="10520214" y="5023973"/>
                  <a:pt x="9435926" y="5668550"/>
                  <a:pt x="7949401" y="5678543"/>
                </a:cubicBezTo>
                <a:cubicBezTo>
                  <a:pt x="6462876" y="5688536"/>
                  <a:pt x="3095086" y="5016477"/>
                  <a:pt x="2223158" y="4674202"/>
                </a:cubicBezTo>
                <a:cubicBezTo>
                  <a:pt x="1351230" y="4331927"/>
                  <a:pt x="3087591" y="4244484"/>
                  <a:pt x="2717834" y="3624891"/>
                </a:cubicBezTo>
                <a:cubicBezTo>
                  <a:pt x="2348077" y="3005298"/>
                  <a:pt x="-250219" y="1498786"/>
                  <a:pt x="19604" y="911671"/>
                </a:cubicBezTo>
                <a:close/>
              </a:path>
            </a:pathLst>
          </a:custGeom>
          <a:solidFill>
            <a:srgbClr val="C4414A">
              <a:alpha val="36863"/>
            </a:srgbClr>
          </a:solidFill>
          <a:ln>
            <a:solidFill>
              <a:srgbClr val="C441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" name="Forma libre 3"/>
          <p:cNvSpPr/>
          <p:nvPr/>
        </p:nvSpPr>
        <p:spPr>
          <a:xfrm>
            <a:off x="200402" y="584410"/>
            <a:ext cx="10985327" cy="5030972"/>
          </a:xfrm>
          <a:custGeom>
            <a:avLst/>
            <a:gdLst>
              <a:gd name="connsiteX0" fmla="*/ 4686390 w 10985327"/>
              <a:gd name="connsiteY0" fmla="*/ 1139460 h 5030972"/>
              <a:gd name="connsiteX1" fmla="*/ 6934915 w 10985327"/>
              <a:gd name="connsiteY1" fmla="*/ 207 h 5030972"/>
              <a:gd name="connsiteX2" fmla="*/ 7264698 w 10985327"/>
              <a:gd name="connsiteY2" fmla="*/ 1244391 h 5030972"/>
              <a:gd name="connsiteX3" fmla="*/ 10967269 w 10985327"/>
              <a:gd name="connsiteY3" fmla="*/ 1289361 h 5030972"/>
              <a:gd name="connsiteX4" fmla="*/ 8673774 w 10985327"/>
              <a:gd name="connsiteY4" fmla="*/ 2368653 h 5030972"/>
              <a:gd name="connsiteX5" fmla="*/ 8553852 w 10985327"/>
              <a:gd name="connsiteY5" fmla="*/ 3193112 h 5030972"/>
              <a:gd name="connsiteX6" fmla="*/ 10892318 w 10985327"/>
              <a:gd name="connsiteY6" fmla="*/ 4077532 h 5030972"/>
              <a:gd name="connsiteX7" fmla="*/ 8104147 w 10985327"/>
              <a:gd name="connsiteY7" fmla="*/ 5021912 h 5030972"/>
              <a:gd name="connsiteX8" fmla="*/ 3936882 w 10985327"/>
              <a:gd name="connsiteY8" fmla="*/ 4512246 h 5030972"/>
              <a:gd name="connsiteX9" fmla="*/ 1883229 w 10985327"/>
              <a:gd name="connsiteY9" fmla="*/ 3807709 h 5030972"/>
              <a:gd name="connsiteX10" fmla="*/ 2677708 w 10985327"/>
              <a:gd name="connsiteY10" fmla="*/ 2848338 h 5030972"/>
              <a:gd name="connsiteX11" fmla="*/ 264292 w 10985327"/>
              <a:gd name="connsiteY11" fmla="*/ 779696 h 5030972"/>
              <a:gd name="connsiteX12" fmla="*/ 564095 w 10985327"/>
              <a:gd name="connsiteY12" fmla="*/ 374961 h 5030972"/>
              <a:gd name="connsiteX13" fmla="*/ 4686390 w 10985327"/>
              <a:gd name="connsiteY13" fmla="*/ 1139460 h 5030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85327" h="5030972">
                <a:moveTo>
                  <a:pt x="4686390" y="1139460"/>
                </a:moveTo>
                <a:cubicBezTo>
                  <a:pt x="5748193" y="1077001"/>
                  <a:pt x="6505197" y="-17281"/>
                  <a:pt x="6934915" y="207"/>
                </a:cubicBezTo>
                <a:cubicBezTo>
                  <a:pt x="7364633" y="17695"/>
                  <a:pt x="6592639" y="1029532"/>
                  <a:pt x="7264698" y="1244391"/>
                </a:cubicBezTo>
                <a:cubicBezTo>
                  <a:pt x="7936757" y="1459250"/>
                  <a:pt x="10732423" y="1101984"/>
                  <a:pt x="10967269" y="1289361"/>
                </a:cubicBezTo>
                <a:cubicBezTo>
                  <a:pt x="11202115" y="1476738"/>
                  <a:pt x="9076010" y="2051361"/>
                  <a:pt x="8673774" y="2368653"/>
                </a:cubicBezTo>
                <a:cubicBezTo>
                  <a:pt x="8271538" y="2685945"/>
                  <a:pt x="8184095" y="2908299"/>
                  <a:pt x="8553852" y="3193112"/>
                </a:cubicBezTo>
                <a:cubicBezTo>
                  <a:pt x="8923609" y="3477925"/>
                  <a:pt x="10967269" y="3772732"/>
                  <a:pt x="10892318" y="4077532"/>
                </a:cubicBezTo>
                <a:cubicBezTo>
                  <a:pt x="10817367" y="4382332"/>
                  <a:pt x="9263386" y="4949460"/>
                  <a:pt x="8104147" y="5021912"/>
                </a:cubicBezTo>
                <a:cubicBezTo>
                  <a:pt x="6944908" y="5094364"/>
                  <a:pt x="4973702" y="4714613"/>
                  <a:pt x="3936882" y="4512246"/>
                </a:cubicBezTo>
                <a:cubicBezTo>
                  <a:pt x="2900062" y="4309879"/>
                  <a:pt x="2093091" y="4085027"/>
                  <a:pt x="1883229" y="3807709"/>
                </a:cubicBezTo>
                <a:cubicBezTo>
                  <a:pt x="1673367" y="3530391"/>
                  <a:pt x="2947531" y="3353007"/>
                  <a:pt x="2677708" y="2848338"/>
                </a:cubicBezTo>
                <a:cubicBezTo>
                  <a:pt x="2407885" y="2343669"/>
                  <a:pt x="616561" y="1191926"/>
                  <a:pt x="264292" y="779696"/>
                </a:cubicBezTo>
                <a:cubicBezTo>
                  <a:pt x="-87977" y="367466"/>
                  <a:pt x="-177918" y="317499"/>
                  <a:pt x="564095" y="374961"/>
                </a:cubicBezTo>
                <a:cubicBezTo>
                  <a:pt x="1306108" y="432423"/>
                  <a:pt x="3624587" y="1201919"/>
                  <a:pt x="4686390" y="1139460"/>
                </a:cubicBezTo>
                <a:close/>
              </a:path>
            </a:pathLst>
          </a:custGeom>
          <a:solidFill>
            <a:srgbClr val="4472C4">
              <a:alpha val="2588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787844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rma libre 25"/>
          <p:cNvSpPr/>
          <p:nvPr/>
        </p:nvSpPr>
        <p:spPr>
          <a:xfrm>
            <a:off x="3421130" y="971197"/>
            <a:ext cx="7734071" cy="5207221"/>
          </a:xfrm>
          <a:custGeom>
            <a:avLst/>
            <a:gdLst>
              <a:gd name="connsiteX0" fmla="*/ 120073 w 7734071"/>
              <a:gd name="connsiteY0" fmla="*/ 2534164 h 5207221"/>
              <a:gd name="connsiteX1" fmla="*/ 427891 w 7734071"/>
              <a:gd name="connsiteY1" fmla="*/ 334172 h 5207221"/>
              <a:gd name="connsiteX2" fmla="*/ 4375202 w 7734071"/>
              <a:gd name="connsiteY2" fmla="*/ 198370 h 5207221"/>
              <a:gd name="connsiteX3" fmla="*/ 7734038 w 7734071"/>
              <a:gd name="connsiteY3" fmla="*/ 2181079 h 5207221"/>
              <a:gd name="connsiteX4" fmla="*/ 4438576 w 7734071"/>
              <a:gd name="connsiteY4" fmla="*/ 4181895 h 5207221"/>
              <a:gd name="connsiteX5" fmla="*/ 2799899 w 7734071"/>
              <a:gd name="connsiteY5" fmla="*/ 5204937 h 5207221"/>
              <a:gd name="connsiteX6" fmla="*/ 545586 w 7734071"/>
              <a:gd name="connsiteY6" fmla="*/ 4399178 h 5207221"/>
              <a:gd name="connsiteX7" fmla="*/ 120073 w 7734071"/>
              <a:gd name="connsiteY7" fmla="*/ 2534164 h 5207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34071" h="5207221">
                <a:moveTo>
                  <a:pt x="120073" y="2534164"/>
                </a:moveTo>
                <a:cubicBezTo>
                  <a:pt x="100457" y="1856663"/>
                  <a:pt x="-281297" y="723471"/>
                  <a:pt x="427891" y="334172"/>
                </a:cubicBezTo>
                <a:cubicBezTo>
                  <a:pt x="1137079" y="-55127"/>
                  <a:pt x="3157511" y="-109448"/>
                  <a:pt x="4375202" y="198370"/>
                </a:cubicBezTo>
                <a:cubicBezTo>
                  <a:pt x="5592893" y="506188"/>
                  <a:pt x="7723476" y="1517158"/>
                  <a:pt x="7734038" y="2181079"/>
                </a:cubicBezTo>
                <a:cubicBezTo>
                  <a:pt x="7744600" y="2845000"/>
                  <a:pt x="5260932" y="3677919"/>
                  <a:pt x="4438576" y="4181895"/>
                </a:cubicBezTo>
                <a:cubicBezTo>
                  <a:pt x="3616220" y="4685871"/>
                  <a:pt x="3448731" y="5168723"/>
                  <a:pt x="2799899" y="5204937"/>
                </a:cubicBezTo>
                <a:cubicBezTo>
                  <a:pt x="2151067" y="5241151"/>
                  <a:pt x="990715" y="4841289"/>
                  <a:pt x="545586" y="4399178"/>
                </a:cubicBezTo>
                <a:cubicBezTo>
                  <a:pt x="100457" y="3957067"/>
                  <a:pt x="139689" y="3211665"/>
                  <a:pt x="120073" y="2534164"/>
                </a:cubicBezTo>
                <a:close/>
              </a:path>
            </a:pathLst>
          </a:custGeom>
          <a:solidFill>
            <a:srgbClr val="C4414A">
              <a:alpha val="40000"/>
            </a:srgbClr>
          </a:solidFill>
          <a:ln>
            <a:solidFill>
              <a:srgbClr val="C441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" name="Google Shape;591;g2c7666fef59_0_7"/>
          <p:cNvSpPr/>
          <p:nvPr/>
        </p:nvSpPr>
        <p:spPr>
          <a:xfrm>
            <a:off x="3583553" y="2037029"/>
            <a:ext cx="4474032" cy="4077994"/>
          </a:xfrm>
          <a:prstGeom prst="ellipse">
            <a:avLst/>
          </a:prstGeom>
          <a:solidFill>
            <a:srgbClr val="4472C4">
              <a:alpha val="40000"/>
            </a:srgbClr>
          </a:solidFill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s-ES_tradnl" sz="1200" b="1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rPr>
              <a:t>Consultora boutique </a:t>
            </a:r>
            <a:r>
              <a:rPr lang="es-ES_tradnl" sz="12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rPr>
              <a:t>de confianza, reconocida por su eficiencia y flexibilidad. Destacados en </a:t>
            </a:r>
            <a:r>
              <a:rPr lang="es-ES_tradnl" sz="1200" b="1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rPr>
              <a:t>planificación y desarrollo minero</a:t>
            </a:r>
            <a:r>
              <a:rPr lang="es-ES_tradnl" sz="12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rPr>
              <a:t> en Chile, </a:t>
            </a:r>
            <a:r>
              <a:rPr lang="es-ES_tradnl" sz="1200" i="1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rPr>
              <a:t>Perú</a:t>
            </a:r>
            <a:r>
              <a:rPr lang="es-ES_tradnl" sz="12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rPr>
              <a:t> y Brasil que a través de consultoría, estudios, ingenierías de perfil y acompañamiento operacional y de </a:t>
            </a:r>
            <a:r>
              <a:rPr lang="es-ES_tradnl" sz="1200" i="1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rPr>
              <a:t>proyectos, </a:t>
            </a:r>
            <a:r>
              <a:rPr lang="es-ES_tradnl" sz="12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rPr>
              <a:t>permite establecer relaciones sólidas en el desarrollo de sus proyectos, con soluciones robustas y ejecución inteligente. Cuenta con un equipo de </a:t>
            </a:r>
            <a:r>
              <a:rPr lang="es-ES_tradnl" sz="1200" b="1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rPr>
              <a:t>profesionales del ámbito minero de excelencia </a:t>
            </a:r>
            <a:r>
              <a:rPr lang="es-ES_tradnl" sz="12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rPr>
              <a:t>que aporta conocimiento técnico especializado y experiencias prácticas e innovadoras para </a:t>
            </a:r>
            <a:r>
              <a:rPr lang="es-ES_tradnl" sz="1200" b="1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rPr>
              <a:t>optimizar los resultados de sus clientes</a:t>
            </a:r>
            <a:r>
              <a:rPr lang="es-ES_tradnl" sz="12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rPr>
              <a:t> mineros</a:t>
            </a:r>
            <a:endParaRPr lang="es-ES_tradnl" sz="1200">
              <a:solidFill>
                <a:schemeClr val="tx1"/>
              </a:solidFill>
              <a:latin typeface="Century Gothic" charset="0"/>
              <a:ea typeface="Century Gothic" charset="0"/>
              <a:cs typeface="Century Gothic" charset="0"/>
              <a:sym typeface="Century Gothic"/>
            </a:endParaRPr>
          </a:p>
        </p:txBody>
      </p:sp>
      <p:sp>
        <p:nvSpPr>
          <p:cNvPr id="4" name="Google Shape;743;p15"/>
          <p:cNvSpPr txBox="1"/>
          <p:nvPr/>
        </p:nvSpPr>
        <p:spPr>
          <a:xfrm>
            <a:off x="146159" y="157868"/>
            <a:ext cx="12045841" cy="898982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defTabSz="914400" eaLnBrk="1" latinLnBrk="0" hangingPunct="1">
              <a:defRPr sz="2800" kern="12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ym typeface="Century Gothic"/>
              </a:rPr>
              <a:t>Dado el </a:t>
            </a:r>
            <a:r>
              <a:rPr lang="en-US" err="1">
                <a:sym typeface="Century Gothic"/>
              </a:rPr>
              <a:t>propósito</a:t>
            </a:r>
            <a:r>
              <a:rPr lang="en-US">
                <a:sym typeface="Century Gothic"/>
              </a:rPr>
              <a:t>, core </a:t>
            </a:r>
            <a:r>
              <a:rPr lang="en-US" err="1">
                <a:sym typeface="Century Gothic"/>
              </a:rPr>
              <a:t>inicial</a:t>
            </a:r>
            <a:r>
              <a:rPr lang="en-US">
                <a:sym typeface="Century Gothic"/>
              </a:rPr>
              <a:t> y </a:t>
            </a:r>
            <a:r>
              <a:rPr lang="en-US" err="1">
                <a:sym typeface="Century Gothic"/>
              </a:rPr>
              <a:t>adyacencias</a:t>
            </a:r>
            <a:r>
              <a:rPr lang="en-US">
                <a:sym typeface="Century Gothic"/>
              </a:rPr>
              <a:t> </a:t>
            </a:r>
            <a:r>
              <a:rPr lang="en-US" err="1">
                <a:sym typeface="Century Gothic"/>
              </a:rPr>
              <a:t>elegidas</a:t>
            </a:r>
            <a:r>
              <a:rPr lang="en-US">
                <a:sym typeface="Century Gothic"/>
              </a:rPr>
              <a:t> se propone un </a:t>
            </a:r>
            <a:r>
              <a:rPr lang="en-US" err="1">
                <a:sym typeface="Century Gothic"/>
              </a:rPr>
              <a:t>nuevo</a:t>
            </a:r>
            <a:r>
              <a:rPr lang="en-US">
                <a:sym typeface="Century Gothic"/>
              </a:rPr>
              <a:t> CORE </a:t>
            </a:r>
            <a:r>
              <a:rPr lang="en-US" err="1">
                <a:sym typeface="Century Gothic"/>
              </a:rPr>
              <a:t>más</a:t>
            </a:r>
            <a:r>
              <a:rPr lang="en-US">
                <a:sym typeface="Century Gothic"/>
              </a:rPr>
              <a:t> </a:t>
            </a:r>
            <a:r>
              <a:rPr lang="en-US" err="1">
                <a:sym typeface="Century Gothic"/>
              </a:rPr>
              <a:t>específico</a:t>
            </a:r>
            <a:r>
              <a:rPr lang="en-US">
                <a:sym typeface="Century Gothic"/>
              </a:rPr>
              <a:t> para REDCO</a:t>
            </a:r>
            <a:endParaRPr>
              <a:sym typeface="Century Gothic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7923270" y="1231005"/>
            <a:ext cx="328091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>
                <a:latin typeface="Century Gothic" charset="0"/>
                <a:ea typeface="Century Gothic" charset="0"/>
                <a:cs typeface="Century Gothic" charset="0"/>
              </a:rPr>
              <a:t>Se crece en alianzas como habilitador para el crecimiento de países y tipo de clientes</a:t>
            </a:r>
          </a:p>
          <a:p>
            <a:endParaRPr lang="es-ES_tradnl">
              <a:latin typeface="Century Gothic" charset="0"/>
              <a:ea typeface="Century Gothic" charset="0"/>
              <a:cs typeface="Century Gothic" charset="0"/>
            </a:endParaRPr>
          </a:p>
          <a:p>
            <a:endParaRPr lang="es-ES_tradnl">
              <a:latin typeface="Century Gothic" charset="0"/>
              <a:ea typeface="Century Gothic" charset="0"/>
              <a:cs typeface="Century Gothic" charset="0"/>
            </a:endParaRPr>
          </a:p>
          <a:p>
            <a:endParaRPr lang="es-ES_tradnl">
              <a:latin typeface="Century Gothic" charset="0"/>
              <a:ea typeface="Century Gothic" charset="0"/>
              <a:cs typeface="Century Gothic" charset="0"/>
            </a:endParaRPr>
          </a:p>
          <a:p>
            <a:endParaRPr lang="es-ES_tradnl">
              <a:latin typeface="Century Gothic" charset="0"/>
              <a:ea typeface="Century Gothic" charset="0"/>
              <a:cs typeface="Century Gothic" charset="0"/>
            </a:endParaRPr>
          </a:p>
          <a:p>
            <a:endParaRPr lang="es-ES_tradnl">
              <a:latin typeface="Century Gothic" charset="0"/>
              <a:ea typeface="Century Gothic" charset="0"/>
              <a:cs typeface="Century Gothic" charset="0"/>
            </a:endParaRPr>
          </a:p>
          <a:p>
            <a:endParaRPr lang="es-ES_tradnl">
              <a:latin typeface="Century Gothic" charset="0"/>
              <a:ea typeface="Century Gothic" charset="0"/>
              <a:cs typeface="Century Gothic" charset="0"/>
            </a:endParaRPr>
          </a:p>
        </p:txBody>
      </p:sp>
      <p:cxnSp>
        <p:nvCxnSpPr>
          <p:cNvPr id="6" name="Google Shape;596;g2c7666fef59_0_7"/>
          <p:cNvCxnSpPr/>
          <p:nvPr/>
        </p:nvCxnSpPr>
        <p:spPr>
          <a:xfrm flipV="1">
            <a:off x="7155621" y="1335024"/>
            <a:ext cx="703515" cy="111099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" name="Google Shape;597;g2c7666fef59_0_7"/>
          <p:cNvCxnSpPr/>
          <p:nvPr/>
        </p:nvCxnSpPr>
        <p:spPr>
          <a:xfrm>
            <a:off x="8057585" y="3619944"/>
            <a:ext cx="3259248" cy="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" name="Google Shape;598;g2c7666fef59_0_7"/>
          <p:cNvCxnSpPr/>
          <p:nvPr/>
        </p:nvCxnSpPr>
        <p:spPr>
          <a:xfrm flipH="1" flipV="1">
            <a:off x="214340" y="3482541"/>
            <a:ext cx="3467568" cy="5202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" name="Google Shape;599;g2c7666fef59_0_7"/>
          <p:cNvCxnSpPr/>
          <p:nvPr/>
        </p:nvCxnSpPr>
        <p:spPr>
          <a:xfrm>
            <a:off x="7733420" y="5125548"/>
            <a:ext cx="1746572" cy="119352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" name="Google Shape;600;g2c7666fef59_0_7"/>
          <p:cNvCxnSpPr/>
          <p:nvPr/>
        </p:nvCxnSpPr>
        <p:spPr>
          <a:xfrm flipH="1">
            <a:off x="2400915" y="5330251"/>
            <a:ext cx="1663222" cy="112217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" name="Google Shape;601;g2c7666fef59_0_7"/>
          <p:cNvSpPr/>
          <p:nvPr/>
        </p:nvSpPr>
        <p:spPr>
          <a:xfrm>
            <a:off x="10882349" y="3534570"/>
            <a:ext cx="517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Países</a:t>
            </a:r>
            <a:endParaRPr sz="1800" b="1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" name="Google Shape;607;g2c7666fef59_0_7"/>
          <p:cNvSpPr/>
          <p:nvPr/>
        </p:nvSpPr>
        <p:spPr>
          <a:xfrm>
            <a:off x="7455827" y="6261716"/>
            <a:ext cx="517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err="1">
                <a:solidFill>
                  <a:schemeClr val="bg1">
                    <a:lumMod val="65000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</a:t>
            </a:r>
            <a:r>
              <a:rPr lang="en-US" sz="1800" b="1">
                <a:solidFill>
                  <a:schemeClr val="bg1">
                    <a:lumMod val="65000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800" b="1" err="1">
                <a:solidFill>
                  <a:schemeClr val="bg1">
                    <a:lumMod val="65000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producto</a:t>
            </a:r>
            <a:endParaRPr b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3" name="Google Shape;611;g2c7666fef59_0_7"/>
          <p:cNvSpPr/>
          <p:nvPr/>
        </p:nvSpPr>
        <p:spPr>
          <a:xfrm>
            <a:off x="2808772" y="6045479"/>
            <a:ext cx="517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err="1">
                <a:solidFill>
                  <a:schemeClr val="bg1">
                    <a:lumMod val="65000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Especialidades</a:t>
            </a:r>
            <a:r>
              <a:rPr lang="en-US" sz="1800" b="1">
                <a:solidFill>
                  <a:schemeClr val="bg1">
                    <a:lumMod val="65000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</a:p>
          <a:p>
            <a:pPr marL="4762" marR="0" lvl="0" indent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err="1">
                <a:solidFill>
                  <a:schemeClr val="bg1">
                    <a:lumMod val="65000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Técnicas</a:t>
            </a:r>
            <a:r>
              <a:rPr lang="en-US" sz="1800" b="1">
                <a:solidFill>
                  <a:schemeClr val="bg1">
                    <a:lumMod val="65000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1800" b="1">
              <a:solidFill>
                <a:schemeClr val="bg1">
                  <a:lumMod val="65000"/>
                </a:schemeClr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" name="Google Shape;615;g2c7666fef59_0_7"/>
          <p:cNvSpPr/>
          <p:nvPr/>
        </p:nvSpPr>
        <p:spPr>
          <a:xfrm>
            <a:off x="209157" y="3462073"/>
            <a:ext cx="3169718" cy="7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chemeClr val="bg1">
                    <a:lumMod val="65000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Ámbitos de </a:t>
            </a:r>
            <a:r>
              <a:rPr lang="en-US" sz="1800" b="1" err="1">
                <a:solidFill>
                  <a:schemeClr val="bg1">
                    <a:lumMod val="65000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acción</a:t>
            </a:r>
            <a:endParaRPr b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Google Shape;616;g2c7666fef59_0_7"/>
          <p:cNvSpPr/>
          <p:nvPr/>
        </p:nvSpPr>
        <p:spPr>
          <a:xfrm>
            <a:off x="8249348" y="960472"/>
            <a:ext cx="517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chemeClr val="bg1">
                    <a:lumMod val="65000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Alianzas</a:t>
            </a:r>
            <a:endParaRPr b="1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6" name="Google Shape;600;g2c7666fef59_0_7"/>
          <p:cNvCxnSpPr/>
          <p:nvPr/>
        </p:nvCxnSpPr>
        <p:spPr>
          <a:xfrm flipH="1" flipV="1">
            <a:off x="4028584" y="1111395"/>
            <a:ext cx="779572" cy="114834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7" name="Google Shape;607;g2c7666fef59_0_7"/>
          <p:cNvSpPr/>
          <p:nvPr/>
        </p:nvSpPr>
        <p:spPr>
          <a:xfrm>
            <a:off x="1898106" y="1087611"/>
            <a:ext cx="517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</a:t>
            </a:r>
            <a:r>
              <a:rPr lang="en-US" sz="18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800" b="1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cliente</a:t>
            </a:r>
            <a:endParaRPr b="1"/>
          </a:p>
        </p:txBody>
      </p:sp>
      <p:sp>
        <p:nvSpPr>
          <p:cNvPr id="27" name="Rectángulo 26"/>
          <p:cNvSpPr/>
          <p:nvPr/>
        </p:nvSpPr>
        <p:spPr>
          <a:xfrm>
            <a:off x="6953068" y="6572747"/>
            <a:ext cx="392928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>
                <a:latin typeface="Century Gothic" charset="0"/>
                <a:ea typeface="Century Gothic" charset="0"/>
                <a:cs typeface="Century Gothic" charset="0"/>
              </a:rPr>
              <a:t>No se expande en la cartera de productos</a:t>
            </a:r>
          </a:p>
        </p:txBody>
      </p:sp>
      <p:sp>
        <p:nvSpPr>
          <p:cNvPr id="28" name="Rectángulo 27"/>
          <p:cNvSpPr/>
          <p:nvPr/>
        </p:nvSpPr>
        <p:spPr>
          <a:xfrm>
            <a:off x="1842031" y="6581375"/>
            <a:ext cx="29915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>
                <a:latin typeface="Century Gothic" charset="0"/>
                <a:ea typeface="Century Gothic" charset="0"/>
                <a:cs typeface="Century Gothic" charset="0"/>
              </a:rPr>
              <a:t>No se expande en Esp. Técnicas</a:t>
            </a:r>
          </a:p>
        </p:txBody>
      </p:sp>
      <p:sp>
        <p:nvSpPr>
          <p:cNvPr id="29" name="Rectángulo 28"/>
          <p:cNvSpPr/>
          <p:nvPr/>
        </p:nvSpPr>
        <p:spPr>
          <a:xfrm>
            <a:off x="39698" y="3749981"/>
            <a:ext cx="349486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>
                <a:latin typeface="Century Gothic" charset="0"/>
                <a:ea typeface="Century Gothic" charset="0"/>
                <a:cs typeface="Century Gothic" charset="0"/>
              </a:rPr>
              <a:t>No se expande en ámbitos de acción</a:t>
            </a:r>
          </a:p>
        </p:txBody>
      </p:sp>
      <p:sp>
        <p:nvSpPr>
          <p:cNvPr id="30" name="Rectángulo 29"/>
          <p:cNvSpPr/>
          <p:nvPr/>
        </p:nvSpPr>
        <p:spPr>
          <a:xfrm>
            <a:off x="10321315" y="3859778"/>
            <a:ext cx="18213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>
                <a:latin typeface="Century Gothic" charset="0"/>
                <a:ea typeface="Century Gothic" charset="0"/>
                <a:cs typeface="Century Gothic" charset="0"/>
              </a:rPr>
              <a:t>Se crece en países</a:t>
            </a:r>
          </a:p>
        </p:txBody>
      </p:sp>
      <p:sp>
        <p:nvSpPr>
          <p:cNvPr id="31" name="Rectángulo 30"/>
          <p:cNvSpPr/>
          <p:nvPr/>
        </p:nvSpPr>
        <p:spPr>
          <a:xfrm>
            <a:off x="1913824" y="1396756"/>
            <a:ext cx="26356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>
                <a:latin typeface="Century Gothic" charset="0"/>
                <a:ea typeface="Century Gothic" charset="0"/>
                <a:cs typeface="Century Gothic" charset="0"/>
              </a:rPr>
              <a:t>Se crece en Tipo de clientes</a:t>
            </a:r>
          </a:p>
        </p:txBody>
      </p:sp>
    </p:spTree>
    <p:extLst>
      <p:ext uri="{BB962C8B-B14F-4D97-AF65-F5344CB8AC3E}">
        <p14:creationId xmlns:p14="http://schemas.microsoft.com/office/powerpoint/2010/main" val="5267889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7" descr="Imagen que contiene persona, alimentos, hombre, cerca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 l="23048" r="23048"/>
          <a:stretch/>
        </p:blipFill>
        <p:spPr>
          <a:xfrm>
            <a:off x="-12504" y="0"/>
            <a:ext cx="55452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7"/>
          <p:cNvSpPr/>
          <p:nvPr/>
        </p:nvSpPr>
        <p:spPr>
          <a:xfrm>
            <a:off x="-12504" y="0"/>
            <a:ext cx="5545203" cy="6857999"/>
          </a:xfrm>
          <a:prstGeom prst="rect">
            <a:avLst/>
          </a:prstGeom>
          <a:blipFill rotWithShape="1">
            <a:blip r:embed="rId4">
              <a:alphaModFix amt="86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Calibri"/>
              <a:buNone/>
            </a:pPr>
            <a:endParaRPr sz="144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7"/>
          <p:cNvSpPr txBox="1"/>
          <p:nvPr/>
        </p:nvSpPr>
        <p:spPr>
          <a:xfrm>
            <a:off x="7403268" y="1875148"/>
            <a:ext cx="4788732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000" err="1">
                <a:solidFill>
                  <a:srgbClr val="B3207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Metodología</a:t>
            </a:r>
            <a:r>
              <a:rPr lang="en-US" sz="4000">
                <a:solidFill>
                  <a:srgbClr val="B3207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para la </a:t>
            </a:r>
            <a:r>
              <a:rPr lang="en-US" sz="4000" err="1">
                <a:solidFill>
                  <a:srgbClr val="B3207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toma</a:t>
            </a:r>
            <a:r>
              <a:rPr lang="en-US" sz="4000">
                <a:solidFill>
                  <a:srgbClr val="B3207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4000" err="1">
                <a:solidFill>
                  <a:srgbClr val="B3207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decisiones</a:t>
            </a:r>
            <a:endParaRPr lang="en-US" sz="4000">
              <a:solidFill>
                <a:srgbClr val="B3207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7" name="Google Shape;487;p7"/>
          <p:cNvSpPr/>
          <p:nvPr/>
        </p:nvSpPr>
        <p:spPr>
          <a:xfrm>
            <a:off x="4064185" y="1801906"/>
            <a:ext cx="3243300" cy="3243300"/>
          </a:xfrm>
          <a:prstGeom prst="rect">
            <a:avLst/>
          </a:prstGeom>
          <a:solidFill>
            <a:srgbClr val="493C70"/>
          </a:solidFill>
          <a:ln w="266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7"/>
          <p:cNvSpPr txBox="1"/>
          <p:nvPr/>
        </p:nvSpPr>
        <p:spPr>
          <a:xfrm>
            <a:off x="4200981" y="2321953"/>
            <a:ext cx="2963748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3</a:t>
            </a:r>
            <a:endParaRPr sz="138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43;p15"/>
          <p:cNvSpPr txBox="1"/>
          <p:nvPr/>
        </p:nvSpPr>
        <p:spPr>
          <a:xfrm>
            <a:off x="146159" y="157868"/>
            <a:ext cx="12045841" cy="898982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defTabSz="914400" eaLnBrk="1" latinLnBrk="0" hangingPunct="1">
              <a:defRPr sz="2800" kern="12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ym typeface="Century Gothic"/>
              </a:rPr>
              <a:t>Las </a:t>
            </a:r>
            <a:r>
              <a:rPr lang="en-US" err="1">
                <a:sym typeface="Century Gothic"/>
              </a:rPr>
              <a:t>mejores</a:t>
            </a:r>
            <a:r>
              <a:rPr lang="en-US">
                <a:sym typeface="Century Gothic"/>
              </a:rPr>
              <a:t> </a:t>
            </a:r>
            <a:r>
              <a:rPr lang="en-US" err="1">
                <a:sym typeface="Century Gothic"/>
              </a:rPr>
              <a:t>estratégias</a:t>
            </a:r>
            <a:r>
              <a:rPr lang="en-US">
                <a:sym typeface="Century Gothic"/>
              </a:rPr>
              <a:t> </a:t>
            </a:r>
            <a:r>
              <a:rPr lang="en-US" err="1">
                <a:sym typeface="Century Gothic"/>
              </a:rPr>
              <a:t>aplican</a:t>
            </a:r>
            <a:r>
              <a:rPr lang="en-US">
                <a:sym typeface="Century Gothic"/>
              </a:rPr>
              <a:t> </a:t>
            </a:r>
            <a:r>
              <a:rPr lang="en-US" err="1">
                <a:sym typeface="Century Gothic"/>
              </a:rPr>
              <a:t>una</a:t>
            </a:r>
            <a:r>
              <a:rPr lang="en-US">
                <a:sym typeface="Century Gothic"/>
              </a:rPr>
              <a:t> </a:t>
            </a:r>
            <a:r>
              <a:rPr lang="en-US" err="1">
                <a:sym typeface="Century Gothic"/>
              </a:rPr>
              <a:t>estricta</a:t>
            </a:r>
            <a:r>
              <a:rPr lang="en-US">
                <a:sym typeface="Century Gothic"/>
              </a:rPr>
              <a:t> </a:t>
            </a:r>
            <a:r>
              <a:rPr lang="en-US" err="1">
                <a:sym typeface="Century Gothic"/>
              </a:rPr>
              <a:t>revisión</a:t>
            </a:r>
            <a:r>
              <a:rPr lang="en-US">
                <a:sym typeface="Century Gothic"/>
              </a:rPr>
              <a:t> de </a:t>
            </a:r>
            <a:r>
              <a:rPr lang="en-US" err="1">
                <a:sym typeface="Century Gothic"/>
              </a:rPr>
              <a:t>los</a:t>
            </a:r>
            <a:r>
              <a:rPr lang="en-US">
                <a:sym typeface="Century Gothic"/>
              </a:rPr>
              <a:t> </a:t>
            </a:r>
            <a:r>
              <a:rPr lang="en-US" err="1">
                <a:sym typeface="Century Gothic"/>
              </a:rPr>
              <a:t>siguientes</a:t>
            </a:r>
            <a:r>
              <a:rPr lang="en-US">
                <a:sym typeface="Century Gothic"/>
              </a:rPr>
              <a:t> </a:t>
            </a:r>
            <a:r>
              <a:rPr lang="en-US" err="1">
                <a:sym typeface="Century Gothic"/>
              </a:rPr>
              <a:t>elementos</a:t>
            </a:r>
            <a:endParaRPr>
              <a:sym typeface="Century Gothic"/>
            </a:endParaRPr>
          </a:p>
        </p:txBody>
      </p:sp>
      <p:pic>
        <p:nvPicPr>
          <p:cNvPr id="7" name="object 2"/>
          <p:cNvPicPr/>
          <p:nvPr/>
        </p:nvPicPr>
        <p:blipFill rotWithShape="1">
          <a:blip r:embed="rId3" cstate="print"/>
          <a:srcRect t="13054"/>
          <a:stretch/>
        </p:blipFill>
        <p:spPr>
          <a:xfrm>
            <a:off x="1191691" y="7995389"/>
            <a:ext cx="9968514" cy="4923691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1209353" y="5078979"/>
            <a:ext cx="388852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_tradnl">
                <a:latin typeface="Century Gothic" charset="0"/>
                <a:ea typeface="Century Gothic" charset="0"/>
                <a:cs typeface="Century Gothic" charset="0"/>
              </a:rPr>
              <a:t>El atractivo de REDCO en los distintos mercados </a:t>
            </a:r>
            <a:r>
              <a:rPr lang="es-ES_tradnl" b="1">
                <a:latin typeface="Century Gothic" charset="0"/>
                <a:ea typeface="Century Gothic" charset="0"/>
                <a:cs typeface="Century Gothic" charset="0"/>
              </a:rPr>
              <a:t>son los clientes y países</a:t>
            </a:r>
            <a:r>
              <a:rPr lang="es-ES_tradnl">
                <a:latin typeface="Century Gothic" charset="0"/>
                <a:ea typeface="Century Gothic" charset="0"/>
                <a:cs typeface="Century Gothic" charset="0"/>
              </a:rPr>
              <a:t> donde su CORE tiene la mayor capacidad de generar ventaja competitiva en ciclos sostenibles</a:t>
            </a:r>
          </a:p>
        </p:txBody>
      </p:sp>
      <p:sp>
        <p:nvSpPr>
          <p:cNvPr id="8" name="Flecha derecha 7"/>
          <p:cNvSpPr/>
          <p:nvPr/>
        </p:nvSpPr>
        <p:spPr>
          <a:xfrm rot="5400000">
            <a:off x="5271143" y="4373016"/>
            <a:ext cx="455877" cy="12674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" name="CuadroTexto 8"/>
          <p:cNvSpPr txBox="1"/>
          <p:nvPr/>
        </p:nvSpPr>
        <p:spPr>
          <a:xfrm>
            <a:off x="5990328" y="4994674"/>
            <a:ext cx="516670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charset="0"/>
              <a:buChar char="•"/>
            </a:pPr>
            <a:r>
              <a:rPr lang="es-ES_tradnl">
                <a:latin typeface="Century Gothic" charset="0"/>
                <a:ea typeface="Century Gothic" charset="0"/>
                <a:cs typeface="Century Gothic" charset="0"/>
              </a:rPr>
              <a:t>REDCO apalanca desde las especialidades diferenciadoras en planificación y desarrollo minero</a:t>
            </a:r>
          </a:p>
          <a:p>
            <a:pPr marL="285750" indent="-285750" algn="just">
              <a:buFont typeface="Arial" charset="0"/>
              <a:buChar char="•"/>
            </a:pPr>
            <a:r>
              <a:rPr lang="es-ES_tradnl">
                <a:latin typeface="Century Gothic" charset="0"/>
                <a:ea typeface="Century Gothic" charset="0"/>
                <a:cs typeface="Century Gothic" charset="0"/>
              </a:rPr>
              <a:t>Genera relaciones desde la confianza, eficiencia y flexibilidad, construyendo relaciones indiscutibles de </a:t>
            </a:r>
            <a:r>
              <a:rPr lang="es-ES_tradnl" err="1">
                <a:latin typeface="Century Gothic" charset="0"/>
                <a:ea typeface="Century Gothic" charset="0"/>
                <a:cs typeface="Century Gothic" charset="0"/>
              </a:rPr>
              <a:t>Win</a:t>
            </a:r>
            <a:r>
              <a:rPr lang="es-ES_tradnl">
                <a:latin typeface="Century Gothic" charset="0"/>
                <a:ea typeface="Century Gothic" charset="0"/>
                <a:cs typeface="Century Gothic" charset="0"/>
              </a:rPr>
              <a:t> </a:t>
            </a:r>
            <a:r>
              <a:rPr lang="es-ES_tradnl" err="1">
                <a:latin typeface="Century Gothic" charset="0"/>
                <a:ea typeface="Century Gothic" charset="0"/>
                <a:cs typeface="Century Gothic" charset="0"/>
              </a:rPr>
              <a:t>Win</a:t>
            </a:r>
            <a:r>
              <a:rPr lang="es-ES_tradnl">
                <a:latin typeface="Century Gothic" charset="0"/>
                <a:ea typeface="Century Gothic" charset="0"/>
                <a:cs typeface="Century Gothic" charset="0"/>
              </a:rPr>
              <a:t>, con estructura de costos rentables</a:t>
            </a:r>
          </a:p>
          <a:p>
            <a:pPr marL="285750" indent="-285750" algn="just">
              <a:buFont typeface="Arial" charset="0"/>
              <a:buChar char="•"/>
            </a:pPr>
            <a:r>
              <a:rPr lang="es-ES_tradnl">
                <a:latin typeface="Century Gothic" charset="0"/>
                <a:ea typeface="Century Gothic" charset="0"/>
                <a:cs typeface="Century Gothic" charset="0"/>
              </a:rPr>
              <a:t>En la reiteración son capaces de generar una plataforma sistemática de crecimiento rentable</a:t>
            </a:r>
          </a:p>
          <a:p>
            <a:pPr marL="285750" indent="-285750" algn="just">
              <a:buFont typeface="Arial" charset="0"/>
              <a:buChar char="•"/>
            </a:pPr>
            <a:endParaRPr lang="es-ES_tradnl"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10" name="Google Shape;910;p22"/>
          <p:cNvSpPr/>
          <p:nvPr/>
        </p:nvSpPr>
        <p:spPr>
          <a:xfrm>
            <a:off x="1209353" y="1600001"/>
            <a:ext cx="3888528" cy="1148656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0" tIns="36000" rIns="36000" bIns="36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entury Gothic"/>
              <a:buNone/>
            </a:pPr>
            <a:r>
              <a:rPr lang="en-US" sz="1400" b="1" err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Apuntar</a:t>
            </a:r>
            <a:r>
              <a:rPr lang="en-US" sz="14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 </a:t>
            </a:r>
            <a:r>
              <a:rPr lang="en-US" sz="1400" b="1" err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posibilidades</a:t>
            </a:r>
            <a:r>
              <a:rPr lang="en-US" sz="14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b="1" err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futuras</a:t>
            </a:r>
            <a:r>
              <a:rPr lang="en-US" sz="14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que </a:t>
            </a:r>
            <a:r>
              <a:rPr lang="en-US" sz="1400" b="1" err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sean</a:t>
            </a:r>
            <a:r>
              <a:rPr lang="en-US" sz="14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b="1" err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grandes</a:t>
            </a:r>
            <a:r>
              <a:rPr lang="en-US" sz="14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y con </a:t>
            </a:r>
            <a:r>
              <a:rPr lang="en-US" sz="1400" b="1" err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expectativas</a:t>
            </a:r>
            <a:r>
              <a:rPr lang="en-US" sz="14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400" b="1" err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crecimientos</a:t>
            </a:r>
            <a:r>
              <a:rPr lang="en-US" sz="14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rentable</a:t>
            </a:r>
            <a:endParaRPr sz="1400" b="1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" name="Google Shape;912;p22"/>
          <p:cNvSpPr/>
          <p:nvPr/>
        </p:nvSpPr>
        <p:spPr>
          <a:xfrm>
            <a:off x="1209353" y="2870419"/>
            <a:ext cx="3888528" cy="1361437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0" tIns="36000" rIns="36000" bIns="36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entury Gothic"/>
              <a:buNone/>
            </a:pPr>
            <a:r>
              <a:rPr lang="en-US" sz="1400" b="1" err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Moverse</a:t>
            </a:r>
            <a:r>
              <a:rPr lang="en-US" sz="14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b="1" err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por</a:t>
            </a:r>
            <a:r>
              <a:rPr lang="en-US" sz="14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las </a:t>
            </a:r>
            <a:r>
              <a:rPr lang="en-US" sz="1400" b="1" err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corrientes</a:t>
            </a:r>
            <a:r>
              <a:rPr lang="en-US" sz="14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b="1" err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digitales</a:t>
            </a:r>
            <a:r>
              <a:rPr lang="en-US" sz="14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y de </a:t>
            </a:r>
            <a:r>
              <a:rPr lang="en-US" sz="1400" b="1" err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sostenibilidad</a:t>
            </a:r>
            <a:r>
              <a:rPr lang="en-US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entury Gothic"/>
              <a:buNone/>
            </a:pPr>
            <a:r>
              <a:rPr lang="en-US" sz="1400" err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Eso</a:t>
            </a:r>
            <a:r>
              <a:rPr lang="en-US" sz="1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cambia </a:t>
            </a:r>
            <a:r>
              <a:rPr lang="en-US" sz="1400" err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los</a:t>
            </a:r>
            <a:r>
              <a:rPr lang="en-US" sz="1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err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límites</a:t>
            </a:r>
            <a:r>
              <a:rPr lang="en-US" sz="1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err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comeciales</a:t>
            </a:r>
            <a:r>
              <a:rPr lang="en-US" sz="1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y </a:t>
            </a:r>
            <a:r>
              <a:rPr lang="en-US" sz="1400" err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</a:t>
            </a:r>
            <a:r>
              <a:rPr lang="en-US" sz="1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err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nuevas</a:t>
            </a:r>
            <a:r>
              <a:rPr lang="en-US" sz="1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err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palancas</a:t>
            </a:r>
            <a:r>
              <a:rPr lang="en-US" sz="1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400" err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ventajas</a:t>
            </a:r>
            <a:r>
              <a:rPr lang="en-US" sz="1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err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competitivas</a:t>
            </a:r>
            <a:r>
              <a:rPr lang="en-US" sz="1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14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" name="Google Shape;914;p22"/>
          <p:cNvSpPr/>
          <p:nvPr/>
        </p:nvSpPr>
        <p:spPr>
          <a:xfrm>
            <a:off x="5990328" y="3743018"/>
            <a:ext cx="5166704" cy="941775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0" tIns="36000" rIns="36000" bIns="36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400"/>
              <a:buFont typeface="Century Gothic"/>
              <a:buNone/>
            </a:pPr>
            <a:r>
              <a:rPr lang="en-US" b="1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Contruir</a:t>
            </a:r>
            <a:r>
              <a:rPr lang="en-US" b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con </a:t>
            </a:r>
            <a:r>
              <a:rPr lang="en-US" b="1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una</a:t>
            </a:r>
            <a:r>
              <a:rPr lang="en-US" b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b="1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fórmula</a:t>
            </a:r>
            <a:r>
              <a:rPr lang="en-US" b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“</a:t>
            </a:r>
            <a:r>
              <a:rPr lang="en-US" b="1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repetible</a:t>
            </a:r>
            <a:r>
              <a:rPr lang="en-US" b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400"/>
              <a:buFont typeface="Century Gothic"/>
              <a:buNone/>
            </a:pPr>
            <a:r>
              <a:rPr lang="en-US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r>
              <a:rPr lang="en-US" sz="1400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rear</a:t>
            </a:r>
            <a:r>
              <a:rPr lang="en-US" sz="1400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una</a:t>
            </a:r>
            <a:r>
              <a:rPr lang="en-US" sz="1400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plataforma</a:t>
            </a:r>
            <a:r>
              <a:rPr lang="en-US" sz="1400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400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crecimiento</a:t>
            </a:r>
            <a:r>
              <a:rPr lang="en-US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</a:t>
            </a:r>
            <a:r>
              <a:rPr lang="en-US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invirtiendo</a:t>
            </a:r>
            <a:r>
              <a:rPr lang="en-US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con </a:t>
            </a:r>
            <a:r>
              <a:rPr lang="en-US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múltiples</a:t>
            </a:r>
            <a:r>
              <a:rPr lang="en-US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movimientos</a:t>
            </a:r>
            <a:r>
              <a:rPr lang="en-US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</a:t>
            </a:r>
            <a:r>
              <a:rPr lang="en-US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construyendo</a:t>
            </a:r>
            <a:r>
              <a:rPr lang="en-US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un </a:t>
            </a:r>
            <a:r>
              <a:rPr lang="en-US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negocio</a:t>
            </a:r>
            <a:r>
              <a:rPr lang="en-US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 </a:t>
            </a:r>
            <a:r>
              <a:rPr lang="en-US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escala</a:t>
            </a:r>
            <a:endParaRPr sz="1400">
              <a:solidFill>
                <a:srgbClr val="75707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" name="Google Shape;915;p22"/>
          <p:cNvSpPr/>
          <p:nvPr/>
        </p:nvSpPr>
        <p:spPr>
          <a:xfrm>
            <a:off x="5993501" y="2732858"/>
            <a:ext cx="5166704" cy="928508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0" tIns="36000" rIns="36000" bIns="36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400"/>
              <a:buFont typeface="Century Gothic"/>
              <a:buNone/>
            </a:pPr>
            <a:r>
              <a:rPr lang="en-US" sz="1400" b="1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Crear</a:t>
            </a:r>
            <a:r>
              <a:rPr lang="en-US" sz="1400" b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un </a:t>
            </a:r>
            <a:r>
              <a:rPr lang="en-US" sz="1400" b="1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camino</a:t>
            </a:r>
            <a:r>
              <a:rPr lang="en-US" sz="1400" b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para </a:t>
            </a:r>
            <a:r>
              <a:rPr lang="en-US" sz="1400" b="1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ser</a:t>
            </a:r>
            <a:r>
              <a:rPr lang="en-US" sz="1400" b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b="1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líderes</a:t>
            </a:r>
            <a:r>
              <a:rPr lang="en-US" sz="1400" b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400" b="1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manera</a:t>
            </a:r>
            <a:r>
              <a:rPr lang="en-US" sz="1400" b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rentable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400"/>
              <a:buFont typeface="Century Gothic"/>
              <a:buNone/>
            </a:pPr>
            <a:r>
              <a:rPr lang="en-US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Muchos</a:t>
            </a:r>
            <a:r>
              <a:rPr lang="en-US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seguidores</a:t>
            </a:r>
            <a:r>
              <a:rPr lang="en-US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</a:t>
            </a:r>
            <a:r>
              <a:rPr lang="en-US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mercados</a:t>
            </a:r>
            <a:r>
              <a:rPr lang="en-US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atractivos</a:t>
            </a:r>
            <a:r>
              <a:rPr lang="en-US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se suman a </a:t>
            </a:r>
            <a:r>
              <a:rPr lang="en-US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una</a:t>
            </a:r>
            <a:r>
              <a:rPr lang="en-US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buena</a:t>
            </a:r>
            <a:r>
              <a:rPr lang="en-US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estratégia</a:t>
            </a:r>
            <a:endParaRPr sz="1400">
              <a:solidFill>
                <a:srgbClr val="75707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" name="Google Shape;916;p22"/>
          <p:cNvSpPr/>
          <p:nvPr/>
        </p:nvSpPr>
        <p:spPr>
          <a:xfrm>
            <a:off x="5993501" y="1587815"/>
            <a:ext cx="5166704" cy="1054524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0" tIns="36000" rIns="36000" bIns="36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400"/>
              <a:buFont typeface="Century Gothic"/>
              <a:buNone/>
            </a:pPr>
            <a:r>
              <a:rPr lang="en-US" sz="1400" b="1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Construir</a:t>
            </a:r>
            <a:r>
              <a:rPr lang="en-US" sz="1400" b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b="1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sobre</a:t>
            </a:r>
            <a:r>
              <a:rPr lang="en-US" sz="1400" b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las </a:t>
            </a:r>
            <a:r>
              <a:rPr lang="en-US" sz="1400" b="1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fortalezas</a:t>
            </a:r>
            <a:r>
              <a:rPr lang="en-US" sz="1400" b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b="1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principales</a:t>
            </a:r>
            <a:endParaRPr lang="en-US" sz="1400" b="1">
              <a:solidFill>
                <a:srgbClr val="75707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400"/>
              <a:buFont typeface="Century Gothic"/>
              <a:buNone/>
            </a:pPr>
            <a:r>
              <a:rPr lang="en-US" sz="1400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aprovechar</a:t>
            </a:r>
            <a:r>
              <a:rPr lang="en-US" sz="1400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los</a:t>
            </a:r>
            <a:r>
              <a:rPr lang="en-US" sz="1400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activos</a:t>
            </a:r>
            <a:r>
              <a:rPr lang="en-US" sz="1400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las </a:t>
            </a:r>
            <a:r>
              <a:rPr lang="en-US" sz="1400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capacidades</a:t>
            </a:r>
            <a:r>
              <a:rPr lang="en-US" sz="1400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deferenciadoras</a:t>
            </a:r>
            <a:r>
              <a:rPr lang="en-US" sz="1400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y las </a:t>
            </a:r>
            <a:r>
              <a:rPr lang="en-US" sz="1400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relaciones</a:t>
            </a:r>
            <a:r>
              <a:rPr lang="en-US" sz="1400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íntimas</a:t>
            </a:r>
            <a:r>
              <a:rPr lang="en-US" sz="1400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con </a:t>
            </a:r>
            <a:r>
              <a:rPr lang="en-US" sz="1400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los</a:t>
            </a:r>
            <a:r>
              <a:rPr lang="en-US" sz="1400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err="1">
                <a:solidFill>
                  <a:srgbClr val="75707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clientes</a:t>
            </a:r>
            <a:endParaRPr sz="1400">
              <a:solidFill>
                <a:srgbClr val="75707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7" name="Google Shape;917;p22"/>
          <p:cNvCxnSpPr/>
          <p:nvPr/>
        </p:nvCxnSpPr>
        <p:spPr>
          <a:xfrm>
            <a:off x="146159" y="1524562"/>
            <a:ext cx="11526838" cy="0"/>
          </a:xfrm>
          <a:prstGeom prst="straightConnector1">
            <a:avLst/>
          </a:prstGeom>
          <a:noFill/>
          <a:ln w="9525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" name="Google Shape;923;p22"/>
          <p:cNvSpPr txBox="1"/>
          <p:nvPr/>
        </p:nvSpPr>
        <p:spPr>
          <a:xfrm>
            <a:off x="1656282" y="1096570"/>
            <a:ext cx="327747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Atractivo</a:t>
            </a: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del </a:t>
            </a:r>
            <a:r>
              <a:rPr lang="en-US" sz="20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mercado</a:t>
            </a:r>
            <a:endParaRPr sz="2000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" name="Google Shape;924;p22"/>
          <p:cNvSpPr txBox="1"/>
          <p:nvPr/>
        </p:nvSpPr>
        <p:spPr>
          <a:xfrm>
            <a:off x="6934942" y="1104396"/>
            <a:ext cx="327747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Habilidad</a:t>
            </a: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200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ganar</a:t>
            </a:r>
            <a:endParaRPr sz="2000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5" name="Google Shape;917;p22"/>
          <p:cNvCxnSpPr/>
          <p:nvPr/>
        </p:nvCxnSpPr>
        <p:spPr>
          <a:xfrm>
            <a:off x="146159" y="4768102"/>
            <a:ext cx="11526838" cy="0"/>
          </a:xfrm>
          <a:prstGeom prst="straightConnector1">
            <a:avLst/>
          </a:prstGeom>
          <a:noFill/>
          <a:ln w="9525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1152423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43;p15"/>
          <p:cNvSpPr txBox="1"/>
          <p:nvPr/>
        </p:nvSpPr>
        <p:spPr>
          <a:xfrm>
            <a:off x="146159" y="221897"/>
            <a:ext cx="12045841" cy="898982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defTabSz="914400" eaLnBrk="1" latinLnBrk="0" hangingPunct="1">
              <a:defRPr sz="2800" kern="12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ym typeface="Century Gothic"/>
              </a:rPr>
              <a:t>Para REDCO </a:t>
            </a:r>
            <a:r>
              <a:rPr lang="en-US" err="1">
                <a:sym typeface="Century Gothic"/>
              </a:rPr>
              <a:t>nos</a:t>
            </a:r>
            <a:r>
              <a:rPr lang="en-US">
                <a:sym typeface="Century Gothic"/>
              </a:rPr>
              <a:t> da </a:t>
            </a:r>
            <a:r>
              <a:rPr lang="en-US" err="1">
                <a:sym typeface="Century Gothic"/>
              </a:rPr>
              <a:t>como</a:t>
            </a:r>
            <a:r>
              <a:rPr lang="en-US">
                <a:sym typeface="Century Gothic"/>
              </a:rPr>
              <a:t> </a:t>
            </a:r>
            <a:r>
              <a:rPr lang="en-US" err="1">
                <a:sym typeface="Century Gothic"/>
              </a:rPr>
              <a:t>resultado</a:t>
            </a:r>
            <a:r>
              <a:rPr lang="en-US">
                <a:sym typeface="Century Gothic"/>
              </a:rPr>
              <a:t> el </a:t>
            </a:r>
            <a:r>
              <a:rPr lang="en-US" err="1">
                <a:sym typeface="Century Gothic"/>
              </a:rPr>
              <a:t>siguiente</a:t>
            </a:r>
            <a:r>
              <a:rPr lang="en-US">
                <a:sym typeface="Century Gothic"/>
              </a:rPr>
              <a:t> </a:t>
            </a:r>
            <a:r>
              <a:rPr lang="en-US" err="1">
                <a:sym typeface="Century Gothic"/>
              </a:rPr>
              <a:t>flujo</a:t>
            </a:r>
            <a:r>
              <a:rPr lang="en-US">
                <a:sym typeface="Century Gothic"/>
              </a:rPr>
              <a:t> de </a:t>
            </a:r>
            <a:r>
              <a:rPr lang="en-US" err="1">
                <a:sym typeface="Century Gothic"/>
              </a:rPr>
              <a:t>decisiones</a:t>
            </a:r>
            <a:r>
              <a:rPr lang="en-US">
                <a:sym typeface="Century Gothic"/>
              </a:rPr>
              <a:t> para </a:t>
            </a:r>
            <a:r>
              <a:rPr lang="en-US" err="1">
                <a:sym typeface="Century Gothic"/>
              </a:rPr>
              <a:t>crecer</a:t>
            </a:r>
            <a:r>
              <a:rPr lang="en-US">
                <a:sym typeface="Century Gothic"/>
              </a:rPr>
              <a:t> y </a:t>
            </a:r>
            <a:r>
              <a:rPr lang="en-US" err="1">
                <a:sym typeface="Century Gothic"/>
              </a:rPr>
              <a:t>cuidar</a:t>
            </a:r>
            <a:r>
              <a:rPr lang="en-US">
                <a:sym typeface="Century Gothic"/>
              </a:rPr>
              <a:t> el CORE</a:t>
            </a:r>
            <a:endParaRPr>
              <a:sym typeface="Century Gothic"/>
            </a:endParaRPr>
          </a:p>
        </p:txBody>
      </p:sp>
      <p:sp>
        <p:nvSpPr>
          <p:cNvPr id="5" name="Google Shape;617;g2c7666fef59_0_7"/>
          <p:cNvSpPr/>
          <p:nvPr/>
        </p:nvSpPr>
        <p:spPr>
          <a:xfrm>
            <a:off x="7690311" y="1384344"/>
            <a:ext cx="3959823" cy="4919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"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es-ES" b="1" u="sng">
                <a:latin typeface="Century Gothic" charset="0"/>
                <a:ea typeface="Century Gothic" charset="0"/>
                <a:cs typeface="Century Gothic" charset="0"/>
              </a:rPr>
              <a:t>Hipótesis de la dinámica estratégica entre CORE y adyacencia (foco de métricas)</a:t>
            </a:r>
          </a:p>
          <a:p>
            <a:pPr marL="347662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s-ES">
                <a:latin typeface="Century Gothic" charset="0"/>
                <a:ea typeface="Century Gothic" charset="0"/>
                <a:cs typeface="Century Gothic" charset="0"/>
              </a:rPr>
              <a:t>Ingresar a un país nuevo con un cliente minero</a:t>
            </a:r>
          </a:p>
          <a:p>
            <a:pPr marL="4762" lvl="1">
              <a:lnSpc>
                <a:spcPct val="150000"/>
              </a:lnSpc>
              <a:buSzPts val="1400"/>
            </a:pPr>
            <a:r>
              <a:rPr lang="es-ES">
                <a:latin typeface="Century Gothic" charset="0"/>
                <a:ea typeface="Century Gothic" charset="0"/>
                <a:cs typeface="Century Gothic" charset="0"/>
              </a:rPr>
              <a:t>       1.1 Evaluar alianzas necesarias </a:t>
            </a:r>
          </a:p>
          <a:p>
            <a:pPr marL="4762"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es-ES">
                <a:latin typeface="Century Gothic" charset="0"/>
                <a:ea typeface="Century Gothic" charset="0"/>
                <a:cs typeface="Century Gothic" charset="0"/>
              </a:rPr>
              <a:t>2. Crecer en ese país con el set de productos del CORE de REDCO</a:t>
            </a:r>
          </a:p>
          <a:p>
            <a:pPr marL="4762"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es-ES">
                <a:latin typeface="Century Gothic" charset="0"/>
                <a:ea typeface="Century Gothic" charset="0"/>
                <a:cs typeface="Century Gothic" charset="0"/>
              </a:rPr>
              <a:t>3. Fortalecer nuestro set de productos en ese país, convirtiéndose en Boutique reconocida. / Fortalecer la experiencia  equipo para ese país</a:t>
            </a:r>
          </a:p>
          <a:p>
            <a:pPr marL="4762"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es-ES">
                <a:latin typeface="Century Gothic" charset="0"/>
                <a:ea typeface="Century Gothic" charset="0"/>
                <a:cs typeface="Century Gothic" charset="0"/>
              </a:rPr>
              <a:t>4. Crecer en cliente más allá de los mineros.</a:t>
            </a:r>
          </a:p>
          <a:p>
            <a:pPr marL="4762">
              <a:lnSpc>
                <a:spcPct val="150000"/>
              </a:lnSpc>
              <a:buSzPts val="1400"/>
            </a:pPr>
            <a:r>
              <a:rPr lang="es-ES">
                <a:latin typeface="Century Gothic" charset="0"/>
                <a:ea typeface="Century Gothic" charset="0"/>
                <a:cs typeface="Century Gothic" charset="0"/>
              </a:rPr>
              <a:t>         4.1 Evaluar alianzas necesarias </a:t>
            </a:r>
          </a:p>
          <a:p>
            <a:pPr marL="4762"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endParaRPr>
              <a:latin typeface="Century Gothic" charset="0"/>
              <a:ea typeface="Century Gothic" charset="0"/>
              <a:cs typeface="Century Gothic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0"/>
          <a:stretch/>
        </p:blipFill>
        <p:spPr>
          <a:xfrm>
            <a:off x="541867" y="1603719"/>
            <a:ext cx="6928567" cy="448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7169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 txBox="1"/>
          <p:nvPr/>
        </p:nvSpPr>
        <p:spPr>
          <a:xfrm>
            <a:off x="4080933" y="1371600"/>
            <a:ext cx="685800" cy="62239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txBody>
          <a:bodyPr vert="horz" wrap="square" lIns="0" tIns="250613" rIns="0" bIns="0" rtlCol="0">
            <a:spAutoFit/>
          </a:bodyPr>
          <a:lstStyle/>
          <a:p>
            <a:pPr>
              <a:spcBef>
                <a:spcPts val="1973"/>
              </a:spcBef>
              <a:buClrTx/>
            </a:pPr>
            <a:endParaRPr sz="1200"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  <a:p>
            <a:pPr marL="70272">
              <a:buClrTx/>
            </a:pPr>
            <a:r>
              <a:rPr lang="es-ES" sz="1200" spc="-27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rPr>
              <a:t>CORE</a:t>
            </a:r>
            <a:endParaRPr sz="1200"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10" name="object 3"/>
          <p:cNvSpPr/>
          <p:nvPr/>
        </p:nvSpPr>
        <p:spPr>
          <a:xfrm>
            <a:off x="699967" y="5605907"/>
            <a:ext cx="11108267" cy="829733"/>
          </a:xfrm>
          <a:custGeom>
            <a:avLst/>
            <a:gdLst/>
            <a:ahLst/>
            <a:cxnLst/>
            <a:rect l="l" t="t" r="r" b="b"/>
            <a:pathLst>
              <a:path w="8331200" h="622300">
                <a:moveTo>
                  <a:pt x="8331198" y="622299"/>
                </a:moveTo>
                <a:lnTo>
                  <a:pt x="0" y="622299"/>
                </a:lnTo>
                <a:lnTo>
                  <a:pt x="0" y="0"/>
                </a:lnTo>
                <a:lnTo>
                  <a:pt x="8331198" y="0"/>
                </a:lnTo>
                <a:lnTo>
                  <a:pt x="8331198" y="6222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>
              <a:buClrTx/>
              <a:buFontTx/>
              <a:buNone/>
            </a:pPr>
            <a:endParaRPr sz="1200"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11" name="object 4"/>
          <p:cNvSpPr txBox="1"/>
          <p:nvPr/>
        </p:nvSpPr>
        <p:spPr>
          <a:xfrm>
            <a:off x="949571" y="5771444"/>
            <a:ext cx="2908300" cy="388994"/>
          </a:xfrm>
          <a:prstGeom prst="rect">
            <a:avLst/>
          </a:prstGeom>
        </p:spPr>
        <p:txBody>
          <a:bodyPr vert="horz" wrap="square" lIns="0" tIns="19472" rIns="0" bIns="0" rtlCol="0">
            <a:spAutoFit/>
          </a:bodyPr>
          <a:lstStyle/>
          <a:p>
            <a:pPr marL="16933">
              <a:spcBef>
                <a:spcPts val="152"/>
              </a:spcBef>
              <a:buClrTx/>
            </a:pPr>
            <a:r>
              <a:rPr lang="es-ES" sz="1200" spc="8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rPr>
              <a:t>Distancia económica desde el CORE</a:t>
            </a:r>
            <a:endParaRPr sz="1200"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12" name="object 5"/>
          <p:cNvSpPr txBox="1"/>
          <p:nvPr/>
        </p:nvSpPr>
        <p:spPr>
          <a:xfrm>
            <a:off x="4743873" y="5661073"/>
            <a:ext cx="3451860" cy="664114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 marR="472428">
              <a:lnSpc>
                <a:spcPct val="115100"/>
              </a:lnSpc>
              <a:spcBef>
                <a:spcPts val="127"/>
              </a:spcBef>
              <a:buClrTx/>
            </a:pPr>
            <a:r>
              <a:rPr lang="es-ES" sz="120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rPr>
              <a:t>Menor ventaja competitiva</a:t>
            </a:r>
          </a:p>
          <a:p>
            <a:pPr marL="16933" marR="472428">
              <a:lnSpc>
                <a:spcPct val="115100"/>
              </a:lnSpc>
              <a:spcBef>
                <a:spcPts val="127"/>
              </a:spcBef>
              <a:buClrTx/>
            </a:pPr>
            <a:r>
              <a:rPr lang="es-ES" sz="120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rPr>
              <a:t>Menor potencial de generar valor</a:t>
            </a:r>
            <a:endParaRPr sz="1200"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  <a:p>
            <a:pPr marL="16933">
              <a:spcBef>
                <a:spcPts val="187"/>
              </a:spcBef>
              <a:buClrTx/>
            </a:pPr>
            <a:r>
              <a:rPr lang="es-ES" sz="120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rPr>
              <a:t>Menor participación y lealtad con clientes</a:t>
            </a:r>
            <a:endParaRPr sz="1200"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pic>
        <p:nvPicPr>
          <p:cNvPr id="18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15469" y="2641601"/>
            <a:ext cx="304800" cy="313267"/>
          </a:xfrm>
          <a:prstGeom prst="rect">
            <a:avLst/>
          </a:prstGeom>
        </p:spPr>
      </p:pic>
      <p:pic>
        <p:nvPicPr>
          <p:cNvPr id="19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15469" y="3174397"/>
            <a:ext cx="304800" cy="313267"/>
          </a:xfrm>
          <a:prstGeom prst="rect">
            <a:avLst/>
          </a:prstGeom>
        </p:spPr>
      </p:pic>
      <p:pic>
        <p:nvPicPr>
          <p:cNvPr id="20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15469" y="3733491"/>
            <a:ext cx="304800" cy="304800"/>
          </a:xfrm>
          <a:prstGeom prst="rect">
            <a:avLst/>
          </a:prstGeom>
        </p:spPr>
      </p:pic>
      <p:pic>
        <p:nvPicPr>
          <p:cNvPr id="21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30561" y="4233821"/>
            <a:ext cx="304800" cy="304800"/>
          </a:xfrm>
          <a:prstGeom prst="rect">
            <a:avLst/>
          </a:prstGeom>
        </p:spPr>
      </p:pic>
      <p:pic>
        <p:nvPicPr>
          <p:cNvPr id="22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67869" y="4811680"/>
            <a:ext cx="152400" cy="304800"/>
          </a:xfrm>
          <a:prstGeom prst="rect">
            <a:avLst/>
          </a:prstGeom>
        </p:spPr>
      </p:pic>
      <p:pic>
        <p:nvPicPr>
          <p:cNvPr id="23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62802" y="2641601"/>
            <a:ext cx="152400" cy="313267"/>
          </a:xfrm>
          <a:prstGeom prst="rect">
            <a:avLst/>
          </a:prstGeom>
        </p:spPr>
      </p:pic>
      <p:pic>
        <p:nvPicPr>
          <p:cNvPr id="24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62802" y="3158068"/>
            <a:ext cx="152400" cy="313267"/>
          </a:xfrm>
          <a:prstGeom prst="rect">
            <a:avLst/>
          </a:prstGeom>
        </p:spPr>
      </p:pic>
      <p:pic>
        <p:nvPicPr>
          <p:cNvPr id="25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162802" y="3683001"/>
            <a:ext cx="152400" cy="304800"/>
          </a:xfrm>
          <a:prstGeom prst="rect">
            <a:avLst/>
          </a:prstGeom>
        </p:spPr>
      </p:pic>
      <p:pic>
        <p:nvPicPr>
          <p:cNvPr id="26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053361" y="4214733"/>
            <a:ext cx="304800" cy="304800"/>
          </a:xfrm>
          <a:prstGeom prst="rect">
            <a:avLst/>
          </a:prstGeom>
        </p:spPr>
      </p:pic>
      <p:pic>
        <p:nvPicPr>
          <p:cNvPr id="27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162802" y="4814826"/>
            <a:ext cx="152400" cy="304800"/>
          </a:xfrm>
          <a:prstGeom prst="rect">
            <a:avLst/>
          </a:prstGeom>
        </p:spPr>
      </p:pic>
      <p:pic>
        <p:nvPicPr>
          <p:cNvPr id="28" name="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957736" y="3158068"/>
            <a:ext cx="143933" cy="313267"/>
          </a:xfrm>
          <a:prstGeom prst="rect">
            <a:avLst/>
          </a:prstGeom>
        </p:spPr>
      </p:pic>
      <p:pic>
        <p:nvPicPr>
          <p:cNvPr id="29" name="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957736" y="3683001"/>
            <a:ext cx="143933" cy="304800"/>
          </a:xfrm>
          <a:prstGeom prst="rect">
            <a:avLst/>
          </a:prstGeom>
        </p:spPr>
      </p:pic>
      <p:pic>
        <p:nvPicPr>
          <p:cNvPr id="30" name="object 2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957736" y="4199468"/>
            <a:ext cx="143933" cy="304800"/>
          </a:xfrm>
          <a:prstGeom prst="rect">
            <a:avLst/>
          </a:prstGeom>
        </p:spPr>
      </p:pic>
      <p:pic>
        <p:nvPicPr>
          <p:cNvPr id="31" name="object 2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819467" y="6705600"/>
            <a:ext cx="33867" cy="76200"/>
          </a:xfrm>
          <a:prstGeom prst="rect">
            <a:avLst/>
          </a:prstGeom>
        </p:spPr>
      </p:pic>
      <p:sp>
        <p:nvSpPr>
          <p:cNvPr id="33" name="object 27"/>
          <p:cNvSpPr txBox="1"/>
          <p:nvPr/>
        </p:nvSpPr>
        <p:spPr>
          <a:xfrm>
            <a:off x="1120298" y="1524940"/>
            <a:ext cx="3268496" cy="26674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  <a:buClrTx/>
            </a:pPr>
            <a:r>
              <a:rPr lang="es-ES" sz="1600">
                <a:solidFill>
                  <a:sysClr val="windowText" lastClr="000000"/>
                </a:solidFill>
                <a:latin typeface="Century Gothic" charset="0"/>
                <a:ea typeface="Century Gothic" charset="0"/>
                <a:cs typeface="Century Gothic" charset="0"/>
              </a:rPr>
              <a:t>Relación con el CORE</a:t>
            </a:r>
            <a:endParaRPr sz="1600"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4" name="object 28"/>
          <p:cNvSpPr txBox="1"/>
          <p:nvPr/>
        </p:nvSpPr>
        <p:spPr>
          <a:xfrm>
            <a:off x="1166407" y="2143039"/>
            <a:ext cx="2858023" cy="26674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  <a:buClrTx/>
            </a:pPr>
            <a:r>
              <a:rPr lang="es-ES" sz="1600">
                <a:solidFill>
                  <a:sysClr val="windowText" lastClr="000000"/>
                </a:solidFill>
                <a:latin typeface="Century Gothic" charset="0"/>
                <a:ea typeface="Century Gothic" charset="0"/>
                <a:cs typeface="Century Gothic" charset="0"/>
              </a:rPr>
              <a:t>Probabilidades de éxito</a:t>
            </a:r>
            <a:endParaRPr sz="1600"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5" name="object 29"/>
          <p:cNvSpPr txBox="1"/>
          <p:nvPr/>
        </p:nvSpPr>
        <p:spPr>
          <a:xfrm>
            <a:off x="849925" y="2719212"/>
            <a:ext cx="259080" cy="235106"/>
          </a:xfrm>
          <a:prstGeom prst="rect">
            <a:avLst/>
          </a:prstGeom>
        </p:spPr>
        <p:txBody>
          <a:bodyPr vert="horz" wrap="square" lIns="0" tIns="19472" rIns="0" bIns="0" rtlCol="0">
            <a:spAutoFit/>
          </a:bodyPr>
          <a:lstStyle/>
          <a:p>
            <a:pPr marL="16933">
              <a:spcBef>
                <a:spcPts val="152"/>
              </a:spcBef>
              <a:buClrTx/>
            </a:pPr>
            <a:r>
              <a:rPr spc="60">
                <a:solidFill>
                  <a:srgbClr val="B52F2F"/>
                </a:solidFill>
                <a:latin typeface="Century Gothic" charset="0"/>
                <a:ea typeface="Century Gothic" charset="0"/>
                <a:cs typeface="Century Gothic" charset="0"/>
              </a:rPr>
              <a:t>1</a:t>
            </a:r>
            <a:endParaRPr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6" name="object 30"/>
          <p:cNvSpPr txBox="1"/>
          <p:nvPr/>
        </p:nvSpPr>
        <p:spPr>
          <a:xfrm>
            <a:off x="1362728" y="2672645"/>
            <a:ext cx="2057472" cy="235106"/>
          </a:xfrm>
          <a:prstGeom prst="rect">
            <a:avLst/>
          </a:prstGeom>
        </p:spPr>
        <p:txBody>
          <a:bodyPr vert="horz" wrap="square" lIns="0" tIns="19472" rIns="0" bIns="0" rtlCol="0">
            <a:spAutoFit/>
          </a:bodyPr>
          <a:lstStyle/>
          <a:p>
            <a:pPr marL="16933">
              <a:spcBef>
                <a:spcPts val="152"/>
              </a:spcBef>
              <a:buClrTx/>
            </a:pPr>
            <a:r>
              <a:rPr lang="es-ES" spc="-107">
                <a:solidFill>
                  <a:sysClr val="windowText" lastClr="000000"/>
                </a:solidFill>
                <a:latin typeface="Century Gothic" charset="0"/>
                <a:ea typeface="Century Gothic" charset="0"/>
                <a:cs typeface="Century Gothic" charset="0"/>
              </a:rPr>
              <a:t>Tipo de clientes conocidos</a:t>
            </a:r>
            <a:endParaRPr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7" name="object 31"/>
          <p:cNvSpPr txBox="1"/>
          <p:nvPr/>
        </p:nvSpPr>
        <p:spPr>
          <a:xfrm>
            <a:off x="846358" y="3219216"/>
            <a:ext cx="232833" cy="234252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16933">
              <a:spcBef>
                <a:spcPts val="147"/>
              </a:spcBef>
              <a:buClrTx/>
            </a:pPr>
            <a:r>
              <a:rPr spc="-33">
                <a:solidFill>
                  <a:srgbClr val="B52F2F"/>
                </a:solidFill>
                <a:latin typeface="Century Gothic" charset="0"/>
                <a:ea typeface="Century Gothic" charset="0"/>
                <a:cs typeface="Century Gothic" charset="0"/>
              </a:rPr>
              <a:t>2</a:t>
            </a:r>
            <a:endParaRPr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8" name="object 32"/>
          <p:cNvSpPr txBox="1"/>
          <p:nvPr/>
        </p:nvSpPr>
        <p:spPr>
          <a:xfrm>
            <a:off x="1357710" y="3091969"/>
            <a:ext cx="1978821" cy="449696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16933">
              <a:spcBef>
                <a:spcPts val="147"/>
              </a:spcBef>
              <a:buClrTx/>
            </a:pPr>
            <a:r>
              <a:rPr lang="es-ES" spc="-107">
                <a:solidFill>
                  <a:sysClr val="windowText" lastClr="000000"/>
                </a:solidFill>
                <a:latin typeface="Century Gothic" charset="0"/>
                <a:ea typeface="Century Gothic" charset="0"/>
                <a:cs typeface="Century Gothic" charset="0"/>
              </a:rPr>
              <a:t>Estructura de costos conocidos</a:t>
            </a:r>
            <a:endParaRPr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9" name="object 33"/>
          <p:cNvSpPr txBox="1"/>
          <p:nvPr/>
        </p:nvSpPr>
        <p:spPr>
          <a:xfrm>
            <a:off x="844498" y="3727451"/>
            <a:ext cx="240453" cy="234252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16933">
              <a:spcBef>
                <a:spcPts val="147"/>
              </a:spcBef>
              <a:buClrTx/>
            </a:pPr>
            <a:r>
              <a:rPr spc="-33">
                <a:solidFill>
                  <a:srgbClr val="B13133"/>
                </a:solidFill>
                <a:latin typeface="Century Gothic" charset="0"/>
                <a:ea typeface="Century Gothic" charset="0"/>
                <a:cs typeface="Century Gothic" charset="0"/>
              </a:rPr>
              <a:t>3</a:t>
            </a:r>
            <a:endParaRPr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40" name="object 34"/>
          <p:cNvSpPr txBox="1"/>
          <p:nvPr/>
        </p:nvSpPr>
        <p:spPr>
          <a:xfrm>
            <a:off x="1357710" y="3689351"/>
            <a:ext cx="2062489" cy="449696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16933">
              <a:spcBef>
                <a:spcPts val="147"/>
              </a:spcBef>
              <a:buClrTx/>
            </a:pPr>
            <a:r>
              <a:rPr lang="es-ES" spc="-80">
                <a:solidFill>
                  <a:sysClr val="windowText" lastClr="000000"/>
                </a:solidFill>
                <a:latin typeface="Century Gothic" charset="0"/>
                <a:ea typeface="Century Gothic" charset="0"/>
                <a:cs typeface="Century Gothic" charset="0"/>
              </a:rPr>
              <a:t>Ámbitos de acción conocidos</a:t>
            </a:r>
            <a:endParaRPr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41" name="object 35"/>
          <p:cNvSpPr txBox="1"/>
          <p:nvPr/>
        </p:nvSpPr>
        <p:spPr>
          <a:xfrm>
            <a:off x="850141" y="4285311"/>
            <a:ext cx="228600" cy="235106"/>
          </a:xfrm>
          <a:prstGeom prst="rect">
            <a:avLst/>
          </a:prstGeom>
        </p:spPr>
        <p:txBody>
          <a:bodyPr vert="horz" wrap="square" lIns="0" tIns="19472" rIns="0" bIns="0" rtlCol="0">
            <a:spAutoFit/>
          </a:bodyPr>
          <a:lstStyle/>
          <a:p>
            <a:pPr marL="16933">
              <a:spcBef>
                <a:spcPts val="152"/>
              </a:spcBef>
              <a:buClrTx/>
            </a:pPr>
            <a:r>
              <a:rPr spc="-33">
                <a:solidFill>
                  <a:srgbClr val="B52F2F"/>
                </a:solidFill>
                <a:latin typeface="Century Gothic" charset="0"/>
                <a:ea typeface="Century Gothic" charset="0"/>
                <a:cs typeface="Century Gothic" charset="0"/>
              </a:rPr>
              <a:t>4</a:t>
            </a:r>
            <a:endParaRPr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42" name="object 36"/>
          <p:cNvSpPr txBox="1"/>
          <p:nvPr/>
        </p:nvSpPr>
        <p:spPr>
          <a:xfrm>
            <a:off x="1363097" y="4238744"/>
            <a:ext cx="1628140" cy="450549"/>
          </a:xfrm>
          <a:prstGeom prst="rect">
            <a:avLst/>
          </a:prstGeom>
        </p:spPr>
        <p:txBody>
          <a:bodyPr vert="horz" wrap="square" lIns="0" tIns="19472" rIns="0" bIns="0" rtlCol="0">
            <a:spAutoFit/>
          </a:bodyPr>
          <a:lstStyle/>
          <a:p>
            <a:pPr marL="16933">
              <a:spcBef>
                <a:spcPts val="152"/>
              </a:spcBef>
              <a:buClrTx/>
            </a:pPr>
            <a:r>
              <a:rPr lang="es-ES" spc="-60">
                <a:solidFill>
                  <a:sysClr val="windowText" lastClr="000000"/>
                </a:solidFill>
                <a:latin typeface="Century Gothic" charset="0"/>
                <a:ea typeface="Century Gothic" charset="0"/>
                <a:cs typeface="Century Gothic" charset="0"/>
              </a:rPr>
              <a:t>Especialidades técnicas conocidas</a:t>
            </a:r>
            <a:endParaRPr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43" name="object 37"/>
          <p:cNvSpPr txBox="1"/>
          <p:nvPr/>
        </p:nvSpPr>
        <p:spPr>
          <a:xfrm>
            <a:off x="850359" y="4810008"/>
            <a:ext cx="229447" cy="235962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  <a:buClrTx/>
            </a:pPr>
            <a:r>
              <a:rPr lang="es-ES" spc="-33">
                <a:solidFill>
                  <a:srgbClr val="B52F2F"/>
                </a:solidFill>
                <a:latin typeface="Century Gothic" charset="0"/>
                <a:ea typeface="Century Gothic" charset="0"/>
                <a:cs typeface="Century Gothic" charset="0"/>
              </a:rPr>
              <a:t>5</a:t>
            </a:r>
            <a:endParaRPr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44" name="object 38"/>
          <p:cNvSpPr txBox="1"/>
          <p:nvPr/>
        </p:nvSpPr>
        <p:spPr>
          <a:xfrm>
            <a:off x="1363467" y="4763441"/>
            <a:ext cx="2199466" cy="451406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  <a:buClrTx/>
            </a:pPr>
            <a:r>
              <a:rPr lang="es-ES" spc="-27">
                <a:solidFill>
                  <a:sysClr val="windowText" lastClr="000000"/>
                </a:solidFill>
                <a:latin typeface="Century Gothic" charset="0"/>
                <a:ea typeface="Century Gothic" charset="0"/>
                <a:cs typeface="Century Gothic" charset="0"/>
              </a:rPr>
              <a:t>Tipo de competidores conocidos</a:t>
            </a:r>
            <a:endParaRPr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45" name="object 39"/>
          <p:cNvSpPr txBox="1"/>
          <p:nvPr/>
        </p:nvSpPr>
        <p:spPr>
          <a:xfrm>
            <a:off x="5008583" y="1406644"/>
            <a:ext cx="1070484" cy="388994"/>
          </a:xfrm>
          <a:prstGeom prst="rect">
            <a:avLst/>
          </a:prstGeom>
        </p:spPr>
        <p:txBody>
          <a:bodyPr vert="horz" wrap="square" lIns="0" tIns="19472" rIns="0" bIns="0" rtlCol="0">
            <a:spAutoFit/>
          </a:bodyPr>
          <a:lstStyle/>
          <a:p>
            <a:pPr marL="16933">
              <a:spcBef>
                <a:spcPts val="152"/>
              </a:spcBef>
              <a:buClrTx/>
            </a:pPr>
            <a:r>
              <a:rPr lang="es-ES" sz="1200">
                <a:solidFill>
                  <a:sysClr val="windowText" lastClr="000000"/>
                </a:solidFill>
                <a:latin typeface="Century Gothic" charset="0"/>
                <a:ea typeface="Century Gothic" charset="0"/>
                <a:cs typeface="Century Gothic" charset="0"/>
              </a:rPr>
              <a:t>1 paso de la adyacencia</a:t>
            </a:r>
            <a:endParaRPr sz="1200"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46" name="object 40"/>
          <p:cNvSpPr txBox="1"/>
          <p:nvPr/>
        </p:nvSpPr>
        <p:spPr>
          <a:xfrm>
            <a:off x="5215469" y="2168034"/>
            <a:ext cx="635000" cy="200910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  <a:buClrTx/>
            </a:pPr>
            <a:r>
              <a:rPr sz="1200" spc="-53">
                <a:solidFill>
                  <a:sysClr val="windowText" lastClr="000000"/>
                </a:solidFill>
                <a:latin typeface="Century Gothic" charset="0"/>
                <a:ea typeface="Century Gothic" charset="0"/>
                <a:cs typeface="Century Gothic" charset="0"/>
              </a:rPr>
              <a:t>35%</a:t>
            </a:r>
            <a:endParaRPr sz="1200"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48" name="object 42"/>
          <p:cNvSpPr txBox="1"/>
          <p:nvPr/>
        </p:nvSpPr>
        <p:spPr>
          <a:xfrm>
            <a:off x="7041508" y="2132159"/>
            <a:ext cx="633307" cy="2017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buClrTx/>
            </a:pPr>
            <a:r>
              <a:rPr sz="1200" spc="-33">
                <a:solidFill>
                  <a:sysClr val="windowText" lastClr="000000"/>
                </a:solidFill>
                <a:latin typeface="Century Gothic" charset="0"/>
                <a:ea typeface="Century Gothic" charset="0"/>
                <a:cs typeface="Century Gothic" charset="0"/>
              </a:rPr>
              <a:t>15%</a:t>
            </a:r>
            <a:endParaRPr sz="1200"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50" name="object 44"/>
          <p:cNvSpPr txBox="1"/>
          <p:nvPr/>
        </p:nvSpPr>
        <p:spPr>
          <a:xfrm>
            <a:off x="8792655" y="2100206"/>
            <a:ext cx="472440" cy="200910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  <a:buClrTx/>
            </a:pPr>
            <a:r>
              <a:rPr sz="1200" spc="-33">
                <a:solidFill>
                  <a:sysClr val="windowText" lastClr="000000"/>
                </a:solidFill>
                <a:latin typeface="Century Gothic" charset="0"/>
                <a:ea typeface="Century Gothic" charset="0"/>
                <a:cs typeface="Century Gothic" charset="0"/>
              </a:rPr>
              <a:t>8%</a:t>
            </a:r>
            <a:endParaRPr sz="1200"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51" name="object 45"/>
          <p:cNvSpPr txBox="1"/>
          <p:nvPr/>
        </p:nvSpPr>
        <p:spPr>
          <a:xfrm>
            <a:off x="10204660" y="1516709"/>
            <a:ext cx="1294553" cy="204328"/>
          </a:xfrm>
          <a:prstGeom prst="rect">
            <a:avLst/>
          </a:prstGeom>
        </p:spPr>
        <p:txBody>
          <a:bodyPr vert="horz" wrap="square" lIns="0" tIns="19472" rIns="0" bIns="0" rtlCol="0">
            <a:spAutoFit/>
          </a:bodyPr>
          <a:lstStyle/>
          <a:p>
            <a:pPr marL="16933">
              <a:spcBef>
                <a:spcPts val="152"/>
              </a:spcBef>
              <a:buClrTx/>
            </a:pPr>
            <a:r>
              <a:rPr sz="1200" spc="-13">
                <a:solidFill>
                  <a:sysClr val="windowText" lastClr="000000"/>
                </a:solidFill>
                <a:latin typeface="Century Gothic" charset="0"/>
                <a:ea typeface="Century Gothic" charset="0"/>
                <a:cs typeface="Century Gothic" charset="0"/>
              </a:rPr>
              <a:t>Diversification</a:t>
            </a:r>
            <a:endParaRPr sz="1200"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53" name="object 44"/>
          <p:cNvSpPr txBox="1"/>
          <p:nvPr/>
        </p:nvSpPr>
        <p:spPr>
          <a:xfrm>
            <a:off x="10615715" y="2167486"/>
            <a:ext cx="568099" cy="200910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  <a:buClrTx/>
            </a:pPr>
            <a:r>
              <a:rPr lang="es-ES" sz="1200" spc="-33">
                <a:solidFill>
                  <a:sysClr val="windowText" lastClr="000000"/>
                </a:solidFill>
                <a:latin typeface="Century Gothic" charset="0"/>
                <a:ea typeface="Century Gothic" charset="0"/>
                <a:cs typeface="Century Gothic" charset="0"/>
              </a:rPr>
              <a:t>-5</a:t>
            </a:r>
            <a:r>
              <a:rPr sz="1200" spc="-33">
                <a:solidFill>
                  <a:sysClr val="windowText" lastClr="000000"/>
                </a:solidFill>
                <a:latin typeface="Century Gothic" charset="0"/>
                <a:ea typeface="Century Gothic" charset="0"/>
                <a:cs typeface="Century Gothic" charset="0"/>
              </a:rPr>
              <a:t>%</a:t>
            </a:r>
            <a:endParaRPr sz="1200"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54" name="Google Shape;743;p15"/>
          <p:cNvSpPr txBox="1"/>
          <p:nvPr/>
        </p:nvSpPr>
        <p:spPr>
          <a:xfrm>
            <a:off x="321086" y="142418"/>
            <a:ext cx="12045841" cy="898982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defTabSz="914400" eaLnBrk="1" latinLnBrk="0" hangingPunct="1">
              <a:defRPr sz="2800" kern="12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err="1">
                <a:sym typeface="Century Gothic"/>
              </a:rPr>
              <a:t>Ser</a:t>
            </a:r>
            <a:r>
              <a:rPr lang="en-US">
                <a:sym typeface="Century Gothic"/>
              </a:rPr>
              <a:t> </a:t>
            </a:r>
            <a:r>
              <a:rPr lang="en-US" err="1">
                <a:sym typeface="Century Gothic"/>
              </a:rPr>
              <a:t>diciplinados</a:t>
            </a:r>
            <a:r>
              <a:rPr lang="en-US">
                <a:sym typeface="Century Gothic"/>
              </a:rPr>
              <a:t> y </a:t>
            </a:r>
            <a:r>
              <a:rPr lang="en-US" err="1">
                <a:sym typeface="Century Gothic"/>
              </a:rPr>
              <a:t>mantenerse</a:t>
            </a:r>
            <a:r>
              <a:rPr lang="en-US">
                <a:sym typeface="Century Gothic"/>
              </a:rPr>
              <a:t> </a:t>
            </a:r>
            <a:r>
              <a:rPr lang="en-US" err="1">
                <a:sym typeface="Century Gothic"/>
              </a:rPr>
              <a:t>conectados</a:t>
            </a:r>
            <a:r>
              <a:rPr lang="en-US">
                <a:sym typeface="Century Gothic"/>
              </a:rPr>
              <a:t> con el CORE </a:t>
            </a:r>
            <a:r>
              <a:rPr lang="en-US" err="1">
                <a:sym typeface="Century Gothic"/>
              </a:rPr>
              <a:t>es</a:t>
            </a:r>
            <a:r>
              <a:rPr lang="en-US">
                <a:sym typeface="Century Gothic"/>
              </a:rPr>
              <a:t> un </a:t>
            </a:r>
            <a:r>
              <a:rPr lang="en-US" err="1">
                <a:sym typeface="Century Gothic"/>
              </a:rPr>
              <a:t>elemento</a:t>
            </a:r>
            <a:r>
              <a:rPr lang="en-US">
                <a:sym typeface="Century Gothic"/>
              </a:rPr>
              <a:t> crucial a la hora del </a:t>
            </a:r>
            <a:r>
              <a:rPr lang="en-US" err="1">
                <a:sym typeface="Century Gothic"/>
              </a:rPr>
              <a:t>éxito</a:t>
            </a:r>
            <a:endParaRPr>
              <a:sym typeface="Century Gothic"/>
            </a:endParaRPr>
          </a:p>
        </p:txBody>
      </p:sp>
      <p:sp>
        <p:nvSpPr>
          <p:cNvPr id="55" name="object 39"/>
          <p:cNvSpPr txBox="1"/>
          <p:nvPr/>
        </p:nvSpPr>
        <p:spPr>
          <a:xfrm>
            <a:off x="6729158" y="1406644"/>
            <a:ext cx="1070484" cy="388994"/>
          </a:xfrm>
          <a:prstGeom prst="rect">
            <a:avLst/>
          </a:prstGeom>
        </p:spPr>
        <p:txBody>
          <a:bodyPr vert="horz" wrap="square" lIns="0" tIns="19472" rIns="0" bIns="0" rtlCol="0">
            <a:spAutoFit/>
          </a:bodyPr>
          <a:lstStyle/>
          <a:p>
            <a:pPr marL="16933">
              <a:spcBef>
                <a:spcPts val="152"/>
              </a:spcBef>
              <a:buClrTx/>
            </a:pPr>
            <a:r>
              <a:rPr lang="es-ES" sz="1200">
                <a:solidFill>
                  <a:sysClr val="windowText" lastClr="000000"/>
                </a:solidFill>
                <a:latin typeface="Century Gothic" charset="0"/>
                <a:ea typeface="Century Gothic" charset="0"/>
                <a:cs typeface="Century Gothic" charset="0"/>
              </a:rPr>
              <a:t>2 pasos de la adyacencia</a:t>
            </a:r>
            <a:endParaRPr sz="1200"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56" name="object 39"/>
          <p:cNvSpPr txBox="1"/>
          <p:nvPr/>
        </p:nvSpPr>
        <p:spPr>
          <a:xfrm>
            <a:off x="8449733" y="1392986"/>
            <a:ext cx="1070484" cy="388994"/>
          </a:xfrm>
          <a:prstGeom prst="rect">
            <a:avLst/>
          </a:prstGeom>
        </p:spPr>
        <p:txBody>
          <a:bodyPr vert="horz" wrap="square" lIns="0" tIns="19472" rIns="0" bIns="0" rtlCol="0">
            <a:spAutoFit/>
          </a:bodyPr>
          <a:lstStyle/>
          <a:p>
            <a:pPr marL="16933">
              <a:spcBef>
                <a:spcPts val="152"/>
              </a:spcBef>
              <a:buClrTx/>
            </a:pPr>
            <a:r>
              <a:rPr lang="es-ES" sz="1200">
                <a:solidFill>
                  <a:sysClr val="windowText" lastClr="000000"/>
                </a:solidFill>
                <a:latin typeface="Century Gothic" charset="0"/>
                <a:ea typeface="Century Gothic" charset="0"/>
                <a:cs typeface="Century Gothic" charset="0"/>
              </a:rPr>
              <a:t>3 pasos de la adyacencia</a:t>
            </a:r>
            <a:endParaRPr sz="1200"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2" name="Triángulo rectángulo 1"/>
          <p:cNvSpPr/>
          <p:nvPr/>
        </p:nvSpPr>
        <p:spPr>
          <a:xfrm rot="10800000">
            <a:off x="263243" y="2721095"/>
            <a:ext cx="402267" cy="2596997"/>
          </a:xfrm>
          <a:prstGeom prst="rtTriangle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" name="Elipse 2"/>
          <p:cNvSpPr/>
          <p:nvPr/>
        </p:nvSpPr>
        <p:spPr>
          <a:xfrm>
            <a:off x="4233336" y="2615534"/>
            <a:ext cx="287867" cy="28167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7" name="Elipse 56"/>
          <p:cNvSpPr/>
          <p:nvPr/>
        </p:nvSpPr>
        <p:spPr>
          <a:xfrm>
            <a:off x="4233336" y="3174397"/>
            <a:ext cx="287867" cy="28167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8" name="Elipse 57"/>
          <p:cNvSpPr/>
          <p:nvPr/>
        </p:nvSpPr>
        <p:spPr>
          <a:xfrm>
            <a:off x="4233336" y="3717173"/>
            <a:ext cx="287867" cy="28167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9" name="Elipse 58"/>
          <p:cNvSpPr/>
          <p:nvPr/>
        </p:nvSpPr>
        <p:spPr>
          <a:xfrm>
            <a:off x="4233336" y="4276036"/>
            <a:ext cx="287867" cy="28167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0" name="Elipse 59"/>
          <p:cNvSpPr/>
          <p:nvPr/>
        </p:nvSpPr>
        <p:spPr>
          <a:xfrm>
            <a:off x="4233001" y="4838060"/>
            <a:ext cx="287867" cy="28167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" name="Elipse 3"/>
          <p:cNvSpPr/>
          <p:nvPr/>
        </p:nvSpPr>
        <p:spPr>
          <a:xfrm>
            <a:off x="5217861" y="4810008"/>
            <a:ext cx="304800" cy="306472"/>
          </a:xfrm>
          <a:prstGeom prst="ellipse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9" name="Elipse 48"/>
          <p:cNvSpPr/>
          <p:nvPr/>
        </p:nvSpPr>
        <p:spPr>
          <a:xfrm>
            <a:off x="7010402" y="4810008"/>
            <a:ext cx="304800" cy="306472"/>
          </a:xfrm>
          <a:prstGeom prst="ellipse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2" name="Elipse 51"/>
          <p:cNvSpPr/>
          <p:nvPr/>
        </p:nvSpPr>
        <p:spPr>
          <a:xfrm>
            <a:off x="7010402" y="3667970"/>
            <a:ext cx="304800" cy="306472"/>
          </a:xfrm>
          <a:prstGeom prst="ellipse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1" name="Elipse 60"/>
          <p:cNvSpPr/>
          <p:nvPr/>
        </p:nvSpPr>
        <p:spPr>
          <a:xfrm>
            <a:off x="7010402" y="3146996"/>
            <a:ext cx="304800" cy="306472"/>
          </a:xfrm>
          <a:prstGeom prst="ellipse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2" name="Elipse 61"/>
          <p:cNvSpPr/>
          <p:nvPr/>
        </p:nvSpPr>
        <p:spPr>
          <a:xfrm>
            <a:off x="7010402" y="2650020"/>
            <a:ext cx="304800" cy="306472"/>
          </a:xfrm>
          <a:prstGeom prst="ellipse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3" name="Elipse 62"/>
          <p:cNvSpPr/>
          <p:nvPr/>
        </p:nvSpPr>
        <p:spPr>
          <a:xfrm>
            <a:off x="8792655" y="2621403"/>
            <a:ext cx="304800" cy="306472"/>
          </a:xfrm>
          <a:prstGeom prst="ellipse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4" name="Elipse 63"/>
          <p:cNvSpPr/>
          <p:nvPr/>
        </p:nvSpPr>
        <p:spPr>
          <a:xfrm>
            <a:off x="8805335" y="3152865"/>
            <a:ext cx="304800" cy="306472"/>
          </a:xfrm>
          <a:prstGeom prst="ellipse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5" name="Elipse 64"/>
          <p:cNvSpPr/>
          <p:nvPr/>
        </p:nvSpPr>
        <p:spPr>
          <a:xfrm>
            <a:off x="8805335" y="3675989"/>
            <a:ext cx="304800" cy="306472"/>
          </a:xfrm>
          <a:prstGeom prst="ellipse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6" name="Elipse 65"/>
          <p:cNvSpPr/>
          <p:nvPr/>
        </p:nvSpPr>
        <p:spPr>
          <a:xfrm>
            <a:off x="8805335" y="4196333"/>
            <a:ext cx="304800" cy="306472"/>
          </a:xfrm>
          <a:prstGeom prst="ellipse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7" name="Elipse 66"/>
          <p:cNvSpPr/>
          <p:nvPr/>
        </p:nvSpPr>
        <p:spPr>
          <a:xfrm>
            <a:off x="8805335" y="4813001"/>
            <a:ext cx="304800" cy="306472"/>
          </a:xfrm>
          <a:prstGeom prst="ellipse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8" name="Elipse 67"/>
          <p:cNvSpPr/>
          <p:nvPr/>
        </p:nvSpPr>
        <p:spPr>
          <a:xfrm>
            <a:off x="10594964" y="2609016"/>
            <a:ext cx="304800" cy="306472"/>
          </a:xfrm>
          <a:prstGeom prst="ellipse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9" name="Elipse 68"/>
          <p:cNvSpPr/>
          <p:nvPr/>
        </p:nvSpPr>
        <p:spPr>
          <a:xfrm>
            <a:off x="10610828" y="3156108"/>
            <a:ext cx="304800" cy="306472"/>
          </a:xfrm>
          <a:prstGeom prst="ellipse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0" name="Elipse 69"/>
          <p:cNvSpPr/>
          <p:nvPr/>
        </p:nvSpPr>
        <p:spPr>
          <a:xfrm>
            <a:off x="10600269" y="3663443"/>
            <a:ext cx="304800" cy="306472"/>
          </a:xfrm>
          <a:prstGeom prst="ellipse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1" name="Elipse 70"/>
          <p:cNvSpPr/>
          <p:nvPr/>
        </p:nvSpPr>
        <p:spPr>
          <a:xfrm>
            <a:off x="10610828" y="4210535"/>
            <a:ext cx="304800" cy="306472"/>
          </a:xfrm>
          <a:prstGeom prst="ellipse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2" name="Elipse 71"/>
          <p:cNvSpPr/>
          <p:nvPr/>
        </p:nvSpPr>
        <p:spPr>
          <a:xfrm>
            <a:off x="10610828" y="4825660"/>
            <a:ext cx="304800" cy="306472"/>
          </a:xfrm>
          <a:prstGeom prst="ellipse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219467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 txBox="1"/>
          <p:nvPr/>
        </p:nvSpPr>
        <p:spPr>
          <a:xfrm>
            <a:off x="4080933" y="1371600"/>
            <a:ext cx="685800" cy="62239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txBody>
          <a:bodyPr vert="horz" wrap="square" lIns="0" tIns="250613" rIns="0" bIns="0" rtlCol="0">
            <a:spAutoFit/>
          </a:bodyPr>
          <a:lstStyle/>
          <a:p>
            <a:pPr>
              <a:spcBef>
                <a:spcPts val="1973"/>
              </a:spcBef>
              <a:buClrTx/>
            </a:pPr>
            <a:endParaRPr sz="1200"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  <a:p>
            <a:pPr marL="70272">
              <a:buClrTx/>
            </a:pPr>
            <a:r>
              <a:rPr lang="es-ES" sz="1200" spc="-27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rPr>
              <a:t>CORE</a:t>
            </a:r>
            <a:endParaRPr sz="1200"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10" name="object 3"/>
          <p:cNvSpPr/>
          <p:nvPr/>
        </p:nvSpPr>
        <p:spPr>
          <a:xfrm>
            <a:off x="699967" y="5605907"/>
            <a:ext cx="11108267" cy="829733"/>
          </a:xfrm>
          <a:custGeom>
            <a:avLst/>
            <a:gdLst/>
            <a:ahLst/>
            <a:cxnLst/>
            <a:rect l="l" t="t" r="r" b="b"/>
            <a:pathLst>
              <a:path w="8331200" h="622300">
                <a:moveTo>
                  <a:pt x="8331198" y="622299"/>
                </a:moveTo>
                <a:lnTo>
                  <a:pt x="0" y="622299"/>
                </a:lnTo>
                <a:lnTo>
                  <a:pt x="0" y="0"/>
                </a:lnTo>
                <a:lnTo>
                  <a:pt x="8331198" y="0"/>
                </a:lnTo>
                <a:lnTo>
                  <a:pt x="8331198" y="6222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>
              <a:buClrTx/>
              <a:buFontTx/>
              <a:buNone/>
            </a:pPr>
            <a:endParaRPr sz="1200"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11" name="object 4"/>
          <p:cNvSpPr txBox="1"/>
          <p:nvPr/>
        </p:nvSpPr>
        <p:spPr>
          <a:xfrm>
            <a:off x="949571" y="5771444"/>
            <a:ext cx="2908300" cy="388994"/>
          </a:xfrm>
          <a:prstGeom prst="rect">
            <a:avLst/>
          </a:prstGeom>
        </p:spPr>
        <p:txBody>
          <a:bodyPr vert="horz" wrap="square" lIns="0" tIns="19472" rIns="0" bIns="0" rtlCol="0">
            <a:spAutoFit/>
          </a:bodyPr>
          <a:lstStyle/>
          <a:p>
            <a:pPr marL="16933">
              <a:spcBef>
                <a:spcPts val="152"/>
              </a:spcBef>
              <a:buClrTx/>
            </a:pPr>
            <a:r>
              <a:rPr lang="es-ES" sz="1200" spc="8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rPr>
              <a:t>Distancia económica desde el CORE</a:t>
            </a:r>
            <a:endParaRPr sz="1200"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12" name="object 5"/>
          <p:cNvSpPr txBox="1"/>
          <p:nvPr/>
        </p:nvSpPr>
        <p:spPr>
          <a:xfrm>
            <a:off x="4743873" y="5661073"/>
            <a:ext cx="3451860" cy="664114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 marR="472428">
              <a:lnSpc>
                <a:spcPct val="115100"/>
              </a:lnSpc>
              <a:spcBef>
                <a:spcPts val="127"/>
              </a:spcBef>
              <a:buClrTx/>
            </a:pPr>
            <a:r>
              <a:rPr lang="es-ES" sz="120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rPr>
              <a:t>Menor ventaja competitiva</a:t>
            </a:r>
          </a:p>
          <a:p>
            <a:pPr marL="16933" marR="472428">
              <a:lnSpc>
                <a:spcPct val="115100"/>
              </a:lnSpc>
              <a:spcBef>
                <a:spcPts val="127"/>
              </a:spcBef>
              <a:buClrTx/>
            </a:pPr>
            <a:r>
              <a:rPr lang="es-ES" sz="120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rPr>
              <a:t>Menor potencial de generar valor</a:t>
            </a:r>
            <a:endParaRPr sz="1200"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  <a:p>
            <a:pPr marL="16933">
              <a:spcBef>
                <a:spcPts val="187"/>
              </a:spcBef>
              <a:buClrTx/>
            </a:pPr>
            <a:r>
              <a:rPr lang="es-ES" sz="120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rPr>
              <a:t>Menor participación y lealtad con clientes</a:t>
            </a:r>
            <a:endParaRPr sz="1200"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pic>
        <p:nvPicPr>
          <p:cNvPr id="18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15469" y="2641601"/>
            <a:ext cx="304800" cy="313267"/>
          </a:xfrm>
          <a:prstGeom prst="rect">
            <a:avLst/>
          </a:prstGeom>
        </p:spPr>
      </p:pic>
      <p:pic>
        <p:nvPicPr>
          <p:cNvPr id="19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15469" y="3174397"/>
            <a:ext cx="304800" cy="313267"/>
          </a:xfrm>
          <a:prstGeom prst="rect">
            <a:avLst/>
          </a:prstGeom>
        </p:spPr>
      </p:pic>
      <p:pic>
        <p:nvPicPr>
          <p:cNvPr id="20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15469" y="3733491"/>
            <a:ext cx="304800" cy="304800"/>
          </a:xfrm>
          <a:prstGeom prst="rect">
            <a:avLst/>
          </a:prstGeom>
        </p:spPr>
      </p:pic>
      <p:pic>
        <p:nvPicPr>
          <p:cNvPr id="21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30561" y="4233821"/>
            <a:ext cx="304800" cy="304800"/>
          </a:xfrm>
          <a:prstGeom prst="rect">
            <a:avLst/>
          </a:prstGeom>
        </p:spPr>
      </p:pic>
      <p:pic>
        <p:nvPicPr>
          <p:cNvPr id="22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67869" y="4811680"/>
            <a:ext cx="152400" cy="304800"/>
          </a:xfrm>
          <a:prstGeom prst="rect">
            <a:avLst/>
          </a:prstGeom>
        </p:spPr>
      </p:pic>
      <p:pic>
        <p:nvPicPr>
          <p:cNvPr id="31" name="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819467" y="6705600"/>
            <a:ext cx="33867" cy="76200"/>
          </a:xfrm>
          <a:prstGeom prst="rect">
            <a:avLst/>
          </a:prstGeom>
        </p:spPr>
      </p:pic>
      <p:sp>
        <p:nvSpPr>
          <p:cNvPr id="33" name="object 27"/>
          <p:cNvSpPr txBox="1"/>
          <p:nvPr/>
        </p:nvSpPr>
        <p:spPr>
          <a:xfrm>
            <a:off x="1120298" y="1524940"/>
            <a:ext cx="3268496" cy="26674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  <a:buClrTx/>
            </a:pPr>
            <a:r>
              <a:rPr lang="es-ES" sz="1600">
                <a:solidFill>
                  <a:sysClr val="windowText" lastClr="000000"/>
                </a:solidFill>
                <a:latin typeface="Century Gothic" charset="0"/>
                <a:ea typeface="Century Gothic" charset="0"/>
                <a:cs typeface="Century Gothic" charset="0"/>
              </a:rPr>
              <a:t>Relación con el CORE</a:t>
            </a:r>
            <a:endParaRPr sz="1600"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5" name="object 29"/>
          <p:cNvSpPr txBox="1"/>
          <p:nvPr/>
        </p:nvSpPr>
        <p:spPr>
          <a:xfrm>
            <a:off x="849925" y="2719212"/>
            <a:ext cx="259080" cy="235106"/>
          </a:xfrm>
          <a:prstGeom prst="rect">
            <a:avLst/>
          </a:prstGeom>
        </p:spPr>
        <p:txBody>
          <a:bodyPr vert="horz" wrap="square" lIns="0" tIns="19472" rIns="0" bIns="0" rtlCol="0">
            <a:spAutoFit/>
          </a:bodyPr>
          <a:lstStyle/>
          <a:p>
            <a:pPr marL="16933">
              <a:spcBef>
                <a:spcPts val="152"/>
              </a:spcBef>
              <a:buClrTx/>
            </a:pPr>
            <a:r>
              <a:rPr spc="60">
                <a:solidFill>
                  <a:srgbClr val="B52F2F"/>
                </a:solidFill>
                <a:latin typeface="Century Gothic" charset="0"/>
                <a:ea typeface="Century Gothic" charset="0"/>
                <a:cs typeface="Century Gothic" charset="0"/>
              </a:rPr>
              <a:t>1</a:t>
            </a:r>
            <a:endParaRPr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6" name="object 30"/>
          <p:cNvSpPr txBox="1"/>
          <p:nvPr/>
        </p:nvSpPr>
        <p:spPr>
          <a:xfrm>
            <a:off x="1362728" y="2672645"/>
            <a:ext cx="2057472" cy="235106"/>
          </a:xfrm>
          <a:prstGeom prst="rect">
            <a:avLst/>
          </a:prstGeom>
        </p:spPr>
        <p:txBody>
          <a:bodyPr vert="horz" wrap="square" lIns="0" tIns="19472" rIns="0" bIns="0" rtlCol="0">
            <a:spAutoFit/>
          </a:bodyPr>
          <a:lstStyle/>
          <a:p>
            <a:pPr marL="16933">
              <a:spcBef>
                <a:spcPts val="152"/>
              </a:spcBef>
              <a:buClrTx/>
            </a:pPr>
            <a:r>
              <a:rPr lang="es-ES" spc="-107">
                <a:solidFill>
                  <a:sysClr val="windowText" lastClr="000000"/>
                </a:solidFill>
                <a:latin typeface="Century Gothic" charset="0"/>
                <a:ea typeface="Century Gothic" charset="0"/>
                <a:cs typeface="Century Gothic" charset="0"/>
              </a:rPr>
              <a:t>Tipo de clientes conocidos</a:t>
            </a:r>
            <a:endParaRPr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7" name="object 31"/>
          <p:cNvSpPr txBox="1"/>
          <p:nvPr/>
        </p:nvSpPr>
        <p:spPr>
          <a:xfrm>
            <a:off x="846358" y="3219216"/>
            <a:ext cx="232833" cy="234252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16933">
              <a:spcBef>
                <a:spcPts val="147"/>
              </a:spcBef>
              <a:buClrTx/>
            </a:pPr>
            <a:r>
              <a:rPr spc="-33">
                <a:solidFill>
                  <a:srgbClr val="B52F2F"/>
                </a:solidFill>
                <a:latin typeface="Century Gothic" charset="0"/>
                <a:ea typeface="Century Gothic" charset="0"/>
                <a:cs typeface="Century Gothic" charset="0"/>
              </a:rPr>
              <a:t>2</a:t>
            </a:r>
            <a:endParaRPr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8" name="object 32"/>
          <p:cNvSpPr txBox="1"/>
          <p:nvPr/>
        </p:nvSpPr>
        <p:spPr>
          <a:xfrm>
            <a:off x="1357710" y="3091969"/>
            <a:ext cx="1978821" cy="449696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16933">
              <a:spcBef>
                <a:spcPts val="147"/>
              </a:spcBef>
              <a:buClrTx/>
            </a:pPr>
            <a:r>
              <a:rPr lang="es-ES" spc="-107">
                <a:solidFill>
                  <a:sysClr val="windowText" lastClr="000000"/>
                </a:solidFill>
                <a:latin typeface="Century Gothic" charset="0"/>
                <a:ea typeface="Century Gothic" charset="0"/>
                <a:cs typeface="Century Gothic" charset="0"/>
              </a:rPr>
              <a:t>Estructura de costos conocidos</a:t>
            </a:r>
            <a:endParaRPr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9" name="object 33"/>
          <p:cNvSpPr txBox="1"/>
          <p:nvPr/>
        </p:nvSpPr>
        <p:spPr>
          <a:xfrm>
            <a:off x="844498" y="3727451"/>
            <a:ext cx="240453" cy="234252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16933">
              <a:spcBef>
                <a:spcPts val="147"/>
              </a:spcBef>
              <a:buClrTx/>
            </a:pPr>
            <a:r>
              <a:rPr spc="-33">
                <a:solidFill>
                  <a:srgbClr val="B13133"/>
                </a:solidFill>
                <a:latin typeface="Century Gothic" charset="0"/>
                <a:ea typeface="Century Gothic" charset="0"/>
                <a:cs typeface="Century Gothic" charset="0"/>
              </a:rPr>
              <a:t>3</a:t>
            </a:r>
            <a:endParaRPr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40" name="object 34"/>
          <p:cNvSpPr txBox="1"/>
          <p:nvPr/>
        </p:nvSpPr>
        <p:spPr>
          <a:xfrm>
            <a:off x="1357710" y="3689351"/>
            <a:ext cx="2062489" cy="449696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16933">
              <a:spcBef>
                <a:spcPts val="147"/>
              </a:spcBef>
              <a:buClrTx/>
            </a:pPr>
            <a:r>
              <a:rPr lang="es-ES" spc="-80">
                <a:solidFill>
                  <a:sysClr val="windowText" lastClr="000000"/>
                </a:solidFill>
                <a:latin typeface="Century Gothic" charset="0"/>
                <a:ea typeface="Century Gothic" charset="0"/>
                <a:cs typeface="Century Gothic" charset="0"/>
              </a:rPr>
              <a:t>Ámbitos de acción conocidos</a:t>
            </a:r>
            <a:endParaRPr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41" name="object 35"/>
          <p:cNvSpPr txBox="1"/>
          <p:nvPr/>
        </p:nvSpPr>
        <p:spPr>
          <a:xfrm>
            <a:off x="850141" y="4285311"/>
            <a:ext cx="228600" cy="235106"/>
          </a:xfrm>
          <a:prstGeom prst="rect">
            <a:avLst/>
          </a:prstGeom>
        </p:spPr>
        <p:txBody>
          <a:bodyPr vert="horz" wrap="square" lIns="0" tIns="19472" rIns="0" bIns="0" rtlCol="0">
            <a:spAutoFit/>
          </a:bodyPr>
          <a:lstStyle/>
          <a:p>
            <a:pPr marL="16933">
              <a:spcBef>
                <a:spcPts val="152"/>
              </a:spcBef>
              <a:buClrTx/>
            </a:pPr>
            <a:r>
              <a:rPr spc="-33">
                <a:solidFill>
                  <a:srgbClr val="B52F2F"/>
                </a:solidFill>
                <a:latin typeface="Century Gothic" charset="0"/>
                <a:ea typeface="Century Gothic" charset="0"/>
                <a:cs typeface="Century Gothic" charset="0"/>
              </a:rPr>
              <a:t>4</a:t>
            </a:r>
            <a:endParaRPr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42" name="object 36"/>
          <p:cNvSpPr txBox="1"/>
          <p:nvPr/>
        </p:nvSpPr>
        <p:spPr>
          <a:xfrm>
            <a:off x="1363097" y="4238744"/>
            <a:ext cx="1628140" cy="450549"/>
          </a:xfrm>
          <a:prstGeom prst="rect">
            <a:avLst/>
          </a:prstGeom>
        </p:spPr>
        <p:txBody>
          <a:bodyPr vert="horz" wrap="square" lIns="0" tIns="19472" rIns="0" bIns="0" rtlCol="0">
            <a:spAutoFit/>
          </a:bodyPr>
          <a:lstStyle/>
          <a:p>
            <a:pPr marL="16933">
              <a:spcBef>
                <a:spcPts val="152"/>
              </a:spcBef>
              <a:buClrTx/>
            </a:pPr>
            <a:r>
              <a:rPr lang="es-ES" spc="-60">
                <a:solidFill>
                  <a:sysClr val="windowText" lastClr="000000"/>
                </a:solidFill>
                <a:latin typeface="Century Gothic" charset="0"/>
                <a:ea typeface="Century Gothic" charset="0"/>
                <a:cs typeface="Century Gothic" charset="0"/>
              </a:rPr>
              <a:t>Especialidades técnicas conocidas</a:t>
            </a:r>
            <a:endParaRPr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43" name="object 37"/>
          <p:cNvSpPr txBox="1"/>
          <p:nvPr/>
        </p:nvSpPr>
        <p:spPr>
          <a:xfrm>
            <a:off x="850359" y="4810008"/>
            <a:ext cx="229447" cy="235962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  <a:buClrTx/>
            </a:pPr>
            <a:r>
              <a:rPr lang="es-ES" spc="-33">
                <a:solidFill>
                  <a:srgbClr val="B52F2F"/>
                </a:solidFill>
                <a:latin typeface="Century Gothic" charset="0"/>
                <a:ea typeface="Century Gothic" charset="0"/>
                <a:cs typeface="Century Gothic" charset="0"/>
              </a:rPr>
              <a:t>5</a:t>
            </a:r>
            <a:endParaRPr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44" name="object 38"/>
          <p:cNvSpPr txBox="1"/>
          <p:nvPr/>
        </p:nvSpPr>
        <p:spPr>
          <a:xfrm>
            <a:off x="1363467" y="4763441"/>
            <a:ext cx="2199466" cy="451406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  <a:buClrTx/>
            </a:pPr>
            <a:r>
              <a:rPr lang="es-ES" spc="-27">
                <a:solidFill>
                  <a:sysClr val="windowText" lastClr="000000"/>
                </a:solidFill>
                <a:latin typeface="Century Gothic" charset="0"/>
                <a:ea typeface="Century Gothic" charset="0"/>
                <a:cs typeface="Century Gothic" charset="0"/>
              </a:rPr>
              <a:t>Tipo de competidores conocidos</a:t>
            </a:r>
            <a:endParaRPr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45" name="object 39"/>
          <p:cNvSpPr txBox="1"/>
          <p:nvPr/>
        </p:nvSpPr>
        <p:spPr>
          <a:xfrm>
            <a:off x="4832627" y="1548245"/>
            <a:ext cx="1070484" cy="204328"/>
          </a:xfrm>
          <a:prstGeom prst="rect">
            <a:avLst/>
          </a:prstGeom>
        </p:spPr>
        <p:txBody>
          <a:bodyPr vert="horz" wrap="square" lIns="0" tIns="19472" rIns="0" bIns="0" rtlCol="0">
            <a:spAutoFit/>
          </a:bodyPr>
          <a:lstStyle/>
          <a:p>
            <a:pPr marL="16933" algn="ctr">
              <a:spcBef>
                <a:spcPts val="152"/>
              </a:spcBef>
              <a:buClrTx/>
            </a:pPr>
            <a:r>
              <a:rPr lang="es-ES" sz="1200">
                <a:solidFill>
                  <a:sysClr val="windowText" lastClr="000000"/>
                </a:solidFill>
                <a:latin typeface="Century Gothic" charset="0"/>
                <a:ea typeface="Century Gothic" charset="0"/>
                <a:cs typeface="Century Gothic" charset="0"/>
              </a:rPr>
              <a:t>USA</a:t>
            </a:r>
            <a:endParaRPr sz="1200"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54" name="Google Shape;743;p15"/>
          <p:cNvSpPr txBox="1"/>
          <p:nvPr/>
        </p:nvSpPr>
        <p:spPr>
          <a:xfrm>
            <a:off x="321086" y="142418"/>
            <a:ext cx="12045841" cy="898982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defTabSz="914400" eaLnBrk="1" latinLnBrk="0" hangingPunct="1">
              <a:defRPr sz="2800" kern="12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err="1">
                <a:sym typeface="Century Gothic"/>
              </a:rPr>
              <a:t>Ser</a:t>
            </a:r>
            <a:r>
              <a:rPr lang="en-US">
                <a:sym typeface="Century Gothic"/>
              </a:rPr>
              <a:t> </a:t>
            </a:r>
            <a:r>
              <a:rPr lang="en-US" err="1">
                <a:sym typeface="Century Gothic"/>
              </a:rPr>
              <a:t>diciplinados</a:t>
            </a:r>
            <a:r>
              <a:rPr lang="en-US">
                <a:sym typeface="Century Gothic"/>
              </a:rPr>
              <a:t> y </a:t>
            </a:r>
            <a:r>
              <a:rPr lang="en-US" err="1">
                <a:sym typeface="Century Gothic"/>
              </a:rPr>
              <a:t>mantenerse</a:t>
            </a:r>
            <a:r>
              <a:rPr lang="en-US">
                <a:sym typeface="Century Gothic"/>
              </a:rPr>
              <a:t> </a:t>
            </a:r>
            <a:r>
              <a:rPr lang="en-US" err="1">
                <a:sym typeface="Century Gothic"/>
              </a:rPr>
              <a:t>conectados</a:t>
            </a:r>
            <a:r>
              <a:rPr lang="en-US">
                <a:sym typeface="Century Gothic"/>
              </a:rPr>
              <a:t> con el CORE </a:t>
            </a:r>
            <a:r>
              <a:rPr lang="en-US" err="1">
                <a:sym typeface="Century Gothic"/>
              </a:rPr>
              <a:t>es</a:t>
            </a:r>
            <a:r>
              <a:rPr lang="en-US">
                <a:sym typeface="Century Gothic"/>
              </a:rPr>
              <a:t> un </a:t>
            </a:r>
            <a:r>
              <a:rPr lang="en-US" err="1">
                <a:sym typeface="Century Gothic"/>
              </a:rPr>
              <a:t>elemento</a:t>
            </a:r>
            <a:r>
              <a:rPr lang="en-US">
                <a:sym typeface="Century Gothic"/>
              </a:rPr>
              <a:t> crucial a la hora del </a:t>
            </a:r>
            <a:r>
              <a:rPr lang="en-US" err="1">
                <a:sym typeface="Century Gothic"/>
              </a:rPr>
              <a:t>éxito</a:t>
            </a:r>
            <a:endParaRPr>
              <a:sym typeface="Century Gothic"/>
            </a:endParaRPr>
          </a:p>
        </p:txBody>
      </p:sp>
      <p:sp>
        <p:nvSpPr>
          <p:cNvPr id="2" name="Triángulo rectángulo 1"/>
          <p:cNvSpPr/>
          <p:nvPr/>
        </p:nvSpPr>
        <p:spPr>
          <a:xfrm rot="10800000">
            <a:off x="263243" y="2721095"/>
            <a:ext cx="402267" cy="2596997"/>
          </a:xfrm>
          <a:prstGeom prst="rtTriangle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" name="Elipse 2"/>
          <p:cNvSpPr/>
          <p:nvPr/>
        </p:nvSpPr>
        <p:spPr>
          <a:xfrm>
            <a:off x="4233336" y="2615534"/>
            <a:ext cx="287867" cy="28167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7" name="Elipse 56"/>
          <p:cNvSpPr/>
          <p:nvPr/>
        </p:nvSpPr>
        <p:spPr>
          <a:xfrm>
            <a:off x="4233336" y="3174397"/>
            <a:ext cx="287867" cy="28167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8" name="Elipse 57"/>
          <p:cNvSpPr/>
          <p:nvPr/>
        </p:nvSpPr>
        <p:spPr>
          <a:xfrm>
            <a:off x="4233336" y="3717173"/>
            <a:ext cx="287867" cy="28167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9" name="Elipse 58"/>
          <p:cNvSpPr/>
          <p:nvPr/>
        </p:nvSpPr>
        <p:spPr>
          <a:xfrm>
            <a:off x="4233336" y="4276036"/>
            <a:ext cx="287867" cy="28167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0" name="Elipse 59"/>
          <p:cNvSpPr/>
          <p:nvPr/>
        </p:nvSpPr>
        <p:spPr>
          <a:xfrm>
            <a:off x="4233001" y="4838060"/>
            <a:ext cx="287867" cy="28167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7" name="object 30"/>
          <p:cNvSpPr txBox="1"/>
          <p:nvPr/>
        </p:nvSpPr>
        <p:spPr>
          <a:xfrm>
            <a:off x="6138261" y="2625043"/>
            <a:ext cx="3381956" cy="235106"/>
          </a:xfrm>
          <a:prstGeom prst="rect">
            <a:avLst/>
          </a:prstGeom>
        </p:spPr>
        <p:txBody>
          <a:bodyPr vert="horz" wrap="square" lIns="0" tIns="19472" rIns="0" bIns="0" rtlCol="0">
            <a:spAutoFit/>
          </a:bodyPr>
          <a:lstStyle/>
          <a:p>
            <a:pPr marL="16933">
              <a:spcBef>
                <a:spcPts val="152"/>
              </a:spcBef>
              <a:buClrTx/>
            </a:pPr>
            <a:r>
              <a:rPr lang="es-ES" spc="-107">
                <a:solidFill>
                  <a:sysClr val="windowText" lastClr="000000"/>
                </a:solidFill>
                <a:latin typeface="Century Gothic" charset="0"/>
                <a:ea typeface="Century Gothic" charset="0"/>
                <a:cs typeface="Century Gothic" charset="0"/>
              </a:rPr>
              <a:t>Entramos en clientes minero </a:t>
            </a:r>
            <a:endParaRPr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49" name="object 30"/>
          <p:cNvSpPr txBox="1"/>
          <p:nvPr/>
        </p:nvSpPr>
        <p:spPr>
          <a:xfrm>
            <a:off x="6112788" y="3095924"/>
            <a:ext cx="3381956" cy="235106"/>
          </a:xfrm>
          <a:prstGeom prst="rect">
            <a:avLst/>
          </a:prstGeom>
        </p:spPr>
        <p:txBody>
          <a:bodyPr vert="horz" wrap="square" lIns="0" tIns="19472" rIns="0" bIns="0" rtlCol="0">
            <a:spAutoFit/>
          </a:bodyPr>
          <a:lstStyle/>
          <a:p>
            <a:pPr marL="16933">
              <a:spcBef>
                <a:spcPts val="152"/>
              </a:spcBef>
              <a:buClrTx/>
            </a:pPr>
            <a:r>
              <a:rPr lang="es-ES" spc="-107">
                <a:solidFill>
                  <a:sysClr val="windowText" lastClr="000000"/>
                </a:solidFill>
                <a:latin typeface="Century Gothic" charset="0"/>
                <a:ea typeface="Century Gothic" charset="0"/>
                <a:cs typeface="Century Gothic" charset="0"/>
              </a:rPr>
              <a:t>Mantenemos los costos conocidos de Chile</a:t>
            </a:r>
            <a:endParaRPr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52" name="object 30"/>
          <p:cNvSpPr txBox="1"/>
          <p:nvPr/>
        </p:nvSpPr>
        <p:spPr>
          <a:xfrm>
            <a:off x="6138260" y="3648225"/>
            <a:ext cx="4504339" cy="235106"/>
          </a:xfrm>
          <a:prstGeom prst="rect">
            <a:avLst/>
          </a:prstGeom>
        </p:spPr>
        <p:txBody>
          <a:bodyPr vert="horz" wrap="square" lIns="0" tIns="19472" rIns="0" bIns="0" rtlCol="0">
            <a:spAutoFit/>
          </a:bodyPr>
          <a:lstStyle/>
          <a:p>
            <a:pPr marL="16933">
              <a:spcBef>
                <a:spcPts val="152"/>
              </a:spcBef>
              <a:buClrTx/>
            </a:pPr>
            <a:r>
              <a:rPr lang="es-ES" spc="-107">
                <a:solidFill>
                  <a:sysClr val="windowText" lastClr="000000"/>
                </a:solidFill>
                <a:latin typeface="Century Gothic" charset="0"/>
                <a:ea typeface="Century Gothic" charset="0"/>
                <a:cs typeface="Century Gothic" charset="0"/>
              </a:rPr>
              <a:t>Entramos con proyectos de planificación minera</a:t>
            </a:r>
            <a:endParaRPr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61" name="object 30"/>
          <p:cNvSpPr txBox="1"/>
          <p:nvPr/>
        </p:nvSpPr>
        <p:spPr>
          <a:xfrm>
            <a:off x="6112787" y="4208162"/>
            <a:ext cx="3987623" cy="235106"/>
          </a:xfrm>
          <a:prstGeom prst="rect">
            <a:avLst/>
          </a:prstGeom>
        </p:spPr>
        <p:txBody>
          <a:bodyPr vert="horz" wrap="square" lIns="0" tIns="19472" rIns="0" bIns="0" rtlCol="0">
            <a:spAutoFit/>
          </a:bodyPr>
          <a:lstStyle/>
          <a:p>
            <a:pPr marL="16933">
              <a:spcBef>
                <a:spcPts val="152"/>
              </a:spcBef>
              <a:buClrTx/>
            </a:pPr>
            <a:r>
              <a:rPr lang="es-ES" spc="-107">
                <a:solidFill>
                  <a:sysClr val="windowText" lastClr="000000"/>
                </a:solidFill>
                <a:latin typeface="Century Gothic" charset="0"/>
                <a:ea typeface="Century Gothic" charset="0"/>
                <a:cs typeface="Century Gothic" charset="0"/>
              </a:rPr>
              <a:t>Entramos con proyectos en minería</a:t>
            </a:r>
            <a:endParaRPr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62" name="object 30"/>
          <p:cNvSpPr txBox="1"/>
          <p:nvPr/>
        </p:nvSpPr>
        <p:spPr>
          <a:xfrm>
            <a:off x="6112788" y="4784711"/>
            <a:ext cx="5114012" cy="450549"/>
          </a:xfrm>
          <a:prstGeom prst="rect">
            <a:avLst/>
          </a:prstGeom>
        </p:spPr>
        <p:txBody>
          <a:bodyPr vert="horz" wrap="square" lIns="0" tIns="19472" rIns="0" bIns="0" rtlCol="0">
            <a:spAutoFit/>
          </a:bodyPr>
          <a:lstStyle/>
          <a:p>
            <a:pPr marL="16933">
              <a:spcBef>
                <a:spcPts val="152"/>
              </a:spcBef>
              <a:buClrTx/>
            </a:pPr>
            <a:r>
              <a:rPr lang="es-ES" spc="-107">
                <a:solidFill>
                  <a:sysClr val="windowText" lastClr="000000"/>
                </a:solidFill>
                <a:latin typeface="Century Gothic" charset="0"/>
                <a:ea typeface="Century Gothic" charset="0"/>
                <a:cs typeface="Century Gothic" charset="0"/>
              </a:rPr>
              <a:t>Percibimos que tenemos espacios de ganar con los competidores presentes en las distintas licitaciones y/o conversaciones</a:t>
            </a:r>
            <a:endParaRPr>
              <a:solidFill>
                <a:sysClr val="windowText" lastClr="0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63" name="Elipse 62"/>
          <p:cNvSpPr/>
          <p:nvPr/>
        </p:nvSpPr>
        <p:spPr>
          <a:xfrm>
            <a:off x="5217861" y="4810008"/>
            <a:ext cx="304800" cy="306472"/>
          </a:xfrm>
          <a:prstGeom prst="ellipse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205345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2658" y="282048"/>
            <a:ext cx="11434542" cy="87312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/>
            </a:pPr>
            <a:r>
              <a:rPr lang="es-ES_tradnl" sz="2800" kern="12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  <a:sym typeface="Arial"/>
              </a:rPr>
              <a:t>Analizamos y vemos que son altas las probabilidades de éxito creciendo en países y/o tipo de clientes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13466"/>
            <a:ext cx="5967999" cy="4063999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0"/>
          <a:stretch/>
        </p:blipFill>
        <p:spPr>
          <a:xfrm>
            <a:off x="5746728" y="1676400"/>
            <a:ext cx="6463748" cy="417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7560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7" descr="Imagen que contiene persona, alimentos, hombre, cerca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 l="23048" r="23048"/>
          <a:stretch/>
        </p:blipFill>
        <p:spPr>
          <a:xfrm>
            <a:off x="-12504" y="0"/>
            <a:ext cx="55452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7"/>
          <p:cNvSpPr/>
          <p:nvPr/>
        </p:nvSpPr>
        <p:spPr>
          <a:xfrm>
            <a:off x="-12504" y="0"/>
            <a:ext cx="5545203" cy="6857999"/>
          </a:xfrm>
          <a:prstGeom prst="rect">
            <a:avLst/>
          </a:prstGeom>
          <a:blipFill rotWithShape="1">
            <a:blip r:embed="rId4">
              <a:alphaModFix amt="86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Calibri"/>
              <a:buNone/>
            </a:pPr>
            <a:endParaRPr sz="144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7"/>
          <p:cNvSpPr txBox="1"/>
          <p:nvPr/>
        </p:nvSpPr>
        <p:spPr>
          <a:xfrm>
            <a:off x="7403268" y="1875148"/>
            <a:ext cx="3784685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000" err="1">
                <a:solidFill>
                  <a:srgbClr val="B3207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Propósito</a:t>
            </a:r>
            <a:r>
              <a:rPr lang="en-US" sz="4000">
                <a:solidFill>
                  <a:srgbClr val="B3207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</a:t>
            </a:r>
            <a:r>
              <a:rPr lang="en-US" sz="4000" err="1">
                <a:solidFill>
                  <a:srgbClr val="B3207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misión</a:t>
            </a:r>
            <a:r>
              <a:rPr lang="en-US" sz="4000">
                <a:solidFill>
                  <a:srgbClr val="B3207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y </a:t>
            </a:r>
            <a:r>
              <a:rPr lang="en-US" sz="4000" err="1">
                <a:solidFill>
                  <a:srgbClr val="B3207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habilitadores</a:t>
            </a:r>
            <a:endParaRPr lang="en-US" sz="4000">
              <a:solidFill>
                <a:srgbClr val="B3207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7" name="Google Shape;487;p7"/>
          <p:cNvSpPr/>
          <p:nvPr/>
        </p:nvSpPr>
        <p:spPr>
          <a:xfrm>
            <a:off x="4064185" y="1801906"/>
            <a:ext cx="3243300" cy="3243300"/>
          </a:xfrm>
          <a:prstGeom prst="rect">
            <a:avLst/>
          </a:prstGeom>
          <a:solidFill>
            <a:srgbClr val="493C70"/>
          </a:solidFill>
          <a:ln w="266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7"/>
          <p:cNvSpPr txBox="1"/>
          <p:nvPr/>
        </p:nvSpPr>
        <p:spPr>
          <a:xfrm>
            <a:off x="4200981" y="2321953"/>
            <a:ext cx="2963748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4</a:t>
            </a:r>
            <a:endParaRPr sz="138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2240857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ángulo 67"/>
          <p:cNvSpPr/>
          <p:nvPr/>
        </p:nvSpPr>
        <p:spPr>
          <a:xfrm>
            <a:off x="5050971" y="1409291"/>
            <a:ext cx="6770916" cy="5312229"/>
          </a:xfrm>
          <a:prstGeom prst="rect">
            <a:avLst/>
          </a:prstGeom>
          <a:solidFill>
            <a:srgbClr val="D9D9D9">
              <a:alpha val="2784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23" name="Conector recto de flecha 22"/>
          <p:cNvCxnSpPr/>
          <p:nvPr/>
        </p:nvCxnSpPr>
        <p:spPr>
          <a:xfrm>
            <a:off x="8842455" y="3723900"/>
            <a:ext cx="23018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/>
          <p:cNvCxnSpPr/>
          <p:nvPr/>
        </p:nvCxnSpPr>
        <p:spPr>
          <a:xfrm flipV="1">
            <a:off x="8842455" y="1789194"/>
            <a:ext cx="33579" cy="19347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/>
          <p:cNvCxnSpPr/>
          <p:nvPr/>
        </p:nvCxnSpPr>
        <p:spPr>
          <a:xfrm flipV="1">
            <a:off x="9229751" y="3332083"/>
            <a:ext cx="1304925" cy="200026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/>
          <p:cNvCxnSpPr/>
          <p:nvPr/>
        </p:nvCxnSpPr>
        <p:spPr>
          <a:xfrm flipV="1">
            <a:off x="9696476" y="2299870"/>
            <a:ext cx="1304925" cy="200026"/>
          </a:xfrm>
          <a:prstGeom prst="straightConnector1">
            <a:avLst/>
          </a:prstGeom>
          <a:ln w="12700">
            <a:solidFill>
              <a:srgbClr val="00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/>
          <p:cNvCxnSpPr/>
          <p:nvPr/>
        </p:nvCxnSpPr>
        <p:spPr>
          <a:xfrm flipV="1">
            <a:off x="9229751" y="2499896"/>
            <a:ext cx="466725" cy="1045290"/>
          </a:xfrm>
          <a:prstGeom prst="straightConnector1">
            <a:avLst/>
          </a:prstGeom>
          <a:ln w="12700">
            <a:solidFill>
              <a:srgbClr val="00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/>
          <p:cNvCxnSpPr/>
          <p:nvPr/>
        </p:nvCxnSpPr>
        <p:spPr>
          <a:xfrm flipV="1">
            <a:off x="10553726" y="2299870"/>
            <a:ext cx="466725" cy="104529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/>
          <p:cNvCxnSpPr/>
          <p:nvPr/>
        </p:nvCxnSpPr>
        <p:spPr>
          <a:xfrm flipV="1">
            <a:off x="9239276" y="2399883"/>
            <a:ext cx="1649117" cy="1132226"/>
          </a:xfrm>
          <a:prstGeom prst="straightConnector1">
            <a:avLst/>
          </a:prstGeom>
          <a:ln>
            <a:solidFill>
              <a:srgbClr val="000000">
                <a:alpha val="60000"/>
              </a:srgbClr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29"/>
          <p:cNvSpPr txBox="1"/>
          <p:nvPr/>
        </p:nvSpPr>
        <p:spPr>
          <a:xfrm>
            <a:off x="8451974" y="1574107"/>
            <a:ext cx="6607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rPr>
              <a:t>Ventas</a:t>
            </a:r>
          </a:p>
        </p:txBody>
      </p:sp>
      <p:sp>
        <p:nvSpPr>
          <p:cNvPr id="31" name="CuadroTexto 30"/>
          <p:cNvSpPr txBox="1"/>
          <p:nvPr/>
        </p:nvSpPr>
        <p:spPr>
          <a:xfrm>
            <a:off x="10627855" y="3788866"/>
            <a:ext cx="7745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rPr>
              <a:t>N. Países</a:t>
            </a:r>
          </a:p>
          <a:p>
            <a:endParaRPr lang="es-ES_tradnl" sz="1100">
              <a:solidFill>
                <a:schemeClr val="tx1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cxnSp>
        <p:nvCxnSpPr>
          <p:cNvPr id="41" name="Conector recto de flecha 40"/>
          <p:cNvCxnSpPr/>
          <p:nvPr/>
        </p:nvCxnSpPr>
        <p:spPr>
          <a:xfrm>
            <a:off x="5713442" y="6346361"/>
            <a:ext cx="23018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/>
          <p:cNvCxnSpPr/>
          <p:nvPr/>
        </p:nvCxnSpPr>
        <p:spPr>
          <a:xfrm flipV="1">
            <a:off x="5713442" y="4411655"/>
            <a:ext cx="33579" cy="19347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/>
          <p:cNvCxnSpPr/>
          <p:nvPr/>
        </p:nvCxnSpPr>
        <p:spPr>
          <a:xfrm flipV="1">
            <a:off x="6100738" y="5954544"/>
            <a:ext cx="1304925" cy="200026"/>
          </a:xfrm>
          <a:prstGeom prst="straightConnector1">
            <a:avLst/>
          </a:prstGeom>
          <a:ln w="19050">
            <a:solidFill>
              <a:srgbClr val="00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/>
          <p:cNvCxnSpPr/>
          <p:nvPr/>
        </p:nvCxnSpPr>
        <p:spPr>
          <a:xfrm flipV="1">
            <a:off x="7424713" y="4922331"/>
            <a:ext cx="466725" cy="1045290"/>
          </a:xfrm>
          <a:prstGeom prst="straightConnector1">
            <a:avLst/>
          </a:prstGeom>
          <a:ln w="19050">
            <a:solidFill>
              <a:srgbClr val="00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uadroTexto 47"/>
          <p:cNvSpPr txBox="1"/>
          <p:nvPr/>
        </p:nvSpPr>
        <p:spPr>
          <a:xfrm>
            <a:off x="5322961" y="4196568"/>
            <a:ext cx="7777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>
                <a:latin typeface="Century Gothic" charset="0"/>
                <a:ea typeface="Century Gothic" charset="0"/>
                <a:cs typeface="Century Gothic" charset="0"/>
              </a:rPr>
              <a:t>$ Ventas</a:t>
            </a:r>
          </a:p>
        </p:txBody>
      </p:sp>
      <p:sp>
        <p:nvSpPr>
          <p:cNvPr id="49" name="CuadroTexto 48"/>
          <p:cNvSpPr txBox="1"/>
          <p:nvPr/>
        </p:nvSpPr>
        <p:spPr>
          <a:xfrm>
            <a:off x="6938482" y="6368921"/>
            <a:ext cx="7393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>
                <a:latin typeface="Century Gothic" charset="0"/>
                <a:ea typeface="Century Gothic" charset="0"/>
                <a:cs typeface="Century Gothic" charset="0"/>
              </a:rPr>
              <a:t>Alianzas</a:t>
            </a:r>
          </a:p>
          <a:p>
            <a:endParaRPr lang="es-ES_tradnl" sz="1100">
              <a:latin typeface="Century Gothic" charset="0"/>
              <a:ea typeface="Century Gothic" charset="0"/>
              <a:cs typeface="Century Gothic" charset="0"/>
            </a:endParaRPr>
          </a:p>
        </p:txBody>
      </p:sp>
      <p:cxnSp>
        <p:nvCxnSpPr>
          <p:cNvPr id="50" name="Conector recto de flecha 49"/>
          <p:cNvCxnSpPr/>
          <p:nvPr/>
        </p:nvCxnSpPr>
        <p:spPr>
          <a:xfrm>
            <a:off x="8916584" y="6346361"/>
            <a:ext cx="23018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de flecha 50"/>
          <p:cNvCxnSpPr/>
          <p:nvPr/>
        </p:nvCxnSpPr>
        <p:spPr>
          <a:xfrm flipV="1">
            <a:off x="8916584" y="4411655"/>
            <a:ext cx="33579" cy="19347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de flecha 51"/>
          <p:cNvCxnSpPr/>
          <p:nvPr/>
        </p:nvCxnSpPr>
        <p:spPr>
          <a:xfrm flipV="1">
            <a:off x="9303880" y="5954544"/>
            <a:ext cx="1304925" cy="200026"/>
          </a:xfrm>
          <a:prstGeom prst="straightConnector1">
            <a:avLst/>
          </a:prstGeom>
          <a:ln w="19050">
            <a:solidFill>
              <a:srgbClr val="00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52"/>
          <p:cNvCxnSpPr/>
          <p:nvPr/>
        </p:nvCxnSpPr>
        <p:spPr>
          <a:xfrm flipV="1">
            <a:off x="9770605" y="4922331"/>
            <a:ext cx="1304925" cy="200026"/>
          </a:xfrm>
          <a:prstGeom prst="straightConnector1">
            <a:avLst/>
          </a:prstGeom>
          <a:ln w="12700">
            <a:solidFill>
              <a:srgbClr val="00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de flecha 53"/>
          <p:cNvCxnSpPr/>
          <p:nvPr/>
        </p:nvCxnSpPr>
        <p:spPr>
          <a:xfrm flipV="1">
            <a:off x="9303880" y="5122357"/>
            <a:ext cx="466725" cy="1045290"/>
          </a:xfrm>
          <a:prstGeom prst="straightConnector1">
            <a:avLst/>
          </a:prstGeom>
          <a:ln w="12700">
            <a:solidFill>
              <a:srgbClr val="00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54"/>
          <p:cNvCxnSpPr/>
          <p:nvPr/>
        </p:nvCxnSpPr>
        <p:spPr>
          <a:xfrm flipV="1">
            <a:off x="10627855" y="4922331"/>
            <a:ext cx="466725" cy="1045290"/>
          </a:xfrm>
          <a:prstGeom prst="straightConnector1">
            <a:avLst/>
          </a:prstGeom>
          <a:ln w="19050">
            <a:solidFill>
              <a:srgbClr val="00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/>
          <p:cNvCxnSpPr/>
          <p:nvPr/>
        </p:nvCxnSpPr>
        <p:spPr>
          <a:xfrm flipV="1">
            <a:off x="9313405" y="5022344"/>
            <a:ext cx="1649117" cy="1132226"/>
          </a:xfrm>
          <a:prstGeom prst="straightConnector1">
            <a:avLst/>
          </a:prstGeom>
          <a:ln w="28575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uadroTexto 56"/>
          <p:cNvSpPr txBox="1"/>
          <p:nvPr/>
        </p:nvSpPr>
        <p:spPr>
          <a:xfrm>
            <a:off x="8526103" y="4196568"/>
            <a:ext cx="7777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>
                <a:latin typeface="Century Gothic" charset="0"/>
                <a:ea typeface="Century Gothic" charset="0"/>
                <a:cs typeface="Century Gothic" charset="0"/>
              </a:rPr>
              <a:t>$ Ventas</a:t>
            </a:r>
          </a:p>
        </p:txBody>
      </p:sp>
      <p:sp>
        <p:nvSpPr>
          <p:cNvPr id="58" name="CuadroTexto 57"/>
          <p:cNvSpPr txBox="1"/>
          <p:nvPr/>
        </p:nvSpPr>
        <p:spPr>
          <a:xfrm>
            <a:off x="10141624" y="6368921"/>
            <a:ext cx="15071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>
                <a:latin typeface="Century Gothic" charset="0"/>
                <a:ea typeface="Century Gothic" charset="0"/>
                <a:cs typeface="Century Gothic" charset="0"/>
              </a:rPr>
              <a:t>Profesionales senior</a:t>
            </a:r>
          </a:p>
          <a:p>
            <a:endParaRPr lang="es-ES_tradnl" sz="1100">
              <a:latin typeface="Century Gothic" charset="0"/>
              <a:ea typeface="Century Gothic" charset="0"/>
              <a:cs typeface="Century Gothic" charset="0"/>
            </a:endParaRPr>
          </a:p>
        </p:txBody>
      </p:sp>
      <p:cxnSp>
        <p:nvCxnSpPr>
          <p:cNvPr id="59" name="Conector recto de flecha 58"/>
          <p:cNvCxnSpPr/>
          <p:nvPr/>
        </p:nvCxnSpPr>
        <p:spPr>
          <a:xfrm>
            <a:off x="659561" y="5444976"/>
            <a:ext cx="30637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de flecha 59"/>
          <p:cNvCxnSpPr/>
          <p:nvPr/>
        </p:nvCxnSpPr>
        <p:spPr>
          <a:xfrm flipV="1">
            <a:off x="659561" y="2889799"/>
            <a:ext cx="44694" cy="25750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de flecha 60"/>
          <p:cNvCxnSpPr/>
          <p:nvPr/>
        </p:nvCxnSpPr>
        <p:spPr>
          <a:xfrm flipV="1">
            <a:off x="1203837" y="4721148"/>
            <a:ext cx="1736856" cy="266235"/>
          </a:xfrm>
          <a:prstGeom prst="straightConnector1">
            <a:avLst/>
          </a:prstGeom>
          <a:ln w="19050">
            <a:solidFill>
              <a:srgbClr val="00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de flecha 61"/>
          <p:cNvCxnSpPr/>
          <p:nvPr/>
        </p:nvCxnSpPr>
        <p:spPr>
          <a:xfrm flipV="1">
            <a:off x="1846069" y="3278586"/>
            <a:ext cx="1736856" cy="266235"/>
          </a:xfrm>
          <a:prstGeom prst="straightConnector1">
            <a:avLst/>
          </a:prstGeom>
          <a:ln w="12700">
            <a:solidFill>
              <a:srgbClr val="00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de flecha 62"/>
          <p:cNvCxnSpPr/>
          <p:nvPr/>
        </p:nvCxnSpPr>
        <p:spPr>
          <a:xfrm flipV="1">
            <a:off x="1182520" y="3500927"/>
            <a:ext cx="621212" cy="1391281"/>
          </a:xfrm>
          <a:prstGeom prst="straightConnector1">
            <a:avLst/>
          </a:prstGeom>
          <a:ln w="12700">
            <a:solidFill>
              <a:srgbClr val="00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de flecha 63"/>
          <p:cNvCxnSpPr/>
          <p:nvPr/>
        </p:nvCxnSpPr>
        <p:spPr>
          <a:xfrm flipV="1">
            <a:off x="2966819" y="3316272"/>
            <a:ext cx="621212" cy="1391281"/>
          </a:xfrm>
          <a:prstGeom prst="straightConnector1">
            <a:avLst/>
          </a:prstGeom>
          <a:ln w="19050">
            <a:solidFill>
              <a:srgbClr val="00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cto de flecha 64"/>
          <p:cNvCxnSpPr/>
          <p:nvPr/>
        </p:nvCxnSpPr>
        <p:spPr>
          <a:xfrm flipV="1">
            <a:off x="1238038" y="3432096"/>
            <a:ext cx="2194975" cy="1506993"/>
          </a:xfrm>
          <a:prstGeom prst="straightConnector1">
            <a:avLst/>
          </a:prstGeom>
          <a:ln w="28575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uadroTexto 65"/>
          <p:cNvSpPr txBox="1"/>
          <p:nvPr/>
        </p:nvSpPr>
        <p:spPr>
          <a:xfrm>
            <a:off x="296151" y="2218600"/>
            <a:ext cx="2486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>
                <a:latin typeface="Century Gothic" charset="0"/>
                <a:ea typeface="Century Gothic" charset="0"/>
                <a:cs typeface="Century Gothic" charset="0"/>
              </a:rPr>
              <a:t>Velocidad de crecimiento</a:t>
            </a:r>
          </a:p>
          <a:p>
            <a:r>
              <a:rPr lang="es-ES_tradnl">
                <a:latin typeface="Century Gothic" charset="0"/>
                <a:ea typeface="Century Gothic" charset="0"/>
                <a:cs typeface="Century Gothic" charset="0"/>
              </a:rPr>
              <a:t>Ampliar horizontes</a:t>
            </a:r>
          </a:p>
        </p:txBody>
      </p:sp>
      <p:sp>
        <p:nvSpPr>
          <p:cNvPr id="67" name="CuadroTexto 66"/>
          <p:cNvSpPr txBox="1"/>
          <p:nvPr/>
        </p:nvSpPr>
        <p:spPr>
          <a:xfrm>
            <a:off x="2083109" y="5649874"/>
            <a:ext cx="27126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>
                <a:latin typeface="Century Gothic" charset="0"/>
                <a:ea typeface="Century Gothic" charset="0"/>
                <a:cs typeface="Century Gothic" charset="0"/>
              </a:rPr>
              <a:t>Velocidad de consolidación </a:t>
            </a:r>
          </a:p>
          <a:p>
            <a:r>
              <a:rPr lang="es-ES_tradnl">
                <a:latin typeface="Century Gothic" charset="0"/>
                <a:ea typeface="Century Gothic" charset="0"/>
                <a:cs typeface="Century Gothic" charset="0"/>
              </a:rPr>
              <a:t>del CORE</a:t>
            </a:r>
          </a:p>
        </p:txBody>
      </p:sp>
      <p:sp>
        <p:nvSpPr>
          <p:cNvPr id="69" name="Google Shape;743;p15"/>
          <p:cNvSpPr txBox="1"/>
          <p:nvPr/>
        </p:nvSpPr>
        <p:spPr>
          <a:xfrm>
            <a:off x="146159" y="269524"/>
            <a:ext cx="12045841" cy="898982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defTabSz="914400" eaLnBrk="1" latinLnBrk="0" hangingPunct="1">
              <a:defRPr sz="2800" kern="12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err="1">
                <a:sym typeface="Century Gothic"/>
              </a:rPr>
              <a:t>Aplicando</a:t>
            </a:r>
            <a:r>
              <a:rPr lang="en-US">
                <a:sym typeface="Century Gothic"/>
              </a:rPr>
              <a:t> </a:t>
            </a:r>
            <a:r>
              <a:rPr lang="en-US" err="1">
                <a:sym typeface="Century Gothic"/>
              </a:rPr>
              <a:t>estos</a:t>
            </a:r>
            <a:r>
              <a:rPr lang="en-US">
                <a:sym typeface="Century Gothic"/>
              </a:rPr>
              <a:t> </a:t>
            </a:r>
            <a:r>
              <a:rPr lang="en-US" err="1">
                <a:sym typeface="Century Gothic"/>
              </a:rPr>
              <a:t>conceptos</a:t>
            </a:r>
            <a:r>
              <a:rPr lang="en-US">
                <a:sym typeface="Century Gothic"/>
              </a:rPr>
              <a:t> al </a:t>
            </a:r>
            <a:r>
              <a:rPr lang="en-US" err="1">
                <a:sym typeface="Century Gothic"/>
              </a:rPr>
              <a:t>crecimiento</a:t>
            </a:r>
            <a:r>
              <a:rPr lang="en-US">
                <a:sym typeface="Century Gothic"/>
              </a:rPr>
              <a:t> REDCO con </a:t>
            </a:r>
            <a:r>
              <a:rPr lang="en-US" err="1">
                <a:sym typeface="Century Gothic"/>
              </a:rPr>
              <a:t>una</a:t>
            </a:r>
            <a:r>
              <a:rPr lang="en-US">
                <a:sym typeface="Century Gothic"/>
              </a:rPr>
              <a:t> mayor </a:t>
            </a:r>
            <a:r>
              <a:rPr lang="en-US" err="1">
                <a:sym typeface="Century Gothic"/>
              </a:rPr>
              <a:t>probabilidad</a:t>
            </a:r>
            <a:r>
              <a:rPr lang="en-US">
                <a:sym typeface="Century Gothic"/>
              </a:rPr>
              <a:t> de </a:t>
            </a:r>
            <a:r>
              <a:rPr lang="en-US" err="1">
                <a:sym typeface="Century Gothic"/>
              </a:rPr>
              <a:t>ganar</a:t>
            </a:r>
            <a:r>
              <a:rPr lang="mr-IN">
                <a:sym typeface="Century Gothic"/>
              </a:rPr>
              <a:t>…</a:t>
            </a:r>
            <a:endParaRPr>
              <a:sym typeface="Century Gothic"/>
            </a:endParaRPr>
          </a:p>
        </p:txBody>
      </p:sp>
      <p:cxnSp>
        <p:nvCxnSpPr>
          <p:cNvPr id="71" name="Conector recto de flecha 70"/>
          <p:cNvCxnSpPr/>
          <p:nvPr/>
        </p:nvCxnSpPr>
        <p:spPr>
          <a:xfrm flipV="1">
            <a:off x="6557938" y="4922331"/>
            <a:ext cx="1304925" cy="200026"/>
          </a:xfrm>
          <a:prstGeom prst="straightConnector1">
            <a:avLst/>
          </a:prstGeom>
          <a:ln w="12700">
            <a:solidFill>
              <a:srgbClr val="00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de flecha 71"/>
          <p:cNvCxnSpPr/>
          <p:nvPr/>
        </p:nvCxnSpPr>
        <p:spPr>
          <a:xfrm flipV="1">
            <a:off x="6091213" y="5122357"/>
            <a:ext cx="466725" cy="1045290"/>
          </a:xfrm>
          <a:prstGeom prst="straightConnector1">
            <a:avLst/>
          </a:prstGeom>
          <a:ln w="12700">
            <a:solidFill>
              <a:srgbClr val="00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cto de flecha 72"/>
          <p:cNvCxnSpPr/>
          <p:nvPr/>
        </p:nvCxnSpPr>
        <p:spPr>
          <a:xfrm flipV="1">
            <a:off x="6147027" y="5008609"/>
            <a:ext cx="1649117" cy="1132226"/>
          </a:xfrm>
          <a:prstGeom prst="straightConnector1">
            <a:avLst/>
          </a:prstGeom>
          <a:ln w="28575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de flecha 73"/>
          <p:cNvCxnSpPr/>
          <p:nvPr/>
        </p:nvCxnSpPr>
        <p:spPr>
          <a:xfrm>
            <a:off x="5707104" y="3672931"/>
            <a:ext cx="23018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de flecha 74"/>
          <p:cNvCxnSpPr/>
          <p:nvPr/>
        </p:nvCxnSpPr>
        <p:spPr>
          <a:xfrm flipV="1">
            <a:off x="5707104" y="1738225"/>
            <a:ext cx="33579" cy="19347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de flecha 76"/>
          <p:cNvCxnSpPr/>
          <p:nvPr/>
        </p:nvCxnSpPr>
        <p:spPr>
          <a:xfrm flipV="1">
            <a:off x="6561125" y="2248901"/>
            <a:ext cx="1304925" cy="200026"/>
          </a:xfrm>
          <a:prstGeom prst="straightConnector1">
            <a:avLst/>
          </a:prstGeom>
          <a:ln w="12700">
            <a:solidFill>
              <a:srgbClr val="00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cto de flecha 77"/>
          <p:cNvCxnSpPr/>
          <p:nvPr/>
        </p:nvCxnSpPr>
        <p:spPr>
          <a:xfrm flipV="1">
            <a:off x="6094400" y="2448927"/>
            <a:ext cx="466725" cy="1045290"/>
          </a:xfrm>
          <a:prstGeom prst="straightConnector1">
            <a:avLst/>
          </a:prstGeom>
          <a:ln w="12700">
            <a:solidFill>
              <a:srgbClr val="00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cto de flecha 79"/>
          <p:cNvCxnSpPr/>
          <p:nvPr/>
        </p:nvCxnSpPr>
        <p:spPr>
          <a:xfrm flipV="1">
            <a:off x="6103925" y="2348914"/>
            <a:ext cx="1649117" cy="1132226"/>
          </a:xfrm>
          <a:prstGeom prst="straightConnector1">
            <a:avLst/>
          </a:prstGeom>
          <a:ln>
            <a:solidFill>
              <a:srgbClr val="000000">
                <a:alpha val="60000"/>
              </a:srgbClr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CuadroTexto 80"/>
          <p:cNvSpPr txBox="1"/>
          <p:nvPr/>
        </p:nvSpPr>
        <p:spPr>
          <a:xfrm>
            <a:off x="5316623" y="1523138"/>
            <a:ext cx="6607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rPr>
              <a:t>Ventas</a:t>
            </a:r>
          </a:p>
        </p:txBody>
      </p:sp>
      <p:sp>
        <p:nvSpPr>
          <p:cNvPr id="82" name="CuadroTexto 81"/>
          <p:cNvSpPr txBox="1"/>
          <p:nvPr/>
        </p:nvSpPr>
        <p:spPr>
          <a:xfrm>
            <a:off x="7475577" y="3738414"/>
            <a:ext cx="9669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rPr>
              <a:t>Tipo cliente</a:t>
            </a:r>
          </a:p>
          <a:p>
            <a:endParaRPr lang="es-ES_tradnl" sz="1100">
              <a:solidFill>
                <a:schemeClr val="tx1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cxnSp>
        <p:nvCxnSpPr>
          <p:cNvPr id="83" name="Conector recto de flecha 82"/>
          <p:cNvCxnSpPr/>
          <p:nvPr/>
        </p:nvCxnSpPr>
        <p:spPr>
          <a:xfrm flipV="1">
            <a:off x="6557789" y="2244784"/>
            <a:ext cx="1304925" cy="2000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cto de flecha 83"/>
          <p:cNvCxnSpPr/>
          <p:nvPr/>
        </p:nvCxnSpPr>
        <p:spPr>
          <a:xfrm flipV="1">
            <a:off x="6091064" y="2444810"/>
            <a:ext cx="466725" cy="104529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de flecha 84"/>
          <p:cNvCxnSpPr/>
          <p:nvPr/>
        </p:nvCxnSpPr>
        <p:spPr>
          <a:xfrm flipV="1">
            <a:off x="6089991" y="3319006"/>
            <a:ext cx="1304925" cy="200026"/>
          </a:xfrm>
          <a:prstGeom prst="straightConnector1">
            <a:avLst/>
          </a:prstGeom>
          <a:ln w="19050">
            <a:solidFill>
              <a:srgbClr val="00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de flecha 85"/>
          <p:cNvCxnSpPr/>
          <p:nvPr/>
        </p:nvCxnSpPr>
        <p:spPr>
          <a:xfrm flipV="1">
            <a:off x="7413966" y="2286793"/>
            <a:ext cx="466725" cy="1045290"/>
          </a:xfrm>
          <a:prstGeom prst="straightConnector1">
            <a:avLst/>
          </a:prstGeom>
          <a:ln w="19050">
            <a:solidFill>
              <a:srgbClr val="00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88633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btfpValueChainElement6458951"/>
          <p:cNvSpPr/>
          <p:nvPr>
            <p:custDataLst>
              <p:tags r:id="rId1"/>
            </p:custDataLst>
          </p:nvPr>
        </p:nvSpPr>
        <p:spPr bwMode="gray">
          <a:xfrm rot="16200000">
            <a:off x="4536168" y="4587704"/>
            <a:ext cx="1296685" cy="2111531"/>
          </a:xfrm>
          <a:prstGeom prst="homePlate">
            <a:avLst>
              <a:gd name="adj" fmla="val 24348"/>
            </a:avLst>
          </a:prstGeom>
          <a:solidFill>
            <a:schemeClr val="accent2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ct val="0"/>
              </a:spcBef>
              <a:buNone/>
            </a:pPr>
            <a:endParaRPr lang="es-ES_tradnl" b="1">
              <a:solidFill>
                <a:srgbClr val="858585"/>
              </a:solidFill>
            </a:endParaRPr>
          </a:p>
        </p:txBody>
      </p:sp>
      <p:sp>
        <p:nvSpPr>
          <p:cNvPr id="73" name="btfpValueChainElement6458951"/>
          <p:cNvSpPr/>
          <p:nvPr>
            <p:custDataLst>
              <p:tags r:id="rId2"/>
            </p:custDataLst>
          </p:nvPr>
        </p:nvSpPr>
        <p:spPr bwMode="gray">
          <a:xfrm rot="16200000">
            <a:off x="6913593" y="4390426"/>
            <a:ext cx="1296685" cy="2456355"/>
          </a:xfrm>
          <a:prstGeom prst="homePlate">
            <a:avLst>
              <a:gd name="adj" fmla="val 24348"/>
            </a:avLst>
          </a:prstGeom>
          <a:solidFill>
            <a:schemeClr val="accent2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ct val="0"/>
              </a:spcBef>
              <a:buNone/>
            </a:pPr>
            <a:endParaRPr lang="es-ES_tradnl" b="1">
              <a:solidFill>
                <a:srgbClr val="858585"/>
              </a:solidFill>
            </a:endParaRPr>
          </a:p>
        </p:txBody>
      </p:sp>
      <p:sp>
        <p:nvSpPr>
          <p:cNvPr id="78" name="btfpValueChainElement6458951"/>
          <p:cNvSpPr/>
          <p:nvPr>
            <p:custDataLst>
              <p:tags r:id="rId3"/>
            </p:custDataLst>
          </p:nvPr>
        </p:nvSpPr>
        <p:spPr bwMode="gray">
          <a:xfrm rot="16200000">
            <a:off x="9463429" y="4390425"/>
            <a:ext cx="1296685" cy="2456355"/>
          </a:xfrm>
          <a:prstGeom prst="homePlate">
            <a:avLst>
              <a:gd name="adj" fmla="val 24348"/>
            </a:avLst>
          </a:prstGeom>
          <a:solidFill>
            <a:schemeClr val="accent2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ct val="0"/>
              </a:spcBef>
              <a:buNone/>
            </a:pPr>
            <a:endParaRPr lang="es-ES_tradnl" b="1">
              <a:solidFill>
                <a:srgbClr val="858585"/>
              </a:solidFill>
            </a:endParaRPr>
          </a:p>
        </p:txBody>
      </p:sp>
      <p:sp>
        <p:nvSpPr>
          <p:cNvPr id="87" name="Google Shape;944;p23"/>
          <p:cNvSpPr/>
          <p:nvPr/>
        </p:nvSpPr>
        <p:spPr>
          <a:xfrm>
            <a:off x="1831980" y="2850947"/>
            <a:ext cx="10041295" cy="8779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5302">
                <a:alpha val="4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175" tIns="34175" rIns="34175" bIns="341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1" i="0" u="none" strike="noStrike" cap="none">
              <a:solidFill>
                <a:srgbClr val="33333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btfpValueChainElement6458951"/>
          <p:cNvSpPr/>
          <p:nvPr>
            <p:custDataLst>
              <p:tags r:id="rId4"/>
            </p:custDataLst>
          </p:nvPr>
        </p:nvSpPr>
        <p:spPr bwMode="gray">
          <a:xfrm rot="16200000">
            <a:off x="2331154" y="4603025"/>
            <a:ext cx="1296685" cy="2111531"/>
          </a:xfrm>
          <a:prstGeom prst="homePlate">
            <a:avLst>
              <a:gd name="adj" fmla="val 24348"/>
            </a:avLst>
          </a:prstGeom>
          <a:solidFill>
            <a:schemeClr val="accent2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ct val="0"/>
              </a:spcBef>
              <a:buNone/>
            </a:pPr>
            <a:endParaRPr lang="es-ES_tradnl" b="1">
              <a:solidFill>
                <a:srgbClr val="858585"/>
              </a:solidFill>
            </a:endParaRPr>
          </a:p>
        </p:txBody>
      </p:sp>
      <p:sp>
        <p:nvSpPr>
          <p:cNvPr id="79" name="Rectángulo redondeado 78"/>
          <p:cNvSpPr/>
          <p:nvPr/>
        </p:nvSpPr>
        <p:spPr>
          <a:xfrm rot="10800000">
            <a:off x="9120249" y="1483225"/>
            <a:ext cx="2650404" cy="121800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" name="Rectángulo redondeado 1"/>
          <p:cNvSpPr/>
          <p:nvPr/>
        </p:nvSpPr>
        <p:spPr>
          <a:xfrm>
            <a:off x="2059446" y="1482005"/>
            <a:ext cx="6973148" cy="119356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grpSp>
        <p:nvGrpSpPr>
          <p:cNvPr id="930" name="Google Shape;930;p23"/>
          <p:cNvGrpSpPr/>
          <p:nvPr/>
        </p:nvGrpSpPr>
        <p:grpSpPr>
          <a:xfrm>
            <a:off x="0" y="3320500"/>
            <a:ext cx="12192000" cy="137160"/>
            <a:chOff x="0" y="6926580"/>
            <a:chExt cx="12192000" cy="137160"/>
          </a:xfrm>
        </p:grpSpPr>
        <p:sp>
          <p:nvSpPr>
            <p:cNvPr id="931" name="Google Shape;931;p23"/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solidFill>
              <a:srgbClr val="FFFFFF">
                <a:alpha val="24705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32" name="Google Shape;932;p23"/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solidFill>
              <a:srgbClr val="FFFFFF">
                <a:alpha val="24705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933" name="Google Shape;933;p23"/>
            <p:cNvCxnSpPr/>
            <p:nvPr/>
          </p:nvCxnSpPr>
          <p:spPr>
            <a:xfrm rot="10800000">
              <a:off x="11861800" y="6926580"/>
              <a:ext cx="0" cy="13716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05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34" name="Google Shape;934;p23"/>
            <p:cNvCxnSpPr/>
            <p:nvPr/>
          </p:nvCxnSpPr>
          <p:spPr>
            <a:xfrm rot="10800000">
              <a:off x="330200" y="6926580"/>
              <a:ext cx="0" cy="13716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05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935" name="Google Shape;935;p23"/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36" name="Google Shape;936;p23"/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solidFill>
              <a:srgbClr val="FFFFFF">
                <a:alpha val="24705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23"/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solidFill>
              <a:srgbClr val="FFFFFF">
                <a:alpha val="24705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38" name="Google Shape;938;p23"/>
            <p:cNvCxnSpPr/>
            <p:nvPr/>
          </p:nvCxnSpPr>
          <p:spPr>
            <a:xfrm rot="10800000">
              <a:off x="11861800" y="-205740"/>
              <a:ext cx="0" cy="13716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05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39" name="Google Shape;939;p23"/>
            <p:cNvCxnSpPr/>
            <p:nvPr/>
          </p:nvCxnSpPr>
          <p:spPr>
            <a:xfrm rot="10800000">
              <a:off x="330200" y="-205740"/>
              <a:ext cx="0" cy="13716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05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940" name="Google Shape;940;p23"/>
          <p:cNvSpPr/>
          <p:nvPr/>
        </p:nvSpPr>
        <p:spPr>
          <a:xfrm>
            <a:off x="1813056" y="259995"/>
            <a:ext cx="10031152" cy="40631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E55302">
                <a:alpha val="4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lvl="0" algn="ctr">
              <a:buClr>
                <a:srgbClr val="333333"/>
              </a:buClr>
              <a:buSzPts val="1400"/>
            </a:pPr>
            <a:r>
              <a:rPr lang="en-US" sz="1300" err="1">
                <a:latin typeface="Century Gothic" charset="0"/>
                <a:ea typeface="Century Gothic" charset="0"/>
                <a:cs typeface="Century Gothic" charset="0"/>
              </a:rPr>
              <a:t>Creemos</a:t>
            </a:r>
            <a:r>
              <a:rPr lang="en-US" sz="1300">
                <a:latin typeface="Century Gothic" charset="0"/>
                <a:ea typeface="Century Gothic" charset="0"/>
                <a:cs typeface="Century Gothic" charset="0"/>
              </a:rPr>
              <a:t> en un camino de </a:t>
            </a:r>
            <a:r>
              <a:rPr lang="en-US" sz="1300" err="1">
                <a:latin typeface="Century Gothic" charset="0"/>
                <a:ea typeface="Century Gothic" charset="0"/>
                <a:cs typeface="Century Gothic" charset="0"/>
              </a:rPr>
              <a:t>excelencia</a:t>
            </a:r>
            <a:r>
              <a:rPr lang="en-US" sz="1300">
                <a:latin typeface="Century Gothic" charset="0"/>
                <a:ea typeface="Century Gothic" charset="0"/>
                <a:cs typeface="Century Gothic" charset="0"/>
              </a:rPr>
              <a:t> y </a:t>
            </a:r>
            <a:r>
              <a:rPr lang="en-US" sz="1300" err="1">
                <a:latin typeface="Century Gothic" charset="0"/>
                <a:ea typeface="Century Gothic" charset="0"/>
                <a:cs typeface="Century Gothic" charset="0"/>
              </a:rPr>
              <a:t>aprendizaje</a:t>
            </a:r>
            <a:r>
              <a:rPr lang="en-US" sz="1300">
                <a:latin typeface="Century Gothic" charset="0"/>
                <a:ea typeface="Century Gothic" charset="0"/>
                <a:cs typeface="Century Gothic" charset="0"/>
              </a:rPr>
              <a:t> </a:t>
            </a:r>
            <a:r>
              <a:rPr lang="en-US" sz="1300" err="1">
                <a:latin typeface="Century Gothic" charset="0"/>
                <a:ea typeface="Century Gothic" charset="0"/>
                <a:cs typeface="Century Gothic" charset="0"/>
              </a:rPr>
              <a:t>creando</a:t>
            </a:r>
            <a:r>
              <a:rPr lang="en-US" sz="1300">
                <a:latin typeface="Century Gothic" charset="0"/>
                <a:ea typeface="Century Gothic" charset="0"/>
                <a:cs typeface="Century Gothic" charset="0"/>
              </a:rPr>
              <a:t> </a:t>
            </a:r>
            <a:r>
              <a:rPr lang="en-US" sz="1300" err="1">
                <a:latin typeface="Century Gothic" charset="0"/>
                <a:ea typeface="Century Gothic" charset="0"/>
                <a:cs typeface="Century Gothic" charset="0"/>
              </a:rPr>
              <a:t>soluciones</a:t>
            </a:r>
            <a:r>
              <a:rPr lang="en-US" sz="1300">
                <a:latin typeface="Century Gothic" charset="0"/>
                <a:ea typeface="Century Gothic" charset="0"/>
                <a:cs typeface="Century Gothic" charset="0"/>
              </a:rPr>
              <a:t> para un </a:t>
            </a:r>
            <a:r>
              <a:rPr lang="en-US" sz="1300" err="1">
                <a:latin typeface="Century Gothic" charset="0"/>
                <a:ea typeface="Century Gothic" charset="0"/>
                <a:cs typeface="Century Gothic" charset="0"/>
              </a:rPr>
              <a:t>mundo</a:t>
            </a:r>
            <a:r>
              <a:rPr lang="en-US" sz="1300">
                <a:latin typeface="Century Gothic" charset="0"/>
                <a:ea typeface="Century Gothic" charset="0"/>
                <a:cs typeface="Century Gothic" charset="0"/>
              </a:rPr>
              <a:t> </a:t>
            </a:r>
            <a:r>
              <a:rPr lang="en-US" sz="1300" err="1">
                <a:latin typeface="Century Gothic" charset="0"/>
                <a:ea typeface="Century Gothic" charset="0"/>
                <a:cs typeface="Century Gothic" charset="0"/>
              </a:rPr>
              <a:t>mejor</a:t>
            </a:r>
            <a:r>
              <a:rPr lang="en-US" sz="1300">
                <a:latin typeface="Century Gothic" charset="0"/>
                <a:ea typeface="Century Gothic" charset="0"/>
                <a:cs typeface="Century Gothic" charset="0"/>
              </a:rPr>
              <a:t>. </a:t>
            </a:r>
            <a:endParaRPr sz="1300" i="1" u="none" strike="noStrike" cap="none">
              <a:solidFill>
                <a:srgbClr val="333333"/>
              </a:solidFill>
              <a:latin typeface="Century Gothic" charset="0"/>
              <a:ea typeface="Century Gothic" charset="0"/>
              <a:cs typeface="Century Gothic" charset="0"/>
              <a:sym typeface="Century Gothic"/>
            </a:endParaRPr>
          </a:p>
        </p:txBody>
      </p:sp>
      <p:sp>
        <p:nvSpPr>
          <p:cNvPr id="941" name="Google Shape;941;p23"/>
          <p:cNvSpPr/>
          <p:nvPr/>
        </p:nvSpPr>
        <p:spPr>
          <a:xfrm>
            <a:off x="1830249" y="765587"/>
            <a:ext cx="10031152" cy="62610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E55302">
                <a:alpha val="4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lvl="0" algn="ctr"/>
            <a:r>
              <a:rPr lang="en-US" sz="1300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Somos</a:t>
            </a:r>
            <a:r>
              <a:rPr lang="en-US" sz="1300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300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una</a:t>
            </a:r>
            <a:r>
              <a:rPr lang="en-US" sz="1300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300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consultora</a:t>
            </a:r>
            <a:r>
              <a:rPr lang="en-US" sz="1300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boutique que </a:t>
            </a:r>
            <a:r>
              <a:rPr lang="en-US" sz="1300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proporciona</a:t>
            </a:r>
            <a:r>
              <a:rPr lang="en-US" sz="1300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300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soluciones</a:t>
            </a:r>
            <a:r>
              <a:rPr lang="en-US" sz="1300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 </a:t>
            </a:r>
            <a:r>
              <a:rPr lang="en-US" sz="1300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medida</a:t>
            </a:r>
            <a:r>
              <a:rPr lang="en-US" sz="1300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 </a:t>
            </a:r>
            <a:r>
              <a:rPr lang="en-US" sz="1300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integrada</a:t>
            </a:r>
            <a:r>
              <a:rPr lang="en-US" sz="1300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</a:t>
            </a:r>
            <a:r>
              <a:rPr lang="en-US" sz="1300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logrando</a:t>
            </a:r>
            <a:r>
              <a:rPr lang="en-US" sz="1300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300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una</a:t>
            </a:r>
            <a:r>
              <a:rPr lang="en-US" sz="1300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300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nueva</a:t>
            </a:r>
            <a:r>
              <a:rPr lang="en-US" sz="1300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300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manera</a:t>
            </a:r>
            <a:r>
              <a:rPr lang="en-US" sz="1300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300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hacer</a:t>
            </a:r>
            <a:r>
              <a:rPr lang="en-US" sz="1300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300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minería</a:t>
            </a:r>
            <a:r>
              <a:rPr lang="en-US" sz="1300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con un gran </a:t>
            </a:r>
            <a:r>
              <a:rPr lang="en-US" sz="1300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equipo</a:t>
            </a:r>
            <a:r>
              <a:rPr lang="en-US" sz="1300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1300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profesionales</a:t>
            </a:r>
            <a:r>
              <a:rPr lang="en-US" sz="1300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300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maximizando</a:t>
            </a:r>
            <a:r>
              <a:rPr lang="en-US" sz="1300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el valor de </a:t>
            </a:r>
            <a:r>
              <a:rPr lang="en-US" sz="1300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nuestros</a:t>
            </a:r>
            <a:r>
              <a:rPr lang="en-US" sz="1300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300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clientes</a:t>
            </a:r>
            <a:r>
              <a:rPr lang="en-US" sz="1300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1300"/>
          </a:p>
        </p:txBody>
      </p:sp>
      <p:sp>
        <p:nvSpPr>
          <p:cNvPr id="942" name="Google Shape;942;p23"/>
          <p:cNvSpPr/>
          <p:nvPr/>
        </p:nvSpPr>
        <p:spPr>
          <a:xfrm>
            <a:off x="1842124" y="1454602"/>
            <a:ext cx="10031152" cy="1323254"/>
          </a:xfrm>
          <a:prstGeom prst="rect">
            <a:avLst/>
          </a:prstGeom>
          <a:noFill/>
          <a:ln w="9525" cap="flat" cmpd="sng">
            <a:solidFill>
              <a:srgbClr val="E55302">
                <a:alpha val="4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72000" rIns="18000" bIns="18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33333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43" name="Google Shape;943;p23"/>
          <p:cNvSpPr/>
          <p:nvPr/>
        </p:nvSpPr>
        <p:spPr>
          <a:xfrm>
            <a:off x="1830249" y="4947423"/>
            <a:ext cx="10031152" cy="1797400"/>
          </a:xfrm>
          <a:prstGeom prst="rect">
            <a:avLst/>
          </a:prstGeom>
          <a:noFill/>
          <a:ln w="9525" cap="flat" cmpd="sng">
            <a:solidFill>
              <a:srgbClr val="E55302">
                <a:alpha val="4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175" tIns="34175" rIns="34175" bIns="341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33333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44" name="Google Shape;944;p23"/>
          <p:cNvSpPr/>
          <p:nvPr/>
        </p:nvSpPr>
        <p:spPr>
          <a:xfrm>
            <a:off x="1818374" y="3814348"/>
            <a:ext cx="10043027" cy="106918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5302">
                <a:alpha val="4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175" tIns="34175" rIns="34175" bIns="341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1" i="0" u="none" strike="noStrike" cap="none">
              <a:solidFill>
                <a:srgbClr val="33333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3" name="Google Shape;963;p23"/>
          <p:cNvSpPr txBox="1"/>
          <p:nvPr/>
        </p:nvSpPr>
        <p:spPr>
          <a:xfrm>
            <a:off x="2077425" y="1766953"/>
            <a:ext cx="3316377" cy="934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 charset="0"/>
              <a:buChar char="•"/>
            </a:pPr>
            <a:r>
              <a:rPr lang="en-US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Equipos</a:t>
            </a:r>
            <a:r>
              <a:rPr lang="en-US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ágiles</a:t>
            </a:r>
            <a:r>
              <a:rPr lang="en-US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y </a:t>
            </a:r>
            <a:r>
              <a:rPr lang="en-US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autónomos</a:t>
            </a:r>
            <a:r>
              <a:rPr lang="en-US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mayor </a:t>
            </a:r>
            <a:r>
              <a:rPr lang="en-US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Calidad</a:t>
            </a:r>
            <a:r>
              <a:rPr lang="en-US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/ </a:t>
            </a:r>
            <a:r>
              <a:rPr lang="en-US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Precio</a:t>
            </a:r>
            <a:r>
              <a:rPr lang="en-US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y valor </a:t>
            </a:r>
            <a:r>
              <a:rPr lang="en-US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agregado</a:t>
            </a:r>
            <a:r>
              <a:rPr lang="en-US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 la </a:t>
            </a:r>
            <a:r>
              <a:rPr lang="en-US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experiencia</a:t>
            </a:r>
            <a:r>
              <a:rPr lang="en-US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cliente</a:t>
            </a:r>
            <a:endParaRPr lang="en-US" sz="1400" i="0" u="none" strike="noStrike" cap="none">
              <a:solidFill>
                <a:srgbClr val="33333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965" name="Google Shape;965;p23"/>
          <p:cNvGrpSpPr/>
          <p:nvPr/>
        </p:nvGrpSpPr>
        <p:grpSpPr>
          <a:xfrm>
            <a:off x="359075" y="3795244"/>
            <a:ext cx="1266298" cy="1088290"/>
            <a:chOff x="330200" y="6696248"/>
            <a:chExt cx="2540000" cy="972979"/>
          </a:xfrm>
        </p:grpSpPr>
        <p:sp>
          <p:nvSpPr>
            <p:cNvPr id="966" name="Google Shape;966;p23"/>
            <p:cNvSpPr txBox="1"/>
            <p:nvPr/>
          </p:nvSpPr>
          <p:spPr>
            <a:xfrm>
              <a:off x="330200" y="6696248"/>
              <a:ext cx="2540000" cy="9729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025" tIns="36025" rIns="180175" bIns="3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58585"/>
                </a:buClr>
                <a:buSzPts val="1200"/>
                <a:buFont typeface="Century Gothic"/>
                <a:buNone/>
              </a:pPr>
              <a:r>
                <a:rPr lang="en-US" sz="1200" b="1" err="1">
                  <a:solidFill>
                    <a:schemeClr val="bg1">
                      <a:lumMod val="50000"/>
                    </a:schemeClr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Proceso</a:t>
              </a:r>
              <a:r>
                <a:rPr lang="en-US" sz="1200" b="1">
                  <a:solidFill>
                    <a:schemeClr val="bg1">
                      <a:lumMod val="50000"/>
                    </a:schemeClr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de </a:t>
              </a:r>
              <a:r>
                <a:rPr lang="en-US" sz="1200" b="1" err="1">
                  <a:solidFill>
                    <a:schemeClr val="bg1">
                      <a:lumMod val="50000"/>
                    </a:schemeClr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generación</a:t>
              </a:r>
              <a:r>
                <a:rPr lang="en-US" sz="1200" b="1">
                  <a:solidFill>
                    <a:schemeClr val="bg1">
                      <a:lumMod val="50000"/>
                    </a:schemeClr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de valor</a:t>
              </a:r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967" name="Google Shape;967;p23"/>
            <p:cNvCxnSpPr/>
            <p:nvPr/>
          </p:nvCxnSpPr>
          <p:spPr>
            <a:xfrm>
              <a:off x="2870200" y="6696248"/>
              <a:ext cx="0" cy="972979"/>
            </a:xfrm>
            <a:prstGeom prst="straightConnector1">
              <a:avLst/>
            </a:prstGeom>
            <a:noFill/>
            <a:ln w="152400" cap="flat" cmpd="sng">
              <a:solidFill>
                <a:srgbClr val="85858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968" name="Google Shape;968;p23"/>
          <p:cNvGrpSpPr/>
          <p:nvPr/>
        </p:nvGrpSpPr>
        <p:grpSpPr>
          <a:xfrm>
            <a:off x="357094" y="4931559"/>
            <a:ext cx="1266298" cy="1813263"/>
            <a:chOff x="330200" y="6696248"/>
            <a:chExt cx="2540000" cy="972979"/>
          </a:xfrm>
        </p:grpSpPr>
        <p:sp>
          <p:nvSpPr>
            <p:cNvPr id="969" name="Google Shape;969;p23"/>
            <p:cNvSpPr txBox="1"/>
            <p:nvPr/>
          </p:nvSpPr>
          <p:spPr>
            <a:xfrm>
              <a:off x="330200" y="6696248"/>
              <a:ext cx="2540000" cy="9729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025" tIns="36025" rIns="180175" bIns="3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58585"/>
                </a:buClr>
                <a:buSzPts val="1200"/>
                <a:buFont typeface="Century Gothic"/>
                <a:buNone/>
              </a:pPr>
              <a:r>
                <a:rPr lang="en-US" sz="1200" b="1" i="0" u="none" strike="noStrike" cap="none" err="1">
                  <a:solidFill>
                    <a:srgbClr val="85858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Foco</a:t>
              </a:r>
              <a:r>
                <a:rPr lang="en-US" sz="1200" b="1" i="0" u="none" strike="noStrike" cap="none">
                  <a:solidFill>
                    <a:srgbClr val="85858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y </a:t>
              </a:r>
              <a:r>
                <a:rPr lang="en-US" sz="1200" b="1" err="1">
                  <a:solidFill>
                    <a:srgbClr val="85858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H</a:t>
              </a:r>
              <a:r>
                <a:rPr lang="en-US" sz="1200" b="1" i="0" u="none" strike="noStrike" cap="none" err="1">
                  <a:solidFill>
                    <a:srgbClr val="85858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abilitadores</a:t>
              </a:r>
              <a:endParaRPr sz="1200" b="1" i="0" u="none" strike="noStrike" cap="none">
                <a:solidFill>
                  <a:srgbClr val="858585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970" name="Google Shape;970;p23"/>
            <p:cNvCxnSpPr/>
            <p:nvPr/>
          </p:nvCxnSpPr>
          <p:spPr>
            <a:xfrm>
              <a:off x="2870200" y="6696248"/>
              <a:ext cx="0" cy="972979"/>
            </a:xfrm>
            <a:prstGeom prst="straightConnector1">
              <a:avLst/>
            </a:prstGeom>
            <a:noFill/>
            <a:ln w="152400" cap="flat" cmpd="sng">
              <a:solidFill>
                <a:srgbClr val="85858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971" name="Google Shape;971;p23"/>
          <p:cNvGrpSpPr/>
          <p:nvPr/>
        </p:nvGrpSpPr>
        <p:grpSpPr>
          <a:xfrm>
            <a:off x="383988" y="746537"/>
            <a:ext cx="1266298" cy="668182"/>
            <a:chOff x="330200" y="5422246"/>
            <a:chExt cx="2540000" cy="972979"/>
          </a:xfrm>
        </p:grpSpPr>
        <p:sp>
          <p:nvSpPr>
            <p:cNvPr id="972" name="Google Shape;972;p23"/>
            <p:cNvSpPr txBox="1"/>
            <p:nvPr/>
          </p:nvSpPr>
          <p:spPr>
            <a:xfrm>
              <a:off x="330200" y="5422246"/>
              <a:ext cx="2540000" cy="9729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025" tIns="36025" rIns="180175" bIns="3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58585"/>
                </a:buClr>
                <a:buSzPts val="1200"/>
                <a:buFont typeface="Century Gothic"/>
                <a:buNone/>
              </a:pPr>
              <a:r>
                <a:rPr lang="en-US" sz="1200" b="1" err="1">
                  <a:solidFill>
                    <a:srgbClr val="85858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Misión</a:t>
              </a:r>
              <a:endParaRPr sz="1200" b="1" i="0" u="none" strike="noStrike" cap="none">
                <a:solidFill>
                  <a:srgbClr val="858585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973" name="Google Shape;973;p23"/>
            <p:cNvCxnSpPr/>
            <p:nvPr/>
          </p:nvCxnSpPr>
          <p:spPr>
            <a:xfrm>
              <a:off x="2870200" y="5422246"/>
              <a:ext cx="0" cy="972979"/>
            </a:xfrm>
            <a:prstGeom prst="straightConnector1">
              <a:avLst/>
            </a:prstGeom>
            <a:noFill/>
            <a:ln w="1524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74" name="Google Shape;974;p23"/>
            <p:cNvCxnSpPr/>
            <p:nvPr/>
          </p:nvCxnSpPr>
          <p:spPr>
            <a:xfrm>
              <a:off x="2870200" y="5422246"/>
              <a:ext cx="0" cy="972979"/>
            </a:xfrm>
            <a:prstGeom prst="straightConnector1">
              <a:avLst/>
            </a:prstGeom>
            <a:noFill/>
            <a:ln w="152400" cap="flat" cmpd="sng">
              <a:solidFill>
                <a:srgbClr val="85858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975" name="Google Shape;975;p23"/>
          <p:cNvGrpSpPr/>
          <p:nvPr/>
        </p:nvGrpSpPr>
        <p:grpSpPr>
          <a:xfrm>
            <a:off x="368969" y="1462445"/>
            <a:ext cx="1266298" cy="1315411"/>
            <a:chOff x="330200" y="6696248"/>
            <a:chExt cx="2540000" cy="972979"/>
          </a:xfrm>
        </p:grpSpPr>
        <p:sp>
          <p:nvSpPr>
            <p:cNvPr id="976" name="Google Shape;976;p23"/>
            <p:cNvSpPr txBox="1"/>
            <p:nvPr/>
          </p:nvSpPr>
          <p:spPr>
            <a:xfrm>
              <a:off x="330200" y="6696248"/>
              <a:ext cx="2540000" cy="9729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025" tIns="36025" rIns="180175" bIns="3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58585"/>
                </a:buClr>
                <a:buSzPts val="1200"/>
                <a:buFont typeface="Century Gothic"/>
                <a:buNone/>
              </a:pPr>
              <a:r>
                <a:rPr lang="en-US" sz="1200" b="1" i="0" u="none" strike="noStrike" cap="none" err="1">
                  <a:solidFill>
                    <a:srgbClr val="85858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Motores</a:t>
              </a:r>
              <a:r>
                <a:rPr lang="en-US" sz="1200" b="1" i="0" u="none" strike="noStrike" cap="none">
                  <a:solidFill>
                    <a:srgbClr val="85858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de </a:t>
              </a:r>
              <a:r>
                <a:rPr lang="en-US" sz="1200" b="1" i="0" u="none" strike="noStrike" cap="none" err="1">
                  <a:solidFill>
                    <a:srgbClr val="85858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crecimiento</a:t>
              </a:r>
              <a:endParaRPr/>
            </a:p>
          </p:txBody>
        </p:sp>
        <p:cxnSp>
          <p:nvCxnSpPr>
            <p:cNvPr id="977" name="Google Shape;977;p23"/>
            <p:cNvCxnSpPr/>
            <p:nvPr/>
          </p:nvCxnSpPr>
          <p:spPr>
            <a:xfrm>
              <a:off x="2870200" y="6696248"/>
              <a:ext cx="0" cy="972979"/>
            </a:xfrm>
            <a:prstGeom prst="straightConnector1">
              <a:avLst/>
            </a:prstGeom>
            <a:noFill/>
            <a:ln w="152400" cap="flat" cmpd="sng">
              <a:solidFill>
                <a:srgbClr val="85858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983" name="Google Shape;983;p23"/>
          <p:cNvSpPr txBox="1"/>
          <p:nvPr/>
        </p:nvSpPr>
        <p:spPr>
          <a:xfrm>
            <a:off x="9197564" y="2082230"/>
            <a:ext cx="2505414" cy="50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 charset="0"/>
              <a:buChar char="•"/>
            </a:pPr>
            <a:r>
              <a:rPr lang="en-US" sz="1400" i="0" u="none" strike="noStrike" cap="none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Crecer</a:t>
            </a:r>
            <a:r>
              <a:rPr lang="en-US" sz="140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y </a:t>
            </a:r>
            <a:r>
              <a:rPr lang="en-US" sz="1400" i="0" u="none" strike="noStrike" cap="none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convertirse</a:t>
            </a:r>
            <a:r>
              <a:rPr lang="en-US" sz="140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i="0" u="none" strike="noStrike" cap="none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</a:t>
            </a:r>
            <a:r>
              <a:rPr lang="en-US" sz="140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boutique </a:t>
            </a:r>
            <a:r>
              <a:rPr lang="en-US" sz="1400" i="0" u="none" strike="noStrike" cap="none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</a:t>
            </a:r>
            <a:r>
              <a:rPr lang="en-US" sz="140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USA y </a:t>
            </a:r>
            <a:r>
              <a:rPr lang="en-US" sz="1400" i="0" u="none" strike="noStrike" cap="none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Rusia</a:t>
            </a:r>
            <a:endParaRPr sz="1400" i="0" u="none" strike="noStrike" cap="none">
              <a:solidFill>
                <a:srgbClr val="33333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74" name="Google Shape;874;p20"/>
          <p:cNvGrpSpPr/>
          <p:nvPr/>
        </p:nvGrpSpPr>
        <p:grpSpPr>
          <a:xfrm>
            <a:off x="366795" y="239291"/>
            <a:ext cx="1266298" cy="406311"/>
            <a:chOff x="330200" y="5422246"/>
            <a:chExt cx="2540000" cy="972979"/>
          </a:xfrm>
        </p:grpSpPr>
        <p:sp>
          <p:nvSpPr>
            <p:cNvPr id="75" name="Google Shape;875;p20"/>
            <p:cNvSpPr txBox="1"/>
            <p:nvPr/>
          </p:nvSpPr>
          <p:spPr>
            <a:xfrm>
              <a:off x="330200" y="5422246"/>
              <a:ext cx="2540000" cy="9729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025" tIns="36025" rIns="180175" bIns="3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58585"/>
                </a:buClr>
                <a:buSzPts val="1200"/>
                <a:buFont typeface="Century Gothic"/>
                <a:buNone/>
              </a:pPr>
              <a:r>
                <a:rPr lang="en-US" sz="1200" b="1" i="0" u="none" strike="noStrike" cap="none" err="1">
                  <a:solidFill>
                    <a:srgbClr val="85858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Propósito</a:t>
              </a:r>
              <a:r>
                <a:rPr lang="en-US" sz="1200" b="1" i="0" u="none" strike="noStrike" cap="none">
                  <a:solidFill>
                    <a:srgbClr val="85858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</a:t>
              </a:r>
              <a:r>
                <a:rPr lang="en-US" sz="1200" b="1" i="0" u="none" strike="noStrike" cap="none" err="1">
                  <a:solidFill>
                    <a:srgbClr val="85858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emergente</a:t>
              </a:r>
              <a:r>
                <a:rPr lang="en-US" sz="1200" b="1" i="0" u="none" strike="noStrike" cap="none">
                  <a:solidFill>
                    <a:srgbClr val="85858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 </a:t>
              </a:r>
              <a:endParaRPr/>
            </a:p>
          </p:txBody>
        </p:sp>
        <p:cxnSp>
          <p:nvCxnSpPr>
            <p:cNvPr id="76" name="Google Shape;876;p20"/>
            <p:cNvCxnSpPr/>
            <p:nvPr/>
          </p:nvCxnSpPr>
          <p:spPr>
            <a:xfrm>
              <a:off x="2870200" y="5422246"/>
              <a:ext cx="0" cy="972979"/>
            </a:xfrm>
            <a:prstGeom prst="straightConnector1">
              <a:avLst/>
            </a:prstGeom>
            <a:noFill/>
            <a:ln w="1524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7" name="Google Shape;877;p20"/>
            <p:cNvCxnSpPr/>
            <p:nvPr/>
          </p:nvCxnSpPr>
          <p:spPr>
            <a:xfrm>
              <a:off x="2870200" y="5422246"/>
              <a:ext cx="0" cy="972979"/>
            </a:xfrm>
            <a:prstGeom prst="straightConnector1">
              <a:avLst/>
            </a:prstGeom>
            <a:noFill/>
            <a:ln w="152400" cap="flat" cmpd="sng">
              <a:solidFill>
                <a:srgbClr val="85858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" name="Rectángulo 4"/>
          <p:cNvSpPr/>
          <p:nvPr/>
        </p:nvSpPr>
        <p:spPr>
          <a:xfrm>
            <a:off x="1885065" y="2969271"/>
            <a:ext cx="10121382" cy="938719"/>
          </a:xfrm>
          <a:prstGeom prst="rect">
            <a:avLst/>
          </a:prstGeom>
        </p:spPr>
        <p:txBody>
          <a:bodyPr wrap="square" lIns="91440" tIns="45720" rIns="91440" bIns="45720" numCol="2" anchor="t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_tradnl" sz="1100" b="1">
                <a:latin typeface="Century Gothic"/>
                <a:ea typeface="Century Gothic" charset="0"/>
                <a:cs typeface="Century Gothic" charset="0"/>
              </a:rPr>
              <a:t>Ventas: </a:t>
            </a:r>
            <a:r>
              <a:rPr lang="en-US" sz="1100" err="1">
                <a:latin typeface="Century Gothic"/>
                <a:ea typeface="Century Gothic" charset="0"/>
                <a:cs typeface="Century Gothic" charset="0"/>
              </a:rPr>
              <a:t>sostener</a:t>
            </a:r>
            <a:r>
              <a:rPr lang="en-US" sz="1100">
                <a:latin typeface="Century Gothic"/>
                <a:ea typeface="Century Gothic" charset="0"/>
                <a:cs typeface="Century Gothic" charset="0"/>
              </a:rPr>
              <a:t> </a:t>
            </a:r>
            <a:r>
              <a:rPr lang="en-US" sz="1100" err="1">
                <a:latin typeface="Century Gothic"/>
                <a:ea typeface="Century Gothic" charset="0"/>
                <a:cs typeface="Century Gothic" charset="0"/>
              </a:rPr>
              <a:t>año</a:t>
            </a:r>
            <a:r>
              <a:rPr lang="en-US" sz="1100">
                <a:latin typeface="Century Gothic"/>
                <a:ea typeface="Century Gothic" charset="0"/>
                <a:cs typeface="Century Gothic" charset="0"/>
              </a:rPr>
              <a:t> 24-25 ~ 12 MUS$  y al </a:t>
            </a:r>
            <a:r>
              <a:rPr lang="en-US" sz="1100" err="1">
                <a:latin typeface="Century Gothic"/>
                <a:ea typeface="Century Gothic" charset="0"/>
                <a:cs typeface="Century Gothic" charset="0"/>
              </a:rPr>
              <a:t>año</a:t>
            </a:r>
            <a:r>
              <a:rPr lang="en-US" sz="1100">
                <a:latin typeface="Century Gothic"/>
                <a:ea typeface="Century Gothic" charset="0"/>
                <a:cs typeface="Century Gothic" charset="0"/>
              </a:rPr>
              <a:t> 26  ~18</a:t>
            </a:r>
            <a:r>
              <a:rPr lang="es-ES_tradnl" sz="1100">
                <a:latin typeface="Century Gothic"/>
                <a:ea typeface="Century Gothic" charset="0"/>
                <a:cs typeface="Century Gothic" charset="0"/>
              </a:rPr>
              <a:t> MUS$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100" b="1">
                <a:latin typeface="Century Gothic" charset="0"/>
                <a:ea typeface="Century Gothic" charset="0"/>
                <a:cs typeface="Century Gothic" charset="0"/>
              </a:rPr>
              <a:t>Tasa conversión propuestas/proyectos: </a:t>
            </a:r>
            <a:r>
              <a:rPr lang="en-US" sz="1100" err="1">
                <a:latin typeface="Century Gothic" charset="0"/>
                <a:ea typeface="Century Gothic" charset="0"/>
                <a:cs typeface="Century Gothic" charset="0"/>
              </a:rPr>
              <a:t>Mejorar</a:t>
            </a:r>
            <a:r>
              <a:rPr lang="en-US" sz="1100">
                <a:latin typeface="Century Gothic" charset="0"/>
                <a:ea typeface="Century Gothic" charset="0"/>
                <a:cs typeface="Century Gothic" charset="0"/>
              </a:rPr>
              <a:t> </a:t>
            </a:r>
            <a:r>
              <a:rPr lang="en-US" sz="1100" err="1">
                <a:latin typeface="Century Gothic" charset="0"/>
                <a:ea typeface="Century Gothic" charset="0"/>
                <a:cs typeface="Century Gothic" charset="0"/>
              </a:rPr>
              <a:t>año</a:t>
            </a:r>
            <a:r>
              <a:rPr lang="en-US" sz="1100">
                <a:latin typeface="Century Gothic" charset="0"/>
                <a:ea typeface="Century Gothic" charset="0"/>
                <a:cs typeface="Century Gothic" charset="0"/>
              </a:rPr>
              <a:t> a </a:t>
            </a:r>
            <a:r>
              <a:rPr lang="en-US" sz="1100" err="1">
                <a:latin typeface="Century Gothic" charset="0"/>
                <a:ea typeface="Century Gothic" charset="0"/>
                <a:cs typeface="Century Gothic" charset="0"/>
              </a:rPr>
              <a:t>año</a:t>
            </a:r>
            <a:r>
              <a:rPr lang="en-US" sz="1100">
                <a:latin typeface="Century Gothic" charset="0"/>
                <a:ea typeface="Century Gothic" charset="0"/>
                <a:cs typeface="Century Gothic" charset="0"/>
              </a:rPr>
              <a:t> </a:t>
            </a:r>
            <a:endParaRPr lang="es-ES_tradnl" sz="1100">
              <a:latin typeface="Century Gothic" charset="0"/>
              <a:ea typeface="Century Gothic" charset="0"/>
              <a:cs typeface="Century Gothic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ES_tradnl" sz="1100" b="1">
                <a:latin typeface="Century Gothic"/>
                <a:ea typeface="Century Gothic" charset="0"/>
                <a:cs typeface="Century Gothic" charset="0"/>
              </a:rPr>
              <a:t>Rentabilidad proyectos</a:t>
            </a:r>
            <a:r>
              <a:rPr lang="en-US" sz="1100" b="1">
                <a:latin typeface="Century Gothic"/>
                <a:ea typeface="Century Gothic" charset="0"/>
                <a:cs typeface="Century Gothic" charset="0"/>
              </a:rPr>
              <a:t> </a:t>
            </a:r>
            <a:r>
              <a:rPr lang="en-US" sz="1100" err="1">
                <a:latin typeface="Century Gothic"/>
                <a:ea typeface="Century Gothic" charset="0"/>
                <a:cs typeface="Century Gothic" charset="0"/>
              </a:rPr>
              <a:t>adhesión</a:t>
            </a:r>
            <a:r>
              <a:rPr lang="en-US" sz="1100">
                <a:latin typeface="Century Gothic"/>
                <a:ea typeface="Century Gothic" charset="0"/>
                <a:cs typeface="Century Gothic" charset="0"/>
              </a:rPr>
              <a:t> a la  </a:t>
            </a:r>
            <a:r>
              <a:rPr lang="en-US" sz="1100" err="1">
                <a:latin typeface="Century Gothic"/>
                <a:ea typeface="Century Gothic" charset="0"/>
                <a:cs typeface="Century Gothic" charset="0"/>
              </a:rPr>
              <a:t>propuesta</a:t>
            </a:r>
            <a:r>
              <a:rPr lang="en-US" sz="1100">
                <a:latin typeface="Century Gothic"/>
                <a:ea typeface="Century Gothic" charset="0"/>
                <a:cs typeface="Century Gothic" charset="0"/>
              </a:rPr>
              <a:t>. </a:t>
            </a:r>
            <a:endParaRPr lang="es-ES_tradnl" sz="1100">
              <a:latin typeface="Century Gothic"/>
              <a:ea typeface="Century Gothic" charset="0"/>
              <a:cs typeface="Century Gothic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100">
              <a:latin typeface="Century Gothic" charset="0"/>
              <a:ea typeface="Century Gothic" charset="0"/>
              <a:cs typeface="Century Gothic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100">
              <a:latin typeface="Century Gothic" charset="0"/>
              <a:ea typeface="Century Gothic" charset="0"/>
              <a:cs typeface="Century Gothic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ES_tradnl" sz="1100" b="1">
                <a:latin typeface="Century Gothic"/>
                <a:ea typeface="Century Gothic" charset="0"/>
                <a:cs typeface="Century Gothic" charset="0"/>
              </a:rPr>
              <a:t>NPS Clientes: </a:t>
            </a:r>
            <a:r>
              <a:rPr lang="en-US" sz="1100" err="1">
                <a:latin typeface="Century Gothic"/>
                <a:ea typeface="Century Gothic" charset="0"/>
                <a:cs typeface="Century Gothic" charset="0"/>
              </a:rPr>
              <a:t>Crecer</a:t>
            </a:r>
            <a:r>
              <a:rPr lang="en-US" sz="1100">
                <a:latin typeface="Century Gothic"/>
                <a:ea typeface="Century Gothic" charset="0"/>
                <a:cs typeface="Century Gothic" charset="0"/>
              </a:rPr>
              <a:t> </a:t>
            </a:r>
            <a:r>
              <a:rPr lang="en-US" sz="1100" err="1">
                <a:latin typeface="Century Gothic"/>
                <a:ea typeface="Century Gothic" charset="0"/>
                <a:cs typeface="Century Gothic" charset="0"/>
              </a:rPr>
              <a:t>año</a:t>
            </a:r>
            <a:r>
              <a:rPr lang="en-US" sz="1100">
                <a:latin typeface="Century Gothic"/>
                <a:ea typeface="Century Gothic" charset="0"/>
                <a:cs typeface="Century Gothic" charset="0"/>
              </a:rPr>
              <a:t>/</a:t>
            </a:r>
            <a:r>
              <a:rPr lang="en-US" sz="1100" err="1">
                <a:latin typeface="Century Gothic"/>
                <a:ea typeface="Century Gothic" charset="0"/>
                <a:cs typeface="Century Gothic" charset="0"/>
              </a:rPr>
              <a:t>año</a:t>
            </a:r>
            <a:r>
              <a:rPr lang="en-US" sz="1100">
                <a:latin typeface="Century Gothic"/>
                <a:ea typeface="Century Gothic" charset="0"/>
                <a:cs typeface="Century Gothic" charset="0"/>
              </a:rPr>
              <a:t>, mayor </a:t>
            </a:r>
            <a:r>
              <a:rPr lang="en-US" sz="1100" err="1">
                <a:latin typeface="Century Gothic"/>
                <a:ea typeface="Century Gothic" charset="0"/>
                <a:cs typeface="Century Gothic" charset="0"/>
              </a:rPr>
              <a:t>calidad</a:t>
            </a:r>
            <a:r>
              <a:rPr lang="en-US" sz="1100">
                <a:latin typeface="Century Gothic"/>
                <a:ea typeface="Century Gothic" charset="0"/>
                <a:cs typeface="Century Gothic" charset="0"/>
              </a:rPr>
              <a:t>/</a:t>
            </a:r>
            <a:r>
              <a:rPr lang="en-US" sz="1100" err="1">
                <a:latin typeface="Century Gothic"/>
                <a:ea typeface="Century Gothic" charset="0"/>
                <a:cs typeface="Century Gothic" charset="0"/>
              </a:rPr>
              <a:t>precio</a:t>
            </a:r>
            <a:r>
              <a:rPr lang="en-US" sz="1100">
                <a:latin typeface="Century Gothic"/>
                <a:ea typeface="Century Gothic" charset="0"/>
                <a:cs typeface="Century Gothic" charset="0"/>
              </a:rPr>
              <a:t> y </a:t>
            </a:r>
            <a:r>
              <a:rPr lang="en-US" sz="1100" err="1">
                <a:latin typeface="Century Gothic"/>
                <a:ea typeface="Century Gothic" charset="0"/>
                <a:cs typeface="Century Gothic" charset="0"/>
              </a:rPr>
              <a:t>experiencia</a:t>
            </a:r>
            <a:endParaRPr lang="es-ES_tradnl" sz="1100">
              <a:latin typeface="Century Gothic"/>
              <a:ea typeface="Century Gothic" charset="0"/>
              <a:cs typeface="Century Gothic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100" b="1">
                <a:latin typeface="Century Gothic"/>
                <a:ea typeface="Century Gothic" charset="0"/>
                <a:cs typeface="Century Gothic" charset="0"/>
              </a:rPr>
              <a:t>N</a:t>
            </a:r>
            <a:r>
              <a:rPr lang="es-ES_tradnl" sz="1100" b="1">
                <a:latin typeface="Century Gothic"/>
                <a:ea typeface="Century Gothic" charset="0"/>
                <a:cs typeface="Century Gothic" charset="0"/>
              </a:rPr>
              <a:t>PS Equipo: </a:t>
            </a:r>
            <a:r>
              <a:rPr lang="en-US" sz="1100" err="1">
                <a:latin typeface="Century Gothic"/>
                <a:ea typeface="Century Gothic" charset="0"/>
                <a:cs typeface="Century Gothic" charset="0"/>
              </a:rPr>
              <a:t>Crecer</a:t>
            </a:r>
            <a:r>
              <a:rPr lang="en-US" sz="1100">
                <a:latin typeface="Century Gothic"/>
                <a:ea typeface="Century Gothic" charset="0"/>
                <a:cs typeface="Century Gothic" charset="0"/>
              </a:rPr>
              <a:t> </a:t>
            </a:r>
            <a:r>
              <a:rPr lang="en-US" sz="1100" err="1">
                <a:latin typeface="Century Gothic"/>
                <a:ea typeface="Century Gothic" charset="0"/>
                <a:cs typeface="Century Gothic" charset="0"/>
              </a:rPr>
              <a:t>año</a:t>
            </a:r>
            <a:r>
              <a:rPr lang="en-US" sz="1100">
                <a:latin typeface="Century Gothic"/>
                <a:ea typeface="Century Gothic" charset="0"/>
                <a:cs typeface="Century Gothic" charset="0"/>
              </a:rPr>
              <a:t>/</a:t>
            </a:r>
            <a:r>
              <a:rPr lang="en-US" sz="1100" err="1">
                <a:latin typeface="Century Gothic"/>
                <a:ea typeface="Century Gothic" charset="0"/>
                <a:cs typeface="Century Gothic" charset="0"/>
              </a:rPr>
              <a:t>año</a:t>
            </a:r>
            <a:r>
              <a:rPr lang="en-US" sz="1100">
                <a:latin typeface="Century Gothic"/>
                <a:ea typeface="Century Gothic" charset="0"/>
                <a:cs typeface="Century Gothic" charset="0"/>
              </a:rPr>
              <a:t>, mayor </a:t>
            </a:r>
            <a:r>
              <a:rPr lang="en-US" sz="1100" err="1">
                <a:latin typeface="Century Gothic"/>
                <a:ea typeface="Century Gothic" charset="0"/>
                <a:cs typeface="Century Gothic" charset="0"/>
              </a:rPr>
              <a:t>pertenencia</a:t>
            </a:r>
            <a:r>
              <a:rPr lang="en-US" sz="1100">
                <a:latin typeface="Century Gothic"/>
                <a:ea typeface="Century Gothic" charset="0"/>
                <a:cs typeface="Century Gothic" charset="0"/>
              </a:rPr>
              <a:t>, </a:t>
            </a:r>
            <a:r>
              <a:rPr lang="en-US" sz="1100" err="1">
                <a:latin typeface="Century Gothic"/>
                <a:ea typeface="Century Gothic" charset="0"/>
                <a:cs typeface="Century Gothic" charset="0"/>
              </a:rPr>
              <a:t>aprendizaje</a:t>
            </a:r>
            <a:r>
              <a:rPr lang="en-US" sz="1100">
                <a:latin typeface="Century Gothic"/>
                <a:ea typeface="Century Gothic" charset="0"/>
                <a:cs typeface="Century Gothic" charset="0"/>
              </a:rPr>
              <a:t> y </a:t>
            </a:r>
            <a:r>
              <a:rPr lang="en-US" sz="1100" err="1">
                <a:latin typeface="Century Gothic"/>
                <a:ea typeface="Century Gothic" charset="0"/>
                <a:cs typeface="Century Gothic" charset="0"/>
              </a:rPr>
              <a:t>experiencia</a:t>
            </a:r>
            <a:r>
              <a:rPr lang="en-US" sz="1100">
                <a:latin typeface="Century Gothic"/>
                <a:ea typeface="Century Gothic" charset="0"/>
                <a:cs typeface="Century Gothic" charset="0"/>
              </a:rPr>
              <a:t>  </a:t>
            </a:r>
            <a:r>
              <a:rPr lang="es-ES_tradnl" sz="1100">
                <a:latin typeface="Century Gothic"/>
                <a:ea typeface="Century Gothic" charset="0"/>
                <a:cs typeface="Century Gothic" charset="0"/>
              </a:rPr>
              <a:t> </a:t>
            </a:r>
            <a:endParaRPr lang="es-ES_tradnl" sz="1100"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66" name="Google Shape;985;p23"/>
          <p:cNvSpPr txBox="1"/>
          <p:nvPr/>
        </p:nvSpPr>
        <p:spPr>
          <a:xfrm>
            <a:off x="1923731" y="6371955"/>
            <a:ext cx="9452830" cy="2881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algn="ctr">
              <a:buClr>
                <a:srgbClr val="333333"/>
              </a:buClr>
              <a:buSzPts val="1400"/>
            </a:pPr>
            <a:r>
              <a:rPr lang="en-US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Sistema de </a:t>
            </a:r>
            <a:r>
              <a:rPr lang="en-US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Gestión</a:t>
            </a:r>
            <a:r>
              <a:rPr lang="en-US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estratégica</a:t>
            </a:r>
            <a:r>
              <a:rPr lang="en-US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que </a:t>
            </a:r>
            <a:r>
              <a:rPr lang="en-US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enfoque</a:t>
            </a:r>
            <a:r>
              <a:rPr lang="en-US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</a:t>
            </a:r>
            <a:r>
              <a:rPr lang="en-US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el </a:t>
            </a:r>
            <a:r>
              <a:rPr lang="en-US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equilibrio</a:t>
            </a:r>
            <a:r>
              <a:rPr lang="en-US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entre </a:t>
            </a:r>
            <a:r>
              <a:rPr lang="en-US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fortalecimiento</a:t>
            </a:r>
            <a:r>
              <a:rPr lang="en-US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del CORE y </a:t>
            </a:r>
            <a:r>
              <a:rPr lang="en-US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crecimiento</a:t>
            </a:r>
            <a:endParaRPr sz="1400" b="0" i="0" u="none" strike="noStrike" cap="none">
              <a:solidFill>
                <a:srgbClr val="33333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" name="Google Shape;985;p23"/>
          <p:cNvSpPr txBox="1"/>
          <p:nvPr/>
        </p:nvSpPr>
        <p:spPr>
          <a:xfrm>
            <a:off x="4255668" y="5382989"/>
            <a:ext cx="1965261" cy="719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algn="ctr"/>
            <a:r>
              <a:rPr lang="es-ES_tradnl" sz="1200" b="1">
                <a:latin typeface="Century Gothic" charset="0"/>
                <a:ea typeface="Century Gothic" charset="0"/>
                <a:cs typeface="Century Gothic" charset="0"/>
              </a:rPr>
              <a:t>Estandarizar productos</a:t>
            </a:r>
          </a:p>
          <a:p>
            <a:pPr algn="ctr"/>
            <a:r>
              <a:rPr lang="es-ES_tradnl" sz="1000">
                <a:latin typeface="Century Gothic" charset="0"/>
                <a:ea typeface="Century Gothic" charset="0"/>
                <a:cs typeface="Century Gothic" charset="0"/>
              </a:rPr>
              <a:t>Estandarizar </a:t>
            </a:r>
            <a:r>
              <a:rPr lang="en-US" sz="1000">
                <a:latin typeface="Century Gothic" charset="0"/>
                <a:ea typeface="Century Gothic" charset="0"/>
                <a:cs typeface="Century Gothic" charset="0"/>
              </a:rPr>
              <a:t>lo</a:t>
            </a:r>
            <a:r>
              <a:rPr lang="es-ES_tradnl" sz="1000">
                <a:latin typeface="Century Gothic" charset="0"/>
                <a:ea typeface="Century Gothic" charset="0"/>
                <a:cs typeface="Century Gothic" charset="0"/>
              </a:rPr>
              <a:t> mínimo que garantice calidad y disponibilidad de experiencias </a:t>
            </a:r>
          </a:p>
        </p:txBody>
      </p:sp>
      <p:sp>
        <p:nvSpPr>
          <p:cNvPr id="68" name="Google Shape;985;p23"/>
          <p:cNvSpPr txBox="1"/>
          <p:nvPr/>
        </p:nvSpPr>
        <p:spPr>
          <a:xfrm>
            <a:off x="1885066" y="5291292"/>
            <a:ext cx="2180218" cy="1026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lvl="0" algn="ctr">
              <a:buClr>
                <a:srgbClr val="333333"/>
              </a:buClr>
              <a:buSzPts val="1400"/>
            </a:pPr>
            <a:r>
              <a:rPr lang="es-ES_tradnl" sz="1200" b="1">
                <a:latin typeface="Century Gothic" charset="0"/>
                <a:ea typeface="Century Gothic" charset="0"/>
                <a:cs typeface="Century Gothic" charset="0"/>
              </a:rPr>
              <a:t>Fortalecer talento</a:t>
            </a:r>
          </a:p>
          <a:p>
            <a:pPr algn="ctr">
              <a:buClr>
                <a:srgbClr val="333333"/>
              </a:buClr>
              <a:buSzPts val="1400"/>
            </a:pPr>
            <a:r>
              <a:rPr lang="es-ES_tradnl" sz="1000">
                <a:latin typeface="Century Gothic" charset="0"/>
                <a:ea typeface="Century Gothic" charset="0"/>
                <a:cs typeface="Century Gothic" charset="0"/>
              </a:rPr>
              <a:t>Lograr equipos (módulos) </a:t>
            </a:r>
            <a:r>
              <a:rPr lang="es-ES_tradnl" sz="1000" err="1">
                <a:latin typeface="Century Gothic" charset="0"/>
                <a:ea typeface="Century Gothic" charset="0"/>
                <a:cs typeface="Century Gothic" charset="0"/>
              </a:rPr>
              <a:t>autogestionado</a:t>
            </a:r>
            <a:endParaRPr lang="es-ES_tradnl" sz="1000">
              <a:latin typeface="Century Gothic" charset="0"/>
              <a:ea typeface="Century Gothic" charset="0"/>
              <a:cs typeface="Century Gothic" charset="0"/>
            </a:endParaRPr>
          </a:p>
          <a:p>
            <a:pPr algn="ctr">
              <a:buClr>
                <a:srgbClr val="333333"/>
              </a:buClr>
              <a:buSzPts val="1400"/>
            </a:pPr>
            <a:r>
              <a:rPr lang="es-ES_tradnl" sz="1000">
                <a:latin typeface="Century Gothic" charset="0"/>
                <a:ea typeface="Century Gothic" charset="0"/>
                <a:cs typeface="Century Gothic" charset="0"/>
              </a:rPr>
              <a:t> de calidad, diversidad y pertenencia como base al trabajo técnico y administrativo</a:t>
            </a:r>
            <a:endParaRPr sz="1000" b="0" i="0" u="none" strike="noStrike" cap="none">
              <a:solidFill>
                <a:srgbClr val="FF0000"/>
              </a:solidFill>
              <a:latin typeface="Century Gothic" charset="0"/>
              <a:ea typeface="Century Gothic" charset="0"/>
              <a:cs typeface="Century Gothic" charset="0"/>
              <a:sym typeface="Century Gothic"/>
            </a:endParaRPr>
          </a:p>
        </p:txBody>
      </p:sp>
      <p:sp>
        <p:nvSpPr>
          <p:cNvPr id="69" name="Google Shape;985;p23"/>
          <p:cNvSpPr txBox="1"/>
          <p:nvPr/>
        </p:nvSpPr>
        <p:spPr>
          <a:xfrm>
            <a:off x="8949295" y="5343988"/>
            <a:ext cx="2390654" cy="1088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lvl="0" algn="ctr">
              <a:buClr>
                <a:srgbClr val="333333"/>
              </a:buClr>
              <a:buSzPts val="1400"/>
            </a:pPr>
            <a:r>
              <a:rPr lang="es-ES_tradnl" sz="1200" b="1">
                <a:latin typeface="Century Gothic" charset="0"/>
                <a:ea typeface="Century Gothic" charset="0"/>
                <a:cs typeface="Century Gothic" charset="0"/>
              </a:rPr>
              <a:t>Evolucionar talento, producto y experiencia cliente</a:t>
            </a:r>
          </a:p>
          <a:p>
            <a:pPr lvl="0" algn="ctr">
              <a:buClr>
                <a:srgbClr val="333333"/>
              </a:buClr>
              <a:buSzPts val="1400"/>
            </a:pPr>
            <a:r>
              <a:rPr lang="es-ES_tradnl" sz="1000">
                <a:latin typeface="Century Gothic" charset="0"/>
                <a:ea typeface="Century Gothic" charset="0"/>
                <a:cs typeface="Century Gothic" charset="0"/>
              </a:rPr>
              <a:t>Gestionar los aprendizajes para lograr la adaptación constante a nuestro entorno</a:t>
            </a:r>
          </a:p>
          <a:p>
            <a:pPr lvl="0" algn="ctr">
              <a:buClr>
                <a:srgbClr val="333333"/>
              </a:buClr>
              <a:buSzPts val="1400"/>
            </a:pPr>
            <a:endParaRPr lang="en-US" sz="1200" b="1">
              <a:solidFill>
                <a:srgbClr val="333333"/>
              </a:solidFill>
              <a:latin typeface="Century Gothic" charset="0"/>
              <a:ea typeface="Century Gothic" charset="0"/>
              <a:cs typeface="Century Gothic" charset="0"/>
              <a:sym typeface="Century Gothic"/>
            </a:endParaRPr>
          </a:p>
        </p:txBody>
      </p:sp>
      <p:sp>
        <p:nvSpPr>
          <p:cNvPr id="71" name="Google Shape;985;p23"/>
          <p:cNvSpPr txBox="1"/>
          <p:nvPr/>
        </p:nvSpPr>
        <p:spPr>
          <a:xfrm>
            <a:off x="6447132" y="5352253"/>
            <a:ext cx="2323634" cy="1088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algn="ctr"/>
            <a:r>
              <a:rPr lang="es-ES_tradnl" sz="1200" b="1">
                <a:latin typeface="Century Gothic" charset="0"/>
                <a:ea typeface="Century Gothic" charset="0"/>
                <a:cs typeface="Century Gothic" charset="0"/>
              </a:rPr>
              <a:t>Potenciar la experiencia con el cliente </a:t>
            </a:r>
          </a:p>
          <a:p>
            <a:pPr algn="ctr"/>
            <a:r>
              <a:rPr lang="es-ES_tradnl" sz="1000">
                <a:latin typeface="Century Gothic" charset="0"/>
                <a:ea typeface="Century Gothic" charset="0"/>
                <a:cs typeface="Century Gothic" charset="0"/>
              </a:rPr>
              <a:t>Fortalecer de inicio a fin el acompañamiento para lograr el reconocimiento diferenciador</a:t>
            </a:r>
          </a:p>
          <a:p>
            <a:pPr algn="ctr"/>
            <a:endParaRPr lang="es-ES_tradnl" sz="1200"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2574676" y="1486965"/>
            <a:ext cx="22156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 u="sng">
                <a:latin typeface="Century Gothic" charset="0"/>
                <a:ea typeface="Century Gothic" charset="0"/>
                <a:cs typeface="Century Gothic" charset="0"/>
              </a:rPr>
              <a:t>Primera prioridad Core</a:t>
            </a:r>
          </a:p>
        </p:txBody>
      </p:sp>
      <p:sp>
        <p:nvSpPr>
          <p:cNvPr id="59" name="CuadroTexto 58"/>
          <p:cNvSpPr txBox="1"/>
          <p:nvPr/>
        </p:nvSpPr>
        <p:spPr>
          <a:xfrm>
            <a:off x="5481576" y="1483264"/>
            <a:ext cx="30235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 u="sng">
                <a:latin typeface="Century Gothic" charset="0"/>
                <a:ea typeface="Century Gothic" charset="0"/>
                <a:cs typeface="Century Gothic" charset="0"/>
              </a:rPr>
              <a:t>Segunda prioridad Adyacencias</a:t>
            </a:r>
          </a:p>
        </p:txBody>
      </p:sp>
      <p:sp>
        <p:nvSpPr>
          <p:cNvPr id="60" name="CuadroTexto 59"/>
          <p:cNvSpPr txBox="1"/>
          <p:nvPr/>
        </p:nvSpPr>
        <p:spPr>
          <a:xfrm>
            <a:off x="9439798" y="1502419"/>
            <a:ext cx="20425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b="1" u="sng">
                <a:latin typeface="Century Gothic" charset="0"/>
                <a:ea typeface="Century Gothic" charset="0"/>
                <a:cs typeface="Century Gothic" charset="0"/>
              </a:rPr>
              <a:t>Tercera prioridad </a:t>
            </a:r>
          </a:p>
          <a:p>
            <a:pPr algn="ctr"/>
            <a:r>
              <a:rPr lang="es-ES_tradnl" b="1" u="sng">
                <a:latin typeface="Century Gothic" charset="0"/>
                <a:ea typeface="Century Gothic" charset="0"/>
                <a:cs typeface="Century Gothic" charset="0"/>
              </a:rPr>
              <a:t>Nuevas adyacencias</a:t>
            </a:r>
          </a:p>
        </p:txBody>
      </p:sp>
      <p:grpSp>
        <p:nvGrpSpPr>
          <p:cNvPr id="82" name="Google Shape;975;p23"/>
          <p:cNvGrpSpPr/>
          <p:nvPr/>
        </p:nvGrpSpPr>
        <p:grpSpPr>
          <a:xfrm>
            <a:off x="362772" y="2850947"/>
            <a:ext cx="1266298" cy="896272"/>
            <a:chOff x="330200" y="6696248"/>
            <a:chExt cx="2540000" cy="972979"/>
          </a:xfrm>
        </p:grpSpPr>
        <p:sp>
          <p:nvSpPr>
            <p:cNvPr id="83" name="Google Shape;976;p23"/>
            <p:cNvSpPr txBox="1"/>
            <p:nvPr/>
          </p:nvSpPr>
          <p:spPr>
            <a:xfrm>
              <a:off x="330200" y="6696248"/>
              <a:ext cx="2540000" cy="9729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025" tIns="36025" rIns="180175" bIns="36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58585"/>
                </a:buClr>
                <a:buSzPts val="1200"/>
                <a:buFont typeface="Century Gothic"/>
                <a:buNone/>
              </a:pPr>
              <a:r>
                <a:rPr lang="en-US" sz="1200" b="1" err="1">
                  <a:solidFill>
                    <a:srgbClr val="85858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</a:t>
              </a:r>
              <a:r>
                <a:rPr lang="en-US" sz="1200" b="1" i="0" u="none" strike="noStrike" cap="none" err="1">
                  <a:solidFill>
                    <a:srgbClr val="85858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etas</a:t>
              </a:r>
              <a:endParaRPr/>
            </a:p>
          </p:txBody>
        </p:sp>
        <p:cxnSp>
          <p:nvCxnSpPr>
            <p:cNvPr id="84" name="Google Shape;977;p23"/>
            <p:cNvCxnSpPr/>
            <p:nvPr/>
          </p:nvCxnSpPr>
          <p:spPr>
            <a:xfrm>
              <a:off x="2870200" y="6696248"/>
              <a:ext cx="0" cy="972979"/>
            </a:xfrm>
            <a:prstGeom prst="straightConnector1">
              <a:avLst/>
            </a:prstGeom>
            <a:noFill/>
            <a:ln w="152400" cap="flat" cmpd="sng">
              <a:solidFill>
                <a:srgbClr val="85858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72" name="Google Shape;963;p23"/>
          <p:cNvSpPr txBox="1"/>
          <p:nvPr/>
        </p:nvSpPr>
        <p:spPr>
          <a:xfrm>
            <a:off x="5481576" y="1805692"/>
            <a:ext cx="2928360" cy="934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 charset="0"/>
              <a:buChar char="•"/>
            </a:pPr>
            <a:r>
              <a:rPr lang="en-US" sz="1400" i="0" u="none" strike="noStrike" cap="none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Consolidar</a:t>
            </a:r>
            <a:r>
              <a:rPr lang="en-US" sz="140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y </a:t>
            </a:r>
            <a:r>
              <a:rPr lang="en-US" sz="1400" i="0" u="none" strike="noStrike" cap="none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hacer</a:t>
            </a:r>
            <a:r>
              <a:rPr lang="en-US" sz="140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400" i="0" u="none" strike="noStrike" cap="none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crecer</a:t>
            </a:r>
            <a:r>
              <a:rPr lang="en-US" sz="140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la boutique </a:t>
            </a:r>
            <a:r>
              <a:rPr lang="en-US" sz="1400" i="0" u="none" strike="noStrike" cap="none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</a:t>
            </a:r>
            <a:r>
              <a:rPr lang="en-US" sz="140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Chile, </a:t>
            </a:r>
            <a:r>
              <a:rPr lang="en-US" sz="1400" i="0" u="none" strike="noStrike" cap="none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Brasil</a:t>
            </a:r>
            <a:r>
              <a:rPr lang="en-US" sz="1400" i="0" u="none" strike="noStrike" cap="none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y </a:t>
            </a:r>
            <a:r>
              <a:rPr lang="en-US" sz="1400" i="0" u="none" strike="noStrike" cap="none" err="1">
                <a:solidFill>
                  <a:srgbClr val="33333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Perú</a:t>
            </a:r>
            <a:endParaRPr lang="en-US" sz="1400" i="0" u="none" strike="noStrike" cap="none">
              <a:solidFill>
                <a:srgbClr val="33333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 charset="0"/>
              <a:buChar char="•"/>
            </a:pPr>
            <a:endParaRPr sz="1400" i="0" u="none" strike="noStrike" cap="none">
              <a:solidFill>
                <a:srgbClr val="33333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65" name="Diagrama 64">
            <a:extLst>
              <a:ext uri="{FF2B5EF4-FFF2-40B4-BE49-F238E27FC236}">
                <a16:creationId xmlns:a16="http://schemas.microsoft.com/office/drawing/2014/main" id="{3F302EBF-10A8-FD09-AB48-8789BDF9C1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8117263"/>
              </p:ext>
            </p:extLst>
          </p:nvPr>
        </p:nvGraphicFramePr>
        <p:xfrm>
          <a:off x="2166111" y="3453061"/>
          <a:ext cx="9024134" cy="1766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079919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3" grpId="0" animBg="1"/>
      <p:bldP spid="78" grpId="0" animBg="1"/>
      <p:bldP spid="8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4" descr="Imagen que contiene persona, alimentos, hombre, cerca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 l="23048" r="23048"/>
          <a:stretch/>
        </p:blipFill>
        <p:spPr>
          <a:xfrm>
            <a:off x="-12504" y="0"/>
            <a:ext cx="55452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4"/>
          <p:cNvSpPr/>
          <p:nvPr/>
        </p:nvSpPr>
        <p:spPr>
          <a:xfrm>
            <a:off x="-12504" y="0"/>
            <a:ext cx="5545203" cy="6857999"/>
          </a:xfrm>
          <a:prstGeom prst="rect">
            <a:avLst/>
          </a:prstGeom>
          <a:blipFill rotWithShape="1">
            <a:blip r:embed="rId4">
              <a:alphaModFix amt="86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Calibri"/>
              <a:buNone/>
            </a:pPr>
            <a:endParaRPr sz="144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4064185" y="1801906"/>
            <a:ext cx="3243300" cy="3243300"/>
          </a:xfrm>
          <a:prstGeom prst="rect">
            <a:avLst/>
          </a:prstGeom>
          <a:solidFill>
            <a:srgbClr val="493C70"/>
          </a:solidFill>
          <a:ln w="266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7215022" y="2768228"/>
            <a:ext cx="4788732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200">
                <a:solidFill>
                  <a:srgbClr val="B3207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Agenda Control de Gestión</a:t>
            </a:r>
          </a:p>
        </p:txBody>
      </p:sp>
      <p:sp>
        <p:nvSpPr>
          <p:cNvPr id="166" name="Google Shape;166;p4"/>
          <p:cNvSpPr txBox="1"/>
          <p:nvPr/>
        </p:nvSpPr>
        <p:spPr>
          <a:xfrm>
            <a:off x="4200981" y="2321953"/>
            <a:ext cx="2963748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5</a:t>
            </a:r>
            <a:endParaRPr sz="138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9609265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076;p26"/>
          <p:cNvSpPr txBox="1"/>
          <p:nvPr/>
        </p:nvSpPr>
        <p:spPr>
          <a:xfrm>
            <a:off x="337176" y="172199"/>
            <a:ext cx="11237977" cy="907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 orquestar el cumplimiento y el desarrollo de REDCO se propone la siguiente programación mensual</a:t>
            </a:r>
            <a:endParaRPr sz="2800">
              <a:solidFill>
                <a:srgbClr val="2F549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9" name="Objeto 8"/>
          <p:cNvGraphicFramePr>
            <a:graphicFrameLocks noChangeAspect="1"/>
          </p:cNvGraphicFramePr>
          <p:nvPr/>
        </p:nvGraphicFramePr>
        <p:xfrm>
          <a:off x="1038373" y="1613878"/>
          <a:ext cx="10265156" cy="4256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Hoja de cálculo" r:id="rId2" imgW="8483600" imgH="3517900" progId="Excel.Sheet.8">
                  <p:embed/>
                </p:oleObj>
              </mc:Choice>
              <mc:Fallback>
                <p:oleObj name="Hoja de cálculo" r:id="rId2" imgW="8483600" imgH="3517900" progId="Excel.Shee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38373" y="1613878"/>
                        <a:ext cx="10265156" cy="42566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03212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45682" y="-2053232"/>
            <a:ext cx="10588141" cy="873124"/>
          </a:xfrm>
        </p:spPr>
        <p:txBody>
          <a:bodyPr/>
          <a:lstStyle/>
          <a:p>
            <a:endParaRPr lang="es-ES_tradnl" sz="3200"/>
          </a:p>
        </p:txBody>
      </p:sp>
      <p:sp>
        <p:nvSpPr>
          <p:cNvPr id="3" name="btfpLayoutConfig" hidden="1"/>
          <p:cNvSpPr txBox="1"/>
          <p:nvPr>
            <p:custDataLst>
              <p:tags r:id="rId2"/>
            </p:custDataLst>
          </p:nvPr>
        </p:nvSpPr>
        <p:spPr bwMode="gray">
          <a:xfrm>
            <a:off x="12700" y="12700"/>
            <a:ext cx="2836280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s-ES_tradnl" sz="100">
                <a:solidFill>
                  <a:srgbClr val="FFFFFF">
                    <a:alpha val="0"/>
                  </a:srgbClr>
                </a:solidFill>
              </a:rPr>
              <a:t>overall_0_132460423007308396 columns_6_132460422187315009 12_1_132460412853739341 13_1_132460412854377655 14_1_132460412854836439 8_1_132460412854866359 20_1_132460415593171562 26_1_132460417740539751 29_1_132460417740779100 39_1_132460420318256050 40_1_132460420730865834 43_1_132460420730865834 46_1_132460420730865834 49_1_132460421243240084 52_1_132460422271247360 61_1_132460423502725119 15_1_132463912351178214 10_1_132465047756602361 </a:t>
            </a:r>
          </a:p>
        </p:txBody>
      </p:sp>
      <p:sp>
        <p:nvSpPr>
          <p:cNvPr id="12" name="btfpBulletedList915355"/>
          <p:cNvSpPr txBox="1"/>
          <p:nvPr>
            <p:custDataLst>
              <p:tags r:id="rId3"/>
            </p:custDataLst>
          </p:nvPr>
        </p:nvSpPr>
        <p:spPr bwMode="gray">
          <a:xfrm>
            <a:off x="6042212" y="1758494"/>
            <a:ext cx="5829923" cy="565146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r>
              <a:rPr lang="es-ES_tradnl" b="1">
                <a:solidFill>
                  <a:srgbClr val="7A2531"/>
                </a:solidFill>
              </a:rPr>
              <a:t>Identificar variabilidad/desviaciones </a:t>
            </a:r>
            <a:r>
              <a:rPr lang="es-ES_tradnl"/>
              <a:t>con ayuda de un </a:t>
            </a:r>
            <a:r>
              <a:rPr lang="es-ES_tradnl" i="1"/>
              <a:t>dashboard </a:t>
            </a:r>
            <a:r>
              <a:rPr lang="es-ES_tradnl"/>
              <a:t>con KPIs (de proceso y resultado)</a:t>
            </a:r>
          </a:p>
        </p:txBody>
      </p:sp>
      <p:sp>
        <p:nvSpPr>
          <p:cNvPr id="13" name="btfpBulletedList619393"/>
          <p:cNvSpPr txBox="1"/>
          <p:nvPr>
            <p:custDataLst>
              <p:tags r:id="rId4"/>
            </p:custDataLst>
          </p:nvPr>
        </p:nvSpPr>
        <p:spPr bwMode="gray">
          <a:xfrm>
            <a:off x="6042212" y="2633630"/>
            <a:ext cx="5829923" cy="565146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r>
              <a:rPr lang="es-ES_tradnl"/>
              <a:t>Como enfrentar y subsanar las </a:t>
            </a:r>
            <a:r>
              <a:rPr lang="es-ES_tradnl" b="1">
                <a:solidFill>
                  <a:srgbClr val="7A2531"/>
                </a:solidFill>
              </a:rPr>
              <a:t>causas raíz de variabilidad/desviaciones </a:t>
            </a:r>
          </a:p>
        </p:txBody>
      </p:sp>
      <p:sp>
        <p:nvSpPr>
          <p:cNvPr id="14" name="btfpBulletedList524193"/>
          <p:cNvSpPr txBox="1"/>
          <p:nvPr>
            <p:custDataLst>
              <p:tags r:id="rId5"/>
            </p:custDataLst>
          </p:nvPr>
        </p:nvSpPr>
        <p:spPr bwMode="gray">
          <a:xfrm>
            <a:off x="6042212" y="5100584"/>
            <a:ext cx="5829923" cy="318924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r>
              <a:rPr lang="es-ES_tradnl"/>
              <a:t>En base a </a:t>
            </a:r>
            <a:r>
              <a:rPr lang="es-ES_tradnl" b="1">
                <a:solidFill>
                  <a:srgbClr val="7A2531"/>
                </a:solidFill>
              </a:rPr>
              <a:t>información proporcionada</a:t>
            </a:r>
          </a:p>
        </p:txBody>
      </p:sp>
      <p:grpSp>
        <p:nvGrpSpPr>
          <p:cNvPr id="26" name="btfpColumnHeaderBox769313"/>
          <p:cNvGrpSpPr/>
          <p:nvPr>
            <p:custDataLst>
              <p:tags r:id="rId6"/>
            </p:custDataLst>
          </p:nvPr>
        </p:nvGrpSpPr>
        <p:grpSpPr>
          <a:xfrm>
            <a:off x="2341034" y="1350108"/>
            <a:ext cx="3298720" cy="315913"/>
            <a:chOff x="863928" y="1270000"/>
            <a:chExt cx="3488267" cy="315913"/>
          </a:xfrm>
        </p:grpSpPr>
        <p:sp>
          <p:nvSpPr>
            <p:cNvPr id="24" name="btfpColumnHeaderBoxText769313"/>
            <p:cNvSpPr txBox="1"/>
            <p:nvPr>
              <p:custDataLst>
                <p:tags r:id="rId39"/>
              </p:custDataLst>
            </p:nvPr>
          </p:nvSpPr>
          <p:spPr bwMode="gray">
            <a:xfrm>
              <a:off x="863928" y="1270000"/>
              <a:ext cx="3488267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ct val="0"/>
                </a:spcBef>
                <a:buNone/>
              </a:pPr>
              <a:r>
                <a:rPr lang="es-ES_tradnl" sz="1600" b="1">
                  <a:solidFill>
                    <a:srgbClr val="333333"/>
                  </a:solidFill>
                </a:rPr>
                <a:t>Proceso de toma de decisiones </a:t>
              </a:r>
            </a:p>
          </p:txBody>
        </p:sp>
        <p:cxnSp>
          <p:nvCxnSpPr>
            <p:cNvPr id="25" name="btfpColumnHeaderBoxLine769313"/>
            <p:cNvCxnSpPr/>
            <p:nvPr>
              <p:custDataLst>
                <p:tags r:id="rId40"/>
              </p:custDataLst>
            </p:nvPr>
          </p:nvCxnSpPr>
          <p:spPr bwMode="gray">
            <a:xfrm>
              <a:off x="863928" y="1585913"/>
              <a:ext cx="3488267" cy="0"/>
            </a:xfrm>
            <a:prstGeom prst="line">
              <a:avLst/>
            </a:prstGeom>
            <a:ln w="9525" cap="flat">
              <a:solidFill>
                <a:srgbClr val="333333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btfpColumnHeaderBox760782"/>
          <p:cNvGrpSpPr/>
          <p:nvPr>
            <p:custDataLst>
              <p:tags r:id="rId7"/>
            </p:custDataLst>
          </p:nvPr>
        </p:nvGrpSpPr>
        <p:grpSpPr>
          <a:xfrm>
            <a:off x="6042212" y="1353192"/>
            <a:ext cx="5819589" cy="315913"/>
            <a:chOff x="3210504" y="1276168"/>
            <a:chExt cx="2407890" cy="315913"/>
          </a:xfrm>
        </p:grpSpPr>
        <p:sp>
          <p:nvSpPr>
            <p:cNvPr id="27" name="btfpColumnHeaderBoxText760782"/>
            <p:cNvSpPr txBox="1"/>
            <p:nvPr>
              <p:custDataLst>
                <p:tags r:id="rId37"/>
              </p:custDataLst>
            </p:nvPr>
          </p:nvSpPr>
          <p:spPr bwMode="gray">
            <a:xfrm>
              <a:off x="3210504" y="1276168"/>
              <a:ext cx="2407890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ct val="0"/>
                </a:spcBef>
                <a:buNone/>
              </a:pPr>
              <a:r>
                <a:rPr lang="es-ES_tradnl" sz="1600" b="1">
                  <a:solidFill>
                    <a:srgbClr val="333333"/>
                  </a:solidFill>
                </a:rPr>
                <a:t>Detalle </a:t>
              </a:r>
            </a:p>
          </p:txBody>
        </p:sp>
        <p:cxnSp>
          <p:nvCxnSpPr>
            <p:cNvPr id="28" name="btfpColumnHeaderBoxLine760782"/>
            <p:cNvCxnSpPr/>
            <p:nvPr>
              <p:custDataLst>
                <p:tags r:id="rId38"/>
              </p:custDataLst>
            </p:nvPr>
          </p:nvCxnSpPr>
          <p:spPr bwMode="gray">
            <a:xfrm>
              <a:off x="3210504" y="1592081"/>
              <a:ext cx="2407890" cy="0"/>
            </a:xfrm>
            <a:prstGeom prst="line">
              <a:avLst/>
            </a:prstGeom>
            <a:ln w="9525" cap="flat">
              <a:solidFill>
                <a:srgbClr val="333333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btfpBulletedList524193"/>
          <p:cNvSpPr txBox="1"/>
          <p:nvPr>
            <p:custDataLst>
              <p:tags r:id="rId8"/>
            </p:custDataLst>
          </p:nvPr>
        </p:nvSpPr>
        <p:spPr bwMode="gray">
          <a:xfrm>
            <a:off x="6042212" y="4215230"/>
            <a:ext cx="5829923" cy="318924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r>
              <a:rPr lang="es-ES_tradnl"/>
              <a:t>Necesaria para </a:t>
            </a:r>
            <a:r>
              <a:rPr lang="es-ES_tradnl" b="1">
                <a:solidFill>
                  <a:srgbClr val="7A2531"/>
                </a:solidFill>
              </a:rPr>
              <a:t>toma de decisión informada </a:t>
            </a:r>
          </a:p>
        </p:txBody>
      </p:sp>
      <p:grpSp>
        <p:nvGrpSpPr>
          <p:cNvPr id="40" name="btfpRowHeaderBox191881"/>
          <p:cNvGrpSpPr/>
          <p:nvPr>
            <p:custDataLst>
              <p:tags r:id="rId9"/>
            </p:custDataLst>
          </p:nvPr>
        </p:nvGrpSpPr>
        <p:grpSpPr>
          <a:xfrm>
            <a:off x="357562" y="4518680"/>
            <a:ext cx="1476374" cy="1078092"/>
            <a:chOff x="404735" y="-2562234"/>
            <a:chExt cx="1477433" cy="972979"/>
          </a:xfrm>
        </p:grpSpPr>
        <p:sp>
          <p:nvSpPr>
            <p:cNvPr id="41" name="btfpRowHeaderBoxText191881"/>
            <p:cNvSpPr txBox="1"/>
            <p:nvPr>
              <p:custDataLst>
                <p:tags r:id="rId35"/>
              </p:custDataLst>
            </p:nvPr>
          </p:nvSpPr>
          <p:spPr bwMode="gray">
            <a:xfrm>
              <a:off x="404735" y="-2562234"/>
              <a:ext cx="1477433" cy="972979"/>
            </a:xfrm>
            <a:prstGeom prst="rect">
              <a:avLst/>
            </a:prstGeom>
            <a:noFill/>
          </p:spPr>
          <p:txBody>
            <a:bodyPr vert="horz" wrap="square" lIns="36036" tIns="36036" rIns="180181" bIns="36036" rtlCol="0" anchor="t">
              <a:noAutofit/>
            </a:bodyPr>
            <a:lstStyle/>
            <a:p>
              <a:pPr marL="0" indent="0">
                <a:spcBef>
                  <a:spcPct val="0"/>
                </a:spcBef>
                <a:buNone/>
              </a:pPr>
              <a:r>
                <a:rPr lang="es-ES_tradnl" b="1">
                  <a:solidFill>
                    <a:srgbClr val="333333"/>
                  </a:solidFill>
                </a:rPr>
                <a:t>Durante</a:t>
              </a:r>
            </a:p>
            <a:p>
              <a:pPr marL="0" indent="0">
                <a:spcBef>
                  <a:spcPct val="0"/>
                </a:spcBef>
                <a:buNone/>
              </a:pPr>
              <a:r>
                <a:rPr lang="es-ES_tradnl" sz="1600" b="1">
                  <a:solidFill>
                    <a:srgbClr val="333333"/>
                  </a:solidFill>
                </a:rPr>
                <a:t>foro</a:t>
              </a:r>
            </a:p>
          </p:txBody>
        </p:sp>
        <p:cxnSp>
          <p:nvCxnSpPr>
            <p:cNvPr id="42" name="btfpRowHeaderBoxLine191881"/>
            <p:cNvCxnSpPr/>
            <p:nvPr>
              <p:custDataLst>
                <p:tags r:id="rId36"/>
              </p:custDataLst>
            </p:nvPr>
          </p:nvCxnSpPr>
          <p:spPr bwMode="gray">
            <a:xfrm flipH="1">
              <a:off x="1882168" y="-2562234"/>
              <a:ext cx="0" cy="972979"/>
            </a:xfrm>
            <a:prstGeom prst="line">
              <a:avLst/>
            </a:prstGeom>
            <a:ln w="152400" cap="flat">
              <a:solidFill>
                <a:srgbClr val="333333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btfpRowHeaderBox191881"/>
          <p:cNvGrpSpPr/>
          <p:nvPr>
            <p:custDataLst>
              <p:tags r:id="rId10"/>
            </p:custDataLst>
          </p:nvPr>
        </p:nvGrpSpPr>
        <p:grpSpPr>
          <a:xfrm>
            <a:off x="357562" y="1707821"/>
            <a:ext cx="1476374" cy="2738909"/>
            <a:chOff x="193229" y="-1128678"/>
            <a:chExt cx="1477433" cy="972979"/>
          </a:xfrm>
        </p:grpSpPr>
        <p:sp>
          <p:nvSpPr>
            <p:cNvPr id="50" name="btfpRowHeaderBoxText191881"/>
            <p:cNvSpPr txBox="1"/>
            <p:nvPr>
              <p:custDataLst>
                <p:tags r:id="rId33"/>
              </p:custDataLst>
            </p:nvPr>
          </p:nvSpPr>
          <p:spPr bwMode="gray">
            <a:xfrm>
              <a:off x="193229" y="-1128678"/>
              <a:ext cx="1477433" cy="972979"/>
            </a:xfrm>
            <a:prstGeom prst="rect">
              <a:avLst/>
            </a:prstGeom>
            <a:noFill/>
          </p:spPr>
          <p:txBody>
            <a:bodyPr vert="horz" wrap="square" lIns="36036" tIns="36036" rIns="180181" bIns="36036" rtlCol="0" anchor="t">
              <a:noAutofit/>
            </a:bodyPr>
            <a:lstStyle/>
            <a:p>
              <a:pPr marL="0" indent="0">
                <a:spcBef>
                  <a:spcPct val="0"/>
                </a:spcBef>
                <a:buNone/>
              </a:pPr>
              <a:r>
                <a:rPr lang="es-ES_tradnl" sz="1600" b="1">
                  <a:solidFill>
                    <a:srgbClr val="858585"/>
                  </a:solidFill>
                </a:rPr>
                <a:t>Preparación foro</a:t>
              </a:r>
            </a:p>
          </p:txBody>
        </p:sp>
        <p:cxnSp>
          <p:nvCxnSpPr>
            <p:cNvPr id="51" name="btfpRowHeaderBoxLine191881"/>
            <p:cNvCxnSpPr/>
            <p:nvPr>
              <p:custDataLst>
                <p:tags r:id="rId34"/>
              </p:custDataLst>
            </p:nvPr>
          </p:nvCxnSpPr>
          <p:spPr bwMode="gray">
            <a:xfrm flipH="1">
              <a:off x="1670662" y="-1128678"/>
              <a:ext cx="0" cy="972979"/>
            </a:xfrm>
            <a:prstGeom prst="line">
              <a:avLst/>
            </a:prstGeom>
            <a:ln w="152400" cap="flat">
              <a:solidFill>
                <a:srgbClr val="858585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btfpValueChainElement6458951"/>
          <p:cNvSpPr/>
          <p:nvPr>
            <p:custDataLst>
              <p:tags r:id="rId11"/>
            </p:custDataLst>
          </p:nvPr>
        </p:nvSpPr>
        <p:spPr bwMode="gray">
          <a:xfrm rot="5400000">
            <a:off x="3356232" y="1249269"/>
            <a:ext cx="1049720" cy="1966824"/>
          </a:xfrm>
          <a:prstGeom prst="homePlate">
            <a:avLst>
              <a:gd name="adj" fmla="val 24348"/>
            </a:avLst>
          </a:prstGeom>
          <a:solidFill>
            <a:srgbClr val="FFFFFF"/>
          </a:solidFill>
          <a:ln w="19050" cap="flat" cmpd="sng" algn="ctr">
            <a:solidFill>
              <a:srgbClr val="85858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es-ES_tradnl" b="1">
                <a:solidFill>
                  <a:srgbClr val="858585"/>
                </a:solidFill>
              </a:rPr>
              <a:t>Analizar el negocio / revisión de KPIs</a:t>
            </a:r>
          </a:p>
        </p:txBody>
      </p:sp>
      <p:sp>
        <p:nvSpPr>
          <p:cNvPr id="17" name="btfpValueChainElement6458952"/>
          <p:cNvSpPr/>
          <p:nvPr>
            <p:custDataLst>
              <p:tags r:id="rId12"/>
            </p:custDataLst>
          </p:nvPr>
        </p:nvSpPr>
        <p:spPr bwMode="gray">
          <a:xfrm rot="5400000">
            <a:off x="3356232" y="2046045"/>
            <a:ext cx="1049720" cy="1966824"/>
          </a:xfrm>
          <a:prstGeom prst="chevron">
            <a:avLst>
              <a:gd name="adj" fmla="val 24348"/>
            </a:avLst>
          </a:prstGeom>
          <a:solidFill>
            <a:srgbClr val="FFFFFF"/>
          </a:solidFill>
          <a:ln w="19050" cap="flat" cmpd="sng" algn="ctr">
            <a:solidFill>
              <a:srgbClr val="85858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es-ES_tradnl" b="1">
                <a:solidFill>
                  <a:srgbClr val="858585"/>
                </a:solidFill>
              </a:rPr>
              <a:t>Derivar decisiones</a:t>
            </a:r>
          </a:p>
        </p:txBody>
      </p:sp>
      <p:sp>
        <p:nvSpPr>
          <p:cNvPr id="18" name="btfpValueChainElement6458953"/>
          <p:cNvSpPr/>
          <p:nvPr>
            <p:custDataLst>
              <p:tags r:id="rId13"/>
            </p:custDataLst>
          </p:nvPr>
        </p:nvSpPr>
        <p:spPr bwMode="gray">
          <a:xfrm rot="5400000">
            <a:off x="3356232" y="2842819"/>
            <a:ext cx="1049720" cy="1966824"/>
          </a:xfrm>
          <a:prstGeom prst="chevron">
            <a:avLst>
              <a:gd name="adj" fmla="val 24348"/>
            </a:avLst>
          </a:prstGeom>
          <a:solidFill>
            <a:srgbClr val="FFFFFF"/>
          </a:solidFill>
          <a:ln w="19050" cap="flat" cmpd="sng" algn="ctr">
            <a:solidFill>
              <a:srgbClr val="85858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es-ES_tradnl" b="1">
                <a:solidFill>
                  <a:srgbClr val="858585"/>
                </a:solidFill>
              </a:rPr>
              <a:t>Establecer recomendación</a:t>
            </a:r>
          </a:p>
        </p:txBody>
      </p:sp>
      <p:sp>
        <p:nvSpPr>
          <p:cNvPr id="19" name="btfpValueChainElement6458954"/>
          <p:cNvSpPr/>
          <p:nvPr>
            <p:custDataLst>
              <p:tags r:id="rId14"/>
            </p:custDataLst>
          </p:nvPr>
        </p:nvSpPr>
        <p:spPr bwMode="gray">
          <a:xfrm rot="5400000">
            <a:off x="3356232" y="3639594"/>
            <a:ext cx="1049720" cy="1966824"/>
          </a:xfrm>
          <a:prstGeom prst="chevron">
            <a:avLst>
              <a:gd name="adj" fmla="val 24348"/>
            </a:avLst>
          </a:prstGeom>
          <a:solidFill>
            <a:srgbClr val="FFFFFF"/>
          </a:solidFill>
          <a:ln w="19050" cap="flat" cmpd="sng" algn="ctr">
            <a:solidFill>
              <a:srgbClr val="33333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lang="es-ES_tradnl" b="1">
                <a:solidFill>
                  <a:srgbClr val="333333"/>
                </a:solidFill>
              </a:rPr>
              <a:t>Proporcionar información</a:t>
            </a:r>
          </a:p>
        </p:txBody>
      </p:sp>
      <p:sp>
        <p:nvSpPr>
          <p:cNvPr id="45" name="btfpBulletedList524193"/>
          <p:cNvSpPr txBox="1"/>
          <p:nvPr>
            <p:custDataLst>
              <p:tags r:id="rId15"/>
            </p:custDataLst>
          </p:nvPr>
        </p:nvSpPr>
        <p:spPr bwMode="gray">
          <a:xfrm>
            <a:off x="6032136" y="3494036"/>
            <a:ext cx="6007463" cy="318924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r>
              <a:rPr lang="es-ES_tradnl"/>
              <a:t>Por líder del foro, tomando </a:t>
            </a:r>
            <a:r>
              <a:rPr lang="es-ES_tradnl" b="1">
                <a:solidFill>
                  <a:srgbClr val="7A2531"/>
                </a:solidFill>
              </a:rPr>
              <a:t>inputs de áreas relacionadas</a:t>
            </a:r>
          </a:p>
        </p:txBody>
      </p:sp>
      <p:grpSp>
        <p:nvGrpSpPr>
          <p:cNvPr id="47" name="btfpRunningAgenda2Level254272"/>
          <p:cNvGrpSpPr/>
          <p:nvPr>
            <p:custDataLst>
              <p:tags r:id="rId16"/>
            </p:custDataLst>
          </p:nvPr>
        </p:nvGrpSpPr>
        <p:grpSpPr>
          <a:xfrm>
            <a:off x="0" y="1071429"/>
            <a:ext cx="4337977" cy="257443"/>
            <a:chOff x="0" y="944429"/>
            <a:chExt cx="4337977" cy="257443"/>
          </a:xfrm>
        </p:grpSpPr>
        <p:sp>
          <p:nvSpPr>
            <p:cNvPr id="55" name="btfpRunningAgenda2LevelBarLeft254272"/>
            <p:cNvSpPr/>
            <p:nvPr>
              <p:custDataLst>
                <p:tags r:id="rId29"/>
              </p:custDataLst>
            </p:nvPr>
          </p:nvSpPr>
          <p:spPr bwMode="gray">
            <a:xfrm>
              <a:off x="0" y="944429"/>
              <a:ext cx="2460831" cy="257443"/>
            </a:xfrm>
            <a:custGeom>
              <a:avLst/>
              <a:gdLst/>
              <a:ahLst/>
              <a:cxnLst/>
              <a:rect l="0" t="0" r="0" b="0"/>
              <a:pathLst>
                <a:path w="2460831" h="257443">
                  <a:moveTo>
                    <a:pt x="0" y="0"/>
                  </a:moveTo>
                  <a:lnTo>
                    <a:pt x="2460830" y="0"/>
                  </a:lnTo>
                  <a:lnTo>
                    <a:pt x="2406109" y="257442"/>
                  </a:lnTo>
                  <a:lnTo>
                    <a:pt x="0" y="257442"/>
                  </a:lnTo>
                  <a:close/>
                </a:path>
              </a:pathLst>
            </a:custGeom>
            <a:solidFill>
              <a:srgbClr val="333333"/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s-ES_tradnl" sz="1600">
                <a:solidFill>
                  <a:schemeClr val="tx1"/>
                </a:solidFill>
              </a:endParaRPr>
            </a:p>
          </p:txBody>
        </p:sp>
        <p:sp>
          <p:nvSpPr>
            <p:cNvPr id="56" name="btfpRunningAgenda2LevelTextLeft254272"/>
            <p:cNvSpPr txBox="1"/>
            <p:nvPr>
              <p:custDataLst>
                <p:tags r:id="rId30"/>
              </p:custDataLst>
            </p:nvPr>
          </p:nvSpPr>
          <p:spPr bwMode="gray">
            <a:xfrm>
              <a:off x="0" y="944429"/>
              <a:ext cx="2406109" cy="257442"/>
            </a:xfrm>
            <a:prstGeom prst="rect">
              <a:avLst/>
            </a:prstGeom>
            <a:noFill/>
          </p:spPr>
          <p:txBody>
            <a:bodyPr vert="horz" wrap="none" lIns="360363" tIns="36036" rIns="360363" bIns="36036" rtlCol="0" anchor="t">
              <a:spAutoFit/>
            </a:bodyPr>
            <a:lstStyle/>
            <a:p>
              <a:pPr marL="0" indent="0">
                <a:spcBef>
                  <a:spcPct val="0"/>
                </a:spcBef>
                <a:buNone/>
              </a:pPr>
              <a:r>
                <a:rPr lang="es-ES_tradnl" sz="1200" b="1" cap="all" spc="450">
                  <a:solidFill>
                    <a:srgbClr val="FFFFFF"/>
                  </a:solidFill>
                </a:rPr>
                <a:t>Gobernanza</a:t>
              </a:r>
            </a:p>
          </p:txBody>
        </p:sp>
        <p:sp>
          <p:nvSpPr>
            <p:cNvPr id="57" name="btfpRunningAgenda2LevelBarRight254272"/>
            <p:cNvSpPr/>
            <p:nvPr>
              <p:custDataLst>
                <p:tags r:id="rId31"/>
              </p:custDataLst>
            </p:nvPr>
          </p:nvSpPr>
          <p:spPr bwMode="gray">
            <a:xfrm>
              <a:off x="2325988" y="944429"/>
              <a:ext cx="2011989" cy="257442"/>
            </a:xfrm>
            <a:custGeom>
              <a:avLst/>
              <a:gdLst>
                <a:gd name="connsiteX0" fmla="*/ 2011989 w 2011989"/>
                <a:gd name="connsiteY0" fmla="*/ 0 h 257442"/>
                <a:gd name="connsiteX1" fmla="*/ 1957268 w 2011989"/>
                <a:gd name="connsiteY1" fmla="*/ 257442 h 257442"/>
                <a:gd name="connsiteX2" fmla="*/ 0 w 2011989"/>
                <a:gd name="connsiteY2" fmla="*/ 257442 h 257442"/>
                <a:gd name="connsiteX3" fmla="*/ 54721 w 2011989"/>
                <a:gd name="connsiteY3" fmla="*/ 0 h 257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11989" h="257442">
                  <a:moveTo>
                    <a:pt x="2011989" y="0"/>
                  </a:moveTo>
                  <a:lnTo>
                    <a:pt x="1957268" y="257442"/>
                  </a:lnTo>
                  <a:lnTo>
                    <a:pt x="0" y="257442"/>
                  </a:lnTo>
                  <a:lnTo>
                    <a:pt x="54721" y="0"/>
                  </a:lnTo>
                  <a:close/>
                </a:path>
              </a:pathLst>
            </a:custGeom>
            <a:solidFill>
              <a:srgbClr val="7A2531"/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s-ES_tradnl" sz="1600">
                <a:solidFill>
                  <a:schemeClr val="tx1"/>
                </a:solidFill>
              </a:endParaRPr>
            </a:p>
          </p:txBody>
        </p:sp>
        <p:sp>
          <p:nvSpPr>
            <p:cNvPr id="58" name="btfpRunningAgenda2LevelTextRight254272"/>
            <p:cNvSpPr txBox="1"/>
            <p:nvPr>
              <p:custDataLst>
                <p:tags r:id="rId32"/>
              </p:custDataLst>
            </p:nvPr>
          </p:nvSpPr>
          <p:spPr bwMode="gray">
            <a:xfrm>
              <a:off x="2325988" y="944429"/>
              <a:ext cx="1957268" cy="257442"/>
            </a:xfrm>
            <a:prstGeom prst="rect">
              <a:avLst/>
            </a:prstGeom>
            <a:noFill/>
          </p:spPr>
          <p:txBody>
            <a:bodyPr vert="horz" wrap="none" lIns="360363" tIns="36036" rIns="360363" bIns="36036" rtlCol="0" anchor="t">
              <a:spAutoFit/>
            </a:bodyPr>
            <a:lstStyle/>
            <a:p>
              <a:pPr marL="0" indent="0">
                <a:spcBef>
                  <a:spcPct val="0"/>
                </a:spcBef>
                <a:buNone/>
              </a:pPr>
              <a:r>
                <a:rPr lang="es-ES_tradnl" sz="1200" b="1" cap="all" spc="450">
                  <a:solidFill>
                    <a:srgbClr val="FFFFFF"/>
                  </a:solidFill>
                </a:rPr>
                <a:t>Dinámica</a:t>
              </a:r>
            </a:p>
          </p:txBody>
        </p:sp>
      </p:grpSp>
      <p:sp>
        <p:nvSpPr>
          <p:cNvPr id="69" name="btfpValueChainElement6458954"/>
          <p:cNvSpPr/>
          <p:nvPr>
            <p:custDataLst>
              <p:tags r:id="rId17"/>
            </p:custDataLst>
          </p:nvPr>
        </p:nvSpPr>
        <p:spPr bwMode="gray">
          <a:xfrm rot="5400000">
            <a:off x="3356232" y="5210169"/>
            <a:ext cx="1049720" cy="1966824"/>
          </a:xfrm>
          <a:prstGeom prst="chevron">
            <a:avLst>
              <a:gd name="adj" fmla="val 24348"/>
            </a:avLst>
          </a:prstGeom>
          <a:solidFill>
            <a:srgbClr val="FFFFFF"/>
          </a:solidFill>
          <a:ln w="19050" cap="flat" cmpd="sng" algn="ctr">
            <a:solidFill>
              <a:srgbClr val="85858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es-ES_tradnl" b="1">
                <a:solidFill>
                  <a:srgbClr val="858585"/>
                </a:solidFill>
              </a:rPr>
              <a:t>Seguimiento de decisiones</a:t>
            </a:r>
          </a:p>
        </p:txBody>
      </p:sp>
      <p:grpSp>
        <p:nvGrpSpPr>
          <p:cNvPr id="70" name="btfpRowHeaderBox191881"/>
          <p:cNvGrpSpPr/>
          <p:nvPr>
            <p:custDataLst>
              <p:tags r:id="rId18"/>
            </p:custDataLst>
          </p:nvPr>
        </p:nvGrpSpPr>
        <p:grpSpPr>
          <a:xfrm>
            <a:off x="357562" y="5668721"/>
            <a:ext cx="1476374" cy="820979"/>
            <a:chOff x="404735" y="-2562234"/>
            <a:chExt cx="1477433" cy="972979"/>
          </a:xfrm>
        </p:grpSpPr>
        <p:sp>
          <p:nvSpPr>
            <p:cNvPr id="71" name="btfpRowHeaderBoxText191881"/>
            <p:cNvSpPr txBox="1"/>
            <p:nvPr>
              <p:custDataLst>
                <p:tags r:id="rId27"/>
              </p:custDataLst>
            </p:nvPr>
          </p:nvSpPr>
          <p:spPr bwMode="gray">
            <a:xfrm>
              <a:off x="404735" y="-2562234"/>
              <a:ext cx="1477433" cy="972979"/>
            </a:xfrm>
            <a:prstGeom prst="rect">
              <a:avLst/>
            </a:prstGeom>
            <a:noFill/>
          </p:spPr>
          <p:txBody>
            <a:bodyPr vert="horz" wrap="square" lIns="36036" tIns="36036" rIns="180181" bIns="36036" rtlCol="0" anchor="t">
              <a:noAutofit/>
            </a:bodyPr>
            <a:lstStyle/>
            <a:p>
              <a:pPr marL="0" indent="0">
                <a:spcBef>
                  <a:spcPct val="0"/>
                </a:spcBef>
                <a:buNone/>
              </a:pPr>
              <a:r>
                <a:rPr lang="es-ES_tradnl" b="1">
                  <a:solidFill>
                    <a:srgbClr val="858585"/>
                  </a:solidFill>
                </a:rPr>
                <a:t>Post</a:t>
              </a:r>
            </a:p>
            <a:p>
              <a:pPr marL="0" indent="0">
                <a:spcBef>
                  <a:spcPct val="0"/>
                </a:spcBef>
                <a:buNone/>
              </a:pPr>
              <a:r>
                <a:rPr lang="es-ES_tradnl" sz="1600" b="1">
                  <a:solidFill>
                    <a:srgbClr val="858585"/>
                  </a:solidFill>
                </a:rPr>
                <a:t>foro</a:t>
              </a:r>
            </a:p>
          </p:txBody>
        </p:sp>
        <p:cxnSp>
          <p:nvCxnSpPr>
            <p:cNvPr id="72" name="btfpRowHeaderBoxLine191881"/>
            <p:cNvCxnSpPr/>
            <p:nvPr>
              <p:custDataLst>
                <p:tags r:id="rId28"/>
              </p:custDataLst>
            </p:nvPr>
          </p:nvCxnSpPr>
          <p:spPr bwMode="gray">
            <a:xfrm flipH="1">
              <a:off x="1882168" y="-2562234"/>
              <a:ext cx="0" cy="972979"/>
            </a:xfrm>
            <a:prstGeom prst="line">
              <a:avLst/>
            </a:prstGeom>
            <a:ln w="152400" cap="flat">
              <a:solidFill>
                <a:srgbClr val="858585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btfpBulletedList524193"/>
          <p:cNvSpPr txBox="1"/>
          <p:nvPr>
            <p:custDataLst>
              <p:tags r:id="rId19"/>
            </p:custDataLst>
          </p:nvPr>
        </p:nvSpPr>
        <p:spPr bwMode="gray">
          <a:xfrm>
            <a:off x="6042212" y="5948412"/>
            <a:ext cx="5829923" cy="565146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r>
              <a:rPr lang="es-ES_tradnl"/>
              <a:t>Informar áreas ejecutoras y dar seguimiento a la </a:t>
            </a:r>
            <a:r>
              <a:rPr lang="es-ES_tradnl" b="1">
                <a:solidFill>
                  <a:srgbClr val="7A2531"/>
                </a:solidFill>
              </a:rPr>
              <a:t>ejecución de las decisiones y los compromisos</a:t>
            </a:r>
          </a:p>
        </p:txBody>
      </p:sp>
      <p:sp>
        <p:nvSpPr>
          <p:cNvPr id="6" name="Chevron 5"/>
          <p:cNvSpPr/>
          <p:nvPr>
            <p:custDataLst>
              <p:tags r:id="rId20"/>
            </p:custDataLst>
          </p:nvPr>
        </p:nvSpPr>
        <p:spPr bwMode="gray">
          <a:xfrm>
            <a:off x="5639753" y="1862064"/>
            <a:ext cx="187576" cy="520276"/>
          </a:xfrm>
          <a:prstGeom prst="chevron">
            <a:avLst/>
          </a:prstGeom>
          <a:solidFill>
            <a:srgbClr val="7A253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FFFFFF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s-ES_tradnl" sz="1600">
              <a:solidFill>
                <a:srgbClr val="FFFFFF"/>
              </a:solidFill>
            </a:endParaRPr>
          </a:p>
        </p:txBody>
      </p:sp>
      <p:sp>
        <p:nvSpPr>
          <p:cNvPr id="75" name="Chevron 74"/>
          <p:cNvSpPr/>
          <p:nvPr>
            <p:custDataLst>
              <p:tags r:id="rId21"/>
            </p:custDataLst>
          </p:nvPr>
        </p:nvSpPr>
        <p:spPr bwMode="gray">
          <a:xfrm>
            <a:off x="5639753" y="5880103"/>
            <a:ext cx="187576" cy="520276"/>
          </a:xfrm>
          <a:prstGeom prst="chevron">
            <a:avLst/>
          </a:prstGeom>
          <a:solidFill>
            <a:srgbClr val="7A253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FFFFFF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s-ES_tradnl" sz="1600">
              <a:solidFill>
                <a:srgbClr val="FFFFFF"/>
              </a:solidFill>
            </a:endParaRPr>
          </a:p>
        </p:txBody>
      </p:sp>
      <p:sp>
        <p:nvSpPr>
          <p:cNvPr id="76" name="Chevron 75"/>
          <p:cNvSpPr/>
          <p:nvPr>
            <p:custDataLst>
              <p:tags r:id="rId22"/>
            </p:custDataLst>
          </p:nvPr>
        </p:nvSpPr>
        <p:spPr bwMode="gray">
          <a:xfrm>
            <a:off x="5639753" y="2665672"/>
            <a:ext cx="187576" cy="520276"/>
          </a:xfrm>
          <a:prstGeom prst="chevron">
            <a:avLst/>
          </a:prstGeom>
          <a:solidFill>
            <a:srgbClr val="7A253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FFFFFF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s-ES_tradnl" sz="1600">
              <a:solidFill>
                <a:srgbClr val="FFFFFF"/>
              </a:solidFill>
            </a:endParaRPr>
          </a:p>
        </p:txBody>
      </p:sp>
      <p:sp>
        <p:nvSpPr>
          <p:cNvPr id="77" name="Chevron 76"/>
          <p:cNvSpPr/>
          <p:nvPr>
            <p:custDataLst>
              <p:tags r:id="rId23"/>
            </p:custDataLst>
          </p:nvPr>
        </p:nvSpPr>
        <p:spPr bwMode="gray">
          <a:xfrm>
            <a:off x="5639753" y="3469280"/>
            <a:ext cx="187576" cy="520276"/>
          </a:xfrm>
          <a:prstGeom prst="chevron">
            <a:avLst/>
          </a:prstGeom>
          <a:solidFill>
            <a:srgbClr val="7A253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FFFFFF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s-ES_tradnl" sz="1600">
              <a:solidFill>
                <a:srgbClr val="FFFFFF"/>
              </a:solidFill>
            </a:endParaRPr>
          </a:p>
        </p:txBody>
      </p:sp>
      <p:sp>
        <p:nvSpPr>
          <p:cNvPr id="78" name="Chevron 77"/>
          <p:cNvSpPr/>
          <p:nvPr>
            <p:custDataLst>
              <p:tags r:id="rId24"/>
            </p:custDataLst>
          </p:nvPr>
        </p:nvSpPr>
        <p:spPr bwMode="gray">
          <a:xfrm>
            <a:off x="5641724" y="4272888"/>
            <a:ext cx="187576" cy="520276"/>
          </a:xfrm>
          <a:prstGeom prst="chevron">
            <a:avLst/>
          </a:prstGeom>
          <a:solidFill>
            <a:srgbClr val="7A253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FFFFFF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s-ES_tradnl" sz="1600">
              <a:solidFill>
                <a:srgbClr val="FFFFFF"/>
              </a:solidFill>
            </a:endParaRPr>
          </a:p>
        </p:txBody>
      </p:sp>
      <p:sp>
        <p:nvSpPr>
          <p:cNvPr id="79" name="Chevron 78"/>
          <p:cNvSpPr/>
          <p:nvPr>
            <p:custDataLst>
              <p:tags r:id="rId25"/>
            </p:custDataLst>
          </p:nvPr>
        </p:nvSpPr>
        <p:spPr bwMode="gray">
          <a:xfrm>
            <a:off x="5639753" y="5076496"/>
            <a:ext cx="187576" cy="520276"/>
          </a:xfrm>
          <a:prstGeom prst="chevron">
            <a:avLst/>
          </a:prstGeom>
          <a:solidFill>
            <a:srgbClr val="7A253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FFFFFF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s-ES_tradnl" sz="1600">
              <a:solidFill>
                <a:srgbClr val="FFFFFF"/>
              </a:solidFill>
            </a:endParaRPr>
          </a:p>
        </p:txBody>
      </p:sp>
      <p:sp>
        <p:nvSpPr>
          <p:cNvPr id="7" name="Título 2">
            <a:extLst>
              <a:ext uri="{FF2B5EF4-FFF2-40B4-BE49-F238E27FC236}">
                <a16:creationId xmlns:a16="http://schemas.microsoft.com/office/drawing/2014/main" id="{BA446B81-F59F-4216-E995-D3B3694518ED}"/>
              </a:ext>
            </a:extLst>
          </p:cNvPr>
          <p:cNvSpPr txBox="1">
            <a:spLocks/>
          </p:cNvSpPr>
          <p:nvPr/>
        </p:nvSpPr>
        <p:spPr>
          <a:xfrm>
            <a:off x="57286" y="131912"/>
            <a:ext cx="11814849" cy="898982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2800" b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Cómo</a:t>
            </a:r>
            <a:r>
              <a:rPr lang="x-none" sz="2800" b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-Proceso-</a:t>
            </a:r>
            <a:r>
              <a:rPr lang="es-ES_tradnl" sz="2800" b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: </a:t>
            </a:r>
            <a:r>
              <a:rPr lang="es-ES_tradnl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Decisiones a tomar </a:t>
            </a:r>
            <a:r>
              <a:rPr lang="x-none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se d</a:t>
            </a:r>
            <a:r>
              <a:rPr lang="es-ES_tradnl" sz="2800" err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erivan</a:t>
            </a:r>
            <a:r>
              <a:rPr lang="es-ES_tradnl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 de los indicadores clave de</a:t>
            </a:r>
            <a:r>
              <a:rPr lang="x-none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 cada tipo de Foro</a:t>
            </a:r>
            <a:endParaRPr lang="es-ES_tradnl" sz="280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</a:endParaRPr>
          </a:p>
          <a:p>
            <a:endParaRPr lang="es-CL" sz="280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6" name="btfpValueChainElement6458954"/>
          <p:cNvSpPr/>
          <p:nvPr>
            <p:custDataLst>
              <p:tags r:id="rId26"/>
            </p:custDataLst>
          </p:nvPr>
        </p:nvSpPr>
        <p:spPr bwMode="gray">
          <a:xfrm rot="5400000">
            <a:off x="3356232" y="4436368"/>
            <a:ext cx="1049720" cy="1966824"/>
          </a:xfrm>
          <a:prstGeom prst="chevron">
            <a:avLst>
              <a:gd name="adj" fmla="val 24348"/>
            </a:avLst>
          </a:prstGeom>
          <a:solidFill>
            <a:srgbClr val="FFFFFF"/>
          </a:solidFill>
          <a:ln w="19050" cap="flat" cmpd="sng" algn="ctr">
            <a:solidFill>
              <a:srgbClr val="33333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es-ES_tradnl" b="1">
                <a:solidFill>
                  <a:srgbClr val="333333"/>
                </a:solidFill>
              </a:rPr>
              <a:t>Tomar decisiones</a:t>
            </a:r>
          </a:p>
        </p:txBody>
      </p:sp>
    </p:spTree>
    <p:extLst>
      <p:ext uri="{BB962C8B-B14F-4D97-AF65-F5344CB8AC3E}">
        <p14:creationId xmlns:p14="http://schemas.microsoft.com/office/powerpoint/2010/main" val="6057012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39" grpId="0"/>
      <p:bldP spid="16" grpId="0" animBg="1"/>
      <p:bldP spid="17" grpId="0" animBg="1"/>
      <p:bldP spid="18" grpId="0" animBg="1"/>
      <p:bldP spid="19" grpId="0" animBg="1"/>
      <p:bldP spid="45" grpId="0"/>
      <p:bldP spid="69" grpId="0" animBg="1"/>
      <p:bldP spid="74" grpId="0"/>
      <p:bldP spid="6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6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fpLayoutConfig" hidden="1"/>
          <p:cNvSpPr txBox="1"/>
          <p:nvPr>
            <p:custDataLst>
              <p:tags r:id="rId1"/>
            </p:custDataLst>
          </p:nvPr>
        </p:nvSpPr>
        <p:spPr bwMode="gray">
          <a:xfrm>
            <a:off x="12700" y="12700"/>
            <a:ext cx="1342281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s-ES_tradnl" sz="100">
                <a:solidFill>
                  <a:srgbClr val="FFFFFF">
                    <a:alpha val="0"/>
                  </a:srgbClr>
                </a:solidFill>
              </a:rPr>
              <a:t>overall_0_132452588981076015 columns_3_132452588919605606 86_1_132452588926251120 89_1_132452588926380783 92_1_132452588926500453 95_1_132452588987620550 98_1_132452588987710581 101_1_132452588987810300 </a:t>
            </a:r>
          </a:p>
        </p:txBody>
      </p:sp>
      <p:cxnSp>
        <p:nvCxnSpPr>
          <p:cNvPr id="71" name="Straight Connector 70"/>
          <p:cNvCxnSpPr/>
          <p:nvPr>
            <p:custDataLst>
              <p:tags r:id="rId2"/>
            </p:custDataLst>
          </p:nvPr>
        </p:nvCxnSpPr>
        <p:spPr>
          <a:xfrm flipH="1">
            <a:off x="8106450" y="1854789"/>
            <a:ext cx="0" cy="1828800"/>
          </a:xfrm>
          <a:prstGeom prst="line">
            <a:avLst/>
          </a:prstGeom>
          <a:ln w="9525" cap="flat" cmpd="sng" algn="ctr">
            <a:solidFill>
              <a:srgbClr val="85858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Rectangle 154"/>
          <p:cNvSpPr/>
          <p:nvPr>
            <p:custDataLst>
              <p:tags r:id="rId3"/>
            </p:custDataLst>
          </p:nvPr>
        </p:nvSpPr>
        <p:spPr>
          <a:xfrm>
            <a:off x="530792" y="2235857"/>
            <a:ext cx="2894070" cy="1175941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5C5C5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6465" tIns="26465" rIns="26465" bIns="26465" rtlCol="0" anchor="ctr"/>
          <a:lstStyle/>
          <a:p>
            <a:pPr algn="ctr"/>
            <a:endParaRPr lang="es-ES_tradnl" sz="1323">
              <a:solidFill>
                <a:srgbClr val="858585"/>
              </a:solidFill>
            </a:endParaRPr>
          </a:p>
        </p:txBody>
      </p:sp>
      <p:cxnSp>
        <p:nvCxnSpPr>
          <p:cNvPr id="156" name="Straight Connector 155"/>
          <p:cNvCxnSpPr/>
          <p:nvPr>
            <p:custDataLst>
              <p:tags r:id="rId4"/>
            </p:custDataLst>
          </p:nvPr>
        </p:nvCxnSpPr>
        <p:spPr bwMode="gray">
          <a:xfrm>
            <a:off x="2004028" y="2648575"/>
            <a:ext cx="107093" cy="347655"/>
          </a:xfrm>
          <a:prstGeom prst="line">
            <a:avLst/>
          </a:prstGeom>
          <a:ln w="12700" cap="flat" cmpd="sng" algn="ctr">
            <a:solidFill>
              <a:srgbClr val="5C5C5C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/>
          <p:cNvCxnSpPr/>
          <p:nvPr>
            <p:custDataLst>
              <p:tags r:id="rId5"/>
            </p:custDataLst>
          </p:nvPr>
        </p:nvCxnSpPr>
        <p:spPr bwMode="gray">
          <a:xfrm>
            <a:off x="1966236" y="2605396"/>
            <a:ext cx="414066" cy="390834"/>
          </a:xfrm>
          <a:prstGeom prst="line">
            <a:avLst/>
          </a:prstGeom>
          <a:ln w="12700" cap="flat" cmpd="sng" algn="ctr">
            <a:solidFill>
              <a:srgbClr val="5C5C5C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/>
          <p:cNvCxnSpPr/>
          <p:nvPr>
            <p:custDataLst>
              <p:tags r:id="rId6"/>
            </p:custDataLst>
          </p:nvPr>
        </p:nvCxnSpPr>
        <p:spPr bwMode="gray">
          <a:xfrm>
            <a:off x="1916800" y="2589867"/>
            <a:ext cx="699136" cy="412999"/>
          </a:xfrm>
          <a:prstGeom prst="line">
            <a:avLst/>
          </a:prstGeom>
          <a:ln w="12700" cap="flat" cmpd="sng" algn="ctr">
            <a:solidFill>
              <a:srgbClr val="5C5C5C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/>
          <p:cNvCxnSpPr/>
          <p:nvPr>
            <p:custDataLst>
              <p:tags r:id="rId7"/>
            </p:custDataLst>
          </p:nvPr>
        </p:nvCxnSpPr>
        <p:spPr bwMode="gray">
          <a:xfrm flipH="1">
            <a:off x="1863176" y="2648575"/>
            <a:ext cx="107093" cy="347655"/>
          </a:xfrm>
          <a:prstGeom prst="line">
            <a:avLst/>
          </a:prstGeom>
          <a:ln w="12700" cap="flat" cmpd="sng" algn="ctr">
            <a:solidFill>
              <a:srgbClr val="5C5C5C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/>
          <p:cNvCxnSpPr/>
          <p:nvPr>
            <p:custDataLst>
              <p:tags r:id="rId8"/>
            </p:custDataLst>
          </p:nvPr>
        </p:nvCxnSpPr>
        <p:spPr bwMode="gray">
          <a:xfrm flipH="1">
            <a:off x="1587416" y="2605396"/>
            <a:ext cx="414066" cy="390834"/>
          </a:xfrm>
          <a:prstGeom prst="line">
            <a:avLst/>
          </a:prstGeom>
          <a:ln w="12700" cap="flat" cmpd="sng" algn="ctr">
            <a:solidFill>
              <a:srgbClr val="5C5C5C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/>
          <p:nvPr>
            <p:custDataLst>
              <p:tags r:id="rId9"/>
            </p:custDataLst>
          </p:nvPr>
        </p:nvCxnSpPr>
        <p:spPr bwMode="gray">
          <a:xfrm flipH="1">
            <a:off x="1356928" y="2589867"/>
            <a:ext cx="699136" cy="412999"/>
          </a:xfrm>
          <a:prstGeom prst="line">
            <a:avLst/>
          </a:prstGeom>
          <a:ln w="12700" cap="flat" cmpd="sng" algn="ctr">
            <a:solidFill>
              <a:srgbClr val="5C5C5C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Freeform 10"/>
          <p:cNvSpPr/>
          <p:nvPr>
            <p:custDataLst>
              <p:tags r:id="rId10"/>
            </p:custDataLst>
          </p:nvPr>
        </p:nvSpPr>
        <p:spPr bwMode="auto">
          <a:xfrm>
            <a:off x="1766087" y="2945698"/>
            <a:ext cx="171338" cy="171502"/>
          </a:xfrm>
          <a:custGeom>
            <a:avLst/>
            <a:gdLst/>
            <a:ahLst/>
            <a:cxnLst>
              <a:cxn ang="0">
                <a:pos x="207" y="120"/>
              </a:cxn>
              <a:cxn ang="0">
                <a:pos x="207" y="120"/>
              </a:cxn>
              <a:cxn ang="0">
                <a:pos x="104" y="240"/>
              </a:cxn>
              <a:cxn ang="0">
                <a:pos x="0" y="120"/>
              </a:cxn>
              <a:cxn ang="0">
                <a:pos x="104" y="0"/>
              </a:cxn>
              <a:cxn ang="0">
                <a:pos x="207" y="120"/>
              </a:cxn>
            </a:cxnLst>
            <a:rect l="0" t="0" r="r" b="b"/>
            <a:pathLst>
              <a:path w="206" h="240">
                <a:moveTo>
                  <a:pt x="207" y="120"/>
                </a:moveTo>
                <a:lnTo>
                  <a:pt x="207" y="120"/>
                </a:lnTo>
                <a:cubicBezTo>
                  <a:pt x="207" y="187"/>
                  <a:pt x="161" y="240"/>
                  <a:pt x="104" y="240"/>
                </a:cubicBezTo>
                <a:cubicBezTo>
                  <a:pt x="46" y="240"/>
                  <a:pt x="0" y="187"/>
                  <a:pt x="0" y="120"/>
                </a:cubicBezTo>
                <a:cubicBezTo>
                  <a:pt x="0" y="54"/>
                  <a:pt x="46" y="0"/>
                  <a:pt x="104" y="0"/>
                </a:cubicBezTo>
                <a:cubicBezTo>
                  <a:pt x="161" y="0"/>
                  <a:pt x="207" y="54"/>
                  <a:pt x="207" y="120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5C5C5C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65230" tIns="32616" rIns="65230" bIns="32616" numCol="1" anchor="t" anchorCtr="0" compatLnSpc="1">
            <a:prstTxWarp prst="textNoShape">
              <a:avLst/>
            </a:prstTxWarp>
          </a:bodyPr>
          <a:lstStyle/>
          <a:p>
            <a:pPr algn="ctr" defTabSz="693112"/>
            <a:endParaRPr lang="es-ES_tradnl" sz="1284">
              <a:solidFill>
                <a:srgbClr val="000000"/>
              </a:solidFill>
            </a:endParaRPr>
          </a:p>
        </p:txBody>
      </p:sp>
      <p:sp>
        <p:nvSpPr>
          <p:cNvPr id="163" name="Freeform 5"/>
          <p:cNvSpPr/>
          <p:nvPr>
            <p:custDataLst>
              <p:tags r:id="rId11"/>
            </p:custDataLst>
          </p:nvPr>
        </p:nvSpPr>
        <p:spPr bwMode="auto">
          <a:xfrm>
            <a:off x="1856503" y="2518651"/>
            <a:ext cx="277816" cy="142432"/>
          </a:xfrm>
          <a:custGeom>
            <a:avLst/>
            <a:gdLst/>
            <a:ahLst/>
            <a:cxnLst>
              <a:cxn ang="0">
                <a:pos x="353" y="182"/>
              </a:cxn>
              <a:cxn ang="0">
                <a:pos x="353" y="182"/>
              </a:cxn>
              <a:cxn ang="0">
                <a:pos x="0" y="182"/>
              </a:cxn>
              <a:cxn ang="0">
                <a:pos x="0" y="0"/>
              </a:cxn>
              <a:cxn ang="0">
                <a:pos x="353" y="0"/>
              </a:cxn>
              <a:cxn ang="0">
                <a:pos x="353" y="182"/>
              </a:cxn>
            </a:cxnLst>
            <a:rect l="0" t="0" r="r" b="b"/>
            <a:pathLst>
              <a:path w="353" h="182">
                <a:moveTo>
                  <a:pt x="353" y="182"/>
                </a:moveTo>
                <a:lnTo>
                  <a:pt x="353" y="182"/>
                </a:lnTo>
                <a:lnTo>
                  <a:pt x="0" y="182"/>
                </a:lnTo>
                <a:lnTo>
                  <a:pt x="0" y="0"/>
                </a:lnTo>
                <a:lnTo>
                  <a:pt x="353" y="0"/>
                </a:lnTo>
                <a:lnTo>
                  <a:pt x="353" y="182"/>
                </a:lnTo>
                <a:close/>
              </a:path>
            </a:pathLst>
          </a:custGeom>
          <a:solidFill>
            <a:srgbClr val="5C5C5C"/>
          </a:solidFill>
          <a:ln w="12700" cap="flat" cmpd="sng" algn="ctr">
            <a:solidFill>
              <a:srgbClr val="5C5C5C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65230" tIns="32616" rIns="65230" bIns="32616" numCol="1" anchor="t" anchorCtr="0" compatLnSpc="1">
            <a:prstTxWarp prst="textNoShape">
              <a:avLst/>
            </a:prstTxWarp>
          </a:bodyPr>
          <a:lstStyle/>
          <a:p>
            <a:pPr algn="ctr" defTabSz="693112"/>
            <a:endParaRPr lang="es-ES_tradnl" sz="1284">
              <a:solidFill>
                <a:srgbClr val="FFFFFF"/>
              </a:solidFill>
            </a:endParaRPr>
          </a:p>
        </p:txBody>
      </p:sp>
      <p:sp>
        <p:nvSpPr>
          <p:cNvPr id="164" name="Freeform 10"/>
          <p:cNvSpPr/>
          <p:nvPr>
            <p:custDataLst>
              <p:tags r:id="rId12"/>
            </p:custDataLst>
          </p:nvPr>
        </p:nvSpPr>
        <p:spPr bwMode="auto">
          <a:xfrm>
            <a:off x="2031752" y="2945698"/>
            <a:ext cx="171338" cy="171502"/>
          </a:xfrm>
          <a:custGeom>
            <a:avLst/>
            <a:gdLst/>
            <a:ahLst/>
            <a:cxnLst>
              <a:cxn ang="0">
                <a:pos x="207" y="120"/>
              </a:cxn>
              <a:cxn ang="0">
                <a:pos x="207" y="120"/>
              </a:cxn>
              <a:cxn ang="0">
                <a:pos x="104" y="240"/>
              </a:cxn>
              <a:cxn ang="0">
                <a:pos x="0" y="120"/>
              </a:cxn>
              <a:cxn ang="0">
                <a:pos x="104" y="0"/>
              </a:cxn>
              <a:cxn ang="0">
                <a:pos x="207" y="120"/>
              </a:cxn>
            </a:cxnLst>
            <a:rect l="0" t="0" r="r" b="b"/>
            <a:pathLst>
              <a:path w="206" h="240">
                <a:moveTo>
                  <a:pt x="207" y="120"/>
                </a:moveTo>
                <a:lnTo>
                  <a:pt x="207" y="120"/>
                </a:lnTo>
                <a:cubicBezTo>
                  <a:pt x="207" y="187"/>
                  <a:pt x="161" y="240"/>
                  <a:pt x="104" y="240"/>
                </a:cubicBezTo>
                <a:cubicBezTo>
                  <a:pt x="46" y="240"/>
                  <a:pt x="0" y="187"/>
                  <a:pt x="0" y="120"/>
                </a:cubicBezTo>
                <a:cubicBezTo>
                  <a:pt x="0" y="54"/>
                  <a:pt x="46" y="0"/>
                  <a:pt x="104" y="0"/>
                </a:cubicBezTo>
                <a:cubicBezTo>
                  <a:pt x="161" y="0"/>
                  <a:pt x="207" y="54"/>
                  <a:pt x="207" y="120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5C5C5C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65230" tIns="32616" rIns="65230" bIns="32616" numCol="1" anchor="t" anchorCtr="0" compatLnSpc="1">
            <a:prstTxWarp prst="textNoShape">
              <a:avLst/>
            </a:prstTxWarp>
          </a:bodyPr>
          <a:lstStyle/>
          <a:p>
            <a:pPr algn="ctr" defTabSz="693112"/>
            <a:endParaRPr lang="es-ES_tradnl" sz="1284">
              <a:solidFill>
                <a:srgbClr val="000000"/>
              </a:solidFill>
            </a:endParaRPr>
          </a:p>
        </p:txBody>
      </p:sp>
      <p:sp>
        <p:nvSpPr>
          <p:cNvPr id="165" name="Freeform 10"/>
          <p:cNvSpPr/>
          <p:nvPr>
            <p:custDataLst>
              <p:tags r:id="rId13"/>
            </p:custDataLst>
          </p:nvPr>
        </p:nvSpPr>
        <p:spPr bwMode="auto">
          <a:xfrm>
            <a:off x="1499092" y="2945698"/>
            <a:ext cx="171338" cy="171502"/>
          </a:xfrm>
          <a:custGeom>
            <a:avLst/>
            <a:gdLst/>
            <a:ahLst/>
            <a:cxnLst>
              <a:cxn ang="0">
                <a:pos x="207" y="120"/>
              </a:cxn>
              <a:cxn ang="0">
                <a:pos x="207" y="120"/>
              </a:cxn>
              <a:cxn ang="0">
                <a:pos x="104" y="240"/>
              </a:cxn>
              <a:cxn ang="0">
                <a:pos x="0" y="120"/>
              </a:cxn>
              <a:cxn ang="0">
                <a:pos x="104" y="0"/>
              </a:cxn>
              <a:cxn ang="0">
                <a:pos x="207" y="120"/>
              </a:cxn>
            </a:cxnLst>
            <a:rect l="0" t="0" r="r" b="b"/>
            <a:pathLst>
              <a:path w="206" h="240">
                <a:moveTo>
                  <a:pt x="207" y="120"/>
                </a:moveTo>
                <a:lnTo>
                  <a:pt x="207" y="120"/>
                </a:lnTo>
                <a:cubicBezTo>
                  <a:pt x="207" y="187"/>
                  <a:pt x="161" y="240"/>
                  <a:pt x="104" y="240"/>
                </a:cubicBezTo>
                <a:cubicBezTo>
                  <a:pt x="46" y="240"/>
                  <a:pt x="0" y="187"/>
                  <a:pt x="0" y="120"/>
                </a:cubicBezTo>
                <a:cubicBezTo>
                  <a:pt x="0" y="54"/>
                  <a:pt x="46" y="0"/>
                  <a:pt x="104" y="0"/>
                </a:cubicBezTo>
                <a:cubicBezTo>
                  <a:pt x="161" y="0"/>
                  <a:pt x="207" y="54"/>
                  <a:pt x="207" y="120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5C5C5C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65230" tIns="32616" rIns="65230" bIns="32616" numCol="1" anchor="t" anchorCtr="0" compatLnSpc="1">
            <a:prstTxWarp prst="textNoShape">
              <a:avLst/>
            </a:prstTxWarp>
          </a:bodyPr>
          <a:lstStyle/>
          <a:p>
            <a:pPr algn="ctr" defTabSz="693112"/>
            <a:endParaRPr lang="es-ES_tradnl" sz="1284">
              <a:solidFill>
                <a:srgbClr val="000000"/>
              </a:solidFill>
            </a:endParaRPr>
          </a:p>
        </p:txBody>
      </p:sp>
      <p:sp>
        <p:nvSpPr>
          <p:cNvPr id="166" name="Freeform 10"/>
          <p:cNvSpPr/>
          <p:nvPr>
            <p:custDataLst>
              <p:tags r:id="rId14"/>
            </p:custDataLst>
          </p:nvPr>
        </p:nvSpPr>
        <p:spPr bwMode="auto">
          <a:xfrm>
            <a:off x="2297417" y="2945698"/>
            <a:ext cx="171338" cy="171502"/>
          </a:xfrm>
          <a:custGeom>
            <a:avLst/>
            <a:gdLst/>
            <a:ahLst/>
            <a:cxnLst>
              <a:cxn ang="0">
                <a:pos x="207" y="120"/>
              </a:cxn>
              <a:cxn ang="0">
                <a:pos x="207" y="120"/>
              </a:cxn>
              <a:cxn ang="0">
                <a:pos x="104" y="240"/>
              </a:cxn>
              <a:cxn ang="0">
                <a:pos x="0" y="120"/>
              </a:cxn>
              <a:cxn ang="0">
                <a:pos x="104" y="0"/>
              </a:cxn>
              <a:cxn ang="0">
                <a:pos x="207" y="120"/>
              </a:cxn>
            </a:cxnLst>
            <a:rect l="0" t="0" r="r" b="b"/>
            <a:pathLst>
              <a:path w="206" h="240">
                <a:moveTo>
                  <a:pt x="207" y="120"/>
                </a:moveTo>
                <a:lnTo>
                  <a:pt x="207" y="120"/>
                </a:lnTo>
                <a:cubicBezTo>
                  <a:pt x="207" y="187"/>
                  <a:pt x="161" y="240"/>
                  <a:pt x="104" y="240"/>
                </a:cubicBezTo>
                <a:cubicBezTo>
                  <a:pt x="46" y="240"/>
                  <a:pt x="0" y="187"/>
                  <a:pt x="0" y="120"/>
                </a:cubicBezTo>
                <a:cubicBezTo>
                  <a:pt x="0" y="54"/>
                  <a:pt x="46" y="0"/>
                  <a:pt x="104" y="0"/>
                </a:cubicBezTo>
                <a:cubicBezTo>
                  <a:pt x="161" y="0"/>
                  <a:pt x="207" y="54"/>
                  <a:pt x="207" y="120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5C5C5C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65230" tIns="32616" rIns="65230" bIns="32616" numCol="1" anchor="t" anchorCtr="0" compatLnSpc="1">
            <a:prstTxWarp prst="textNoShape">
              <a:avLst/>
            </a:prstTxWarp>
          </a:bodyPr>
          <a:lstStyle/>
          <a:p>
            <a:pPr algn="ctr" defTabSz="693112"/>
            <a:endParaRPr lang="es-ES_tradnl" sz="1284">
              <a:solidFill>
                <a:srgbClr val="000000"/>
              </a:solidFill>
            </a:endParaRPr>
          </a:p>
        </p:txBody>
      </p:sp>
      <p:sp>
        <p:nvSpPr>
          <p:cNvPr id="167" name="Freeform 10"/>
          <p:cNvSpPr/>
          <p:nvPr>
            <p:custDataLst>
              <p:tags r:id="rId15"/>
            </p:custDataLst>
          </p:nvPr>
        </p:nvSpPr>
        <p:spPr bwMode="auto">
          <a:xfrm>
            <a:off x="1232097" y="2945698"/>
            <a:ext cx="171338" cy="171502"/>
          </a:xfrm>
          <a:custGeom>
            <a:avLst/>
            <a:gdLst/>
            <a:ahLst/>
            <a:cxnLst>
              <a:cxn ang="0">
                <a:pos x="207" y="120"/>
              </a:cxn>
              <a:cxn ang="0">
                <a:pos x="207" y="120"/>
              </a:cxn>
              <a:cxn ang="0">
                <a:pos x="104" y="240"/>
              </a:cxn>
              <a:cxn ang="0">
                <a:pos x="0" y="120"/>
              </a:cxn>
              <a:cxn ang="0">
                <a:pos x="104" y="0"/>
              </a:cxn>
              <a:cxn ang="0">
                <a:pos x="207" y="120"/>
              </a:cxn>
            </a:cxnLst>
            <a:rect l="0" t="0" r="r" b="b"/>
            <a:pathLst>
              <a:path w="206" h="240">
                <a:moveTo>
                  <a:pt x="207" y="120"/>
                </a:moveTo>
                <a:lnTo>
                  <a:pt x="207" y="120"/>
                </a:lnTo>
                <a:cubicBezTo>
                  <a:pt x="207" y="187"/>
                  <a:pt x="161" y="240"/>
                  <a:pt x="104" y="240"/>
                </a:cubicBezTo>
                <a:cubicBezTo>
                  <a:pt x="46" y="240"/>
                  <a:pt x="0" y="187"/>
                  <a:pt x="0" y="120"/>
                </a:cubicBezTo>
                <a:cubicBezTo>
                  <a:pt x="0" y="54"/>
                  <a:pt x="46" y="0"/>
                  <a:pt x="104" y="0"/>
                </a:cubicBezTo>
                <a:cubicBezTo>
                  <a:pt x="161" y="0"/>
                  <a:pt x="207" y="54"/>
                  <a:pt x="207" y="120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5C5C5C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65230" tIns="32616" rIns="65230" bIns="32616" numCol="1" anchor="t" anchorCtr="0" compatLnSpc="1">
            <a:prstTxWarp prst="textNoShape">
              <a:avLst/>
            </a:prstTxWarp>
          </a:bodyPr>
          <a:lstStyle/>
          <a:p>
            <a:pPr algn="ctr" defTabSz="693112"/>
            <a:endParaRPr lang="es-ES_tradnl" sz="1284">
              <a:solidFill>
                <a:srgbClr val="000000"/>
              </a:solidFill>
            </a:endParaRPr>
          </a:p>
        </p:txBody>
      </p:sp>
      <p:sp>
        <p:nvSpPr>
          <p:cNvPr id="168" name="Freeform 10"/>
          <p:cNvSpPr/>
          <p:nvPr>
            <p:custDataLst>
              <p:tags r:id="rId16"/>
            </p:custDataLst>
          </p:nvPr>
        </p:nvSpPr>
        <p:spPr bwMode="auto">
          <a:xfrm>
            <a:off x="2563082" y="2945698"/>
            <a:ext cx="171338" cy="171502"/>
          </a:xfrm>
          <a:custGeom>
            <a:avLst/>
            <a:gdLst/>
            <a:ahLst/>
            <a:cxnLst>
              <a:cxn ang="0">
                <a:pos x="207" y="120"/>
              </a:cxn>
              <a:cxn ang="0">
                <a:pos x="207" y="120"/>
              </a:cxn>
              <a:cxn ang="0">
                <a:pos x="104" y="240"/>
              </a:cxn>
              <a:cxn ang="0">
                <a:pos x="0" y="120"/>
              </a:cxn>
              <a:cxn ang="0">
                <a:pos x="104" y="0"/>
              </a:cxn>
              <a:cxn ang="0">
                <a:pos x="207" y="120"/>
              </a:cxn>
            </a:cxnLst>
            <a:rect l="0" t="0" r="r" b="b"/>
            <a:pathLst>
              <a:path w="206" h="240">
                <a:moveTo>
                  <a:pt x="207" y="120"/>
                </a:moveTo>
                <a:lnTo>
                  <a:pt x="207" y="120"/>
                </a:lnTo>
                <a:cubicBezTo>
                  <a:pt x="207" y="187"/>
                  <a:pt x="161" y="240"/>
                  <a:pt x="104" y="240"/>
                </a:cubicBezTo>
                <a:cubicBezTo>
                  <a:pt x="46" y="240"/>
                  <a:pt x="0" y="187"/>
                  <a:pt x="0" y="120"/>
                </a:cubicBezTo>
                <a:cubicBezTo>
                  <a:pt x="0" y="54"/>
                  <a:pt x="46" y="0"/>
                  <a:pt x="104" y="0"/>
                </a:cubicBezTo>
                <a:cubicBezTo>
                  <a:pt x="161" y="0"/>
                  <a:pt x="207" y="54"/>
                  <a:pt x="207" y="120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5C5C5C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65230" tIns="32616" rIns="65230" bIns="32616" numCol="1" anchor="t" anchorCtr="0" compatLnSpc="1">
            <a:prstTxWarp prst="textNoShape">
              <a:avLst/>
            </a:prstTxWarp>
          </a:bodyPr>
          <a:lstStyle/>
          <a:p>
            <a:pPr algn="ctr" defTabSz="693112"/>
            <a:endParaRPr lang="es-ES_tradnl" sz="1284">
              <a:solidFill>
                <a:srgbClr val="000000"/>
              </a:solidFill>
            </a:endParaRPr>
          </a:p>
        </p:txBody>
      </p:sp>
      <p:sp>
        <p:nvSpPr>
          <p:cNvPr id="169" name="Rectangle 168"/>
          <p:cNvSpPr/>
          <p:nvPr>
            <p:custDataLst>
              <p:tags r:id="rId17"/>
            </p:custDataLst>
          </p:nvPr>
        </p:nvSpPr>
        <p:spPr>
          <a:xfrm>
            <a:off x="8676068" y="2235857"/>
            <a:ext cx="2894070" cy="1175941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86A44A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6465" tIns="26465" rIns="26465" bIns="26465" rtlCol="0" anchor="ctr"/>
          <a:lstStyle/>
          <a:p>
            <a:pPr algn="ctr"/>
            <a:endParaRPr lang="es-ES_tradnl" sz="1323">
              <a:solidFill>
                <a:srgbClr val="000000"/>
              </a:solidFill>
            </a:endParaRPr>
          </a:p>
        </p:txBody>
      </p:sp>
      <p:sp>
        <p:nvSpPr>
          <p:cNvPr id="170" name="Rectangle 169"/>
          <p:cNvSpPr/>
          <p:nvPr>
            <p:custDataLst>
              <p:tags r:id="rId18"/>
            </p:custDataLst>
          </p:nvPr>
        </p:nvSpPr>
        <p:spPr>
          <a:xfrm>
            <a:off x="4654118" y="2235857"/>
            <a:ext cx="2894070" cy="1175941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10647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6465" tIns="26465" rIns="26465" bIns="26465" rtlCol="0" anchor="ctr"/>
          <a:lstStyle/>
          <a:p>
            <a:pPr algn="ctr"/>
            <a:endParaRPr lang="es-ES_tradnl" sz="1323">
              <a:solidFill>
                <a:srgbClr val="000000"/>
              </a:solidFill>
            </a:endParaRPr>
          </a:p>
        </p:txBody>
      </p:sp>
      <p:cxnSp>
        <p:nvCxnSpPr>
          <p:cNvPr id="171" name="Straight Connector 170"/>
          <p:cNvCxnSpPr/>
          <p:nvPr>
            <p:custDataLst>
              <p:tags r:id="rId19"/>
            </p:custDataLst>
          </p:nvPr>
        </p:nvCxnSpPr>
        <p:spPr bwMode="gray">
          <a:xfrm flipH="1" flipV="1">
            <a:off x="5746156" y="2638332"/>
            <a:ext cx="704982" cy="368628"/>
          </a:xfrm>
          <a:prstGeom prst="line">
            <a:avLst/>
          </a:prstGeom>
          <a:ln w="12700" cap="flat" cmpd="sng" algn="ctr">
            <a:solidFill>
              <a:srgbClr val="106470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>
            <p:custDataLst>
              <p:tags r:id="rId20"/>
            </p:custDataLst>
          </p:nvPr>
        </p:nvCxnSpPr>
        <p:spPr bwMode="gray">
          <a:xfrm flipH="1">
            <a:off x="5810242" y="2636825"/>
            <a:ext cx="651800" cy="315530"/>
          </a:xfrm>
          <a:prstGeom prst="line">
            <a:avLst/>
          </a:prstGeom>
          <a:ln w="12700" cap="flat" cmpd="sng" algn="ctr">
            <a:solidFill>
              <a:srgbClr val="106470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/>
          <p:cNvCxnSpPr/>
          <p:nvPr>
            <p:custDataLst>
              <p:tags r:id="rId21"/>
            </p:custDataLst>
          </p:nvPr>
        </p:nvCxnSpPr>
        <p:spPr bwMode="gray">
          <a:xfrm flipH="1">
            <a:off x="6101024" y="2526438"/>
            <a:ext cx="0" cy="586113"/>
          </a:xfrm>
          <a:prstGeom prst="line">
            <a:avLst/>
          </a:prstGeom>
          <a:ln w="12700" cap="flat" cmpd="sng" algn="ctr">
            <a:solidFill>
              <a:srgbClr val="106470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Freeform 5"/>
          <p:cNvSpPr/>
          <p:nvPr>
            <p:custDataLst>
              <p:tags r:id="rId22"/>
            </p:custDataLst>
          </p:nvPr>
        </p:nvSpPr>
        <p:spPr bwMode="auto">
          <a:xfrm>
            <a:off x="5960896" y="2745695"/>
            <a:ext cx="277816" cy="142432"/>
          </a:xfrm>
          <a:custGeom>
            <a:avLst/>
            <a:gdLst/>
            <a:ahLst/>
            <a:cxnLst>
              <a:cxn ang="0">
                <a:pos x="353" y="182"/>
              </a:cxn>
              <a:cxn ang="0">
                <a:pos x="353" y="182"/>
              </a:cxn>
              <a:cxn ang="0">
                <a:pos x="0" y="182"/>
              </a:cxn>
              <a:cxn ang="0">
                <a:pos x="0" y="0"/>
              </a:cxn>
              <a:cxn ang="0">
                <a:pos x="353" y="0"/>
              </a:cxn>
              <a:cxn ang="0">
                <a:pos x="353" y="182"/>
              </a:cxn>
            </a:cxnLst>
            <a:rect l="0" t="0" r="r" b="b"/>
            <a:pathLst>
              <a:path w="353" h="182">
                <a:moveTo>
                  <a:pt x="353" y="182"/>
                </a:moveTo>
                <a:lnTo>
                  <a:pt x="353" y="182"/>
                </a:lnTo>
                <a:lnTo>
                  <a:pt x="0" y="182"/>
                </a:lnTo>
                <a:lnTo>
                  <a:pt x="0" y="0"/>
                </a:lnTo>
                <a:lnTo>
                  <a:pt x="353" y="0"/>
                </a:lnTo>
                <a:lnTo>
                  <a:pt x="353" y="182"/>
                </a:lnTo>
                <a:close/>
              </a:path>
            </a:pathLst>
          </a:custGeom>
          <a:solidFill>
            <a:srgbClr val="106470"/>
          </a:solidFill>
          <a:ln w="9525" cap="flat" cmpd="sng" algn="ctr">
            <a:solidFill>
              <a:srgbClr val="10647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65230" tIns="32616" rIns="65230" bIns="32616" numCol="1" anchor="t" anchorCtr="0" compatLnSpc="1">
            <a:prstTxWarp prst="textNoShape">
              <a:avLst/>
            </a:prstTxWarp>
          </a:bodyPr>
          <a:lstStyle/>
          <a:p>
            <a:pPr algn="ctr" defTabSz="693112"/>
            <a:endParaRPr lang="es-ES_tradnl" sz="1284">
              <a:solidFill>
                <a:srgbClr val="FFFFFF"/>
              </a:solidFill>
            </a:endParaRPr>
          </a:p>
        </p:txBody>
      </p:sp>
      <p:sp>
        <p:nvSpPr>
          <p:cNvPr id="175" name="Freeform 6"/>
          <p:cNvSpPr/>
          <p:nvPr>
            <p:custDataLst>
              <p:tags r:id="rId23"/>
            </p:custDataLst>
          </p:nvPr>
        </p:nvSpPr>
        <p:spPr bwMode="auto">
          <a:xfrm>
            <a:off x="5648951" y="2533961"/>
            <a:ext cx="904147" cy="589896"/>
          </a:xfrm>
          <a:custGeom>
            <a:avLst/>
            <a:gdLst/>
            <a:ahLst/>
            <a:cxnLst>
              <a:cxn ang="0">
                <a:pos x="1157" y="376"/>
              </a:cxn>
              <a:cxn ang="0">
                <a:pos x="1157" y="376"/>
              </a:cxn>
              <a:cxn ang="0">
                <a:pos x="579" y="753"/>
              </a:cxn>
              <a:cxn ang="0">
                <a:pos x="0" y="376"/>
              </a:cxn>
              <a:cxn ang="0">
                <a:pos x="579" y="0"/>
              </a:cxn>
              <a:cxn ang="0">
                <a:pos x="1157" y="376"/>
              </a:cxn>
              <a:cxn ang="0">
                <a:pos x="1157" y="376"/>
              </a:cxn>
            </a:cxnLst>
            <a:rect l="0" t="0" r="r" b="b"/>
            <a:pathLst>
              <a:path w="1157" h="753">
                <a:moveTo>
                  <a:pt x="1157" y="376"/>
                </a:moveTo>
                <a:lnTo>
                  <a:pt x="1157" y="376"/>
                </a:lnTo>
                <a:cubicBezTo>
                  <a:pt x="1157" y="584"/>
                  <a:pt x="898" y="753"/>
                  <a:pt x="579" y="753"/>
                </a:cubicBezTo>
                <a:cubicBezTo>
                  <a:pt x="259" y="753"/>
                  <a:pt x="0" y="584"/>
                  <a:pt x="0" y="376"/>
                </a:cubicBezTo>
                <a:cubicBezTo>
                  <a:pt x="0" y="169"/>
                  <a:pt x="259" y="0"/>
                  <a:pt x="579" y="0"/>
                </a:cubicBezTo>
                <a:cubicBezTo>
                  <a:pt x="898" y="0"/>
                  <a:pt x="1157" y="169"/>
                  <a:pt x="1157" y="376"/>
                </a:cubicBezTo>
                <a:lnTo>
                  <a:pt x="1157" y="376"/>
                </a:lnTo>
                <a:close/>
              </a:path>
            </a:pathLst>
          </a:custGeom>
          <a:noFill/>
          <a:ln w="9525" cap="flat" cmpd="sng" algn="ctr">
            <a:solidFill>
              <a:srgbClr val="106470"/>
            </a:solidFill>
            <a:prstDash val="dash"/>
            <a:miter lim="800000"/>
            <a:headEnd type="none" w="med" len="med"/>
            <a:tailEnd type="none" w="med" len="med"/>
          </a:ln>
        </p:spPr>
        <p:txBody>
          <a:bodyPr vert="horz" wrap="square" lIns="65230" tIns="32616" rIns="65230" bIns="32616" numCol="1" anchor="t" anchorCtr="0" compatLnSpc="1">
            <a:prstTxWarp prst="textNoShape">
              <a:avLst/>
            </a:prstTxWarp>
          </a:bodyPr>
          <a:lstStyle/>
          <a:p>
            <a:pPr algn="ctr" defTabSz="693112"/>
            <a:endParaRPr lang="es-ES_tradnl" sz="1284">
              <a:solidFill>
                <a:srgbClr val="000000"/>
              </a:solidFill>
            </a:endParaRPr>
          </a:p>
        </p:txBody>
      </p:sp>
      <p:sp>
        <p:nvSpPr>
          <p:cNvPr id="176" name="Freeform 7"/>
          <p:cNvSpPr/>
          <p:nvPr>
            <p:custDataLst>
              <p:tags r:id="rId24"/>
            </p:custDataLst>
          </p:nvPr>
        </p:nvSpPr>
        <p:spPr bwMode="auto">
          <a:xfrm>
            <a:off x="6014135" y="2440687"/>
            <a:ext cx="171338" cy="171502"/>
          </a:xfrm>
          <a:custGeom>
            <a:avLst/>
            <a:gdLst/>
            <a:ahLst/>
            <a:cxnLst>
              <a:cxn ang="0">
                <a:pos x="208" y="119"/>
              </a:cxn>
              <a:cxn ang="0">
                <a:pos x="208" y="119"/>
              </a:cxn>
              <a:cxn ang="0">
                <a:pos x="104" y="239"/>
              </a:cxn>
              <a:cxn ang="0">
                <a:pos x="0" y="119"/>
              </a:cxn>
              <a:cxn ang="0">
                <a:pos x="104" y="0"/>
              </a:cxn>
              <a:cxn ang="0">
                <a:pos x="208" y="119"/>
              </a:cxn>
            </a:cxnLst>
            <a:rect l="0" t="0" r="r" b="b"/>
            <a:pathLst>
              <a:path w="208" h="239">
                <a:moveTo>
                  <a:pt x="208" y="119"/>
                </a:moveTo>
                <a:lnTo>
                  <a:pt x="208" y="119"/>
                </a:lnTo>
                <a:cubicBezTo>
                  <a:pt x="208" y="185"/>
                  <a:pt x="161" y="239"/>
                  <a:pt x="104" y="239"/>
                </a:cubicBezTo>
                <a:cubicBezTo>
                  <a:pt x="47" y="239"/>
                  <a:pt x="0" y="185"/>
                  <a:pt x="0" y="119"/>
                </a:cubicBezTo>
                <a:cubicBezTo>
                  <a:pt x="0" y="53"/>
                  <a:pt x="47" y="0"/>
                  <a:pt x="104" y="0"/>
                </a:cubicBezTo>
                <a:cubicBezTo>
                  <a:pt x="161" y="0"/>
                  <a:pt x="208" y="53"/>
                  <a:pt x="208" y="119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10647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65230" tIns="32616" rIns="65230" bIns="32616" numCol="1" anchor="t" anchorCtr="0" compatLnSpc="1">
            <a:prstTxWarp prst="textNoShape">
              <a:avLst/>
            </a:prstTxWarp>
          </a:bodyPr>
          <a:lstStyle/>
          <a:p>
            <a:pPr algn="ctr" defTabSz="693112"/>
            <a:endParaRPr lang="es-ES_tradnl" sz="1284">
              <a:solidFill>
                <a:srgbClr val="2D475A"/>
              </a:solidFill>
            </a:endParaRPr>
          </a:p>
        </p:txBody>
      </p:sp>
      <p:sp>
        <p:nvSpPr>
          <p:cNvPr id="177" name="Freeform 8"/>
          <p:cNvSpPr/>
          <p:nvPr>
            <p:custDataLst>
              <p:tags r:id="rId25"/>
            </p:custDataLst>
          </p:nvPr>
        </p:nvSpPr>
        <p:spPr bwMode="auto">
          <a:xfrm>
            <a:off x="6365469" y="2546565"/>
            <a:ext cx="171338" cy="171502"/>
          </a:xfrm>
          <a:custGeom>
            <a:avLst/>
            <a:gdLst/>
            <a:ahLst/>
            <a:cxnLst>
              <a:cxn ang="0">
                <a:pos x="207" y="120"/>
              </a:cxn>
              <a:cxn ang="0">
                <a:pos x="207" y="120"/>
              </a:cxn>
              <a:cxn ang="0">
                <a:pos x="103" y="240"/>
              </a:cxn>
              <a:cxn ang="0">
                <a:pos x="0" y="120"/>
              </a:cxn>
              <a:cxn ang="0">
                <a:pos x="103" y="0"/>
              </a:cxn>
              <a:cxn ang="0">
                <a:pos x="207" y="120"/>
              </a:cxn>
            </a:cxnLst>
            <a:rect l="0" t="0" r="r" b="b"/>
            <a:pathLst>
              <a:path w="206" h="240">
                <a:moveTo>
                  <a:pt x="207" y="120"/>
                </a:moveTo>
                <a:lnTo>
                  <a:pt x="207" y="120"/>
                </a:lnTo>
                <a:cubicBezTo>
                  <a:pt x="207" y="186"/>
                  <a:pt x="161" y="240"/>
                  <a:pt x="103" y="240"/>
                </a:cubicBezTo>
                <a:cubicBezTo>
                  <a:pt x="46" y="240"/>
                  <a:pt x="0" y="186"/>
                  <a:pt x="0" y="120"/>
                </a:cubicBezTo>
                <a:cubicBezTo>
                  <a:pt x="0" y="54"/>
                  <a:pt x="46" y="0"/>
                  <a:pt x="103" y="0"/>
                </a:cubicBezTo>
                <a:cubicBezTo>
                  <a:pt x="161" y="0"/>
                  <a:pt x="207" y="54"/>
                  <a:pt x="207" y="120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10647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65230" tIns="32616" rIns="65230" bIns="32616" numCol="1" anchor="t" anchorCtr="0" compatLnSpc="1">
            <a:prstTxWarp prst="textNoShape">
              <a:avLst/>
            </a:prstTxWarp>
          </a:bodyPr>
          <a:lstStyle/>
          <a:p>
            <a:pPr algn="ctr" defTabSz="693112"/>
            <a:endParaRPr lang="es-ES_tradnl" sz="1284">
              <a:solidFill>
                <a:srgbClr val="2D475A"/>
              </a:solidFill>
            </a:endParaRPr>
          </a:p>
        </p:txBody>
      </p:sp>
      <p:sp>
        <p:nvSpPr>
          <p:cNvPr id="178" name="Freeform 10"/>
          <p:cNvSpPr/>
          <p:nvPr>
            <p:custDataLst>
              <p:tags r:id="rId26"/>
            </p:custDataLst>
          </p:nvPr>
        </p:nvSpPr>
        <p:spPr bwMode="auto">
          <a:xfrm>
            <a:off x="5676655" y="2927225"/>
            <a:ext cx="171338" cy="171502"/>
          </a:xfrm>
          <a:custGeom>
            <a:avLst/>
            <a:gdLst/>
            <a:ahLst/>
            <a:cxnLst>
              <a:cxn ang="0">
                <a:pos x="207" y="120"/>
              </a:cxn>
              <a:cxn ang="0">
                <a:pos x="207" y="120"/>
              </a:cxn>
              <a:cxn ang="0">
                <a:pos x="104" y="240"/>
              </a:cxn>
              <a:cxn ang="0">
                <a:pos x="0" y="120"/>
              </a:cxn>
              <a:cxn ang="0">
                <a:pos x="104" y="0"/>
              </a:cxn>
              <a:cxn ang="0">
                <a:pos x="207" y="120"/>
              </a:cxn>
            </a:cxnLst>
            <a:rect l="0" t="0" r="r" b="b"/>
            <a:pathLst>
              <a:path w="206" h="240">
                <a:moveTo>
                  <a:pt x="207" y="120"/>
                </a:moveTo>
                <a:lnTo>
                  <a:pt x="207" y="120"/>
                </a:lnTo>
                <a:cubicBezTo>
                  <a:pt x="207" y="187"/>
                  <a:pt x="161" y="240"/>
                  <a:pt x="104" y="240"/>
                </a:cubicBezTo>
                <a:cubicBezTo>
                  <a:pt x="46" y="240"/>
                  <a:pt x="0" y="187"/>
                  <a:pt x="0" y="120"/>
                </a:cubicBezTo>
                <a:cubicBezTo>
                  <a:pt x="0" y="54"/>
                  <a:pt x="46" y="0"/>
                  <a:pt x="104" y="0"/>
                </a:cubicBezTo>
                <a:cubicBezTo>
                  <a:pt x="161" y="0"/>
                  <a:pt x="207" y="54"/>
                  <a:pt x="207" y="120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10647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65230" tIns="32616" rIns="65230" bIns="32616" numCol="1" anchor="t" anchorCtr="0" compatLnSpc="1">
            <a:prstTxWarp prst="textNoShape">
              <a:avLst/>
            </a:prstTxWarp>
          </a:bodyPr>
          <a:lstStyle/>
          <a:p>
            <a:pPr algn="ctr" defTabSz="693112"/>
            <a:endParaRPr lang="es-ES_tradnl" sz="1284">
              <a:solidFill>
                <a:srgbClr val="2D475A"/>
              </a:solidFill>
            </a:endParaRPr>
          </a:p>
        </p:txBody>
      </p:sp>
      <p:sp>
        <p:nvSpPr>
          <p:cNvPr id="179" name="Freeform 11"/>
          <p:cNvSpPr/>
          <p:nvPr>
            <p:custDataLst>
              <p:tags r:id="rId27"/>
            </p:custDataLst>
          </p:nvPr>
        </p:nvSpPr>
        <p:spPr bwMode="auto">
          <a:xfrm>
            <a:off x="6014135" y="3026802"/>
            <a:ext cx="171338" cy="171502"/>
          </a:xfrm>
          <a:custGeom>
            <a:avLst/>
            <a:gdLst/>
            <a:ahLst/>
            <a:cxnLst>
              <a:cxn ang="0">
                <a:pos x="208" y="120"/>
              </a:cxn>
              <a:cxn ang="0">
                <a:pos x="208" y="120"/>
              </a:cxn>
              <a:cxn ang="0">
                <a:pos x="104" y="241"/>
              </a:cxn>
              <a:cxn ang="0">
                <a:pos x="0" y="120"/>
              </a:cxn>
              <a:cxn ang="0">
                <a:pos x="104" y="0"/>
              </a:cxn>
              <a:cxn ang="0">
                <a:pos x="208" y="120"/>
              </a:cxn>
            </a:cxnLst>
            <a:rect l="0" t="0" r="r" b="b"/>
            <a:pathLst>
              <a:path w="208" h="241">
                <a:moveTo>
                  <a:pt x="208" y="120"/>
                </a:moveTo>
                <a:lnTo>
                  <a:pt x="208" y="120"/>
                </a:lnTo>
                <a:cubicBezTo>
                  <a:pt x="208" y="187"/>
                  <a:pt x="161" y="241"/>
                  <a:pt x="104" y="241"/>
                </a:cubicBezTo>
                <a:cubicBezTo>
                  <a:pt x="47" y="241"/>
                  <a:pt x="0" y="187"/>
                  <a:pt x="0" y="120"/>
                </a:cubicBezTo>
                <a:cubicBezTo>
                  <a:pt x="0" y="54"/>
                  <a:pt x="47" y="0"/>
                  <a:pt x="104" y="0"/>
                </a:cubicBezTo>
                <a:cubicBezTo>
                  <a:pt x="161" y="0"/>
                  <a:pt x="208" y="54"/>
                  <a:pt x="208" y="120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10647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65230" tIns="32616" rIns="65230" bIns="32616" numCol="1" anchor="t" anchorCtr="0" compatLnSpc="1">
            <a:prstTxWarp prst="textNoShape">
              <a:avLst/>
            </a:prstTxWarp>
          </a:bodyPr>
          <a:lstStyle/>
          <a:p>
            <a:pPr algn="ctr" defTabSz="693112"/>
            <a:endParaRPr lang="es-ES_tradnl" sz="1284">
              <a:solidFill>
                <a:srgbClr val="2D475A"/>
              </a:solidFill>
            </a:endParaRPr>
          </a:p>
        </p:txBody>
      </p:sp>
      <p:sp>
        <p:nvSpPr>
          <p:cNvPr id="180" name="Freeform 12"/>
          <p:cNvSpPr/>
          <p:nvPr>
            <p:custDataLst>
              <p:tags r:id="rId28"/>
            </p:custDataLst>
          </p:nvPr>
        </p:nvSpPr>
        <p:spPr bwMode="auto">
          <a:xfrm>
            <a:off x="6365469" y="2927225"/>
            <a:ext cx="171338" cy="171502"/>
          </a:xfrm>
          <a:custGeom>
            <a:avLst/>
            <a:gdLst/>
            <a:ahLst/>
            <a:cxnLst>
              <a:cxn ang="0">
                <a:pos x="207" y="120"/>
              </a:cxn>
              <a:cxn ang="0">
                <a:pos x="207" y="120"/>
              </a:cxn>
              <a:cxn ang="0">
                <a:pos x="103" y="240"/>
              </a:cxn>
              <a:cxn ang="0">
                <a:pos x="0" y="120"/>
              </a:cxn>
              <a:cxn ang="0">
                <a:pos x="103" y="0"/>
              </a:cxn>
              <a:cxn ang="0">
                <a:pos x="207" y="120"/>
              </a:cxn>
            </a:cxnLst>
            <a:rect l="0" t="0" r="r" b="b"/>
            <a:pathLst>
              <a:path w="206" h="240">
                <a:moveTo>
                  <a:pt x="207" y="120"/>
                </a:moveTo>
                <a:lnTo>
                  <a:pt x="207" y="120"/>
                </a:lnTo>
                <a:cubicBezTo>
                  <a:pt x="207" y="187"/>
                  <a:pt x="161" y="240"/>
                  <a:pt x="103" y="240"/>
                </a:cubicBezTo>
                <a:cubicBezTo>
                  <a:pt x="46" y="240"/>
                  <a:pt x="0" y="187"/>
                  <a:pt x="0" y="120"/>
                </a:cubicBezTo>
                <a:cubicBezTo>
                  <a:pt x="0" y="54"/>
                  <a:pt x="46" y="0"/>
                  <a:pt x="103" y="0"/>
                </a:cubicBezTo>
                <a:cubicBezTo>
                  <a:pt x="161" y="0"/>
                  <a:pt x="207" y="54"/>
                  <a:pt x="207" y="120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10647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65230" tIns="32616" rIns="65230" bIns="32616" numCol="1" anchor="t" anchorCtr="0" compatLnSpc="1">
            <a:prstTxWarp prst="textNoShape">
              <a:avLst/>
            </a:prstTxWarp>
          </a:bodyPr>
          <a:lstStyle/>
          <a:p>
            <a:pPr algn="ctr" defTabSz="693112"/>
            <a:endParaRPr lang="es-ES_tradnl" sz="1284">
              <a:solidFill>
                <a:srgbClr val="2D475A"/>
              </a:solidFill>
            </a:endParaRPr>
          </a:p>
        </p:txBody>
      </p:sp>
      <p:sp>
        <p:nvSpPr>
          <p:cNvPr id="181" name="Freeform 9"/>
          <p:cNvSpPr/>
          <p:nvPr>
            <p:custDataLst>
              <p:tags r:id="rId29"/>
            </p:custDataLst>
          </p:nvPr>
        </p:nvSpPr>
        <p:spPr bwMode="auto">
          <a:xfrm>
            <a:off x="5659854" y="2558597"/>
            <a:ext cx="172604" cy="171502"/>
          </a:xfrm>
          <a:custGeom>
            <a:avLst/>
            <a:gdLst/>
            <a:ahLst/>
            <a:cxnLst>
              <a:cxn ang="0">
                <a:pos x="207" y="120"/>
              </a:cxn>
              <a:cxn ang="0">
                <a:pos x="207" y="120"/>
              </a:cxn>
              <a:cxn ang="0">
                <a:pos x="104" y="240"/>
              </a:cxn>
              <a:cxn ang="0">
                <a:pos x="0" y="120"/>
              </a:cxn>
              <a:cxn ang="0">
                <a:pos x="104" y="0"/>
              </a:cxn>
              <a:cxn ang="0">
                <a:pos x="207" y="120"/>
              </a:cxn>
            </a:cxnLst>
            <a:rect l="0" t="0" r="r" b="b"/>
            <a:pathLst>
              <a:path w="206" h="240">
                <a:moveTo>
                  <a:pt x="207" y="120"/>
                </a:moveTo>
                <a:lnTo>
                  <a:pt x="207" y="120"/>
                </a:lnTo>
                <a:cubicBezTo>
                  <a:pt x="207" y="186"/>
                  <a:pt x="161" y="240"/>
                  <a:pt x="104" y="240"/>
                </a:cubicBezTo>
                <a:cubicBezTo>
                  <a:pt x="46" y="240"/>
                  <a:pt x="0" y="186"/>
                  <a:pt x="0" y="120"/>
                </a:cubicBezTo>
                <a:cubicBezTo>
                  <a:pt x="0" y="54"/>
                  <a:pt x="46" y="0"/>
                  <a:pt x="104" y="0"/>
                </a:cubicBezTo>
                <a:cubicBezTo>
                  <a:pt x="161" y="0"/>
                  <a:pt x="207" y="54"/>
                  <a:pt x="207" y="120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10647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65230" tIns="32616" rIns="65230" bIns="32616" numCol="1" anchor="t" anchorCtr="0" compatLnSpc="1">
            <a:prstTxWarp prst="textNoShape">
              <a:avLst/>
            </a:prstTxWarp>
          </a:bodyPr>
          <a:lstStyle/>
          <a:p>
            <a:pPr algn="ctr" defTabSz="693112"/>
            <a:endParaRPr lang="es-ES_tradnl" sz="1284">
              <a:solidFill>
                <a:srgbClr val="2D475A"/>
              </a:solidFill>
            </a:endParaRPr>
          </a:p>
        </p:txBody>
      </p:sp>
      <p:sp>
        <p:nvSpPr>
          <p:cNvPr id="183" name="Freeform 6"/>
          <p:cNvSpPr/>
          <p:nvPr>
            <p:custDataLst>
              <p:tags r:id="rId30"/>
            </p:custDataLst>
          </p:nvPr>
        </p:nvSpPr>
        <p:spPr bwMode="auto">
          <a:xfrm>
            <a:off x="9683915" y="2533961"/>
            <a:ext cx="904147" cy="589896"/>
          </a:xfrm>
          <a:custGeom>
            <a:avLst/>
            <a:gdLst/>
            <a:ahLst/>
            <a:cxnLst>
              <a:cxn ang="0">
                <a:pos x="1157" y="376"/>
              </a:cxn>
              <a:cxn ang="0">
                <a:pos x="1157" y="376"/>
              </a:cxn>
              <a:cxn ang="0">
                <a:pos x="579" y="753"/>
              </a:cxn>
              <a:cxn ang="0">
                <a:pos x="0" y="376"/>
              </a:cxn>
              <a:cxn ang="0">
                <a:pos x="579" y="0"/>
              </a:cxn>
              <a:cxn ang="0">
                <a:pos x="1157" y="376"/>
              </a:cxn>
              <a:cxn ang="0">
                <a:pos x="1157" y="376"/>
              </a:cxn>
            </a:cxnLst>
            <a:rect l="0" t="0" r="r" b="b"/>
            <a:pathLst>
              <a:path w="1157" h="753">
                <a:moveTo>
                  <a:pt x="1157" y="376"/>
                </a:moveTo>
                <a:lnTo>
                  <a:pt x="1157" y="376"/>
                </a:lnTo>
                <a:cubicBezTo>
                  <a:pt x="1157" y="584"/>
                  <a:pt x="898" y="753"/>
                  <a:pt x="579" y="753"/>
                </a:cubicBezTo>
                <a:cubicBezTo>
                  <a:pt x="259" y="753"/>
                  <a:pt x="0" y="584"/>
                  <a:pt x="0" y="376"/>
                </a:cubicBezTo>
                <a:cubicBezTo>
                  <a:pt x="0" y="169"/>
                  <a:pt x="259" y="0"/>
                  <a:pt x="579" y="0"/>
                </a:cubicBezTo>
                <a:cubicBezTo>
                  <a:pt x="898" y="0"/>
                  <a:pt x="1157" y="169"/>
                  <a:pt x="1157" y="376"/>
                </a:cubicBezTo>
                <a:lnTo>
                  <a:pt x="1157" y="376"/>
                </a:lnTo>
                <a:close/>
              </a:path>
            </a:pathLst>
          </a:custGeom>
          <a:noFill/>
          <a:ln w="9525" cap="flat" cmpd="sng" algn="ctr">
            <a:solidFill>
              <a:srgbClr val="86A44A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square" lIns="65230" tIns="32616" rIns="65230" bIns="32616" numCol="1" anchor="t" anchorCtr="0" compatLnSpc="1">
            <a:prstTxWarp prst="textNoShape">
              <a:avLst/>
            </a:prstTxWarp>
          </a:bodyPr>
          <a:lstStyle/>
          <a:p>
            <a:pPr algn="ctr" defTabSz="693112"/>
            <a:endParaRPr lang="es-ES_tradnl" sz="1284">
              <a:solidFill>
                <a:srgbClr val="000000"/>
              </a:solidFill>
            </a:endParaRPr>
          </a:p>
        </p:txBody>
      </p:sp>
      <p:sp>
        <p:nvSpPr>
          <p:cNvPr id="184" name="Freeform 7"/>
          <p:cNvSpPr/>
          <p:nvPr>
            <p:custDataLst>
              <p:tags r:id="rId31"/>
            </p:custDataLst>
          </p:nvPr>
        </p:nvSpPr>
        <p:spPr bwMode="auto">
          <a:xfrm>
            <a:off x="10049099" y="2440687"/>
            <a:ext cx="171338" cy="171502"/>
          </a:xfrm>
          <a:custGeom>
            <a:avLst/>
            <a:gdLst/>
            <a:ahLst/>
            <a:cxnLst>
              <a:cxn ang="0">
                <a:pos x="208" y="119"/>
              </a:cxn>
              <a:cxn ang="0">
                <a:pos x="208" y="119"/>
              </a:cxn>
              <a:cxn ang="0">
                <a:pos x="104" y="239"/>
              </a:cxn>
              <a:cxn ang="0">
                <a:pos x="0" y="119"/>
              </a:cxn>
              <a:cxn ang="0">
                <a:pos x="104" y="0"/>
              </a:cxn>
              <a:cxn ang="0">
                <a:pos x="208" y="119"/>
              </a:cxn>
            </a:cxnLst>
            <a:rect l="0" t="0" r="r" b="b"/>
            <a:pathLst>
              <a:path w="208" h="239">
                <a:moveTo>
                  <a:pt x="208" y="119"/>
                </a:moveTo>
                <a:lnTo>
                  <a:pt x="208" y="119"/>
                </a:lnTo>
                <a:cubicBezTo>
                  <a:pt x="208" y="185"/>
                  <a:pt x="161" y="239"/>
                  <a:pt x="104" y="239"/>
                </a:cubicBezTo>
                <a:cubicBezTo>
                  <a:pt x="47" y="239"/>
                  <a:pt x="0" y="185"/>
                  <a:pt x="0" y="119"/>
                </a:cubicBezTo>
                <a:cubicBezTo>
                  <a:pt x="0" y="53"/>
                  <a:pt x="47" y="0"/>
                  <a:pt x="104" y="0"/>
                </a:cubicBezTo>
                <a:cubicBezTo>
                  <a:pt x="161" y="0"/>
                  <a:pt x="208" y="53"/>
                  <a:pt x="208" y="119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86A44A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65230" tIns="32616" rIns="65230" bIns="32616" numCol="1" anchor="t" anchorCtr="0" compatLnSpc="1">
            <a:prstTxWarp prst="textNoShape">
              <a:avLst/>
            </a:prstTxWarp>
          </a:bodyPr>
          <a:lstStyle/>
          <a:p>
            <a:pPr algn="ctr" defTabSz="693112"/>
            <a:endParaRPr lang="es-ES_tradnl" sz="1284">
              <a:solidFill>
                <a:srgbClr val="2D475A"/>
              </a:solidFill>
            </a:endParaRPr>
          </a:p>
        </p:txBody>
      </p:sp>
      <p:sp>
        <p:nvSpPr>
          <p:cNvPr id="185" name="Freeform 8"/>
          <p:cNvSpPr/>
          <p:nvPr>
            <p:custDataLst>
              <p:tags r:id="rId32"/>
            </p:custDataLst>
          </p:nvPr>
        </p:nvSpPr>
        <p:spPr bwMode="auto">
          <a:xfrm>
            <a:off x="10400433" y="2546565"/>
            <a:ext cx="171338" cy="171502"/>
          </a:xfrm>
          <a:custGeom>
            <a:avLst/>
            <a:gdLst/>
            <a:ahLst/>
            <a:cxnLst>
              <a:cxn ang="0">
                <a:pos x="207" y="120"/>
              </a:cxn>
              <a:cxn ang="0">
                <a:pos x="207" y="120"/>
              </a:cxn>
              <a:cxn ang="0">
                <a:pos x="103" y="240"/>
              </a:cxn>
              <a:cxn ang="0">
                <a:pos x="0" y="120"/>
              </a:cxn>
              <a:cxn ang="0">
                <a:pos x="103" y="0"/>
              </a:cxn>
              <a:cxn ang="0">
                <a:pos x="207" y="120"/>
              </a:cxn>
            </a:cxnLst>
            <a:rect l="0" t="0" r="r" b="b"/>
            <a:pathLst>
              <a:path w="206" h="240">
                <a:moveTo>
                  <a:pt x="207" y="120"/>
                </a:moveTo>
                <a:lnTo>
                  <a:pt x="207" y="120"/>
                </a:lnTo>
                <a:cubicBezTo>
                  <a:pt x="207" y="186"/>
                  <a:pt x="161" y="240"/>
                  <a:pt x="103" y="240"/>
                </a:cubicBezTo>
                <a:cubicBezTo>
                  <a:pt x="46" y="240"/>
                  <a:pt x="0" y="186"/>
                  <a:pt x="0" y="120"/>
                </a:cubicBezTo>
                <a:cubicBezTo>
                  <a:pt x="0" y="54"/>
                  <a:pt x="46" y="0"/>
                  <a:pt x="103" y="0"/>
                </a:cubicBezTo>
                <a:cubicBezTo>
                  <a:pt x="161" y="0"/>
                  <a:pt x="207" y="54"/>
                  <a:pt x="207" y="120"/>
                </a:cubicBezTo>
                <a:close/>
              </a:path>
            </a:pathLst>
          </a:custGeom>
          <a:solidFill>
            <a:schemeClr val="accent6"/>
          </a:solidFill>
          <a:ln w="12700" cap="flat" cmpd="sng" algn="ctr">
            <a:solidFill>
              <a:srgbClr val="86A44A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65230" tIns="32616" rIns="65230" bIns="32616" numCol="1" anchor="t" anchorCtr="0" compatLnSpc="1">
            <a:prstTxWarp prst="textNoShape">
              <a:avLst/>
            </a:prstTxWarp>
          </a:bodyPr>
          <a:lstStyle/>
          <a:p>
            <a:pPr algn="ctr" defTabSz="693112"/>
            <a:endParaRPr lang="es-ES_tradnl" sz="1284">
              <a:solidFill>
                <a:srgbClr val="2D475A"/>
              </a:solidFill>
            </a:endParaRPr>
          </a:p>
        </p:txBody>
      </p:sp>
      <p:sp>
        <p:nvSpPr>
          <p:cNvPr id="186" name="Freeform 10"/>
          <p:cNvSpPr/>
          <p:nvPr>
            <p:custDataLst>
              <p:tags r:id="rId33"/>
            </p:custDataLst>
          </p:nvPr>
        </p:nvSpPr>
        <p:spPr bwMode="auto">
          <a:xfrm>
            <a:off x="9711619" y="2927225"/>
            <a:ext cx="171338" cy="171502"/>
          </a:xfrm>
          <a:custGeom>
            <a:avLst/>
            <a:gdLst/>
            <a:ahLst/>
            <a:cxnLst>
              <a:cxn ang="0">
                <a:pos x="207" y="120"/>
              </a:cxn>
              <a:cxn ang="0">
                <a:pos x="207" y="120"/>
              </a:cxn>
              <a:cxn ang="0">
                <a:pos x="104" y="240"/>
              </a:cxn>
              <a:cxn ang="0">
                <a:pos x="0" y="120"/>
              </a:cxn>
              <a:cxn ang="0">
                <a:pos x="104" y="0"/>
              </a:cxn>
              <a:cxn ang="0">
                <a:pos x="207" y="120"/>
              </a:cxn>
            </a:cxnLst>
            <a:rect l="0" t="0" r="r" b="b"/>
            <a:pathLst>
              <a:path w="206" h="240">
                <a:moveTo>
                  <a:pt x="207" y="120"/>
                </a:moveTo>
                <a:lnTo>
                  <a:pt x="207" y="120"/>
                </a:lnTo>
                <a:cubicBezTo>
                  <a:pt x="207" y="187"/>
                  <a:pt x="161" y="240"/>
                  <a:pt x="104" y="240"/>
                </a:cubicBezTo>
                <a:cubicBezTo>
                  <a:pt x="46" y="240"/>
                  <a:pt x="0" y="187"/>
                  <a:pt x="0" y="120"/>
                </a:cubicBezTo>
                <a:cubicBezTo>
                  <a:pt x="0" y="54"/>
                  <a:pt x="46" y="0"/>
                  <a:pt x="104" y="0"/>
                </a:cubicBezTo>
                <a:cubicBezTo>
                  <a:pt x="161" y="0"/>
                  <a:pt x="207" y="54"/>
                  <a:pt x="207" y="120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86A44A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65230" tIns="32616" rIns="65230" bIns="32616" numCol="1" anchor="t" anchorCtr="0" compatLnSpc="1">
            <a:prstTxWarp prst="textNoShape">
              <a:avLst/>
            </a:prstTxWarp>
          </a:bodyPr>
          <a:lstStyle/>
          <a:p>
            <a:pPr algn="ctr" defTabSz="693112"/>
            <a:endParaRPr lang="es-ES_tradnl" sz="1284">
              <a:solidFill>
                <a:srgbClr val="2D475A"/>
              </a:solidFill>
            </a:endParaRPr>
          </a:p>
        </p:txBody>
      </p:sp>
      <p:sp>
        <p:nvSpPr>
          <p:cNvPr id="187" name="Freeform 11"/>
          <p:cNvSpPr/>
          <p:nvPr>
            <p:custDataLst>
              <p:tags r:id="rId34"/>
            </p:custDataLst>
          </p:nvPr>
        </p:nvSpPr>
        <p:spPr bwMode="auto">
          <a:xfrm>
            <a:off x="10049099" y="3026802"/>
            <a:ext cx="171338" cy="171502"/>
          </a:xfrm>
          <a:custGeom>
            <a:avLst/>
            <a:gdLst/>
            <a:ahLst/>
            <a:cxnLst>
              <a:cxn ang="0">
                <a:pos x="208" y="120"/>
              </a:cxn>
              <a:cxn ang="0">
                <a:pos x="208" y="120"/>
              </a:cxn>
              <a:cxn ang="0">
                <a:pos x="104" y="241"/>
              </a:cxn>
              <a:cxn ang="0">
                <a:pos x="0" y="120"/>
              </a:cxn>
              <a:cxn ang="0">
                <a:pos x="104" y="0"/>
              </a:cxn>
              <a:cxn ang="0">
                <a:pos x="208" y="120"/>
              </a:cxn>
            </a:cxnLst>
            <a:rect l="0" t="0" r="r" b="b"/>
            <a:pathLst>
              <a:path w="208" h="241">
                <a:moveTo>
                  <a:pt x="208" y="120"/>
                </a:moveTo>
                <a:lnTo>
                  <a:pt x="208" y="120"/>
                </a:lnTo>
                <a:cubicBezTo>
                  <a:pt x="208" y="187"/>
                  <a:pt x="161" y="241"/>
                  <a:pt x="104" y="241"/>
                </a:cubicBezTo>
                <a:cubicBezTo>
                  <a:pt x="47" y="241"/>
                  <a:pt x="0" y="187"/>
                  <a:pt x="0" y="120"/>
                </a:cubicBezTo>
                <a:cubicBezTo>
                  <a:pt x="0" y="54"/>
                  <a:pt x="47" y="0"/>
                  <a:pt x="104" y="0"/>
                </a:cubicBezTo>
                <a:cubicBezTo>
                  <a:pt x="161" y="0"/>
                  <a:pt x="208" y="54"/>
                  <a:pt x="208" y="120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86A44A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65230" tIns="32616" rIns="65230" bIns="32616" numCol="1" anchor="t" anchorCtr="0" compatLnSpc="1">
            <a:prstTxWarp prst="textNoShape">
              <a:avLst/>
            </a:prstTxWarp>
          </a:bodyPr>
          <a:lstStyle/>
          <a:p>
            <a:pPr algn="ctr" defTabSz="693112"/>
            <a:endParaRPr lang="es-ES_tradnl" sz="1284">
              <a:solidFill>
                <a:srgbClr val="2D475A"/>
              </a:solidFill>
            </a:endParaRPr>
          </a:p>
        </p:txBody>
      </p:sp>
      <p:sp>
        <p:nvSpPr>
          <p:cNvPr id="188" name="Freeform 12"/>
          <p:cNvSpPr/>
          <p:nvPr>
            <p:custDataLst>
              <p:tags r:id="rId35"/>
            </p:custDataLst>
          </p:nvPr>
        </p:nvSpPr>
        <p:spPr bwMode="auto">
          <a:xfrm>
            <a:off x="10400433" y="2927225"/>
            <a:ext cx="171338" cy="171502"/>
          </a:xfrm>
          <a:custGeom>
            <a:avLst/>
            <a:gdLst/>
            <a:ahLst/>
            <a:cxnLst>
              <a:cxn ang="0">
                <a:pos x="207" y="120"/>
              </a:cxn>
              <a:cxn ang="0">
                <a:pos x="207" y="120"/>
              </a:cxn>
              <a:cxn ang="0">
                <a:pos x="103" y="240"/>
              </a:cxn>
              <a:cxn ang="0">
                <a:pos x="0" y="120"/>
              </a:cxn>
              <a:cxn ang="0">
                <a:pos x="103" y="0"/>
              </a:cxn>
              <a:cxn ang="0">
                <a:pos x="207" y="120"/>
              </a:cxn>
            </a:cxnLst>
            <a:rect l="0" t="0" r="r" b="b"/>
            <a:pathLst>
              <a:path w="206" h="240">
                <a:moveTo>
                  <a:pt x="207" y="120"/>
                </a:moveTo>
                <a:lnTo>
                  <a:pt x="207" y="120"/>
                </a:lnTo>
                <a:cubicBezTo>
                  <a:pt x="207" y="187"/>
                  <a:pt x="161" y="240"/>
                  <a:pt x="103" y="240"/>
                </a:cubicBezTo>
                <a:cubicBezTo>
                  <a:pt x="46" y="240"/>
                  <a:pt x="0" y="187"/>
                  <a:pt x="0" y="120"/>
                </a:cubicBezTo>
                <a:cubicBezTo>
                  <a:pt x="0" y="54"/>
                  <a:pt x="46" y="0"/>
                  <a:pt x="103" y="0"/>
                </a:cubicBezTo>
                <a:cubicBezTo>
                  <a:pt x="161" y="0"/>
                  <a:pt x="207" y="54"/>
                  <a:pt x="207" y="120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86A44A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65230" tIns="32616" rIns="65230" bIns="32616" numCol="1" anchor="t" anchorCtr="0" compatLnSpc="1">
            <a:prstTxWarp prst="textNoShape">
              <a:avLst/>
            </a:prstTxWarp>
          </a:bodyPr>
          <a:lstStyle/>
          <a:p>
            <a:pPr algn="ctr" defTabSz="693112"/>
            <a:endParaRPr lang="es-ES_tradnl" sz="1284">
              <a:solidFill>
                <a:srgbClr val="2D475A"/>
              </a:solidFill>
            </a:endParaRPr>
          </a:p>
        </p:txBody>
      </p:sp>
      <p:sp>
        <p:nvSpPr>
          <p:cNvPr id="189" name="Freeform 9"/>
          <p:cNvSpPr/>
          <p:nvPr>
            <p:custDataLst>
              <p:tags r:id="rId36"/>
            </p:custDataLst>
          </p:nvPr>
        </p:nvSpPr>
        <p:spPr bwMode="auto">
          <a:xfrm>
            <a:off x="9694818" y="2558597"/>
            <a:ext cx="172604" cy="171502"/>
          </a:xfrm>
          <a:custGeom>
            <a:avLst/>
            <a:gdLst/>
            <a:ahLst/>
            <a:cxnLst>
              <a:cxn ang="0">
                <a:pos x="207" y="120"/>
              </a:cxn>
              <a:cxn ang="0">
                <a:pos x="207" y="120"/>
              </a:cxn>
              <a:cxn ang="0">
                <a:pos x="104" y="240"/>
              </a:cxn>
              <a:cxn ang="0">
                <a:pos x="0" y="120"/>
              </a:cxn>
              <a:cxn ang="0">
                <a:pos x="104" y="0"/>
              </a:cxn>
              <a:cxn ang="0">
                <a:pos x="207" y="120"/>
              </a:cxn>
            </a:cxnLst>
            <a:rect l="0" t="0" r="r" b="b"/>
            <a:pathLst>
              <a:path w="206" h="240">
                <a:moveTo>
                  <a:pt x="207" y="120"/>
                </a:moveTo>
                <a:lnTo>
                  <a:pt x="207" y="120"/>
                </a:lnTo>
                <a:cubicBezTo>
                  <a:pt x="207" y="186"/>
                  <a:pt x="161" y="240"/>
                  <a:pt x="104" y="240"/>
                </a:cubicBezTo>
                <a:cubicBezTo>
                  <a:pt x="46" y="240"/>
                  <a:pt x="0" y="186"/>
                  <a:pt x="0" y="120"/>
                </a:cubicBezTo>
                <a:cubicBezTo>
                  <a:pt x="0" y="54"/>
                  <a:pt x="46" y="0"/>
                  <a:pt x="104" y="0"/>
                </a:cubicBezTo>
                <a:cubicBezTo>
                  <a:pt x="161" y="0"/>
                  <a:pt x="207" y="54"/>
                  <a:pt x="207" y="120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86A44A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65230" tIns="32616" rIns="65230" bIns="32616" numCol="1" anchor="t" anchorCtr="0" compatLnSpc="1">
            <a:prstTxWarp prst="textNoShape">
              <a:avLst/>
            </a:prstTxWarp>
          </a:bodyPr>
          <a:lstStyle/>
          <a:p>
            <a:pPr algn="ctr" defTabSz="693112"/>
            <a:endParaRPr lang="es-ES_tradnl" sz="1284">
              <a:solidFill>
                <a:srgbClr val="2D475A"/>
              </a:solidFill>
            </a:endParaRPr>
          </a:p>
        </p:txBody>
      </p:sp>
      <p:sp>
        <p:nvSpPr>
          <p:cNvPr id="190" name="Oval 189"/>
          <p:cNvSpPr/>
          <p:nvPr>
            <p:custDataLst>
              <p:tags r:id="rId37"/>
            </p:custDataLst>
          </p:nvPr>
        </p:nvSpPr>
        <p:spPr bwMode="gray">
          <a:xfrm>
            <a:off x="9115674" y="2439308"/>
            <a:ext cx="2075333" cy="758995"/>
          </a:xfrm>
          <a:prstGeom prst="ellipse">
            <a:avLst/>
          </a:prstGeom>
          <a:noFill/>
          <a:ln w="9525" cap="flat" cmpd="sng" algn="ctr">
            <a:solidFill>
              <a:srgbClr val="86A44A"/>
            </a:solidFill>
            <a:prstDash val="dash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s-ES_tradnl" sz="1600">
              <a:solidFill>
                <a:schemeClr val="tx1"/>
              </a:solidFill>
            </a:endParaRPr>
          </a:p>
        </p:txBody>
      </p:sp>
      <p:sp>
        <p:nvSpPr>
          <p:cNvPr id="191" name="Rectangle 190"/>
          <p:cNvSpPr/>
          <p:nvPr>
            <p:custDataLst>
              <p:tags r:id="rId38"/>
            </p:custDataLst>
          </p:nvPr>
        </p:nvSpPr>
        <p:spPr bwMode="gray">
          <a:xfrm>
            <a:off x="711200" y="1841616"/>
            <a:ext cx="2512291" cy="24938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s-ES_tradnl" sz="1600" b="1">
                <a:solidFill>
                  <a:srgbClr val="5C5C5C"/>
                </a:solidFill>
                <a:latin typeface="Arial"/>
              </a:rPr>
              <a:t>Silos de alto rendimiento</a:t>
            </a:r>
          </a:p>
        </p:txBody>
      </p:sp>
      <p:sp>
        <p:nvSpPr>
          <p:cNvPr id="192" name="Rectangle 191"/>
          <p:cNvSpPr/>
          <p:nvPr>
            <p:custDataLst>
              <p:tags r:id="rId39"/>
            </p:custDataLst>
          </p:nvPr>
        </p:nvSpPr>
        <p:spPr bwMode="gray">
          <a:xfrm>
            <a:off x="4812145" y="1841616"/>
            <a:ext cx="2512291" cy="24938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ct val="0"/>
              </a:spcBef>
              <a:buNone/>
              <a:defRPr/>
            </a:pPr>
            <a:r>
              <a:rPr lang="es-ES_tradnl" b="1">
                <a:solidFill>
                  <a:srgbClr val="106470"/>
                </a:solidFill>
              </a:rPr>
              <a:t>Equipo cohesivo</a:t>
            </a:r>
          </a:p>
        </p:txBody>
      </p:sp>
      <p:sp>
        <p:nvSpPr>
          <p:cNvPr id="193" name="Rectangle 192"/>
          <p:cNvSpPr/>
          <p:nvPr>
            <p:custDataLst>
              <p:tags r:id="rId40"/>
            </p:custDataLst>
          </p:nvPr>
        </p:nvSpPr>
        <p:spPr bwMode="gray">
          <a:xfrm>
            <a:off x="8756071" y="1832380"/>
            <a:ext cx="2780147" cy="24938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s-ES_tradnl" b="1">
                <a:solidFill>
                  <a:srgbClr val="86A44A"/>
                </a:solidFill>
              </a:rPr>
              <a:t>Equipo ágil y empoderado</a:t>
            </a:r>
          </a:p>
          <a:p>
            <a:pPr marL="0" indent="0" algn="ctr">
              <a:buNone/>
            </a:pPr>
            <a:r>
              <a:rPr lang="es-ES_tradnl" sz="1600">
                <a:solidFill>
                  <a:schemeClr val="tx1"/>
                </a:solidFill>
              </a:rPr>
              <a:t> </a:t>
            </a:r>
          </a:p>
        </p:txBody>
      </p:sp>
      <p:cxnSp>
        <p:nvCxnSpPr>
          <p:cNvPr id="194" name="Straight Connector 193"/>
          <p:cNvCxnSpPr/>
          <p:nvPr>
            <p:custDataLst>
              <p:tags r:id="rId41"/>
            </p:custDataLst>
          </p:nvPr>
        </p:nvCxnSpPr>
        <p:spPr>
          <a:xfrm flipH="1">
            <a:off x="4051687" y="1854789"/>
            <a:ext cx="0" cy="1828800"/>
          </a:xfrm>
          <a:prstGeom prst="line">
            <a:avLst/>
          </a:prstGeom>
          <a:ln w="9525" cap="flat" cmpd="sng" algn="ctr">
            <a:solidFill>
              <a:srgbClr val="85858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>
            <p:custDataLst>
              <p:tags r:id="rId42"/>
            </p:custDataLst>
          </p:nvPr>
        </p:nvCxnSpPr>
        <p:spPr>
          <a:xfrm>
            <a:off x="334963" y="3818524"/>
            <a:ext cx="11522075" cy="0"/>
          </a:xfrm>
          <a:prstGeom prst="line">
            <a:avLst/>
          </a:prstGeom>
          <a:ln w="76200" cap="sq" cmpd="sng" algn="ctr">
            <a:solidFill>
              <a:srgbClr val="7A2531"/>
            </a:solidFill>
            <a:prstDash val="solid"/>
            <a:miter lim="800000"/>
            <a:headEnd type="none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>
            <p:custDataLst>
              <p:tags r:id="rId43"/>
            </p:custDataLst>
          </p:nvPr>
        </p:nvSpPr>
        <p:spPr bwMode="gray">
          <a:xfrm>
            <a:off x="1104951" y="4016922"/>
            <a:ext cx="586014" cy="6219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36000" tIns="33635" rIns="96097" bIns="33635" rtlCol="0">
            <a:spAutoFit/>
          </a:bodyPr>
          <a:lstStyle>
            <a:defPPr>
              <a:defRPr lang="en-US"/>
            </a:defPPr>
            <a:lvl1pPr marL="0" indent="0">
              <a:buNone/>
              <a:defRPr sz="2400" b="1" spc="600">
                <a:solidFill>
                  <a:srgbClr val="00718F"/>
                </a:solidFill>
              </a:defRPr>
            </a:lvl1pPr>
          </a:lstStyle>
          <a:p>
            <a:r>
              <a:rPr lang="es-ES_tradnl" sz="3600" b="0">
                <a:solidFill>
                  <a:srgbClr val="7A2531"/>
                </a:solidFill>
              </a:rPr>
              <a:t>1</a:t>
            </a:r>
          </a:p>
        </p:txBody>
      </p:sp>
      <p:sp>
        <p:nvSpPr>
          <p:cNvPr id="68" name="TextBox 67"/>
          <p:cNvSpPr txBox="1"/>
          <p:nvPr>
            <p:custDataLst>
              <p:tags r:id="rId44"/>
            </p:custDataLst>
          </p:nvPr>
        </p:nvSpPr>
        <p:spPr bwMode="gray">
          <a:xfrm>
            <a:off x="2452842" y="4710332"/>
            <a:ext cx="586014" cy="6219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36000" tIns="33635" rIns="96097" bIns="33635" rtlCol="0">
            <a:spAutoFit/>
          </a:bodyPr>
          <a:lstStyle>
            <a:defPPr>
              <a:defRPr lang="en-US"/>
            </a:defPPr>
            <a:lvl1pPr marL="0" indent="0">
              <a:buNone/>
              <a:defRPr sz="2400" b="1" spc="600">
                <a:solidFill>
                  <a:srgbClr val="00718F"/>
                </a:solidFill>
              </a:defRPr>
            </a:lvl1pPr>
          </a:lstStyle>
          <a:p>
            <a:r>
              <a:rPr lang="es-ES_tradnl" sz="3600" b="0">
                <a:solidFill>
                  <a:srgbClr val="7A2531"/>
                </a:solidFill>
              </a:rPr>
              <a:t>2</a:t>
            </a:r>
          </a:p>
        </p:txBody>
      </p:sp>
      <p:sp>
        <p:nvSpPr>
          <p:cNvPr id="69" name="TextBox 68"/>
          <p:cNvSpPr txBox="1"/>
          <p:nvPr>
            <p:custDataLst>
              <p:tags r:id="rId45"/>
            </p:custDataLst>
          </p:nvPr>
        </p:nvSpPr>
        <p:spPr bwMode="gray">
          <a:xfrm>
            <a:off x="3800733" y="5403742"/>
            <a:ext cx="586014" cy="6219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36000" tIns="33635" rIns="96097" bIns="33635" rtlCol="0">
            <a:spAutoFit/>
          </a:bodyPr>
          <a:lstStyle>
            <a:defPPr>
              <a:defRPr lang="en-US"/>
            </a:defPPr>
            <a:lvl1pPr marL="0" indent="0">
              <a:buNone/>
              <a:defRPr sz="2400" b="1" spc="600">
                <a:solidFill>
                  <a:srgbClr val="00718F"/>
                </a:solidFill>
              </a:defRPr>
            </a:lvl1pPr>
          </a:lstStyle>
          <a:p>
            <a:r>
              <a:rPr lang="es-ES_tradnl" sz="3600" b="0">
                <a:solidFill>
                  <a:srgbClr val="7A2531"/>
                </a:solidFill>
              </a:rPr>
              <a:t>3</a:t>
            </a:r>
          </a:p>
        </p:txBody>
      </p:sp>
      <p:sp>
        <p:nvSpPr>
          <p:cNvPr id="70" name="btfpBulletedList838832"/>
          <p:cNvSpPr txBox="1"/>
          <p:nvPr>
            <p:custDataLst>
              <p:tags r:id="rId46"/>
            </p:custDataLst>
          </p:nvPr>
        </p:nvSpPr>
        <p:spPr bwMode="gray">
          <a:xfrm>
            <a:off x="1453040" y="4058878"/>
            <a:ext cx="5305871" cy="565146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r>
              <a:rPr lang="es-ES_tradnl" b="1">
                <a:solidFill>
                  <a:srgbClr val="7A2531"/>
                </a:solidFill>
              </a:rPr>
              <a:t>Co-construir reglas del juego </a:t>
            </a:r>
            <a:r>
              <a:rPr lang="es-ES_tradnl"/>
              <a:t>con equipo de liderazgo y cobrárselo mutuamente</a:t>
            </a:r>
          </a:p>
        </p:txBody>
      </p:sp>
      <p:sp>
        <p:nvSpPr>
          <p:cNvPr id="74" name="btfpBulletedList838832"/>
          <p:cNvSpPr txBox="1"/>
          <p:nvPr>
            <p:custDataLst>
              <p:tags r:id="rId47"/>
            </p:custDataLst>
          </p:nvPr>
        </p:nvSpPr>
        <p:spPr bwMode="gray">
          <a:xfrm>
            <a:off x="2869505" y="4862352"/>
            <a:ext cx="5576674" cy="349702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r>
              <a:rPr lang="es-ES_tradnl" b="1">
                <a:solidFill>
                  <a:srgbClr val="7A2531"/>
                </a:solidFill>
              </a:rPr>
              <a:t>Validar reglas del juego</a:t>
            </a:r>
            <a:r>
              <a:rPr lang="x-none" b="1">
                <a:solidFill>
                  <a:srgbClr val="7A2531"/>
                </a:solidFill>
              </a:rPr>
              <a:t> en la acción </a:t>
            </a:r>
            <a:r>
              <a:rPr lang="es-ES_tradnl" b="1">
                <a:solidFill>
                  <a:srgbClr val="7A2531"/>
                </a:solidFill>
              </a:rPr>
              <a:t> </a:t>
            </a:r>
            <a:endParaRPr lang="es-ES_tradnl"/>
          </a:p>
        </p:txBody>
      </p:sp>
      <p:sp>
        <p:nvSpPr>
          <p:cNvPr id="75" name="btfpBulletedList838832"/>
          <p:cNvSpPr txBox="1"/>
          <p:nvPr>
            <p:custDataLst>
              <p:tags r:id="rId48"/>
            </p:custDataLst>
          </p:nvPr>
        </p:nvSpPr>
        <p:spPr bwMode="gray">
          <a:xfrm>
            <a:off x="4185037" y="5461796"/>
            <a:ext cx="6098002" cy="565146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r>
              <a:rPr lang="es-ES_tradnl" b="1">
                <a:solidFill>
                  <a:srgbClr val="7A2531"/>
                </a:solidFill>
              </a:rPr>
              <a:t>Implementar observador </a:t>
            </a:r>
            <a:r>
              <a:rPr lang="es-ES_tradnl"/>
              <a:t>quien fomenta el autocontrol en función de las reglas establecidas</a:t>
            </a:r>
          </a:p>
        </p:txBody>
      </p:sp>
      <p:sp>
        <p:nvSpPr>
          <p:cNvPr id="63" name="TextBox 62"/>
          <p:cNvSpPr txBox="1"/>
          <p:nvPr>
            <p:custDataLst>
              <p:tags r:id="rId49"/>
            </p:custDataLst>
          </p:nvPr>
        </p:nvSpPr>
        <p:spPr bwMode="gray">
          <a:xfrm>
            <a:off x="5148624" y="6077055"/>
            <a:ext cx="586014" cy="6219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36000" tIns="33635" rIns="96097" bIns="33635" rtlCol="0">
            <a:spAutoFit/>
          </a:bodyPr>
          <a:lstStyle>
            <a:defPPr>
              <a:defRPr lang="en-US"/>
            </a:defPPr>
            <a:lvl1pPr marL="0" indent="0">
              <a:buNone/>
              <a:defRPr sz="2400" b="1" spc="600">
                <a:solidFill>
                  <a:srgbClr val="00718F"/>
                </a:solidFill>
              </a:defRPr>
            </a:lvl1pPr>
          </a:lstStyle>
          <a:p>
            <a:r>
              <a:rPr lang="es-ES_tradnl" sz="3600" b="0">
                <a:solidFill>
                  <a:srgbClr val="7A2531"/>
                </a:solidFill>
              </a:rPr>
              <a:t>4</a:t>
            </a:r>
          </a:p>
        </p:txBody>
      </p:sp>
      <p:sp>
        <p:nvSpPr>
          <p:cNvPr id="64" name="btfpBulletedList838832"/>
          <p:cNvSpPr txBox="1"/>
          <p:nvPr>
            <p:custDataLst>
              <p:tags r:id="rId50"/>
            </p:custDataLst>
          </p:nvPr>
        </p:nvSpPr>
        <p:spPr bwMode="gray">
          <a:xfrm>
            <a:off x="5533051" y="6215171"/>
            <a:ext cx="6098002" cy="565146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r>
              <a:rPr lang="es-ES_tradnl" b="1">
                <a:solidFill>
                  <a:srgbClr val="7A2531"/>
                </a:solidFill>
              </a:rPr>
              <a:t>Confirmación de roles y conductas</a:t>
            </a:r>
            <a:r>
              <a:rPr lang="es-ES_tradnl">
                <a:solidFill>
                  <a:srgbClr val="333333"/>
                </a:solidFill>
              </a:rPr>
              <a:t>, iterando en ciclos de mejora continua de mentalidad y comportamiento</a:t>
            </a:r>
          </a:p>
        </p:txBody>
      </p:sp>
      <p:grpSp>
        <p:nvGrpSpPr>
          <p:cNvPr id="65" name="btfpColumnHeaderBox203542"/>
          <p:cNvGrpSpPr/>
          <p:nvPr>
            <p:custDataLst>
              <p:tags r:id="rId51"/>
            </p:custDataLst>
          </p:nvPr>
        </p:nvGrpSpPr>
        <p:grpSpPr>
          <a:xfrm>
            <a:off x="330200" y="1455647"/>
            <a:ext cx="3483504" cy="315913"/>
            <a:chOff x="330200" y="1270000"/>
            <a:chExt cx="3483504" cy="315913"/>
          </a:xfrm>
        </p:grpSpPr>
        <p:sp>
          <p:nvSpPr>
            <p:cNvPr id="72" name="btfpColumnHeaderBoxText203542"/>
            <p:cNvSpPr txBox="1"/>
            <p:nvPr>
              <p:custDataLst>
                <p:tags r:id="rId64"/>
              </p:custDataLst>
            </p:nvPr>
          </p:nvSpPr>
          <p:spPr bwMode="gray">
            <a:xfrm>
              <a:off x="330200" y="1270000"/>
              <a:ext cx="3483504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ct val="0"/>
                </a:spcBef>
                <a:buNone/>
              </a:pPr>
              <a:r>
                <a:rPr lang="x-none" sz="1600" b="1">
                  <a:solidFill>
                    <a:srgbClr val="000000"/>
                  </a:solidFill>
                </a:rPr>
                <a:t>Cumplimiento</a:t>
              </a:r>
              <a:endParaRPr lang="es-ES_tradnl" sz="1600" b="1">
                <a:solidFill>
                  <a:srgbClr val="000000"/>
                </a:solidFill>
              </a:endParaRPr>
            </a:p>
          </p:txBody>
        </p:sp>
        <p:cxnSp>
          <p:nvCxnSpPr>
            <p:cNvPr id="73" name="btfpColumnHeaderBoxLine203542"/>
            <p:cNvCxnSpPr/>
            <p:nvPr>
              <p:custDataLst>
                <p:tags r:id="rId65"/>
              </p:custDataLst>
            </p:nvPr>
          </p:nvCxnSpPr>
          <p:spPr bwMode="gray">
            <a:xfrm>
              <a:off x="330200" y="1585913"/>
              <a:ext cx="3483504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btfpColumnHeaderBox753212"/>
          <p:cNvGrpSpPr/>
          <p:nvPr>
            <p:custDataLst>
              <p:tags r:id="rId52"/>
            </p:custDataLst>
          </p:nvPr>
        </p:nvGrpSpPr>
        <p:grpSpPr>
          <a:xfrm>
            <a:off x="4354248" y="1455647"/>
            <a:ext cx="3483504" cy="315913"/>
            <a:chOff x="4354248" y="1270000"/>
            <a:chExt cx="3483504" cy="315913"/>
          </a:xfrm>
        </p:grpSpPr>
        <p:sp>
          <p:nvSpPr>
            <p:cNvPr id="77" name="btfpColumnHeaderBoxText753212"/>
            <p:cNvSpPr txBox="1"/>
            <p:nvPr>
              <p:custDataLst>
                <p:tags r:id="rId62"/>
              </p:custDataLst>
            </p:nvPr>
          </p:nvSpPr>
          <p:spPr bwMode="gray">
            <a:xfrm>
              <a:off x="4354248" y="1270000"/>
              <a:ext cx="3483504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ct val="0"/>
                </a:spcBef>
                <a:buNone/>
              </a:pPr>
              <a:r>
                <a:rPr lang="x-none" sz="1600" b="1">
                  <a:solidFill>
                    <a:srgbClr val="000000"/>
                  </a:solidFill>
                </a:rPr>
                <a:t>Transición </a:t>
              </a:r>
              <a:endParaRPr lang="es-ES_tradnl" sz="1600" b="1">
                <a:solidFill>
                  <a:srgbClr val="000000"/>
                </a:solidFill>
              </a:endParaRPr>
            </a:p>
          </p:txBody>
        </p:sp>
        <p:cxnSp>
          <p:nvCxnSpPr>
            <p:cNvPr id="78" name="btfpColumnHeaderBoxLine753212"/>
            <p:cNvCxnSpPr/>
            <p:nvPr>
              <p:custDataLst>
                <p:tags r:id="rId63"/>
              </p:custDataLst>
            </p:nvPr>
          </p:nvCxnSpPr>
          <p:spPr bwMode="gray">
            <a:xfrm>
              <a:off x="4354248" y="1585913"/>
              <a:ext cx="3483504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btfpColumnHeaderBox609624"/>
          <p:cNvGrpSpPr/>
          <p:nvPr>
            <p:custDataLst>
              <p:tags r:id="rId53"/>
            </p:custDataLst>
          </p:nvPr>
        </p:nvGrpSpPr>
        <p:grpSpPr>
          <a:xfrm>
            <a:off x="8378296" y="1455647"/>
            <a:ext cx="3483504" cy="315913"/>
            <a:chOff x="8378296" y="1270000"/>
            <a:chExt cx="3483504" cy="315913"/>
          </a:xfrm>
        </p:grpSpPr>
        <p:sp>
          <p:nvSpPr>
            <p:cNvPr id="80" name="btfpColumnHeaderBoxText609624"/>
            <p:cNvSpPr txBox="1"/>
            <p:nvPr>
              <p:custDataLst>
                <p:tags r:id="rId60"/>
              </p:custDataLst>
            </p:nvPr>
          </p:nvSpPr>
          <p:spPr bwMode="gray">
            <a:xfrm>
              <a:off x="8378296" y="1270000"/>
              <a:ext cx="3483504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ct val="0"/>
                </a:spcBef>
                <a:buNone/>
              </a:pPr>
              <a:r>
                <a:rPr lang="x-none" sz="1600" b="1">
                  <a:solidFill>
                    <a:srgbClr val="000000"/>
                  </a:solidFill>
                </a:rPr>
                <a:t>Desarrollo</a:t>
              </a:r>
              <a:endParaRPr lang="es-ES_tradnl" sz="1600" b="1">
                <a:solidFill>
                  <a:srgbClr val="000000"/>
                </a:solidFill>
              </a:endParaRPr>
            </a:p>
          </p:txBody>
        </p:sp>
        <p:cxnSp>
          <p:nvCxnSpPr>
            <p:cNvPr id="81" name="btfpColumnHeaderBoxLine609624"/>
            <p:cNvCxnSpPr/>
            <p:nvPr>
              <p:custDataLst>
                <p:tags r:id="rId61"/>
              </p:custDataLst>
            </p:nvPr>
          </p:nvCxnSpPr>
          <p:spPr bwMode="gray">
            <a:xfrm>
              <a:off x="8378296" y="1585913"/>
              <a:ext cx="3483504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btfpRunningAgenda2Level903757"/>
          <p:cNvGrpSpPr/>
          <p:nvPr>
            <p:custDataLst>
              <p:tags r:id="rId54"/>
            </p:custDataLst>
          </p:nvPr>
        </p:nvGrpSpPr>
        <p:grpSpPr>
          <a:xfrm>
            <a:off x="0" y="1132736"/>
            <a:ext cx="7351685" cy="257443"/>
            <a:chOff x="0" y="944429"/>
            <a:chExt cx="7351685" cy="257443"/>
          </a:xfrm>
        </p:grpSpPr>
        <p:sp>
          <p:nvSpPr>
            <p:cNvPr id="83" name="btfpRunningAgenda2LevelBarLeft903757"/>
            <p:cNvSpPr/>
            <p:nvPr>
              <p:custDataLst>
                <p:tags r:id="rId56"/>
              </p:custDataLst>
            </p:nvPr>
          </p:nvSpPr>
          <p:spPr bwMode="gray">
            <a:xfrm>
              <a:off x="0" y="944429"/>
              <a:ext cx="2460831" cy="257443"/>
            </a:xfrm>
            <a:custGeom>
              <a:avLst/>
              <a:gdLst/>
              <a:ahLst/>
              <a:cxnLst/>
              <a:rect l="0" t="0" r="0" b="0"/>
              <a:pathLst>
                <a:path w="2460831" h="257443">
                  <a:moveTo>
                    <a:pt x="0" y="0"/>
                  </a:moveTo>
                  <a:lnTo>
                    <a:pt x="2460830" y="0"/>
                  </a:lnTo>
                  <a:lnTo>
                    <a:pt x="2406109" y="257442"/>
                  </a:lnTo>
                  <a:lnTo>
                    <a:pt x="0" y="257442"/>
                  </a:lnTo>
                  <a:close/>
                </a:path>
              </a:pathLst>
            </a:custGeom>
            <a:solidFill>
              <a:srgbClr val="333333"/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s-ES_tradnl" sz="1600">
                <a:solidFill>
                  <a:schemeClr val="tx1"/>
                </a:solidFill>
              </a:endParaRPr>
            </a:p>
          </p:txBody>
        </p:sp>
        <p:sp>
          <p:nvSpPr>
            <p:cNvPr id="84" name="btfpRunningAgenda2LevelTextLeft903757"/>
            <p:cNvSpPr txBox="1"/>
            <p:nvPr>
              <p:custDataLst>
                <p:tags r:id="rId57"/>
              </p:custDataLst>
            </p:nvPr>
          </p:nvSpPr>
          <p:spPr bwMode="gray">
            <a:xfrm>
              <a:off x="0" y="944429"/>
              <a:ext cx="2406109" cy="257442"/>
            </a:xfrm>
            <a:prstGeom prst="rect">
              <a:avLst/>
            </a:prstGeom>
            <a:noFill/>
          </p:spPr>
          <p:txBody>
            <a:bodyPr vert="horz" wrap="none" lIns="360363" tIns="36036" rIns="360363" bIns="36036" rtlCol="0" anchor="t">
              <a:spAutoFit/>
            </a:bodyPr>
            <a:lstStyle/>
            <a:p>
              <a:pPr marL="0" indent="0">
                <a:spcBef>
                  <a:spcPct val="0"/>
                </a:spcBef>
                <a:buNone/>
              </a:pPr>
              <a:r>
                <a:rPr lang="es-ES_tradnl" sz="1200" b="1" cap="all" spc="450">
                  <a:solidFill>
                    <a:srgbClr val="FFFFFF"/>
                  </a:solidFill>
                </a:rPr>
                <a:t>Gobernanza</a:t>
              </a:r>
            </a:p>
          </p:txBody>
        </p:sp>
        <p:sp>
          <p:nvSpPr>
            <p:cNvPr id="85" name="btfpRunningAgenda2LevelBarRight903757"/>
            <p:cNvSpPr/>
            <p:nvPr>
              <p:custDataLst>
                <p:tags r:id="rId58"/>
              </p:custDataLst>
            </p:nvPr>
          </p:nvSpPr>
          <p:spPr bwMode="gray">
            <a:xfrm>
              <a:off x="2325989" y="944429"/>
              <a:ext cx="5025696" cy="257442"/>
            </a:xfrm>
            <a:custGeom>
              <a:avLst/>
              <a:gdLst>
                <a:gd name="connsiteX0" fmla="*/ 5025696 w 5025696"/>
                <a:gd name="connsiteY0" fmla="*/ 0 h 257442"/>
                <a:gd name="connsiteX1" fmla="*/ 4970976 w 5025696"/>
                <a:gd name="connsiteY1" fmla="*/ 257442 h 257442"/>
                <a:gd name="connsiteX2" fmla="*/ 0 w 5025696"/>
                <a:gd name="connsiteY2" fmla="*/ 257442 h 257442"/>
                <a:gd name="connsiteX3" fmla="*/ 54720 w 5025696"/>
                <a:gd name="connsiteY3" fmla="*/ 0 h 257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25696" h="257442">
                  <a:moveTo>
                    <a:pt x="5025696" y="0"/>
                  </a:moveTo>
                  <a:lnTo>
                    <a:pt x="4970976" y="257442"/>
                  </a:lnTo>
                  <a:lnTo>
                    <a:pt x="0" y="257442"/>
                  </a:lnTo>
                  <a:lnTo>
                    <a:pt x="54720" y="0"/>
                  </a:lnTo>
                  <a:close/>
                </a:path>
              </a:pathLst>
            </a:custGeom>
            <a:solidFill>
              <a:srgbClr val="7A2531"/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s-ES_tradnl" sz="1600">
                <a:solidFill>
                  <a:schemeClr val="tx1"/>
                </a:solidFill>
              </a:endParaRPr>
            </a:p>
          </p:txBody>
        </p:sp>
        <p:sp>
          <p:nvSpPr>
            <p:cNvPr id="86" name="btfpRunningAgenda2LevelTextRight903757"/>
            <p:cNvSpPr txBox="1"/>
            <p:nvPr>
              <p:custDataLst>
                <p:tags r:id="rId59"/>
              </p:custDataLst>
            </p:nvPr>
          </p:nvSpPr>
          <p:spPr bwMode="gray">
            <a:xfrm>
              <a:off x="2325988" y="944429"/>
              <a:ext cx="4970977" cy="257442"/>
            </a:xfrm>
            <a:prstGeom prst="rect">
              <a:avLst/>
            </a:prstGeom>
            <a:noFill/>
          </p:spPr>
          <p:txBody>
            <a:bodyPr vert="horz" wrap="none" lIns="360363" tIns="36036" rIns="360363" bIns="36036" rtlCol="0" anchor="t">
              <a:spAutoFit/>
            </a:bodyPr>
            <a:lstStyle/>
            <a:p>
              <a:pPr marL="0" indent="0">
                <a:spcBef>
                  <a:spcPct val="0"/>
                </a:spcBef>
                <a:buNone/>
              </a:pPr>
              <a:r>
                <a:rPr lang="es-ES_tradnl" sz="1200" b="1" cap="all" spc="450">
                  <a:solidFill>
                    <a:srgbClr val="FFFFFF"/>
                  </a:solidFill>
                </a:rPr>
                <a:t>Mentalidad &amp; comportamiento</a:t>
              </a:r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0BEE8C74-6A4C-4912-A755-132524B9C41E}"/>
              </a:ext>
            </a:extLst>
          </p:cNvPr>
          <p:cNvSpPr>
            <a:spLocks noGrp="1"/>
          </p:cNvSpPr>
          <p:nvPr>
            <p:ph type="title"/>
            <p:custDataLst>
              <p:tags r:id="rId55"/>
            </p:custDataLst>
          </p:nvPr>
        </p:nvSpPr>
        <p:spPr>
          <a:xfrm>
            <a:off x="147560" y="-2526092"/>
            <a:ext cx="10588141" cy="873124"/>
          </a:xfrm>
        </p:spPr>
        <p:txBody>
          <a:bodyPr/>
          <a:lstStyle/>
          <a:p>
            <a:endParaRPr lang="es-ES_tradnl" sz="3200"/>
          </a:p>
        </p:txBody>
      </p:sp>
      <p:sp>
        <p:nvSpPr>
          <p:cNvPr id="5" name="Título 2">
            <a:extLst>
              <a:ext uri="{FF2B5EF4-FFF2-40B4-BE49-F238E27FC236}">
                <a16:creationId xmlns:a16="http://schemas.microsoft.com/office/drawing/2014/main" id="{333E231A-C1FA-36FF-A62C-E6795613E6A3}"/>
              </a:ext>
            </a:extLst>
          </p:cNvPr>
          <p:cNvSpPr txBox="1">
            <a:spLocks/>
          </p:cNvSpPr>
          <p:nvPr/>
        </p:nvSpPr>
        <p:spPr>
          <a:xfrm>
            <a:off x="64662" y="151154"/>
            <a:ext cx="11814849" cy="898982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2800" b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Cómo</a:t>
            </a:r>
            <a:r>
              <a:rPr lang="x-none" sz="2800" b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-Mentalidades- </a:t>
            </a:r>
            <a:r>
              <a:rPr lang="es-ES_tradnl" sz="2800" b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: </a:t>
            </a:r>
            <a:r>
              <a:rPr lang="x-none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Las conductas se acuerdan y se gestionan en 4 pasos y van evolucionando. </a:t>
            </a:r>
            <a:endParaRPr lang="es-CL" sz="280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36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24 Pentágono">
            <a:extLst>
              <a:ext uri="{FF2B5EF4-FFF2-40B4-BE49-F238E27FC236}">
                <a16:creationId xmlns:a16="http://schemas.microsoft.com/office/drawing/2014/main" id="{AC9CF6EC-264F-76D7-5862-90800FC2F71A}"/>
              </a:ext>
            </a:extLst>
          </p:cNvPr>
          <p:cNvSpPr/>
          <p:nvPr/>
        </p:nvSpPr>
        <p:spPr>
          <a:xfrm>
            <a:off x="127000" y="2626676"/>
            <a:ext cx="4162612" cy="3464842"/>
          </a:xfrm>
          <a:prstGeom prst="homePlate">
            <a:avLst>
              <a:gd name="adj" fmla="val 14613"/>
            </a:avLst>
          </a:prstGeom>
          <a:solidFill>
            <a:srgbClr val="EEECE1">
              <a:lumMod val="60000"/>
              <a:lumOff val="40000"/>
            </a:srgbClr>
          </a:solidFill>
          <a:ln w="12700" cap="flat" cmpd="sng" algn="ctr">
            <a:noFill/>
            <a:prstDash val="solid"/>
          </a:ln>
          <a:effectLst/>
        </p:spPr>
        <p:txBody>
          <a:bodyPr lIns="72000" tIns="36000" rIns="72000" bIns="36000" rtlCol="0" anchor="t"/>
          <a:lstStyle/>
          <a:p>
            <a:pPr marL="0" marR="0" lvl="0" indent="0" algn="ctr" defTabSz="686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INPUT</a:t>
            </a:r>
          </a:p>
          <a:p>
            <a:pPr marL="171450" marR="0" lvl="0" indent="-171450" algn="l" defTabSz="686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Compromisos Acta de Reunión Anterior</a:t>
            </a:r>
          </a:p>
          <a:p>
            <a:pPr marL="171450" marR="0" lvl="0" indent="-171450" algn="l" defTabSz="686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Horas, Gastos y Facturación cargado. </a:t>
            </a:r>
          </a:p>
          <a:p>
            <a:pPr marL="171450" marR="0" lvl="0" indent="-171450" algn="l" defTabSz="686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Proyección de HH Propuestas Comerciales entregadas el día 10 de cada mes. </a:t>
            </a:r>
          </a:p>
          <a:p>
            <a:pPr marL="171450" marR="0" lvl="0" indent="-171450" algn="l" defTabSz="686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Tablero de Proyectos valores programados vs. reales Margen, Tarifa, HH. </a:t>
            </a:r>
          </a:p>
          <a:p>
            <a:pPr marL="171450" marR="0" lvl="0" indent="-171450" algn="l" defTabSz="686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Análisis de Riesgo del Proyecto Programación de Cargable </a:t>
            </a:r>
          </a:p>
          <a:p>
            <a:pPr marL="171450" marR="0" lvl="0" indent="-171450" algn="l" defTabSz="686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Estados Financieros de gestión </a:t>
            </a:r>
          </a:p>
          <a:p>
            <a:pPr marL="171450" marR="0" lvl="0" indent="-171450" algn="l" defTabSz="686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Tener un </a:t>
            </a:r>
            <a:r>
              <a:rPr kumimoji="0" lang="es-ES" sz="1400" b="0" i="0" u="none" strike="noStrike" kern="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ppto</a:t>
            </a: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 para el año.</a:t>
            </a:r>
          </a:p>
          <a:p>
            <a:pPr marL="171450" marR="0" lvl="0" indent="-171450" algn="l" defTabSz="686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s-ES" sz="1200" b="0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171450" marR="0" lvl="0" indent="-171450" algn="l" defTabSz="686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s-CL" sz="1100" b="1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0" marR="0" lvl="0" indent="0" algn="ctr" defTabSz="686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100" b="1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2BEFAD04-8E86-24FA-9831-6AFC6D633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0" y="909633"/>
            <a:ext cx="2791012" cy="1627384"/>
          </a:xfrm>
          <a:prstGeom prst="roundRect">
            <a:avLst>
              <a:gd name="adj" fmla="val 6199"/>
            </a:avLst>
          </a:prstGeom>
          <a:solidFill>
            <a:sysClr val="window" lastClr="FFFFFF"/>
          </a:solidFill>
          <a:ln w="19050">
            <a:solidFill>
              <a:schemeClr val="accent2"/>
            </a:solidFill>
            <a:round/>
            <a:headEnd/>
            <a:tailEnd/>
          </a:ln>
        </p:spPr>
        <p:txBody>
          <a:bodyPr lIns="91729" tIns="45865" rIns="91729" bIns="45865"/>
          <a:lstStyle/>
          <a:p>
            <a:pPr marL="0" marR="0" lvl="0" indent="0" algn="l" defTabSz="917637" rtl="0" eaLnBrk="1" fontAlgn="auto" latinLnBrk="0" hangingPunct="1">
              <a:lnSpc>
                <a:spcPct val="90000"/>
              </a:lnSpc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PARTICIPANTES:</a:t>
            </a:r>
            <a:endParaRPr kumimoji="0" lang="es-CL" sz="1100" b="1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171450" marR="0" lvl="0" indent="-171450" algn="l" defTabSz="686440" rtl="0" eaLnBrk="1" fontAlgn="auto" latinLnBrk="0" hangingPunct="1">
              <a:lnSpc>
                <a:spcPct val="90000"/>
              </a:lnSpc>
              <a:spcBef>
                <a:spcPct val="5000"/>
              </a:spcBef>
              <a:spcAft>
                <a:spcPct val="5000"/>
              </a:spcAft>
              <a:buClrTx/>
              <a:buSzTx/>
              <a:buFont typeface="Wingdings" panose="05000000000000000000" pitchFamily="2" charset="2"/>
              <a:buChar char="§"/>
              <a:tabLst>
                <a:tab pos="645921" algn="l"/>
              </a:tabLst>
              <a:defRPr/>
            </a:pPr>
            <a:r>
              <a:rPr kumimoji="0" lang="es-MX" sz="14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Líder </a:t>
            </a:r>
            <a:r>
              <a:rPr kumimoji="0" lang="es-MX" sz="14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: </a:t>
            </a:r>
            <a:r>
              <a:rPr lang="es-MX" sz="1400" kern="0">
                <a:solidFill>
                  <a:srgbClr val="002060"/>
                </a:solidFill>
                <a:latin typeface="Century Gothic" charset="0"/>
                <a:ea typeface="Century Gothic" charset="0"/>
                <a:cs typeface="Century Gothic" charset="0"/>
              </a:rPr>
              <a:t>Director Ejecutivo</a:t>
            </a:r>
            <a:r>
              <a:rPr kumimoji="0" lang="es-MX" sz="14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.</a:t>
            </a:r>
          </a:p>
          <a:p>
            <a:pPr marL="171450" marR="0" lvl="0" indent="-171450" algn="l" defTabSz="686440" rtl="0" eaLnBrk="1" fontAlgn="auto" latinLnBrk="0" hangingPunct="1">
              <a:lnSpc>
                <a:spcPct val="90000"/>
              </a:lnSpc>
              <a:spcBef>
                <a:spcPct val="5000"/>
              </a:spcBef>
              <a:spcAft>
                <a:spcPct val="5000"/>
              </a:spcAft>
              <a:buClrTx/>
              <a:buSzTx/>
              <a:buFont typeface="Wingdings" panose="05000000000000000000" pitchFamily="2" charset="2"/>
              <a:buChar char="§"/>
              <a:tabLst>
                <a:tab pos="645921" algn="l"/>
              </a:tabLst>
              <a:defRPr/>
            </a:pPr>
            <a:r>
              <a:rPr lang="es-MX" sz="1400" b="1" kern="0">
                <a:solidFill>
                  <a:srgbClr val="002060"/>
                </a:solidFill>
                <a:latin typeface="Century Gothic" charset="0"/>
                <a:ea typeface="Century Gothic" charset="0"/>
                <a:cs typeface="Century Gothic" charset="0"/>
              </a:rPr>
              <a:t>Participantes</a:t>
            </a:r>
            <a:r>
              <a:rPr kumimoji="0" lang="es-CL" sz="14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: </a:t>
            </a:r>
            <a:r>
              <a:rPr lang="es-CL" sz="1400" kern="0">
                <a:solidFill>
                  <a:srgbClr val="002060"/>
                </a:solidFill>
                <a:latin typeface="Century Gothic" charset="0"/>
                <a:ea typeface="Century Gothic" charset="0"/>
                <a:cs typeface="Century Gothic" charset="0"/>
              </a:rPr>
              <a:t>Mesa de Gestión</a:t>
            </a:r>
            <a:endParaRPr kumimoji="0" lang="es-CL" sz="1400" b="0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0" marR="0" lvl="0" indent="0" algn="l" defTabSz="917637" rtl="0" eaLnBrk="1" fontAlgn="auto" latinLnBrk="0" hangingPunct="1">
              <a:lnSpc>
                <a:spcPct val="90000"/>
              </a:lnSpc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  <a:tabLst>
                <a:tab pos="645921" algn="l"/>
              </a:tabLst>
              <a:defRPr/>
            </a:pPr>
            <a:endParaRPr kumimoji="0" lang="es-CL" sz="1200" b="0" i="0" u="none" strike="sng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8" name="AutoShape 14">
            <a:extLst>
              <a:ext uri="{FF2B5EF4-FFF2-40B4-BE49-F238E27FC236}">
                <a16:creationId xmlns:a16="http://schemas.microsoft.com/office/drawing/2014/main" id="{F80FA886-F2A7-6129-CDF3-D3DD62722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5929" y="909633"/>
            <a:ext cx="6239436" cy="1627384"/>
          </a:xfrm>
          <a:prstGeom prst="roundRect">
            <a:avLst>
              <a:gd name="adj" fmla="val 6199"/>
            </a:avLst>
          </a:prstGeom>
          <a:solidFill>
            <a:sysClr val="window" lastClr="FFFFFF"/>
          </a:solidFill>
          <a:ln w="19050">
            <a:solidFill>
              <a:schemeClr val="accent2"/>
            </a:solidFill>
            <a:round/>
            <a:headEnd/>
            <a:tailEnd/>
          </a:ln>
        </p:spPr>
        <p:txBody>
          <a:bodyPr lIns="91729" tIns="45865" rIns="91729" bIns="45865"/>
          <a:lstStyle/>
          <a:p>
            <a:pPr marL="129900" marR="0" lvl="0" indent="-129900" algn="l" defTabSz="917637" rtl="0" eaLnBrk="1" fontAlgn="auto" latinLnBrk="0" hangingPunct="1">
              <a:lnSpc>
                <a:spcPct val="90000"/>
              </a:lnSpc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OBJETIVO EXPLÍCITO:</a:t>
            </a:r>
          </a:p>
          <a:p>
            <a:pPr marL="285750" marR="0" lvl="0" indent="-285750" algn="l" defTabSz="917637" rtl="0" eaLnBrk="1" fontAlgn="auto" latinLnBrk="0" hangingPunct="1">
              <a:lnSpc>
                <a:spcPct val="90000"/>
              </a:lnSpc>
              <a:spcBef>
                <a:spcPct val="5000"/>
              </a:spcBef>
              <a:spcAft>
                <a:spcPct val="5000"/>
              </a:spcAft>
              <a:buClrTx/>
              <a:buSzTx/>
              <a:buFont typeface="Arial" charset="0"/>
              <a:buChar char="•"/>
              <a:tabLst>
                <a:tab pos="645921" algn="l"/>
              </a:tabLst>
              <a:defRPr/>
            </a:pPr>
            <a:r>
              <a:rPr kumimoji="0" lang="es-CL" sz="14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Tomar decisiones </a:t>
            </a:r>
            <a:r>
              <a:rPr lang="es-CL" sz="1400" kern="0">
                <a:solidFill>
                  <a:srgbClr val="002060"/>
                </a:solidFill>
                <a:latin typeface="Century Gothic" charset="0"/>
                <a:ea typeface="Century Gothic" charset="0"/>
                <a:cs typeface="Century Gothic" charset="0"/>
              </a:rPr>
              <a:t>en función a cuidar el Core Business </a:t>
            </a:r>
          </a:p>
          <a:p>
            <a:pPr marL="285750" marR="0" lvl="0" indent="-285750" algn="l" defTabSz="917637" rtl="0" eaLnBrk="1" fontAlgn="auto" latinLnBrk="0" hangingPunct="1">
              <a:lnSpc>
                <a:spcPct val="90000"/>
              </a:lnSpc>
              <a:spcBef>
                <a:spcPct val="5000"/>
              </a:spcBef>
              <a:spcAft>
                <a:spcPct val="5000"/>
              </a:spcAft>
              <a:buClrTx/>
              <a:buSzTx/>
              <a:buFont typeface="Arial" charset="0"/>
              <a:buChar char="•"/>
              <a:tabLst>
                <a:tab pos="645921" algn="l"/>
              </a:tabLst>
              <a:defRPr/>
            </a:pPr>
            <a:r>
              <a:rPr kumimoji="0" lang="es-CL" sz="14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Garantizar un cargable equilibrado (actuales y proyectados)</a:t>
            </a:r>
          </a:p>
          <a:p>
            <a:pPr marL="285750" marR="0" lvl="0" indent="-285750" algn="l" defTabSz="917637" rtl="0" eaLnBrk="1" fontAlgn="auto" latinLnBrk="0" hangingPunct="1">
              <a:lnSpc>
                <a:spcPct val="90000"/>
              </a:lnSpc>
              <a:spcBef>
                <a:spcPct val="5000"/>
              </a:spcBef>
              <a:spcAft>
                <a:spcPct val="5000"/>
              </a:spcAft>
              <a:buClrTx/>
              <a:buSzTx/>
              <a:buFont typeface="Arial" charset="0"/>
              <a:buChar char="•"/>
              <a:tabLst>
                <a:tab pos="645921" algn="l"/>
              </a:tabLst>
              <a:defRPr/>
            </a:pPr>
            <a:r>
              <a:rPr kumimoji="0" lang="es-CL" sz="14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Compromisos concretos, en primera persona, y no interpretables.</a:t>
            </a:r>
          </a:p>
          <a:p>
            <a:pPr marL="285750" marR="0" lvl="0" indent="-285750" algn="l" defTabSz="917637" rtl="0" eaLnBrk="1" fontAlgn="auto" latinLnBrk="0" hangingPunct="1">
              <a:lnSpc>
                <a:spcPct val="90000"/>
              </a:lnSpc>
              <a:spcBef>
                <a:spcPct val="5000"/>
              </a:spcBef>
              <a:spcAft>
                <a:spcPct val="5000"/>
              </a:spcAft>
              <a:buClrTx/>
              <a:buSzTx/>
              <a:buFont typeface="Arial" charset="0"/>
              <a:buChar char="•"/>
              <a:tabLst>
                <a:tab pos="645921" algn="l"/>
              </a:tabLst>
              <a:defRPr/>
            </a:pPr>
            <a:endParaRPr kumimoji="0" lang="es-CL" sz="1400" b="0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0" marR="0" lvl="0" indent="0" algn="l" defTabSz="917637" rtl="0" eaLnBrk="1" fontAlgn="auto" latinLnBrk="0" hangingPunct="1">
              <a:lnSpc>
                <a:spcPct val="90000"/>
              </a:lnSpc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  <a:tabLst>
                <a:tab pos="645921" algn="l"/>
              </a:tabLst>
              <a:defRPr/>
            </a:pPr>
            <a:r>
              <a:rPr kumimoji="0" lang="es-CL" sz="14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OBJETIVO IMPLÍCITO:</a:t>
            </a:r>
          </a:p>
          <a:p>
            <a:pPr marL="285750" marR="0" lvl="0" indent="-285750" algn="l" defTabSz="917637" rtl="0" eaLnBrk="1" fontAlgn="auto" latinLnBrk="0" hangingPunct="1">
              <a:lnSpc>
                <a:spcPct val="90000"/>
              </a:lnSpc>
              <a:spcBef>
                <a:spcPct val="5000"/>
              </a:spcBef>
              <a:spcAft>
                <a:spcPct val="5000"/>
              </a:spcAft>
              <a:buClrTx/>
              <a:buSzTx/>
              <a:buFont typeface="Arial" charset="0"/>
              <a:buChar char="•"/>
              <a:tabLst>
                <a:tab pos="645921" algn="l"/>
              </a:tabLst>
              <a:defRPr/>
            </a:pPr>
            <a:r>
              <a:rPr kumimoji="0" lang="es-CL" sz="14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Toma de decisiones honesta y genuina.</a:t>
            </a:r>
          </a:p>
          <a:p>
            <a:pPr marL="174625" marR="0" lvl="0" indent="-174625" algn="l" defTabSz="917637" rtl="0" eaLnBrk="1" fontAlgn="auto" latinLnBrk="0" hangingPunct="1">
              <a:lnSpc>
                <a:spcPct val="90000"/>
              </a:lnSpc>
              <a:spcBef>
                <a:spcPct val="5000"/>
              </a:spcBef>
              <a:spcAft>
                <a:spcPct val="5000"/>
              </a:spcAft>
              <a:buClrTx/>
              <a:buSzTx/>
              <a:buFont typeface="Wingdings" panose="05000000000000000000" pitchFamily="2" charset="2"/>
              <a:buChar char="§"/>
              <a:tabLst>
                <a:tab pos="645921" algn="l"/>
              </a:tabLst>
              <a:defRPr/>
            </a:pPr>
            <a:endParaRPr kumimoji="0" lang="es-CL" sz="1400" b="0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174625" marR="0" lvl="0" indent="-174625" algn="l" defTabSz="917637" rtl="0" eaLnBrk="1" fontAlgn="auto" latinLnBrk="0" hangingPunct="1">
              <a:lnSpc>
                <a:spcPct val="90000"/>
              </a:lnSpc>
              <a:spcBef>
                <a:spcPct val="5000"/>
              </a:spcBef>
              <a:spcAft>
                <a:spcPct val="5000"/>
              </a:spcAft>
              <a:buClrTx/>
              <a:buSzTx/>
              <a:buFont typeface="Wingdings" panose="05000000000000000000" pitchFamily="2" charset="2"/>
              <a:buChar char="§"/>
              <a:tabLst>
                <a:tab pos="645921" algn="l"/>
              </a:tabLst>
              <a:defRPr/>
            </a:pPr>
            <a:endParaRPr kumimoji="0" lang="es-CL" sz="1400" b="0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174625" marR="0" lvl="0" indent="-174625" algn="l" defTabSz="917637" rtl="0" eaLnBrk="1" fontAlgn="auto" latinLnBrk="0" hangingPunct="1">
              <a:lnSpc>
                <a:spcPct val="90000"/>
              </a:lnSpc>
              <a:spcBef>
                <a:spcPct val="5000"/>
              </a:spcBef>
              <a:spcAft>
                <a:spcPct val="5000"/>
              </a:spcAft>
              <a:buClrTx/>
              <a:buSzTx/>
              <a:buFont typeface="Wingdings" panose="05000000000000000000" pitchFamily="2" charset="2"/>
              <a:buChar char="§"/>
              <a:tabLst>
                <a:tab pos="645921" algn="l"/>
              </a:tabLst>
              <a:defRPr/>
            </a:pPr>
            <a:endParaRPr kumimoji="0" lang="es-ES" sz="1400" b="0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132283" marR="0" lvl="0" indent="-132283" algn="l" defTabSz="917637" rtl="0" eaLnBrk="1" fontAlgn="auto" latinLnBrk="0" hangingPunct="1">
              <a:lnSpc>
                <a:spcPct val="90000"/>
              </a:lnSpc>
              <a:spcBef>
                <a:spcPct val="5000"/>
              </a:spcBef>
              <a:spcAft>
                <a:spcPct val="50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es-CL" sz="1100" b="0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9" name="AutoShape 14">
            <a:extLst>
              <a:ext uri="{FF2B5EF4-FFF2-40B4-BE49-F238E27FC236}">
                <a16:creationId xmlns:a16="http://schemas.microsoft.com/office/drawing/2014/main" id="{2AFC3C31-17BD-97F5-3690-698369660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2823" y="909901"/>
            <a:ext cx="2086286" cy="1627115"/>
          </a:xfrm>
          <a:prstGeom prst="roundRect">
            <a:avLst>
              <a:gd name="adj" fmla="val 6199"/>
            </a:avLst>
          </a:prstGeom>
          <a:solidFill>
            <a:sysClr val="window" lastClr="FFFFFF"/>
          </a:solidFill>
          <a:ln w="19050">
            <a:solidFill>
              <a:schemeClr val="accent2"/>
            </a:solidFill>
            <a:round/>
            <a:headEnd/>
            <a:tailEnd/>
          </a:ln>
        </p:spPr>
        <p:txBody>
          <a:bodyPr lIns="91729" tIns="45865" rIns="91729" bIns="45865"/>
          <a:lstStyle/>
          <a:p>
            <a:pPr marL="129900" marR="0" lvl="0" indent="-129900" algn="l" defTabSz="917637" rtl="0" eaLnBrk="1" fontAlgn="auto" latinLnBrk="0" hangingPunct="1">
              <a:lnSpc>
                <a:spcPct val="90000"/>
              </a:lnSpc>
              <a:spcBef>
                <a:spcPct val="5000"/>
              </a:spcBef>
              <a:spcAft>
                <a:spcPct val="500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FRECUENCIA: Mensual</a:t>
            </a:r>
            <a:endParaRPr kumimoji="0" lang="es-CL" sz="1400" b="0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132283" marR="0" lvl="0" indent="-132283" algn="l" defTabSz="917637" rtl="0" eaLnBrk="1" fontAlgn="auto" latinLnBrk="0" hangingPunct="1">
              <a:lnSpc>
                <a:spcPct val="90000"/>
              </a:lnSpc>
              <a:spcBef>
                <a:spcPct val="5000"/>
              </a:spcBef>
              <a:spcAft>
                <a:spcPct val="50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es-ES" sz="1100" b="0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174625" marR="0" lvl="0" indent="-174625" algn="l" defTabSz="917637" rtl="0" eaLnBrk="1" fontAlgn="auto" latinLnBrk="0" hangingPunct="1">
              <a:lnSpc>
                <a:spcPct val="90000"/>
              </a:lnSpc>
              <a:spcBef>
                <a:spcPct val="5000"/>
              </a:spcBef>
              <a:spcAft>
                <a:spcPct val="5000"/>
              </a:spcAft>
              <a:buClrTx/>
              <a:buSzTx/>
              <a:buFont typeface="Wingdings" panose="05000000000000000000" pitchFamily="2" charset="2"/>
              <a:buChar char="§"/>
              <a:tabLst>
                <a:tab pos="645921" algn="l"/>
              </a:tabLst>
              <a:defRPr/>
            </a:pPr>
            <a:r>
              <a:rPr kumimoji="0" lang="es-CL" sz="14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Segunda Lunes de cada mes 8:30-10:30</a:t>
            </a:r>
          </a:p>
          <a:p>
            <a:pPr marL="174625" marR="0" lvl="0" indent="-174625" algn="l" defTabSz="917637" rtl="0" eaLnBrk="1" fontAlgn="auto" latinLnBrk="0" hangingPunct="1">
              <a:lnSpc>
                <a:spcPct val="90000"/>
              </a:lnSpc>
              <a:spcBef>
                <a:spcPct val="5000"/>
              </a:spcBef>
              <a:spcAft>
                <a:spcPct val="5000"/>
              </a:spcAft>
              <a:buClrTx/>
              <a:buSzTx/>
              <a:buFont typeface="Wingdings" panose="05000000000000000000" pitchFamily="2" charset="2"/>
              <a:buChar char="§"/>
              <a:tabLst>
                <a:tab pos="645921" algn="l"/>
              </a:tabLst>
              <a:defRPr/>
            </a:pPr>
            <a:endParaRPr kumimoji="0" lang="es-CL" sz="1400" b="0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11" name="1 Rectángulo">
            <a:extLst>
              <a:ext uri="{FF2B5EF4-FFF2-40B4-BE49-F238E27FC236}">
                <a16:creationId xmlns:a16="http://schemas.microsoft.com/office/drawing/2014/main" id="{6ADD3C37-AFA7-1A63-B4F3-58F44DD2FF63}"/>
              </a:ext>
            </a:extLst>
          </p:cNvPr>
          <p:cNvSpPr/>
          <p:nvPr/>
        </p:nvSpPr>
        <p:spPr>
          <a:xfrm>
            <a:off x="4391273" y="2626676"/>
            <a:ext cx="3811433" cy="3464842"/>
          </a:xfrm>
          <a:prstGeom prst="roundRect">
            <a:avLst>
              <a:gd name="adj" fmla="val 9223"/>
            </a:avLst>
          </a:prstGeom>
          <a:solidFill>
            <a:sysClr val="window" lastClr="FFFFFF">
              <a:lumMod val="85000"/>
            </a:sysClr>
          </a:solidFill>
          <a:ln w="25400" cap="flat" cmpd="sng" algn="ctr">
            <a:noFill/>
            <a:prstDash val="solid"/>
          </a:ln>
          <a:effectLst/>
        </p:spPr>
        <p:txBody>
          <a:bodyPr lIns="36000" tIns="36000" rIns="36000" bIns="36000" rtlCol="0" anchor="t"/>
          <a:lstStyle/>
          <a:p>
            <a:pPr marR="0" lvl="0" algn="ctr" defTabSz="917637" rtl="0" eaLnBrk="1" fontAlgn="auto" latinLnBrk="0" hangingPunct="1">
              <a:lnSpc>
                <a:spcPct val="90000"/>
              </a:lnSpc>
              <a:spcBef>
                <a:spcPct val="5000"/>
              </a:spcBef>
              <a:spcAft>
                <a:spcPct val="5000"/>
              </a:spcAft>
              <a:buClrTx/>
              <a:buSzTx/>
              <a:tabLst>
                <a:tab pos="645921" algn="l"/>
              </a:tabLst>
              <a:defRPr/>
            </a:pPr>
            <a:r>
              <a:rPr kumimoji="0" lang="es-CL" sz="14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AGENDA</a:t>
            </a:r>
          </a:p>
          <a:p>
            <a:pPr marL="174625" marR="0" lvl="0" indent="-174625" algn="l" defTabSz="917637" rtl="0" eaLnBrk="1" fontAlgn="auto" latinLnBrk="0" hangingPunct="1">
              <a:lnSpc>
                <a:spcPct val="90000"/>
              </a:lnSpc>
              <a:spcBef>
                <a:spcPct val="5000"/>
              </a:spcBef>
              <a:spcAft>
                <a:spcPct val="5000"/>
              </a:spcAft>
              <a:buClrTx/>
              <a:buSzTx/>
              <a:buFont typeface="Wingdings" panose="05000000000000000000" pitchFamily="2" charset="2"/>
              <a:buChar char="§"/>
              <a:tabLst>
                <a:tab pos="645921" algn="l"/>
              </a:tabLst>
              <a:defRPr/>
            </a:pPr>
            <a:r>
              <a:rPr kumimoji="0" lang="es-CL" sz="14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Conexión</a:t>
            </a:r>
          </a:p>
          <a:p>
            <a:pPr marL="174625" marR="0" lvl="0" indent="-174625" algn="l" defTabSz="917637" rtl="0" eaLnBrk="1" fontAlgn="auto" latinLnBrk="0" hangingPunct="1">
              <a:lnSpc>
                <a:spcPct val="90000"/>
              </a:lnSpc>
              <a:spcBef>
                <a:spcPct val="5000"/>
              </a:spcBef>
              <a:spcAft>
                <a:spcPct val="5000"/>
              </a:spcAft>
              <a:buClrTx/>
              <a:buSzTx/>
              <a:buFont typeface="Wingdings" panose="05000000000000000000" pitchFamily="2" charset="2"/>
              <a:buChar char="§"/>
              <a:tabLst>
                <a:tab pos="645921" algn="l"/>
              </a:tabLst>
              <a:defRPr/>
            </a:pPr>
            <a:r>
              <a:rPr kumimoji="0" lang="es-CL" sz="14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Compromisos reunión anterior</a:t>
            </a:r>
          </a:p>
          <a:p>
            <a:pPr marL="174625" marR="0" lvl="0" indent="-174625" algn="l" defTabSz="917637" rtl="0" eaLnBrk="1" fontAlgn="auto" latinLnBrk="0" hangingPunct="1">
              <a:lnSpc>
                <a:spcPct val="90000"/>
              </a:lnSpc>
              <a:spcBef>
                <a:spcPct val="5000"/>
              </a:spcBef>
              <a:spcAft>
                <a:spcPct val="5000"/>
              </a:spcAft>
              <a:buClrTx/>
              <a:buSzTx/>
              <a:buFont typeface="Wingdings" panose="05000000000000000000" pitchFamily="2" charset="2"/>
              <a:buChar char="§"/>
              <a:tabLst>
                <a:tab pos="645921" algn="l"/>
              </a:tabLst>
              <a:defRPr/>
            </a:pPr>
            <a:r>
              <a:rPr kumimoji="0" lang="es-CL" sz="14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Decisiones a tomar durante la reunión (se presenta información solo de desviaciones).</a:t>
            </a:r>
          </a:p>
          <a:p>
            <a:pPr marL="355600" marR="0" lvl="1" indent="-174625" algn="l" defTabSz="917637" rtl="0" eaLnBrk="1" fontAlgn="auto" latinLnBrk="0" hangingPunct="1">
              <a:lnSpc>
                <a:spcPct val="90000"/>
              </a:lnSpc>
              <a:spcBef>
                <a:spcPct val="5000"/>
              </a:spcBef>
              <a:spcAft>
                <a:spcPct val="50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s-CL" sz="14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Presentación Tablero de Proyectos (cumplimiento plan, calidad entregables, calidad de la relación con cliente y experiencia del equipo).</a:t>
            </a:r>
          </a:p>
          <a:p>
            <a:pPr marL="355600" marR="0" lvl="1" indent="-174625" algn="l" defTabSz="917637" rtl="0" eaLnBrk="1" fontAlgn="auto" latinLnBrk="0" hangingPunct="1">
              <a:lnSpc>
                <a:spcPct val="90000"/>
              </a:lnSpc>
              <a:spcBef>
                <a:spcPct val="5000"/>
              </a:spcBef>
              <a:spcAft>
                <a:spcPct val="50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s-CL" sz="14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Presentación de Cargable real vs. Proyectado. </a:t>
            </a:r>
          </a:p>
          <a:p>
            <a:pPr marL="355600" marR="0" lvl="1" indent="-174625" algn="l" defTabSz="917637" rtl="0" eaLnBrk="1" fontAlgn="auto" latinLnBrk="0" hangingPunct="1">
              <a:lnSpc>
                <a:spcPct val="90000"/>
              </a:lnSpc>
              <a:spcBef>
                <a:spcPct val="5000"/>
              </a:spcBef>
              <a:spcAft>
                <a:spcPct val="50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s-CL" sz="14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Presentación Tablero Comercial.</a:t>
            </a:r>
          </a:p>
          <a:p>
            <a:pPr marL="355600" marR="0" lvl="1" indent="-174625" algn="l" defTabSz="917637" rtl="0" eaLnBrk="1" fontAlgn="auto" latinLnBrk="0" hangingPunct="1">
              <a:lnSpc>
                <a:spcPct val="90000"/>
              </a:lnSpc>
              <a:spcBef>
                <a:spcPct val="5000"/>
              </a:spcBef>
              <a:spcAft>
                <a:spcPct val="50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s-CL" sz="14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Presentación de Proyecciones Financieras. </a:t>
            </a:r>
          </a:p>
          <a:p>
            <a:pPr marL="355600" marR="0" lvl="1" indent="-174625" algn="l" defTabSz="917637" rtl="0" eaLnBrk="1" fontAlgn="auto" latinLnBrk="0" hangingPunct="1">
              <a:lnSpc>
                <a:spcPct val="90000"/>
              </a:lnSpc>
              <a:spcBef>
                <a:spcPct val="5000"/>
              </a:spcBef>
              <a:spcAft>
                <a:spcPct val="50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s-CL" sz="1400" b="0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12" name="24 Pentágono">
            <a:extLst>
              <a:ext uri="{FF2B5EF4-FFF2-40B4-BE49-F238E27FC236}">
                <a16:creationId xmlns:a16="http://schemas.microsoft.com/office/drawing/2014/main" id="{19A13214-5515-1018-551B-EFBE2CE67B57}"/>
              </a:ext>
            </a:extLst>
          </p:cNvPr>
          <p:cNvSpPr/>
          <p:nvPr/>
        </p:nvSpPr>
        <p:spPr>
          <a:xfrm>
            <a:off x="8311388" y="2626676"/>
            <a:ext cx="3660478" cy="3464842"/>
          </a:xfrm>
          <a:prstGeom prst="homePlate">
            <a:avLst>
              <a:gd name="adj" fmla="val 28427"/>
            </a:avLst>
          </a:prstGeom>
          <a:solidFill>
            <a:srgbClr val="EEECE1">
              <a:lumMod val="60000"/>
              <a:lumOff val="40000"/>
            </a:srgbClr>
          </a:solidFill>
          <a:ln w="12700" cap="flat" cmpd="sng" algn="ctr">
            <a:noFill/>
            <a:prstDash val="solid"/>
          </a:ln>
          <a:effectLst/>
        </p:spPr>
        <p:txBody>
          <a:bodyPr lIns="72000" tIns="36000" rIns="72000" bIns="36000" rtlCol="0" anchor="t"/>
          <a:lstStyle/>
          <a:p>
            <a:pPr marL="0" marR="0" lvl="0" indent="0" algn="ctr" defTabSz="686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OUTPUT</a:t>
            </a:r>
            <a:endParaRPr kumimoji="0" lang="es-ES" sz="1400" b="0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0" marR="0" lvl="0" indent="0" algn="l" defTabSz="686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Acta de Reunión con acuerdos/responsable/plazo con al menos:</a:t>
            </a:r>
          </a:p>
          <a:p>
            <a:pPr marL="285750" marR="0" lvl="0" indent="-285750" algn="l" defTabSz="686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s-MX" sz="14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Plan de acción para solucionar desviaciones.</a:t>
            </a:r>
          </a:p>
          <a:p>
            <a:pPr marL="285750" marR="0" lvl="0" indent="-285750" algn="l" defTabSz="686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s-MX" sz="14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Propuesta de aprendizajes a presentar en Comité de Proyectos.</a:t>
            </a:r>
          </a:p>
          <a:p>
            <a:pPr marL="285750" marR="0" lvl="0" indent="-285750" algn="l" defTabSz="686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s-MX" sz="14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Requerimientos a otras iniciativas.</a:t>
            </a:r>
          </a:p>
          <a:p>
            <a:pPr marL="0" marR="0" lvl="0" indent="0" algn="l" defTabSz="686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0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0" marR="0" lvl="0" indent="0" algn="l" defTabSz="686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100" b="1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D44F1DF1-6A14-B30C-1147-58D2A4319651}"/>
              </a:ext>
            </a:extLst>
          </p:cNvPr>
          <p:cNvSpPr/>
          <p:nvPr/>
        </p:nvSpPr>
        <p:spPr>
          <a:xfrm>
            <a:off x="479721" y="6190192"/>
            <a:ext cx="11351091" cy="64253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8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Mentalidad: </a:t>
            </a:r>
            <a:r>
              <a:rPr kumimoji="0" lang="es-CL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se presenta información solo para tomar la decisión, el compromiso debe ser en primera persona, pasión para que las decisiones aseguren la corrección de las desviaciones. </a:t>
            </a:r>
          </a:p>
        </p:txBody>
      </p:sp>
      <p:sp>
        <p:nvSpPr>
          <p:cNvPr id="13" name="Título 1"/>
          <p:cNvSpPr>
            <a:spLocks noGrp="1"/>
          </p:cNvSpPr>
          <p:nvPr>
            <p:ph type="title"/>
          </p:nvPr>
        </p:nvSpPr>
        <p:spPr>
          <a:xfrm>
            <a:off x="127000" y="-55691"/>
            <a:ext cx="11434542" cy="87312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/>
            </a:pPr>
            <a:r>
              <a:rPr lang="es-ES_tradnl" sz="2800" kern="12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sym typeface="Arial"/>
              </a:rPr>
              <a:t>Primer prototipo: </a:t>
            </a:r>
            <a:r>
              <a:rPr lang="es-ES_tradnl" sz="2800" kern="12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  <a:sym typeface="Arial"/>
              </a:rPr>
              <a:t>Agenda cumplimiento control de gestión mensual</a:t>
            </a:r>
          </a:p>
        </p:txBody>
      </p:sp>
    </p:spTree>
    <p:extLst>
      <p:ext uri="{BB962C8B-B14F-4D97-AF65-F5344CB8AC3E}">
        <p14:creationId xmlns:p14="http://schemas.microsoft.com/office/powerpoint/2010/main" val="2011533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866" y="918569"/>
            <a:ext cx="9220201" cy="5830421"/>
          </a:xfrm>
          <a:prstGeom prst="rect">
            <a:avLst/>
          </a:prstGeom>
        </p:spPr>
      </p:pic>
      <p:sp>
        <p:nvSpPr>
          <p:cNvPr id="3" name="Título 1"/>
          <p:cNvSpPr>
            <a:spLocks noGrp="1"/>
          </p:cNvSpPr>
          <p:nvPr>
            <p:ph type="title"/>
          </p:nvPr>
        </p:nvSpPr>
        <p:spPr>
          <a:xfrm>
            <a:off x="127000" y="45445"/>
            <a:ext cx="11434542" cy="87312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/>
            </a:pPr>
            <a:r>
              <a:rPr lang="es-ES_tradnl" sz="2800" kern="12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  <a:sym typeface="Arial"/>
              </a:rPr>
              <a:t>Resultado primer prototipo: agenda cumplimiento control de gestión mensual para REDCO</a:t>
            </a:r>
          </a:p>
        </p:txBody>
      </p:sp>
    </p:spTree>
    <p:extLst>
      <p:ext uri="{BB962C8B-B14F-4D97-AF65-F5344CB8AC3E}">
        <p14:creationId xmlns:p14="http://schemas.microsoft.com/office/powerpoint/2010/main" val="18336909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4" descr="Imagen que contiene persona, alimentos, hombre, cerca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 l="23048" r="23048"/>
          <a:stretch/>
        </p:blipFill>
        <p:spPr>
          <a:xfrm>
            <a:off x="-12504" y="0"/>
            <a:ext cx="55452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4"/>
          <p:cNvSpPr/>
          <p:nvPr/>
        </p:nvSpPr>
        <p:spPr>
          <a:xfrm>
            <a:off x="-12504" y="0"/>
            <a:ext cx="5545203" cy="6857999"/>
          </a:xfrm>
          <a:prstGeom prst="rect">
            <a:avLst/>
          </a:prstGeom>
          <a:blipFill rotWithShape="1">
            <a:blip r:embed="rId4">
              <a:alphaModFix amt="86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Calibri"/>
              <a:buNone/>
            </a:pPr>
            <a:endParaRPr sz="144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4064185" y="1801906"/>
            <a:ext cx="3243300" cy="3243300"/>
          </a:xfrm>
          <a:prstGeom prst="rect">
            <a:avLst/>
          </a:prstGeom>
          <a:solidFill>
            <a:srgbClr val="493C70"/>
          </a:solidFill>
          <a:ln w="266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7215022" y="2768228"/>
            <a:ext cx="4788732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200">
                <a:solidFill>
                  <a:srgbClr val="B3207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Desafíos de la transformación</a:t>
            </a:r>
          </a:p>
        </p:txBody>
      </p:sp>
      <p:sp>
        <p:nvSpPr>
          <p:cNvPr id="166" name="Google Shape;166;p4"/>
          <p:cNvSpPr txBox="1"/>
          <p:nvPr/>
        </p:nvSpPr>
        <p:spPr>
          <a:xfrm>
            <a:off x="4200981" y="2321953"/>
            <a:ext cx="2963748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6</a:t>
            </a:r>
            <a:endParaRPr sz="138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868924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fpLayoutConfig" hidden="1"/>
          <p:cNvSpPr txBox="1"/>
          <p:nvPr>
            <p:custDataLst>
              <p:tags r:id="rId1"/>
            </p:custDataLst>
          </p:nvPr>
        </p:nvSpPr>
        <p:spPr bwMode="gray">
          <a:xfrm>
            <a:off x="12700" y="12700"/>
            <a:ext cx="1342281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s-ES_tradnl" sz="100">
                <a:solidFill>
                  <a:srgbClr val="FFFFFF">
                    <a:alpha val="0"/>
                  </a:srgbClr>
                </a:solidFill>
              </a:rPr>
              <a:t>overall_0_132452588981076015 columns_3_132452588919605606 86_1_132452588926251120 89_1_132452588926380783 92_1_132452588926500453 95_1_132452588987620550 98_1_132452588987710581 101_1_132452588987810300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BEE8C74-6A4C-4912-A755-132524B9C41E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47560" y="-2526092"/>
            <a:ext cx="10588141" cy="873124"/>
          </a:xfrm>
        </p:spPr>
        <p:txBody>
          <a:bodyPr/>
          <a:lstStyle/>
          <a:p>
            <a:endParaRPr lang="es-ES_tradnl" sz="3200"/>
          </a:p>
        </p:txBody>
      </p:sp>
      <p:sp>
        <p:nvSpPr>
          <p:cNvPr id="5" name="Título 2">
            <a:extLst>
              <a:ext uri="{FF2B5EF4-FFF2-40B4-BE49-F238E27FC236}">
                <a16:creationId xmlns:a16="http://schemas.microsoft.com/office/drawing/2014/main" id="{333E231A-C1FA-36FF-A62C-E6795613E6A3}"/>
              </a:ext>
            </a:extLst>
          </p:cNvPr>
          <p:cNvSpPr txBox="1">
            <a:spLocks/>
          </p:cNvSpPr>
          <p:nvPr/>
        </p:nvSpPr>
        <p:spPr>
          <a:xfrm>
            <a:off x="64662" y="151154"/>
            <a:ext cx="11814849" cy="898982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El balance </a:t>
            </a:r>
            <a:r>
              <a:rPr lang="en-US" sz="2800" err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dinámico</a:t>
            </a:r>
            <a:r>
              <a:rPr lang="en-US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 de </a:t>
            </a:r>
            <a:r>
              <a:rPr lang="en-US" sz="2800" err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distintas</a:t>
            </a:r>
            <a:r>
              <a:rPr lang="en-US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n-US" sz="2800" err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mentalidades</a:t>
            </a:r>
            <a:r>
              <a:rPr lang="en-US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 y </a:t>
            </a:r>
            <a:r>
              <a:rPr lang="en-US" sz="2800" err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estilos</a:t>
            </a:r>
            <a:r>
              <a:rPr lang="en-US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 de </a:t>
            </a:r>
            <a:r>
              <a:rPr lang="en-US" sz="2800" err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trabajo</a:t>
            </a:r>
            <a:r>
              <a:rPr lang="en-US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 son claves </a:t>
            </a:r>
            <a:r>
              <a:rPr lang="en-US" sz="2800" err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en</a:t>
            </a:r>
            <a:r>
              <a:rPr lang="en-US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 las </a:t>
            </a:r>
            <a:r>
              <a:rPr lang="en-US" sz="2800" err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transformaciones</a:t>
            </a:r>
            <a:r>
              <a:rPr lang="en-US" sz="2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endParaRPr lang="es-CL" sz="280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9C5BD8AC-2522-CDDC-FEF7-71ABD34BCE82}"/>
              </a:ext>
            </a:extLst>
          </p:cNvPr>
          <p:cNvSpPr>
            <a:spLocks/>
          </p:cNvSpPr>
          <p:nvPr/>
        </p:nvSpPr>
        <p:spPr bwMode="auto">
          <a:xfrm>
            <a:off x="1208109" y="4254580"/>
            <a:ext cx="9900193" cy="29223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312"/>
              </a:cxn>
              <a:cxn ang="0">
                <a:pos x="2457" y="312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 w="2457" h="312">
                <a:moveTo>
                  <a:pt x="0" y="0"/>
                </a:moveTo>
                <a:lnTo>
                  <a:pt x="0" y="0"/>
                </a:lnTo>
                <a:lnTo>
                  <a:pt x="0" y="312"/>
                </a:lnTo>
                <a:lnTo>
                  <a:pt x="2457" y="31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C5C5C"/>
          </a:solidFill>
          <a:ln w="14" cap="rnd">
            <a:solidFill>
              <a:schemeClr val="accent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133350" indent="-133350" algn="l" defTabSz="533400" rtl="0" eaLnBrk="1" latinLnBrk="0" hangingPunct="1">
              <a:spcBef>
                <a:spcPts val="900"/>
              </a:spcBef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00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34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667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01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34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668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001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28635">
              <a:buNone/>
            </a:pPr>
            <a:endParaRPr lang="es-ES_tradnl" sz="900">
              <a:solidFill>
                <a:srgbClr val="FFFFFF"/>
              </a:solidFill>
            </a:endParaRPr>
          </a:p>
        </p:txBody>
      </p:sp>
      <p:sp>
        <p:nvSpPr>
          <p:cNvPr id="8" name="Freeform 15">
            <a:extLst>
              <a:ext uri="{FF2B5EF4-FFF2-40B4-BE49-F238E27FC236}">
                <a16:creationId xmlns:a16="http://schemas.microsoft.com/office/drawing/2014/main" id="{510E39FD-CA69-92C7-EC1D-1FE3D2DA3EC8}"/>
              </a:ext>
            </a:extLst>
          </p:cNvPr>
          <p:cNvSpPr>
            <a:spLocks/>
          </p:cNvSpPr>
          <p:nvPr/>
        </p:nvSpPr>
        <p:spPr bwMode="auto">
          <a:xfrm>
            <a:off x="1184172" y="4150670"/>
            <a:ext cx="9900193" cy="292230"/>
          </a:xfrm>
          <a:custGeom>
            <a:avLst/>
            <a:gdLst/>
            <a:ahLst/>
            <a:cxnLst>
              <a:cxn ang="0">
                <a:pos x="2457" y="312"/>
              </a:cxn>
              <a:cxn ang="0">
                <a:pos x="2457" y="312"/>
              </a:cxn>
              <a:cxn ang="0">
                <a:pos x="2457" y="0"/>
              </a:cxn>
              <a:cxn ang="0">
                <a:pos x="0" y="0"/>
              </a:cxn>
              <a:cxn ang="0">
                <a:pos x="2457" y="312"/>
              </a:cxn>
              <a:cxn ang="0">
                <a:pos x="2457" y="312"/>
              </a:cxn>
            </a:cxnLst>
            <a:rect l="0" t="0" r="r" b="b"/>
            <a:pathLst>
              <a:path w="2457" h="312">
                <a:moveTo>
                  <a:pt x="2457" y="312"/>
                </a:moveTo>
                <a:lnTo>
                  <a:pt x="2457" y="312"/>
                </a:lnTo>
                <a:lnTo>
                  <a:pt x="2457" y="0"/>
                </a:lnTo>
                <a:lnTo>
                  <a:pt x="0" y="0"/>
                </a:lnTo>
                <a:lnTo>
                  <a:pt x="2457" y="312"/>
                </a:lnTo>
                <a:lnTo>
                  <a:pt x="2457" y="312"/>
                </a:lnTo>
                <a:close/>
              </a:path>
            </a:pathLst>
          </a:custGeom>
          <a:solidFill>
            <a:srgbClr val="86A44A"/>
          </a:solidFill>
          <a:ln w="14" cap="rnd">
            <a:noFill/>
            <a:prstDash val="solid"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133350" indent="-133350" algn="l" defTabSz="533400" rtl="0" eaLnBrk="1" latinLnBrk="0" hangingPunct="1">
              <a:spcBef>
                <a:spcPts val="900"/>
              </a:spcBef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00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34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667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01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34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668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001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28635">
              <a:buNone/>
            </a:pPr>
            <a:endParaRPr lang="es-ES_tradnl" sz="900">
              <a:solidFill>
                <a:srgbClr val="FFFFFF"/>
              </a:solidFill>
            </a:endParaRPr>
          </a:p>
        </p:txBody>
      </p:sp>
      <p:cxnSp>
        <p:nvCxnSpPr>
          <p:cNvPr id="10" name="Straight Arrow Connector 32">
            <a:extLst>
              <a:ext uri="{FF2B5EF4-FFF2-40B4-BE49-F238E27FC236}">
                <a16:creationId xmlns:a16="http://schemas.microsoft.com/office/drawing/2014/main" id="{F5DA1A35-4BF7-12A1-0BAA-086726BBA30E}"/>
              </a:ext>
            </a:extLst>
          </p:cNvPr>
          <p:cNvCxnSpPr/>
          <p:nvPr/>
        </p:nvCxnSpPr>
        <p:spPr>
          <a:xfrm rot="10800000">
            <a:off x="3795664" y="4738553"/>
            <a:ext cx="2020678" cy="1375"/>
          </a:xfrm>
          <a:prstGeom prst="straightConnector1">
            <a:avLst/>
          </a:prstGeom>
          <a:ln w="57150" cap="flat" cmpd="sng" algn="ctr">
            <a:solidFill>
              <a:srgbClr val="5C5C5C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33">
            <a:extLst>
              <a:ext uri="{FF2B5EF4-FFF2-40B4-BE49-F238E27FC236}">
                <a16:creationId xmlns:a16="http://schemas.microsoft.com/office/drawing/2014/main" id="{FD24426B-5DF2-1F0D-6003-AE4AF3F1A703}"/>
              </a:ext>
            </a:extLst>
          </p:cNvPr>
          <p:cNvCxnSpPr/>
          <p:nvPr/>
        </p:nvCxnSpPr>
        <p:spPr>
          <a:xfrm>
            <a:off x="6472517" y="4738792"/>
            <a:ext cx="2095532" cy="1136"/>
          </a:xfrm>
          <a:prstGeom prst="straightConnector1">
            <a:avLst/>
          </a:prstGeom>
          <a:ln w="57150" cap="flat" cmpd="sng" algn="ctr">
            <a:solidFill>
              <a:srgbClr val="86A44A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71">
            <a:extLst>
              <a:ext uri="{FF2B5EF4-FFF2-40B4-BE49-F238E27FC236}">
                <a16:creationId xmlns:a16="http://schemas.microsoft.com/office/drawing/2014/main" id="{20928D7B-2406-051E-6E38-EB011F384524}"/>
              </a:ext>
            </a:extLst>
          </p:cNvPr>
          <p:cNvSpPr txBox="1"/>
          <p:nvPr/>
        </p:nvSpPr>
        <p:spPr>
          <a:xfrm>
            <a:off x="1358435" y="4813275"/>
            <a:ext cx="2753431" cy="423853"/>
          </a:xfrm>
          <a:prstGeom prst="rect">
            <a:avLst/>
          </a:prstGeom>
          <a:noFill/>
        </p:spPr>
        <p:txBody>
          <a:bodyPr wrap="square" lIns="68436" tIns="67361" rIns="68436" bIns="67361" rtlCol="0">
            <a:spAutoFit/>
          </a:bodyPr>
          <a:lstStyle>
            <a:defPPr>
              <a:defRPr lang="en-US"/>
            </a:defPPr>
            <a:lvl1pPr marL="133350" indent="-133350" algn="l" defTabSz="533400" rtl="0" eaLnBrk="1" latinLnBrk="0" hangingPunct="1">
              <a:spcBef>
                <a:spcPts val="900"/>
              </a:spcBef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00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34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667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01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34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668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001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728635">
              <a:buNone/>
            </a:pPr>
            <a:r>
              <a:rPr lang="es-ES_tradnl" sz="1500" b="1">
                <a:solidFill>
                  <a:srgbClr val="333333"/>
                </a:solidFill>
                <a:cs typeface="Arial" pitchFamily="34" charset="0"/>
              </a:rPr>
              <a:t>Control</a:t>
            </a:r>
          </a:p>
        </p:txBody>
      </p:sp>
      <p:sp>
        <p:nvSpPr>
          <p:cNvPr id="16" name="TextBox 72">
            <a:extLst>
              <a:ext uri="{FF2B5EF4-FFF2-40B4-BE49-F238E27FC236}">
                <a16:creationId xmlns:a16="http://schemas.microsoft.com/office/drawing/2014/main" id="{20E28058-4696-2BEE-FFC6-803B59A49ECB}"/>
              </a:ext>
            </a:extLst>
          </p:cNvPr>
          <p:cNvSpPr txBox="1"/>
          <p:nvPr/>
        </p:nvSpPr>
        <p:spPr>
          <a:xfrm>
            <a:off x="7700723" y="4809575"/>
            <a:ext cx="2753431" cy="423853"/>
          </a:xfrm>
          <a:prstGeom prst="rect">
            <a:avLst/>
          </a:prstGeom>
          <a:noFill/>
        </p:spPr>
        <p:txBody>
          <a:bodyPr wrap="square" lIns="68436" tIns="67361" rIns="68436" bIns="67361" rtlCol="0">
            <a:spAutoFit/>
          </a:bodyPr>
          <a:lstStyle>
            <a:defPPr>
              <a:defRPr lang="en-US"/>
            </a:defPPr>
            <a:lvl1pPr marL="133350" indent="-133350" algn="l" defTabSz="533400" rtl="0" eaLnBrk="1" latinLnBrk="0" hangingPunct="1">
              <a:spcBef>
                <a:spcPts val="900"/>
              </a:spcBef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00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34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667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01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34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668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001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728635">
              <a:buNone/>
            </a:pPr>
            <a:r>
              <a:rPr lang="es-ES_tradnl" sz="1500" b="1">
                <a:solidFill>
                  <a:srgbClr val="86A44A"/>
                </a:solidFill>
                <a:cs typeface="Arial" pitchFamily="34" charset="0"/>
              </a:rPr>
              <a:t>Confianza</a:t>
            </a:r>
          </a:p>
        </p:txBody>
      </p:sp>
      <p:sp>
        <p:nvSpPr>
          <p:cNvPr id="18" name="Freeform 16">
            <a:extLst>
              <a:ext uri="{FF2B5EF4-FFF2-40B4-BE49-F238E27FC236}">
                <a16:creationId xmlns:a16="http://schemas.microsoft.com/office/drawing/2014/main" id="{A7E3C033-A744-93BE-3A7C-3DB8713F8080}"/>
              </a:ext>
            </a:extLst>
          </p:cNvPr>
          <p:cNvSpPr>
            <a:spLocks/>
          </p:cNvSpPr>
          <p:nvPr/>
        </p:nvSpPr>
        <p:spPr bwMode="auto">
          <a:xfrm>
            <a:off x="5972991" y="4037666"/>
            <a:ext cx="143511" cy="636431"/>
          </a:xfrm>
          <a:custGeom>
            <a:avLst/>
            <a:gdLst/>
            <a:ahLst/>
            <a:cxnLst>
              <a:cxn ang="0">
                <a:pos x="69" y="705"/>
              </a:cxn>
              <a:cxn ang="0">
                <a:pos x="69" y="705"/>
              </a:cxn>
              <a:cxn ang="0">
                <a:pos x="0" y="705"/>
              </a:cxn>
              <a:cxn ang="0">
                <a:pos x="0" y="0"/>
              </a:cxn>
              <a:cxn ang="0">
                <a:pos x="69" y="0"/>
              </a:cxn>
              <a:cxn ang="0">
                <a:pos x="69" y="705"/>
              </a:cxn>
            </a:cxnLst>
            <a:rect l="0" t="0" r="r" b="b"/>
            <a:pathLst>
              <a:path w="69" h="705">
                <a:moveTo>
                  <a:pt x="69" y="705"/>
                </a:moveTo>
                <a:lnTo>
                  <a:pt x="69" y="705"/>
                </a:lnTo>
                <a:lnTo>
                  <a:pt x="0" y="705"/>
                </a:lnTo>
                <a:lnTo>
                  <a:pt x="0" y="0"/>
                </a:lnTo>
                <a:lnTo>
                  <a:pt x="69" y="0"/>
                </a:lnTo>
                <a:lnTo>
                  <a:pt x="69" y="705"/>
                </a:lnTo>
                <a:close/>
              </a:path>
            </a:pathLst>
          </a:custGeom>
          <a:solidFill>
            <a:srgbClr val="1064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858585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133350" indent="-133350" algn="l" defTabSz="533400" rtl="0" eaLnBrk="1" latinLnBrk="0" hangingPunct="1">
              <a:spcBef>
                <a:spcPts val="900"/>
              </a:spcBef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00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34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667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01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34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668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001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28635">
              <a:buNone/>
            </a:pPr>
            <a:endParaRPr lang="es-ES_tradnl" sz="900">
              <a:solidFill>
                <a:srgbClr val="FFFFFF"/>
              </a:solidFill>
            </a:endParaRPr>
          </a:p>
        </p:txBody>
      </p:sp>
      <p:sp>
        <p:nvSpPr>
          <p:cNvPr id="20" name="Freeform 17">
            <a:extLst>
              <a:ext uri="{FF2B5EF4-FFF2-40B4-BE49-F238E27FC236}">
                <a16:creationId xmlns:a16="http://schemas.microsoft.com/office/drawing/2014/main" id="{4F577EA5-3025-CCFE-9566-37B05969E952}"/>
              </a:ext>
            </a:extLst>
          </p:cNvPr>
          <p:cNvSpPr>
            <a:spLocks/>
          </p:cNvSpPr>
          <p:nvPr/>
        </p:nvSpPr>
        <p:spPr bwMode="auto">
          <a:xfrm>
            <a:off x="6187512" y="4037666"/>
            <a:ext cx="143511" cy="636431"/>
          </a:xfrm>
          <a:custGeom>
            <a:avLst/>
            <a:gdLst/>
            <a:ahLst/>
            <a:cxnLst>
              <a:cxn ang="0">
                <a:pos x="69" y="705"/>
              </a:cxn>
              <a:cxn ang="0">
                <a:pos x="69" y="705"/>
              </a:cxn>
              <a:cxn ang="0">
                <a:pos x="0" y="705"/>
              </a:cxn>
              <a:cxn ang="0">
                <a:pos x="0" y="0"/>
              </a:cxn>
              <a:cxn ang="0">
                <a:pos x="69" y="0"/>
              </a:cxn>
              <a:cxn ang="0">
                <a:pos x="69" y="705"/>
              </a:cxn>
            </a:cxnLst>
            <a:rect l="0" t="0" r="r" b="b"/>
            <a:pathLst>
              <a:path w="69" h="705">
                <a:moveTo>
                  <a:pt x="69" y="705"/>
                </a:moveTo>
                <a:lnTo>
                  <a:pt x="69" y="705"/>
                </a:lnTo>
                <a:lnTo>
                  <a:pt x="0" y="705"/>
                </a:lnTo>
                <a:lnTo>
                  <a:pt x="0" y="0"/>
                </a:lnTo>
                <a:lnTo>
                  <a:pt x="69" y="0"/>
                </a:lnTo>
                <a:lnTo>
                  <a:pt x="69" y="705"/>
                </a:lnTo>
                <a:close/>
              </a:path>
            </a:pathLst>
          </a:custGeom>
          <a:solidFill>
            <a:srgbClr val="1064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858585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133350" indent="-133350" algn="l" defTabSz="533400" rtl="0" eaLnBrk="1" latinLnBrk="0" hangingPunct="1">
              <a:spcBef>
                <a:spcPts val="900"/>
              </a:spcBef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00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34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667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01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34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668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001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28635">
              <a:buNone/>
            </a:pPr>
            <a:endParaRPr lang="es-ES_tradnl" sz="900">
              <a:solidFill>
                <a:srgbClr val="FFFFFF"/>
              </a:solidFill>
            </a:endParaRPr>
          </a:p>
        </p:txBody>
      </p:sp>
      <p:sp>
        <p:nvSpPr>
          <p:cNvPr id="24" name="btfpBulletedList361510">
            <a:extLst>
              <a:ext uri="{FF2B5EF4-FFF2-40B4-BE49-F238E27FC236}">
                <a16:creationId xmlns:a16="http://schemas.microsoft.com/office/drawing/2014/main" id="{88C6B154-E806-A95A-5903-DC0CA8F7F1DB}"/>
              </a:ext>
            </a:extLst>
          </p:cNvPr>
          <p:cNvSpPr txBox="1"/>
          <p:nvPr/>
        </p:nvSpPr>
        <p:spPr>
          <a:xfrm>
            <a:off x="8142992" y="3652637"/>
            <a:ext cx="2998371" cy="782428"/>
          </a:xfrm>
          <a:prstGeom prst="rect">
            <a:avLst/>
          </a:prstGeom>
          <a:noFill/>
        </p:spPr>
        <p:txBody>
          <a:bodyPr vert="horz" wrap="square" lIns="34290" rIns="34290" rtlCol="0" anchor="t">
            <a:noAutofit/>
          </a:bodyPr>
          <a:lstStyle>
            <a:defPPr>
              <a:defRPr lang="en-US"/>
            </a:defPPr>
            <a:lvl1pPr marL="133350" indent="-133350" algn="l" defTabSz="533400" rtl="0" eaLnBrk="1" latinLnBrk="0" hangingPunct="1">
              <a:spcBef>
                <a:spcPts val="900"/>
              </a:spcBef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00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34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667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01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34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668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001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ES_tradnl" sz="1400">
              <a:solidFill>
                <a:srgbClr val="36424A"/>
              </a:solidFill>
            </a:endParaRPr>
          </a:p>
        </p:txBody>
      </p:sp>
      <p:cxnSp>
        <p:nvCxnSpPr>
          <p:cNvPr id="28" name="Straight Connector 65">
            <a:extLst>
              <a:ext uri="{FF2B5EF4-FFF2-40B4-BE49-F238E27FC236}">
                <a16:creationId xmlns:a16="http://schemas.microsoft.com/office/drawing/2014/main" id="{CA2E3CBD-50CF-BCB4-B1BA-694FE66F63BC}"/>
              </a:ext>
            </a:extLst>
          </p:cNvPr>
          <p:cNvCxnSpPr/>
          <p:nvPr/>
        </p:nvCxnSpPr>
        <p:spPr>
          <a:xfrm>
            <a:off x="7906610" y="2031932"/>
            <a:ext cx="0" cy="1584642"/>
          </a:xfrm>
          <a:prstGeom prst="line">
            <a:avLst/>
          </a:prstGeom>
          <a:ln w="9525" cap="flat" cmpd="sng" algn="ctr">
            <a:solidFill>
              <a:srgbClr val="85858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btfpColumnHeaderBox203542">
            <a:extLst>
              <a:ext uri="{FF2B5EF4-FFF2-40B4-BE49-F238E27FC236}">
                <a16:creationId xmlns:a16="http://schemas.microsoft.com/office/drawing/2014/main" id="{4A18014E-5762-5FAD-CFA9-C0D8779E3059}"/>
              </a:ext>
            </a:extLst>
          </p:cNvPr>
          <p:cNvGrpSpPr/>
          <p:nvPr/>
        </p:nvGrpSpPr>
        <p:grpSpPr>
          <a:xfrm>
            <a:off x="1105285" y="1490353"/>
            <a:ext cx="3006580" cy="321872"/>
            <a:chOff x="330200" y="1214448"/>
            <a:chExt cx="3483504" cy="371465"/>
          </a:xfrm>
        </p:grpSpPr>
        <p:sp>
          <p:nvSpPr>
            <p:cNvPr id="30" name="btfpColumnHeaderBoxText203542">
              <a:extLst>
                <a:ext uri="{FF2B5EF4-FFF2-40B4-BE49-F238E27FC236}">
                  <a16:creationId xmlns:a16="http://schemas.microsoft.com/office/drawing/2014/main" id="{A5E32C1E-B2FA-DA81-0E73-5A581D40556F}"/>
                </a:ext>
              </a:extLst>
            </p:cNvPr>
            <p:cNvSpPr txBox="1"/>
            <p:nvPr/>
          </p:nvSpPr>
          <p:spPr bwMode="gray">
            <a:xfrm>
              <a:off x="330200" y="1214448"/>
              <a:ext cx="3483504" cy="368147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>
              <a:defPPr>
                <a:defRPr lang="en-US"/>
              </a:defPPr>
              <a:lvl1pPr marL="133350" indent="-133350" algn="l" defTabSz="533400" rtl="0" eaLnBrk="1" latinLnBrk="0" hangingPunct="1">
                <a:spcBef>
                  <a:spcPts val="900"/>
                </a:spcBef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66700" indent="-133350" algn="l" defTabSz="533400" rtl="0" eaLnBrk="1" latinLnBrk="0" hangingPunct="1">
                <a:spcBef>
                  <a:spcPts val="450"/>
                </a:spcBef>
                <a:buChar char="–"/>
                <a:defRPr sz="10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00050" indent="-133350" algn="l" defTabSz="533400" rtl="0" eaLnBrk="1" latinLnBrk="0" hangingPunct="1">
                <a:spcBef>
                  <a:spcPts val="450"/>
                </a:spcBef>
                <a:buChar char="&gt;"/>
                <a:defRPr sz="10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3400" indent="-133350" algn="l" defTabSz="533400" rtl="0" eaLnBrk="1" latinLnBrk="0" hangingPunct="1">
                <a:spcBef>
                  <a:spcPts val="450"/>
                </a:spcBef>
                <a:buChar char="–"/>
                <a:defRPr sz="10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66750" indent="-133350" algn="l" defTabSz="533400" rtl="0" eaLnBrk="1" latinLnBrk="0" hangingPunct="1">
                <a:spcBef>
                  <a:spcPts val="450"/>
                </a:spcBef>
                <a:buChar char="&gt;"/>
                <a:defRPr sz="10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00100" indent="-133350" algn="l" defTabSz="533400" rtl="0" eaLnBrk="1" latinLnBrk="0" hangingPunct="1">
                <a:defRPr sz="10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933450" indent="-133350" algn="l" defTabSz="533400" rtl="0" eaLnBrk="1" latinLnBrk="0" hangingPunct="1">
                <a:defRPr sz="10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066800" indent="-133350" algn="l" defTabSz="533400" rtl="0" eaLnBrk="1" latinLnBrk="0" hangingPunct="1">
                <a:defRPr sz="10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00150" indent="-133350" algn="l" defTabSz="533400" rtl="0" eaLnBrk="1" latinLnBrk="0" hangingPunct="1">
                <a:defRPr sz="10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None/>
              </a:pPr>
              <a:r>
                <a:rPr lang="en-US" sz="1600" b="1" err="1">
                  <a:solidFill>
                    <a:srgbClr val="000000"/>
                  </a:solidFill>
                </a:rPr>
                <a:t>Cumplimiento</a:t>
              </a:r>
              <a:r>
                <a:rPr lang="en-US" sz="1600" b="1">
                  <a:solidFill>
                    <a:srgbClr val="000000"/>
                  </a:solidFill>
                </a:rPr>
                <a:t> </a:t>
              </a:r>
              <a:endParaRPr lang="es-ES_tradnl" sz="1600" b="1">
                <a:solidFill>
                  <a:srgbClr val="000000"/>
                </a:solidFill>
              </a:endParaRPr>
            </a:p>
          </p:txBody>
        </p:sp>
        <p:cxnSp>
          <p:nvCxnSpPr>
            <p:cNvPr id="31" name="btfpColumnHeaderBoxLine203542">
              <a:extLst>
                <a:ext uri="{FF2B5EF4-FFF2-40B4-BE49-F238E27FC236}">
                  <a16:creationId xmlns:a16="http://schemas.microsoft.com/office/drawing/2014/main" id="{86E4FE26-B828-46AA-D2A8-C03E0629D804}"/>
                </a:ext>
              </a:extLst>
            </p:cNvPr>
            <p:cNvCxnSpPr/>
            <p:nvPr/>
          </p:nvCxnSpPr>
          <p:spPr bwMode="gray">
            <a:xfrm>
              <a:off x="330200" y="1585913"/>
              <a:ext cx="3483504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btfpColumnHeaderBox753212">
            <a:extLst>
              <a:ext uri="{FF2B5EF4-FFF2-40B4-BE49-F238E27FC236}">
                <a16:creationId xmlns:a16="http://schemas.microsoft.com/office/drawing/2014/main" id="{0E36E5CE-181F-D022-0B2F-7CD69298A9E1}"/>
              </a:ext>
            </a:extLst>
          </p:cNvPr>
          <p:cNvGrpSpPr/>
          <p:nvPr/>
        </p:nvGrpSpPr>
        <p:grpSpPr>
          <a:xfrm>
            <a:off x="4605211" y="1490353"/>
            <a:ext cx="3057145" cy="321872"/>
            <a:chOff x="4354248" y="1214448"/>
            <a:chExt cx="3483504" cy="371465"/>
          </a:xfrm>
        </p:grpSpPr>
        <p:sp>
          <p:nvSpPr>
            <p:cNvPr id="34" name="btfpColumnHeaderBoxText753212">
              <a:extLst>
                <a:ext uri="{FF2B5EF4-FFF2-40B4-BE49-F238E27FC236}">
                  <a16:creationId xmlns:a16="http://schemas.microsoft.com/office/drawing/2014/main" id="{787D6FB9-958A-7019-2883-A2B20A46A20F}"/>
                </a:ext>
              </a:extLst>
            </p:cNvPr>
            <p:cNvSpPr txBox="1"/>
            <p:nvPr/>
          </p:nvSpPr>
          <p:spPr bwMode="gray">
            <a:xfrm>
              <a:off x="4354248" y="1214448"/>
              <a:ext cx="3483504" cy="368147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>
              <a:defPPr>
                <a:defRPr lang="en-US"/>
              </a:defPPr>
              <a:lvl1pPr marL="133350" indent="-133350" algn="l" defTabSz="533400" rtl="0" eaLnBrk="1" latinLnBrk="0" hangingPunct="1">
                <a:spcBef>
                  <a:spcPts val="900"/>
                </a:spcBef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66700" indent="-133350" algn="l" defTabSz="533400" rtl="0" eaLnBrk="1" latinLnBrk="0" hangingPunct="1">
                <a:spcBef>
                  <a:spcPts val="450"/>
                </a:spcBef>
                <a:buChar char="–"/>
                <a:defRPr sz="10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00050" indent="-133350" algn="l" defTabSz="533400" rtl="0" eaLnBrk="1" latinLnBrk="0" hangingPunct="1">
                <a:spcBef>
                  <a:spcPts val="450"/>
                </a:spcBef>
                <a:buChar char="&gt;"/>
                <a:defRPr sz="10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3400" indent="-133350" algn="l" defTabSz="533400" rtl="0" eaLnBrk="1" latinLnBrk="0" hangingPunct="1">
                <a:spcBef>
                  <a:spcPts val="450"/>
                </a:spcBef>
                <a:buChar char="–"/>
                <a:defRPr sz="10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66750" indent="-133350" algn="l" defTabSz="533400" rtl="0" eaLnBrk="1" latinLnBrk="0" hangingPunct="1">
                <a:spcBef>
                  <a:spcPts val="450"/>
                </a:spcBef>
                <a:buChar char="&gt;"/>
                <a:defRPr sz="10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00100" indent="-133350" algn="l" defTabSz="533400" rtl="0" eaLnBrk="1" latinLnBrk="0" hangingPunct="1">
                <a:defRPr sz="10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933450" indent="-133350" algn="l" defTabSz="533400" rtl="0" eaLnBrk="1" latinLnBrk="0" hangingPunct="1">
                <a:defRPr sz="10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066800" indent="-133350" algn="l" defTabSz="533400" rtl="0" eaLnBrk="1" latinLnBrk="0" hangingPunct="1">
                <a:defRPr sz="10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00150" indent="-133350" algn="l" defTabSz="533400" rtl="0" eaLnBrk="1" latinLnBrk="0" hangingPunct="1">
                <a:defRPr sz="10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None/>
              </a:pPr>
              <a:r>
                <a:rPr lang="en-US" sz="1600" b="1">
                  <a:solidFill>
                    <a:srgbClr val="000000"/>
                  </a:solidFill>
                </a:rPr>
                <a:t>Transición </a:t>
              </a:r>
              <a:r>
                <a:rPr lang="es-ES_tradnl" sz="1600" b="1">
                  <a:solidFill>
                    <a:srgbClr val="000000"/>
                  </a:solidFill>
                </a:rPr>
                <a:t> </a:t>
              </a:r>
            </a:p>
          </p:txBody>
        </p:sp>
        <p:cxnSp>
          <p:nvCxnSpPr>
            <p:cNvPr id="35" name="btfpColumnHeaderBoxLine753212">
              <a:extLst>
                <a:ext uri="{FF2B5EF4-FFF2-40B4-BE49-F238E27FC236}">
                  <a16:creationId xmlns:a16="http://schemas.microsoft.com/office/drawing/2014/main" id="{E80A7988-B75E-2B4C-8337-352758747090}"/>
                </a:ext>
              </a:extLst>
            </p:cNvPr>
            <p:cNvCxnSpPr/>
            <p:nvPr/>
          </p:nvCxnSpPr>
          <p:spPr bwMode="gray">
            <a:xfrm>
              <a:off x="4354248" y="1585913"/>
              <a:ext cx="3483504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btfpColumnHeaderBox609624">
            <a:extLst>
              <a:ext uri="{FF2B5EF4-FFF2-40B4-BE49-F238E27FC236}">
                <a16:creationId xmlns:a16="http://schemas.microsoft.com/office/drawing/2014/main" id="{3932888F-C414-8450-D06B-EF26DA241711}"/>
              </a:ext>
            </a:extLst>
          </p:cNvPr>
          <p:cNvGrpSpPr/>
          <p:nvPr/>
        </p:nvGrpSpPr>
        <p:grpSpPr>
          <a:xfrm>
            <a:off x="8153725" y="1490353"/>
            <a:ext cx="2987639" cy="321872"/>
            <a:chOff x="8378296" y="1214448"/>
            <a:chExt cx="3483504" cy="371465"/>
          </a:xfrm>
        </p:grpSpPr>
        <p:sp>
          <p:nvSpPr>
            <p:cNvPr id="38" name="btfpColumnHeaderBoxText609624">
              <a:extLst>
                <a:ext uri="{FF2B5EF4-FFF2-40B4-BE49-F238E27FC236}">
                  <a16:creationId xmlns:a16="http://schemas.microsoft.com/office/drawing/2014/main" id="{5C49843D-8144-B9D0-E1BF-0B0AD7DD9774}"/>
                </a:ext>
              </a:extLst>
            </p:cNvPr>
            <p:cNvSpPr txBox="1"/>
            <p:nvPr/>
          </p:nvSpPr>
          <p:spPr bwMode="gray">
            <a:xfrm>
              <a:off x="8378296" y="1214448"/>
              <a:ext cx="3483504" cy="368147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>
              <a:defPPr>
                <a:defRPr lang="en-US"/>
              </a:defPPr>
              <a:lvl1pPr marL="133350" indent="-133350" algn="l" defTabSz="533400" rtl="0" eaLnBrk="1" latinLnBrk="0" hangingPunct="1">
                <a:spcBef>
                  <a:spcPts val="900"/>
                </a:spcBef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66700" indent="-133350" algn="l" defTabSz="533400" rtl="0" eaLnBrk="1" latinLnBrk="0" hangingPunct="1">
                <a:spcBef>
                  <a:spcPts val="450"/>
                </a:spcBef>
                <a:buChar char="–"/>
                <a:defRPr sz="10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00050" indent="-133350" algn="l" defTabSz="533400" rtl="0" eaLnBrk="1" latinLnBrk="0" hangingPunct="1">
                <a:spcBef>
                  <a:spcPts val="450"/>
                </a:spcBef>
                <a:buChar char="&gt;"/>
                <a:defRPr sz="10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3400" indent="-133350" algn="l" defTabSz="533400" rtl="0" eaLnBrk="1" latinLnBrk="0" hangingPunct="1">
                <a:spcBef>
                  <a:spcPts val="450"/>
                </a:spcBef>
                <a:buChar char="–"/>
                <a:defRPr sz="10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66750" indent="-133350" algn="l" defTabSz="533400" rtl="0" eaLnBrk="1" latinLnBrk="0" hangingPunct="1">
                <a:spcBef>
                  <a:spcPts val="450"/>
                </a:spcBef>
                <a:buChar char="&gt;"/>
                <a:defRPr sz="10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00100" indent="-133350" algn="l" defTabSz="533400" rtl="0" eaLnBrk="1" latinLnBrk="0" hangingPunct="1">
                <a:defRPr sz="10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933450" indent="-133350" algn="l" defTabSz="533400" rtl="0" eaLnBrk="1" latinLnBrk="0" hangingPunct="1">
                <a:defRPr sz="10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066800" indent="-133350" algn="l" defTabSz="533400" rtl="0" eaLnBrk="1" latinLnBrk="0" hangingPunct="1">
                <a:defRPr sz="10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00150" indent="-133350" algn="l" defTabSz="533400" rtl="0" eaLnBrk="1" latinLnBrk="0" hangingPunct="1">
                <a:defRPr sz="10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None/>
              </a:pPr>
              <a:r>
                <a:rPr lang="en-US" sz="1600" b="1">
                  <a:solidFill>
                    <a:srgbClr val="000000"/>
                  </a:solidFill>
                </a:rPr>
                <a:t>Desarrollo </a:t>
              </a:r>
              <a:endParaRPr lang="es-ES_tradnl" sz="1600" b="1">
                <a:solidFill>
                  <a:srgbClr val="000000"/>
                </a:solidFill>
              </a:endParaRPr>
            </a:p>
          </p:txBody>
        </p:sp>
        <p:cxnSp>
          <p:nvCxnSpPr>
            <p:cNvPr id="39" name="btfpColumnHeaderBoxLine609624">
              <a:extLst>
                <a:ext uri="{FF2B5EF4-FFF2-40B4-BE49-F238E27FC236}">
                  <a16:creationId xmlns:a16="http://schemas.microsoft.com/office/drawing/2014/main" id="{F513FF47-B037-E704-2402-09CA1ACC6161}"/>
                </a:ext>
              </a:extLst>
            </p:cNvPr>
            <p:cNvCxnSpPr/>
            <p:nvPr/>
          </p:nvCxnSpPr>
          <p:spPr bwMode="gray">
            <a:xfrm>
              <a:off x="8378296" y="1585913"/>
              <a:ext cx="3483504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tangle 78">
            <a:extLst>
              <a:ext uri="{FF2B5EF4-FFF2-40B4-BE49-F238E27FC236}">
                <a16:creationId xmlns:a16="http://schemas.microsoft.com/office/drawing/2014/main" id="{1E0AD5FB-8F38-7A94-A37A-EB8BAB39DE99}"/>
              </a:ext>
            </a:extLst>
          </p:cNvPr>
          <p:cNvSpPr/>
          <p:nvPr/>
        </p:nvSpPr>
        <p:spPr>
          <a:xfrm>
            <a:off x="1320604" y="2480517"/>
            <a:ext cx="2630771" cy="1018944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5C5C5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9849" tIns="19849" rIns="19849" bIns="19849" rtlCol="0" anchor="ctr"/>
          <a:lstStyle>
            <a:defPPr>
              <a:defRPr lang="en-US"/>
            </a:defPPr>
            <a:lvl1pPr marL="133350" indent="-133350" algn="l" defTabSz="533400" rtl="0" eaLnBrk="1" latinLnBrk="0" hangingPunct="1">
              <a:spcBef>
                <a:spcPts val="900"/>
              </a:spcBef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2667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00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334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6667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800100" indent="-133350" algn="l" defTabSz="533400" rtl="0" eaLnBrk="1" latinLnBrk="0" hangingPunct="1"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33450" indent="-133350" algn="l" defTabSz="533400" rtl="0" eaLnBrk="1" latinLnBrk="0" hangingPunct="1"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066800" indent="-133350" algn="l" defTabSz="533400" rtl="0" eaLnBrk="1" latinLnBrk="0" hangingPunct="1"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200150" indent="-133350" algn="l" defTabSz="533400" rtl="0" eaLnBrk="1" latinLnBrk="0" hangingPunct="1"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_tradnl" sz="992">
              <a:solidFill>
                <a:srgbClr val="858585"/>
              </a:solidFill>
            </a:endParaRPr>
          </a:p>
        </p:txBody>
      </p:sp>
      <p:cxnSp>
        <p:nvCxnSpPr>
          <p:cNvPr id="44" name="Straight Connector 79">
            <a:extLst>
              <a:ext uri="{FF2B5EF4-FFF2-40B4-BE49-F238E27FC236}">
                <a16:creationId xmlns:a16="http://schemas.microsoft.com/office/drawing/2014/main" id="{84FA5F92-2DB4-AF50-0529-844A9AFF7D42}"/>
              </a:ext>
            </a:extLst>
          </p:cNvPr>
          <p:cNvCxnSpPr/>
          <p:nvPr/>
        </p:nvCxnSpPr>
        <p:spPr bwMode="gray">
          <a:xfrm>
            <a:off x="2659807" y="2838135"/>
            <a:ext cx="97350" cy="301240"/>
          </a:xfrm>
          <a:prstGeom prst="line">
            <a:avLst/>
          </a:prstGeom>
          <a:ln w="12700" cap="flat" cmpd="sng" algn="ctr">
            <a:solidFill>
              <a:srgbClr val="5C5C5C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82">
            <a:extLst>
              <a:ext uri="{FF2B5EF4-FFF2-40B4-BE49-F238E27FC236}">
                <a16:creationId xmlns:a16="http://schemas.microsoft.com/office/drawing/2014/main" id="{09302B7E-BF40-FFD5-E134-62F06831255E}"/>
              </a:ext>
            </a:extLst>
          </p:cNvPr>
          <p:cNvCxnSpPr/>
          <p:nvPr/>
        </p:nvCxnSpPr>
        <p:spPr bwMode="gray">
          <a:xfrm>
            <a:off x="2625453" y="2800720"/>
            <a:ext cx="376395" cy="338655"/>
          </a:xfrm>
          <a:prstGeom prst="line">
            <a:avLst/>
          </a:prstGeom>
          <a:ln w="12700" cap="flat" cmpd="sng" algn="ctr">
            <a:solidFill>
              <a:srgbClr val="5C5C5C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83">
            <a:extLst>
              <a:ext uri="{FF2B5EF4-FFF2-40B4-BE49-F238E27FC236}">
                <a16:creationId xmlns:a16="http://schemas.microsoft.com/office/drawing/2014/main" id="{663B3122-770F-22B9-6125-9077B1F8E4B4}"/>
              </a:ext>
            </a:extLst>
          </p:cNvPr>
          <p:cNvCxnSpPr/>
          <p:nvPr/>
        </p:nvCxnSpPr>
        <p:spPr bwMode="gray">
          <a:xfrm>
            <a:off x="2580515" y="2787265"/>
            <a:ext cx="635529" cy="357860"/>
          </a:xfrm>
          <a:prstGeom prst="line">
            <a:avLst/>
          </a:prstGeom>
          <a:ln w="12700" cap="flat" cmpd="sng" algn="ctr">
            <a:solidFill>
              <a:srgbClr val="5C5C5C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84">
            <a:extLst>
              <a:ext uri="{FF2B5EF4-FFF2-40B4-BE49-F238E27FC236}">
                <a16:creationId xmlns:a16="http://schemas.microsoft.com/office/drawing/2014/main" id="{00636676-7052-5F54-291A-5F38A69AEC58}"/>
              </a:ext>
            </a:extLst>
          </p:cNvPr>
          <p:cNvCxnSpPr/>
          <p:nvPr/>
        </p:nvCxnSpPr>
        <p:spPr bwMode="gray">
          <a:xfrm flipH="1">
            <a:off x="2531769" y="2838135"/>
            <a:ext cx="97350" cy="301240"/>
          </a:xfrm>
          <a:prstGeom prst="line">
            <a:avLst/>
          </a:prstGeom>
          <a:ln w="12700" cap="flat" cmpd="sng" algn="ctr">
            <a:solidFill>
              <a:srgbClr val="5C5C5C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85">
            <a:extLst>
              <a:ext uri="{FF2B5EF4-FFF2-40B4-BE49-F238E27FC236}">
                <a16:creationId xmlns:a16="http://schemas.microsoft.com/office/drawing/2014/main" id="{67138F6B-6EED-7C9F-A41A-4A29A8594839}"/>
              </a:ext>
            </a:extLst>
          </p:cNvPr>
          <p:cNvCxnSpPr/>
          <p:nvPr/>
        </p:nvCxnSpPr>
        <p:spPr bwMode="gray">
          <a:xfrm flipH="1">
            <a:off x="2281098" y="2800720"/>
            <a:ext cx="376395" cy="338655"/>
          </a:xfrm>
          <a:prstGeom prst="line">
            <a:avLst/>
          </a:prstGeom>
          <a:ln w="12700" cap="flat" cmpd="sng" algn="ctr">
            <a:solidFill>
              <a:srgbClr val="5C5C5C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86">
            <a:extLst>
              <a:ext uri="{FF2B5EF4-FFF2-40B4-BE49-F238E27FC236}">
                <a16:creationId xmlns:a16="http://schemas.microsoft.com/office/drawing/2014/main" id="{AC003CCB-EFA6-F3C9-1488-AF9E6D53BA17}"/>
              </a:ext>
            </a:extLst>
          </p:cNvPr>
          <p:cNvCxnSpPr/>
          <p:nvPr/>
        </p:nvCxnSpPr>
        <p:spPr bwMode="gray">
          <a:xfrm flipH="1">
            <a:off x="2071579" y="2787265"/>
            <a:ext cx="635529" cy="357860"/>
          </a:xfrm>
          <a:prstGeom prst="line">
            <a:avLst/>
          </a:prstGeom>
          <a:ln w="12700" cap="flat" cmpd="sng" algn="ctr">
            <a:solidFill>
              <a:srgbClr val="5C5C5C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Freeform 10">
            <a:extLst>
              <a:ext uri="{FF2B5EF4-FFF2-40B4-BE49-F238E27FC236}">
                <a16:creationId xmlns:a16="http://schemas.microsoft.com/office/drawing/2014/main" id="{19284319-3A17-04C8-D921-4809B2F1ED6B}"/>
              </a:ext>
            </a:extLst>
          </p:cNvPr>
          <p:cNvSpPr>
            <a:spLocks/>
          </p:cNvSpPr>
          <p:nvPr/>
        </p:nvSpPr>
        <p:spPr bwMode="auto">
          <a:xfrm>
            <a:off x="2443513" y="3095588"/>
            <a:ext cx="155750" cy="148606"/>
          </a:xfrm>
          <a:custGeom>
            <a:avLst/>
            <a:gdLst/>
            <a:ahLst/>
            <a:cxnLst>
              <a:cxn ang="0">
                <a:pos x="207" y="120"/>
              </a:cxn>
              <a:cxn ang="0">
                <a:pos x="207" y="120"/>
              </a:cxn>
              <a:cxn ang="0">
                <a:pos x="104" y="240"/>
              </a:cxn>
              <a:cxn ang="0">
                <a:pos x="0" y="120"/>
              </a:cxn>
              <a:cxn ang="0">
                <a:pos x="104" y="0"/>
              </a:cxn>
              <a:cxn ang="0">
                <a:pos x="207" y="120"/>
              </a:cxn>
            </a:cxnLst>
            <a:rect l="0" t="0" r="r" b="b"/>
            <a:pathLst>
              <a:path w="207" h="240">
                <a:moveTo>
                  <a:pt x="207" y="120"/>
                </a:moveTo>
                <a:lnTo>
                  <a:pt x="207" y="120"/>
                </a:lnTo>
                <a:cubicBezTo>
                  <a:pt x="207" y="187"/>
                  <a:pt x="161" y="240"/>
                  <a:pt x="104" y="240"/>
                </a:cubicBezTo>
                <a:cubicBezTo>
                  <a:pt x="46" y="240"/>
                  <a:pt x="0" y="187"/>
                  <a:pt x="0" y="120"/>
                </a:cubicBezTo>
                <a:cubicBezTo>
                  <a:pt x="0" y="54"/>
                  <a:pt x="46" y="0"/>
                  <a:pt x="104" y="0"/>
                </a:cubicBezTo>
                <a:cubicBezTo>
                  <a:pt x="161" y="0"/>
                  <a:pt x="207" y="54"/>
                  <a:pt x="207" y="120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5C5C5C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48923" tIns="24462" rIns="48923" bIns="24462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133350" indent="-133350" algn="l" defTabSz="533400" rtl="0" eaLnBrk="1" latinLnBrk="0" hangingPunct="1">
              <a:spcBef>
                <a:spcPts val="900"/>
              </a:spcBef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00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34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667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01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34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668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001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19834"/>
            <a:endParaRPr lang="es-ES_tradnl" sz="963">
              <a:solidFill>
                <a:srgbClr val="000000"/>
              </a:solidFill>
            </a:endParaRPr>
          </a:p>
        </p:txBody>
      </p:sp>
      <p:sp>
        <p:nvSpPr>
          <p:cNvPr id="58" name="Freeform 5">
            <a:extLst>
              <a:ext uri="{FF2B5EF4-FFF2-40B4-BE49-F238E27FC236}">
                <a16:creationId xmlns:a16="http://schemas.microsoft.com/office/drawing/2014/main" id="{11DF47E6-145A-FB87-128F-0A3DF12DD1DC}"/>
              </a:ext>
            </a:extLst>
          </p:cNvPr>
          <p:cNvSpPr>
            <a:spLocks/>
          </p:cNvSpPr>
          <p:nvPr/>
        </p:nvSpPr>
        <p:spPr bwMode="auto">
          <a:xfrm>
            <a:off x="2525703" y="2725556"/>
            <a:ext cx="252541" cy="123416"/>
          </a:xfrm>
          <a:custGeom>
            <a:avLst/>
            <a:gdLst/>
            <a:ahLst/>
            <a:cxnLst>
              <a:cxn ang="0">
                <a:pos x="353" y="182"/>
              </a:cxn>
              <a:cxn ang="0">
                <a:pos x="353" y="182"/>
              </a:cxn>
              <a:cxn ang="0">
                <a:pos x="0" y="182"/>
              </a:cxn>
              <a:cxn ang="0">
                <a:pos x="0" y="0"/>
              </a:cxn>
              <a:cxn ang="0">
                <a:pos x="353" y="0"/>
              </a:cxn>
              <a:cxn ang="0">
                <a:pos x="353" y="182"/>
              </a:cxn>
            </a:cxnLst>
            <a:rect l="0" t="0" r="r" b="b"/>
            <a:pathLst>
              <a:path w="353" h="182">
                <a:moveTo>
                  <a:pt x="353" y="182"/>
                </a:moveTo>
                <a:lnTo>
                  <a:pt x="353" y="182"/>
                </a:lnTo>
                <a:lnTo>
                  <a:pt x="0" y="182"/>
                </a:lnTo>
                <a:lnTo>
                  <a:pt x="0" y="0"/>
                </a:lnTo>
                <a:lnTo>
                  <a:pt x="353" y="0"/>
                </a:lnTo>
                <a:lnTo>
                  <a:pt x="353" y="182"/>
                </a:lnTo>
                <a:close/>
              </a:path>
            </a:pathLst>
          </a:custGeom>
          <a:solidFill>
            <a:srgbClr val="5C5C5C"/>
          </a:solidFill>
          <a:ln w="12700" cap="flat" cmpd="sng" algn="ctr">
            <a:solidFill>
              <a:srgbClr val="5C5C5C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48923" tIns="24462" rIns="48923" bIns="24462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133350" indent="-133350" algn="l" defTabSz="533400" rtl="0" eaLnBrk="1" latinLnBrk="0" hangingPunct="1">
              <a:spcBef>
                <a:spcPts val="900"/>
              </a:spcBef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00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34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667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01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34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668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001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19834"/>
            <a:endParaRPr lang="es-ES_tradnl" sz="963">
              <a:solidFill>
                <a:srgbClr val="FFFFFF"/>
              </a:solidFill>
            </a:endParaRPr>
          </a:p>
        </p:txBody>
      </p:sp>
      <p:sp>
        <p:nvSpPr>
          <p:cNvPr id="60" name="Freeform 10">
            <a:extLst>
              <a:ext uri="{FF2B5EF4-FFF2-40B4-BE49-F238E27FC236}">
                <a16:creationId xmlns:a16="http://schemas.microsoft.com/office/drawing/2014/main" id="{7B85ECB5-289D-989C-B969-E3ED7EBFA819}"/>
              </a:ext>
            </a:extLst>
          </p:cNvPr>
          <p:cNvSpPr>
            <a:spLocks/>
          </p:cNvSpPr>
          <p:nvPr/>
        </p:nvSpPr>
        <p:spPr bwMode="auto">
          <a:xfrm>
            <a:off x="2685009" y="3095588"/>
            <a:ext cx="155750" cy="148606"/>
          </a:xfrm>
          <a:custGeom>
            <a:avLst/>
            <a:gdLst/>
            <a:ahLst/>
            <a:cxnLst>
              <a:cxn ang="0">
                <a:pos x="207" y="120"/>
              </a:cxn>
              <a:cxn ang="0">
                <a:pos x="207" y="120"/>
              </a:cxn>
              <a:cxn ang="0">
                <a:pos x="104" y="240"/>
              </a:cxn>
              <a:cxn ang="0">
                <a:pos x="0" y="120"/>
              </a:cxn>
              <a:cxn ang="0">
                <a:pos x="104" y="0"/>
              </a:cxn>
              <a:cxn ang="0">
                <a:pos x="207" y="120"/>
              </a:cxn>
            </a:cxnLst>
            <a:rect l="0" t="0" r="r" b="b"/>
            <a:pathLst>
              <a:path w="207" h="240">
                <a:moveTo>
                  <a:pt x="207" y="120"/>
                </a:moveTo>
                <a:lnTo>
                  <a:pt x="207" y="120"/>
                </a:lnTo>
                <a:cubicBezTo>
                  <a:pt x="207" y="187"/>
                  <a:pt x="161" y="240"/>
                  <a:pt x="104" y="240"/>
                </a:cubicBezTo>
                <a:cubicBezTo>
                  <a:pt x="46" y="240"/>
                  <a:pt x="0" y="187"/>
                  <a:pt x="0" y="120"/>
                </a:cubicBezTo>
                <a:cubicBezTo>
                  <a:pt x="0" y="54"/>
                  <a:pt x="46" y="0"/>
                  <a:pt x="104" y="0"/>
                </a:cubicBezTo>
                <a:cubicBezTo>
                  <a:pt x="161" y="0"/>
                  <a:pt x="207" y="54"/>
                  <a:pt x="207" y="120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5C5C5C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48923" tIns="24462" rIns="48923" bIns="24462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133350" indent="-133350" algn="l" defTabSz="533400" rtl="0" eaLnBrk="1" latinLnBrk="0" hangingPunct="1">
              <a:spcBef>
                <a:spcPts val="900"/>
              </a:spcBef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00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34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667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01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34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668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001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19834"/>
            <a:endParaRPr lang="es-ES_tradnl" sz="963">
              <a:solidFill>
                <a:srgbClr val="000000"/>
              </a:solidFill>
            </a:endParaRPr>
          </a:p>
        </p:txBody>
      </p:sp>
      <p:sp>
        <p:nvSpPr>
          <p:cNvPr id="62" name="Freeform 10">
            <a:extLst>
              <a:ext uri="{FF2B5EF4-FFF2-40B4-BE49-F238E27FC236}">
                <a16:creationId xmlns:a16="http://schemas.microsoft.com/office/drawing/2014/main" id="{C2B84A8B-E04E-0AED-504F-50DEC9EEB333}"/>
              </a:ext>
            </a:extLst>
          </p:cNvPr>
          <p:cNvSpPr>
            <a:spLocks/>
          </p:cNvSpPr>
          <p:nvPr/>
        </p:nvSpPr>
        <p:spPr bwMode="auto">
          <a:xfrm>
            <a:off x="2200809" y="3095588"/>
            <a:ext cx="155750" cy="148606"/>
          </a:xfrm>
          <a:custGeom>
            <a:avLst/>
            <a:gdLst/>
            <a:ahLst/>
            <a:cxnLst>
              <a:cxn ang="0">
                <a:pos x="207" y="120"/>
              </a:cxn>
              <a:cxn ang="0">
                <a:pos x="207" y="120"/>
              </a:cxn>
              <a:cxn ang="0">
                <a:pos x="104" y="240"/>
              </a:cxn>
              <a:cxn ang="0">
                <a:pos x="0" y="120"/>
              </a:cxn>
              <a:cxn ang="0">
                <a:pos x="104" y="0"/>
              </a:cxn>
              <a:cxn ang="0">
                <a:pos x="207" y="120"/>
              </a:cxn>
            </a:cxnLst>
            <a:rect l="0" t="0" r="r" b="b"/>
            <a:pathLst>
              <a:path w="207" h="240">
                <a:moveTo>
                  <a:pt x="207" y="120"/>
                </a:moveTo>
                <a:lnTo>
                  <a:pt x="207" y="120"/>
                </a:lnTo>
                <a:cubicBezTo>
                  <a:pt x="207" y="187"/>
                  <a:pt x="161" y="240"/>
                  <a:pt x="104" y="240"/>
                </a:cubicBezTo>
                <a:cubicBezTo>
                  <a:pt x="46" y="240"/>
                  <a:pt x="0" y="187"/>
                  <a:pt x="0" y="120"/>
                </a:cubicBezTo>
                <a:cubicBezTo>
                  <a:pt x="0" y="54"/>
                  <a:pt x="46" y="0"/>
                  <a:pt x="104" y="0"/>
                </a:cubicBezTo>
                <a:cubicBezTo>
                  <a:pt x="161" y="0"/>
                  <a:pt x="207" y="54"/>
                  <a:pt x="207" y="120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5C5C5C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48923" tIns="24462" rIns="48923" bIns="24462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133350" indent="-133350" algn="l" defTabSz="533400" rtl="0" eaLnBrk="1" latinLnBrk="0" hangingPunct="1">
              <a:spcBef>
                <a:spcPts val="900"/>
              </a:spcBef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00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34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667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01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34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668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001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19834"/>
            <a:endParaRPr lang="es-ES_tradnl" sz="963">
              <a:solidFill>
                <a:srgbClr val="000000"/>
              </a:solidFill>
            </a:endParaRPr>
          </a:p>
        </p:txBody>
      </p:sp>
      <p:sp>
        <p:nvSpPr>
          <p:cNvPr id="64" name="Freeform 10">
            <a:extLst>
              <a:ext uri="{FF2B5EF4-FFF2-40B4-BE49-F238E27FC236}">
                <a16:creationId xmlns:a16="http://schemas.microsoft.com/office/drawing/2014/main" id="{3929B165-3814-25AB-9C10-5F1AAE721751}"/>
              </a:ext>
            </a:extLst>
          </p:cNvPr>
          <p:cNvSpPr>
            <a:spLocks/>
          </p:cNvSpPr>
          <p:nvPr/>
        </p:nvSpPr>
        <p:spPr bwMode="auto">
          <a:xfrm>
            <a:off x="2926504" y="3095588"/>
            <a:ext cx="155750" cy="148606"/>
          </a:xfrm>
          <a:custGeom>
            <a:avLst/>
            <a:gdLst/>
            <a:ahLst/>
            <a:cxnLst>
              <a:cxn ang="0">
                <a:pos x="207" y="120"/>
              </a:cxn>
              <a:cxn ang="0">
                <a:pos x="207" y="120"/>
              </a:cxn>
              <a:cxn ang="0">
                <a:pos x="104" y="240"/>
              </a:cxn>
              <a:cxn ang="0">
                <a:pos x="0" y="120"/>
              </a:cxn>
              <a:cxn ang="0">
                <a:pos x="104" y="0"/>
              </a:cxn>
              <a:cxn ang="0">
                <a:pos x="207" y="120"/>
              </a:cxn>
            </a:cxnLst>
            <a:rect l="0" t="0" r="r" b="b"/>
            <a:pathLst>
              <a:path w="207" h="240">
                <a:moveTo>
                  <a:pt x="207" y="120"/>
                </a:moveTo>
                <a:lnTo>
                  <a:pt x="207" y="120"/>
                </a:lnTo>
                <a:cubicBezTo>
                  <a:pt x="207" y="187"/>
                  <a:pt x="161" y="240"/>
                  <a:pt x="104" y="240"/>
                </a:cubicBezTo>
                <a:cubicBezTo>
                  <a:pt x="46" y="240"/>
                  <a:pt x="0" y="187"/>
                  <a:pt x="0" y="120"/>
                </a:cubicBezTo>
                <a:cubicBezTo>
                  <a:pt x="0" y="54"/>
                  <a:pt x="46" y="0"/>
                  <a:pt x="104" y="0"/>
                </a:cubicBezTo>
                <a:cubicBezTo>
                  <a:pt x="161" y="0"/>
                  <a:pt x="207" y="54"/>
                  <a:pt x="207" y="120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5C5C5C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48923" tIns="24462" rIns="48923" bIns="24462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133350" indent="-133350" algn="l" defTabSz="533400" rtl="0" eaLnBrk="1" latinLnBrk="0" hangingPunct="1">
              <a:spcBef>
                <a:spcPts val="900"/>
              </a:spcBef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00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34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667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01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34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668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001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19834"/>
            <a:endParaRPr lang="es-ES_tradnl" sz="963">
              <a:solidFill>
                <a:srgbClr val="000000"/>
              </a:solidFill>
            </a:endParaRPr>
          </a:p>
        </p:txBody>
      </p:sp>
      <p:sp>
        <p:nvSpPr>
          <p:cNvPr id="67" name="Freeform 10">
            <a:extLst>
              <a:ext uri="{FF2B5EF4-FFF2-40B4-BE49-F238E27FC236}">
                <a16:creationId xmlns:a16="http://schemas.microsoft.com/office/drawing/2014/main" id="{88E0A092-F39C-DF35-CF4F-BADE9CF6664A}"/>
              </a:ext>
            </a:extLst>
          </p:cNvPr>
          <p:cNvSpPr>
            <a:spLocks/>
          </p:cNvSpPr>
          <p:nvPr/>
        </p:nvSpPr>
        <p:spPr bwMode="auto">
          <a:xfrm>
            <a:off x="1958106" y="3095588"/>
            <a:ext cx="155750" cy="148606"/>
          </a:xfrm>
          <a:custGeom>
            <a:avLst/>
            <a:gdLst/>
            <a:ahLst/>
            <a:cxnLst>
              <a:cxn ang="0">
                <a:pos x="207" y="120"/>
              </a:cxn>
              <a:cxn ang="0">
                <a:pos x="207" y="120"/>
              </a:cxn>
              <a:cxn ang="0">
                <a:pos x="104" y="240"/>
              </a:cxn>
              <a:cxn ang="0">
                <a:pos x="0" y="120"/>
              </a:cxn>
              <a:cxn ang="0">
                <a:pos x="104" y="0"/>
              </a:cxn>
              <a:cxn ang="0">
                <a:pos x="207" y="120"/>
              </a:cxn>
            </a:cxnLst>
            <a:rect l="0" t="0" r="r" b="b"/>
            <a:pathLst>
              <a:path w="207" h="240">
                <a:moveTo>
                  <a:pt x="207" y="120"/>
                </a:moveTo>
                <a:lnTo>
                  <a:pt x="207" y="120"/>
                </a:lnTo>
                <a:cubicBezTo>
                  <a:pt x="207" y="187"/>
                  <a:pt x="161" y="240"/>
                  <a:pt x="104" y="240"/>
                </a:cubicBezTo>
                <a:cubicBezTo>
                  <a:pt x="46" y="240"/>
                  <a:pt x="0" y="187"/>
                  <a:pt x="0" y="120"/>
                </a:cubicBezTo>
                <a:cubicBezTo>
                  <a:pt x="0" y="54"/>
                  <a:pt x="46" y="0"/>
                  <a:pt x="104" y="0"/>
                </a:cubicBezTo>
                <a:cubicBezTo>
                  <a:pt x="161" y="0"/>
                  <a:pt x="207" y="54"/>
                  <a:pt x="207" y="120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5C5C5C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48923" tIns="24462" rIns="48923" bIns="24462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133350" indent="-133350" algn="l" defTabSz="533400" rtl="0" eaLnBrk="1" latinLnBrk="0" hangingPunct="1">
              <a:spcBef>
                <a:spcPts val="900"/>
              </a:spcBef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00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34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667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01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34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668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001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19834"/>
            <a:endParaRPr lang="es-ES_tradnl" sz="963">
              <a:solidFill>
                <a:srgbClr val="000000"/>
              </a:solidFill>
            </a:endParaRPr>
          </a:p>
        </p:txBody>
      </p:sp>
      <p:sp>
        <p:nvSpPr>
          <p:cNvPr id="69" name="Freeform 10">
            <a:extLst>
              <a:ext uri="{FF2B5EF4-FFF2-40B4-BE49-F238E27FC236}">
                <a16:creationId xmlns:a16="http://schemas.microsoft.com/office/drawing/2014/main" id="{57D0CA6D-B725-D21A-10E8-71F57321E018}"/>
              </a:ext>
            </a:extLst>
          </p:cNvPr>
          <p:cNvSpPr>
            <a:spLocks/>
          </p:cNvSpPr>
          <p:nvPr/>
        </p:nvSpPr>
        <p:spPr bwMode="auto">
          <a:xfrm>
            <a:off x="3167998" y="3095588"/>
            <a:ext cx="155750" cy="148606"/>
          </a:xfrm>
          <a:custGeom>
            <a:avLst/>
            <a:gdLst/>
            <a:ahLst/>
            <a:cxnLst>
              <a:cxn ang="0">
                <a:pos x="207" y="120"/>
              </a:cxn>
              <a:cxn ang="0">
                <a:pos x="207" y="120"/>
              </a:cxn>
              <a:cxn ang="0">
                <a:pos x="104" y="240"/>
              </a:cxn>
              <a:cxn ang="0">
                <a:pos x="0" y="120"/>
              </a:cxn>
              <a:cxn ang="0">
                <a:pos x="104" y="0"/>
              </a:cxn>
              <a:cxn ang="0">
                <a:pos x="207" y="120"/>
              </a:cxn>
            </a:cxnLst>
            <a:rect l="0" t="0" r="r" b="b"/>
            <a:pathLst>
              <a:path w="207" h="240">
                <a:moveTo>
                  <a:pt x="207" y="120"/>
                </a:moveTo>
                <a:lnTo>
                  <a:pt x="207" y="120"/>
                </a:lnTo>
                <a:cubicBezTo>
                  <a:pt x="207" y="187"/>
                  <a:pt x="161" y="240"/>
                  <a:pt x="104" y="240"/>
                </a:cubicBezTo>
                <a:cubicBezTo>
                  <a:pt x="46" y="240"/>
                  <a:pt x="0" y="187"/>
                  <a:pt x="0" y="120"/>
                </a:cubicBezTo>
                <a:cubicBezTo>
                  <a:pt x="0" y="54"/>
                  <a:pt x="46" y="0"/>
                  <a:pt x="104" y="0"/>
                </a:cubicBezTo>
                <a:cubicBezTo>
                  <a:pt x="161" y="0"/>
                  <a:pt x="207" y="54"/>
                  <a:pt x="207" y="120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5C5C5C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48923" tIns="24462" rIns="48923" bIns="24462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133350" indent="-133350" algn="l" defTabSz="533400" rtl="0" eaLnBrk="1" latinLnBrk="0" hangingPunct="1">
              <a:spcBef>
                <a:spcPts val="900"/>
              </a:spcBef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00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34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667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01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34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668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001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19834"/>
            <a:endParaRPr lang="es-ES_tradnl" sz="963">
              <a:solidFill>
                <a:srgbClr val="000000"/>
              </a:solidFill>
            </a:endParaRPr>
          </a:p>
        </p:txBody>
      </p:sp>
      <p:sp>
        <p:nvSpPr>
          <p:cNvPr id="74" name="Rectangle 103">
            <a:extLst>
              <a:ext uri="{FF2B5EF4-FFF2-40B4-BE49-F238E27FC236}">
                <a16:creationId xmlns:a16="http://schemas.microsoft.com/office/drawing/2014/main" id="{D941DEA2-E592-FEE0-2E3F-A10B6AE53BE5}"/>
              </a:ext>
            </a:extLst>
          </p:cNvPr>
          <p:cNvSpPr/>
          <p:nvPr/>
        </p:nvSpPr>
        <p:spPr>
          <a:xfrm>
            <a:off x="8324261" y="2480517"/>
            <a:ext cx="2630771" cy="1018944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86A44A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9849" tIns="19849" rIns="19849" bIns="19849" rtlCol="0" anchor="ctr"/>
          <a:lstStyle>
            <a:defPPr>
              <a:defRPr lang="en-US"/>
            </a:defPPr>
            <a:lvl1pPr marL="133350" indent="-133350" algn="l" defTabSz="533400" rtl="0" eaLnBrk="1" latinLnBrk="0" hangingPunct="1">
              <a:spcBef>
                <a:spcPts val="900"/>
              </a:spcBef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2667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00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334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6667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800100" indent="-133350" algn="l" defTabSz="533400" rtl="0" eaLnBrk="1" latinLnBrk="0" hangingPunct="1"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33450" indent="-133350" algn="l" defTabSz="533400" rtl="0" eaLnBrk="1" latinLnBrk="0" hangingPunct="1"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066800" indent="-133350" algn="l" defTabSz="533400" rtl="0" eaLnBrk="1" latinLnBrk="0" hangingPunct="1"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200150" indent="-133350" algn="l" defTabSz="533400" rtl="0" eaLnBrk="1" latinLnBrk="0" hangingPunct="1"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_tradnl" sz="992">
              <a:solidFill>
                <a:srgbClr val="000000"/>
              </a:solidFill>
            </a:endParaRPr>
          </a:p>
        </p:txBody>
      </p:sp>
      <p:sp>
        <p:nvSpPr>
          <p:cNvPr id="87" name="Rectangle 104">
            <a:extLst>
              <a:ext uri="{FF2B5EF4-FFF2-40B4-BE49-F238E27FC236}">
                <a16:creationId xmlns:a16="http://schemas.microsoft.com/office/drawing/2014/main" id="{F5B4D46E-E3B9-7F22-9299-03EC7203E2D9}"/>
              </a:ext>
            </a:extLst>
          </p:cNvPr>
          <p:cNvSpPr/>
          <p:nvPr/>
        </p:nvSpPr>
        <p:spPr>
          <a:xfrm>
            <a:off x="4808422" y="2480517"/>
            <a:ext cx="2630771" cy="1018944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10647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9849" tIns="19849" rIns="19849" bIns="19849" rtlCol="0" anchor="ctr"/>
          <a:lstStyle>
            <a:defPPr>
              <a:defRPr lang="en-US"/>
            </a:defPPr>
            <a:lvl1pPr marL="133350" indent="-133350" algn="l" defTabSz="533400" rtl="0" eaLnBrk="1" latinLnBrk="0" hangingPunct="1">
              <a:spcBef>
                <a:spcPts val="900"/>
              </a:spcBef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2667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00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334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6667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800100" indent="-133350" algn="l" defTabSz="533400" rtl="0" eaLnBrk="1" latinLnBrk="0" hangingPunct="1"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33450" indent="-133350" algn="l" defTabSz="533400" rtl="0" eaLnBrk="1" latinLnBrk="0" hangingPunct="1"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066800" indent="-133350" algn="l" defTabSz="533400" rtl="0" eaLnBrk="1" latinLnBrk="0" hangingPunct="1"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200150" indent="-133350" algn="l" defTabSz="533400" rtl="0" eaLnBrk="1" latinLnBrk="0" hangingPunct="1"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_tradnl" sz="992">
              <a:solidFill>
                <a:srgbClr val="000000"/>
              </a:solidFill>
            </a:endParaRPr>
          </a:p>
        </p:txBody>
      </p:sp>
      <p:cxnSp>
        <p:nvCxnSpPr>
          <p:cNvPr id="89" name="Straight Connector 105">
            <a:extLst>
              <a:ext uri="{FF2B5EF4-FFF2-40B4-BE49-F238E27FC236}">
                <a16:creationId xmlns:a16="http://schemas.microsoft.com/office/drawing/2014/main" id="{161C11BB-EDBF-AFEF-BB90-9BF4855BD52C}"/>
              </a:ext>
            </a:extLst>
          </p:cNvPr>
          <p:cNvCxnSpPr/>
          <p:nvPr/>
        </p:nvCxnSpPr>
        <p:spPr bwMode="gray">
          <a:xfrm flipH="1" flipV="1">
            <a:off x="5801108" y="2829259"/>
            <a:ext cx="640844" cy="319413"/>
          </a:xfrm>
          <a:prstGeom prst="line">
            <a:avLst/>
          </a:prstGeom>
          <a:ln w="12700" cap="flat" cmpd="sng" algn="ctr">
            <a:solidFill>
              <a:srgbClr val="106470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106">
            <a:extLst>
              <a:ext uri="{FF2B5EF4-FFF2-40B4-BE49-F238E27FC236}">
                <a16:creationId xmlns:a16="http://schemas.microsoft.com/office/drawing/2014/main" id="{4C9379F2-42A8-5CC8-3386-F4F0C2FFE5DD}"/>
              </a:ext>
            </a:extLst>
          </p:cNvPr>
          <p:cNvCxnSpPr/>
          <p:nvPr/>
        </p:nvCxnSpPr>
        <p:spPr bwMode="gray">
          <a:xfrm flipH="1">
            <a:off x="5859364" y="2827953"/>
            <a:ext cx="592500" cy="273405"/>
          </a:xfrm>
          <a:prstGeom prst="line">
            <a:avLst/>
          </a:prstGeom>
          <a:ln w="12700" cap="flat" cmpd="sng" algn="ctr">
            <a:solidFill>
              <a:srgbClr val="106470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107">
            <a:extLst>
              <a:ext uri="{FF2B5EF4-FFF2-40B4-BE49-F238E27FC236}">
                <a16:creationId xmlns:a16="http://schemas.microsoft.com/office/drawing/2014/main" id="{55B7539E-4013-3062-E71D-EB53B6E2C1D1}"/>
              </a:ext>
            </a:extLst>
          </p:cNvPr>
          <p:cNvCxnSpPr/>
          <p:nvPr/>
        </p:nvCxnSpPr>
        <p:spPr bwMode="gray">
          <a:xfrm>
            <a:off x="6123691" y="2732304"/>
            <a:ext cx="0" cy="507863"/>
          </a:xfrm>
          <a:prstGeom prst="line">
            <a:avLst/>
          </a:prstGeom>
          <a:ln w="12700" cap="flat" cmpd="sng" algn="ctr">
            <a:solidFill>
              <a:srgbClr val="106470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Freeform 5">
            <a:extLst>
              <a:ext uri="{FF2B5EF4-FFF2-40B4-BE49-F238E27FC236}">
                <a16:creationId xmlns:a16="http://schemas.microsoft.com/office/drawing/2014/main" id="{A5DF13FF-0437-185A-BA06-A83456AE9B96}"/>
              </a:ext>
            </a:extLst>
          </p:cNvPr>
          <p:cNvSpPr>
            <a:spLocks/>
          </p:cNvSpPr>
          <p:nvPr/>
        </p:nvSpPr>
        <p:spPr bwMode="auto">
          <a:xfrm>
            <a:off x="5996311" y="2922288"/>
            <a:ext cx="252541" cy="123416"/>
          </a:xfrm>
          <a:custGeom>
            <a:avLst/>
            <a:gdLst/>
            <a:ahLst/>
            <a:cxnLst>
              <a:cxn ang="0">
                <a:pos x="353" y="182"/>
              </a:cxn>
              <a:cxn ang="0">
                <a:pos x="353" y="182"/>
              </a:cxn>
              <a:cxn ang="0">
                <a:pos x="0" y="182"/>
              </a:cxn>
              <a:cxn ang="0">
                <a:pos x="0" y="0"/>
              </a:cxn>
              <a:cxn ang="0">
                <a:pos x="353" y="0"/>
              </a:cxn>
              <a:cxn ang="0">
                <a:pos x="353" y="182"/>
              </a:cxn>
            </a:cxnLst>
            <a:rect l="0" t="0" r="r" b="b"/>
            <a:pathLst>
              <a:path w="353" h="182">
                <a:moveTo>
                  <a:pt x="353" y="182"/>
                </a:moveTo>
                <a:lnTo>
                  <a:pt x="353" y="182"/>
                </a:lnTo>
                <a:lnTo>
                  <a:pt x="0" y="182"/>
                </a:lnTo>
                <a:lnTo>
                  <a:pt x="0" y="0"/>
                </a:lnTo>
                <a:lnTo>
                  <a:pt x="353" y="0"/>
                </a:lnTo>
                <a:lnTo>
                  <a:pt x="353" y="182"/>
                </a:lnTo>
                <a:close/>
              </a:path>
            </a:pathLst>
          </a:custGeom>
          <a:solidFill>
            <a:srgbClr val="106470"/>
          </a:solidFill>
          <a:ln w="9525" cap="flat" cmpd="sng" algn="ctr">
            <a:solidFill>
              <a:srgbClr val="10647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48923" tIns="24462" rIns="48923" bIns="24462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133350" indent="-133350" algn="l" defTabSz="533400" rtl="0" eaLnBrk="1" latinLnBrk="0" hangingPunct="1">
              <a:spcBef>
                <a:spcPts val="900"/>
              </a:spcBef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00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34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667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01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34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668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001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19834"/>
            <a:endParaRPr lang="es-ES_tradnl" sz="963">
              <a:solidFill>
                <a:srgbClr val="FFFFFF"/>
              </a:solidFill>
            </a:endParaRPr>
          </a:p>
        </p:txBody>
      </p:sp>
      <p:sp>
        <p:nvSpPr>
          <p:cNvPr id="97" name="Freeform 6">
            <a:extLst>
              <a:ext uri="{FF2B5EF4-FFF2-40B4-BE49-F238E27FC236}">
                <a16:creationId xmlns:a16="http://schemas.microsoft.com/office/drawing/2014/main" id="{6041C68A-812E-F18B-6278-3EF542DC5596}"/>
              </a:ext>
            </a:extLst>
          </p:cNvPr>
          <p:cNvSpPr>
            <a:spLocks/>
          </p:cNvSpPr>
          <p:nvPr/>
        </p:nvSpPr>
        <p:spPr bwMode="auto">
          <a:xfrm>
            <a:off x="5712748" y="2738822"/>
            <a:ext cx="821888" cy="511140"/>
          </a:xfrm>
          <a:custGeom>
            <a:avLst/>
            <a:gdLst/>
            <a:ahLst/>
            <a:cxnLst>
              <a:cxn ang="0">
                <a:pos x="1157" y="376"/>
              </a:cxn>
              <a:cxn ang="0">
                <a:pos x="1157" y="376"/>
              </a:cxn>
              <a:cxn ang="0">
                <a:pos x="579" y="753"/>
              </a:cxn>
              <a:cxn ang="0">
                <a:pos x="0" y="376"/>
              </a:cxn>
              <a:cxn ang="0">
                <a:pos x="579" y="0"/>
              </a:cxn>
              <a:cxn ang="0">
                <a:pos x="1157" y="376"/>
              </a:cxn>
              <a:cxn ang="0">
                <a:pos x="1157" y="376"/>
              </a:cxn>
            </a:cxnLst>
            <a:rect l="0" t="0" r="r" b="b"/>
            <a:pathLst>
              <a:path w="1157" h="753">
                <a:moveTo>
                  <a:pt x="1157" y="376"/>
                </a:moveTo>
                <a:lnTo>
                  <a:pt x="1157" y="376"/>
                </a:lnTo>
                <a:cubicBezTo>
                  <a:pt x="1157" y="584"/>
                  <a:pt x="898" y="753"/>
                  <a:pt x="579" y="753"/>
                </a:cubicBezTo>
                <a:cubicBezTo>
                  <a:pt x="259" y="753"/>
                  <a:pt x="0" y="584"/>
                  <a:pt x="0" y="376"/>
                </a:cubicBezTo>
                <a:cubicBezTo>
                  <a:pt x="0" y="169"/>
                  <a:pt x="259" y="0"/>
                  <a:pt x="579" y="0"/>
                </a:cubicBezTo>
                <a:cubicBezTo>
                  <a:pt x="898" y="0"/>
                  <a:pt x="1157" y="169"/>
                  <a:pt x="1157" y="376"/>
                </a:cubicBezTo>
                <a:lnTo>
                  <a:pt x="1157" y="376"/>
                </a:lnTo>
                <a:close/>
              </a:path>
            </a:pathLst>
          </a:custGeom>
          <a:noFill/>
          <a:ln w="9525" cap="flat" cmpd="sng" algn="ctr">
            <a:solidFill>
              <a:srgbClr val="106470"/>
            </a:solidFill>
            <a:prstDash val="dash"/>
            <a:miter lim="800000"/>
            <a:headEnd type="none" w="med" len="med"/>
            <a:tailEnd type="none" w="med" len="med"/>
          </a:ln>
        </p:spPr>
        <p:txBody>
          <a:bodyPr vert="horz" wrap="square" lIns="48923" tIns="24462" rIns="48923" bIns="24462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133350" indent="-133350" algn="l" defTabSz="533400" rtl="0" eaLnBrk="1" latinLnBrk="0" hangingPunct="1">
              <a:spcBef>
                <a:spcPts val="900"/>
              </a:spcBef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00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34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667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01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34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668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001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19834"/>
            <a:endParaRPr lang="es-ES_tradnl" sz="963">
              <a:solidFill>
                <a:srgbClr val="000000"/>
              </a:solidFill>
            </a:endParaRPr>
          </a:p>
        </p:txBody>
      </p:sp>
      <p:sp>
        <p:nvSpPr>
          <p:cNvPr id="99" name="Freeform 7">
            <a:extLst>
              <a:ext uri="{FF2B5EF4-FFF2-40B4-BE49-F238E27FC236}">
                <a16:creationId xmlns:a16="http://schemas.microsoft.com/office/drawing/2014/main" id="{585EE91E-8132-6A8D-2DCA-D69271B68955}"/>
              </a:ext>
            </a:extLst>
          </p:cNvPr>
          <p:cNvSpPr>
            <a:spLocks/>
          </p:cNvSpPr>
          <p:nvPr/>
        </p:nvSpPr>
        <p:spPr bwMode="auto">
          <a:xfrm>
            <a:off x="6044706" y="2658000"/>
            <a:ext cx="155750" cy="148606"/>
          </a:xfrm>
          <a:custGeom>
            <a:avLst/>
            <a:gdLst/>
            <a:ahLst/>
            <a:cxnLst>
              <a:cxn ang="0">
                <a:pos x="208" y="119"/>
              </a:cxn>
              <a:cxn ang="0">
                <a:pos x="208" y="119"/>
              </a:cxn>
              <a:cxn ang="0">
                <a:pos x="104" y="239"/>
              </a:cxn>
              <a:cxn ang="0">
                <a:pos x="0" y="119"/>
              </a:cxn>
              <a:cxn ang="0">
                <a:pos x="104" y="0"/>
              </a:cxn>
              <a:cxn ang="0">
                <a:pos x="208" y="119"/>
              </a:cxn>
            </a:cxnLst>
            <a:rect l="0" t="0" r="r" b="b"/>
            <a:pathLst>
              <a:path w="208" h="239">
                <a:moveTo>
                  <a:pt x="208" y="119"/>
                </a:moveTo>
                <a:lnTo>
                  <a:pt x="208" y="119"/>
                </a:lnTo>
                <a:cubicBezTo>
                  <a:pt x="208" y="185"/>
                  <a:pt x="161" y="239"/>
                  <a:pt x="104" y="239"/>
                </a:cubicBezTo>
                <a:cubicBezTo>
                  <a:pt x="47" y="239"/>
                  <a:pt x="0" y="185"/>
                  <a:pt x="0" y="119"/>
                </a:cubicBezTo>
                <a:cubicBezTo>
                  <a:pt x="0" y="53"/>
                  <a:pt x="47" y="0"/>
                  <a:pt x="104" y="0"/>
                </a:cubicBezTo>
                <a:cubicBezTo>
                  <a:pt x="161" y="0"/>
                  <a:pt x="208" y="53"/>
                  <a:pt x="208" y="119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10647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48923" tIns="24462" rIns="48923" bIns="24462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133350" indent="-133350" algn="l" defTabSz="533400" rtl="0" eaLnBrk="1" latinLnBrk="0" hangingPunct="1">
              <a:spcBef>
                <a:spcPts val="900"/>
              </a:spcBef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00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34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667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01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34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668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001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19834"/>
            <a:endParaRPr lang="es-ES_tradnl" sz="963">
              <a:solidFill>
                <a:srgbClr val="2D475A"/>
              </a:solidFill>
            </a:endParaRPr>
          </a:p>
        </p:txBody>
      </p:sp>
      <p:sp>
        <p:nvSpPr>
          <p:cNvPr id="101" name="Freeform 8">
            <a:extLst>
              <a:ext uri="{FF2B5EF4-FFF2-40B4-BE49-F238E27FC236}">
                <a16:creationId xmlns:a16="http://schemas.microsoft.com/office/drawing/2014/main" id="{38A3C548-AE3B-BDF9-D6ED-64862FFBCEC9}"/>
              </a:ext>
            </a:extLst>
          </p:cNvPr>
          <p:cNvSpPr>
            <a:spLocks/>
          </p:cNvSpPr>
          <p:nvPr/>
        </p:nvSpPr>
        <p:spPr bwMode="auto">
          <a:xfrm>
            <a:off x="6364077" y="2749743"/>
            <a:ext cx="155750" cy="148606"/>
          </a:xfrm>
          <a:custGeom>
            <a:avLst/>
            <a:gdLst/>
            <a:ahLst/>
            <a:cxnLst>
              <a:cxn ang="0">
                <a:pos x="207" y="120"/>
              </a:cxn>
              <a:cxn ang="0">
                <a:pos x="207" y="120"/>
              </a:cxn>
              <a:cxn ang="0">
                <a:pos x="103" y="240"/>
              </a:cxn>
              <a:cxn ang="0">
                <a:pos x="0" y="120"/>
              </a:cxn>
              <a:cxn ang="0">
                <a:pos x="103" y="0"/>
              </a:cxn>
              <a:cxn ang="0">
                <a:pos x="207" y="120"/>
              </a:cxn>
            </a:cxnLst>
            <a:rect l="0" t="0" r="r" b="b"/>
            <a:pathLst>
              <a:path w="207" h="240">
                <a:moveTo>
                  <a:pt x="207" y="120"/>
                </a:moveTo>
                <a:lnTo>
                  <a:pt x="207" y="120"/>
                </a:lnTo>
                <a:cubicBezTo>
                  <a:pt x="207" y="186"/>
                  <a:pt x="161" y="240"/>
                  <a:pt x="103" y="240"/>
                </a:cubicBezTo>
                <a:cubicBezTo>
                  <a:pt x="46" y="240"/>
                  <a:pt x="0" y="186"/>
                  <a:pt x="0" y="120"/>
                </a:cubicBezTo>
                <a:cubicBezTo>
                  <a:pt x="0" y="54"/>
                  <a:pt x="46" y="0"/>
                  <a:pt x="103" y="0"/>
                </a:cubicBezTo>
                <a:cubicBezTo>
                  <a:pt x="161" y="0"/>
                  <a:pt x="207" y="54"/>
                  <a:pt x="207" y="120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10647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48923" tIns="24462" rIns="48923" bIns="24462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133350" indent="-133350" algn="l" defTabSz="533400" rtl="0" eaLnBrk="1" latinLnBrk="0" hangingPunct="1">
              <a:spcBef>
                <a:spcPts val="900"/>
              </a:spcBef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00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34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667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01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34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668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001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19834"/>
            <a:endParaRPr lang="es-ES_tradnl" sz="963">
              <a:solidFill>
                <a:srgbClr val="2D475A"/>
              </a:solidFill>
            </a:endParaRPr>
          </a:p>
        </p:txBody>
      </p:sp>
      <p:sp>
        <p:nvSpPr>
          <p:cNvPr id="103" name="Freeform 10">
            <a:extLst>
              <a:ext uri="{FF2B5EF4-FFF2-40B4-BE49-F238E27FC236}">
                <a16:creationId xmlns:a16="http://schemas.microsoft.com/office/drawing/2014/main" id="{D30A06D8-69E0-5BE8-3F75-C566153B5496}"/>
              </a:ext>
            </a:extLst>
          </p:cNvPr>
          <p:cNvSpPr>
            <a:spLocks/>
          </p:cNvSpPr>
          <p:nvPr/>
        </p:nvSpPr>
        <p:spPr bwMode="auto">
          <a:xfrm>
            <a:off x="5737930" y="3079582"/>
            <a:ext cx="155750" cy="148606"/>
          </a:xfrm>
          <a:custGeom>
            <a:avLst/>
            <a:gdLst/>
            <a:ahLst/>
            <a:cxnLst>
              <a:cxn ang="0">
                <a:pos x="207" y="120"/>
              </a:cxn>
              <a:cxn ang="0">
                <a:pos x="207" y="120"/>
              </a:cxn>
              <a:cxn ang="0">
                <a:pos x="104" y="240"/>
              </a:cxn>
              <a:cxn ang="0">
                <a:pos x="0" y="120"/>
              </a:cxn>
              <a:cxn ang="0">
                <a:pos x="104" y="0"/>
              </a:cxn>
              <a:cxn ang="0">
                <a:pos x="207" y="120"/>
              </a:cxn>
            </a:cxnLst>
            <a:rect l="0" t="0" r="r" b="b"/>
            <a:pathLst>
              <a:path w="207" h="240">
                <a:moveTo>
                  <a:pt x="207" y="120"/>
                </a:moveTo>
                <a:lnTo>
                  <a:pt x="207" y="120"/>
                </a:lnTo>
                <a:cubicBezTo>
                  <a:pt x="207" y="187"/>
                  <a:pt x="161" y="240"/>
                  <a:pt x="104" y="240"/>
                </a:cubicBezTo>
                <a:cubicBezTo>
                  <a:pt x="46" y="240"/>
                  <a:pt x="0" y="187"/>
                  <a:pt x="0" y="120"/>
                </a:cubicBezTo>
                <a:cubicBezTo>
                  <a:pt x="0" y="54"/>
                  <a:pt x="46" y="0"/>
                  <a:pt x="104" y="0"/>
                </a:cubicBezTo>
                <a:cubicBezTo>
                  <a:pt x="161" y="0"/>
                  <a:pt x="207" y="54"/>
                  <a:pt x="207" y="120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10647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48923" tIns="24462" rIns="48923" bIns="24462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133350" indent="-133350" algn="l" defTabSz="533400" rtl="0" eaLnBrk="1" latinLnBrk="0" hangingPunct="1">
              <a:spcBef>
                <a:spcPts val="900"/>
              </a:spcBef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00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34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667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01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34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668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001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19834"/>
            <a:endParaRPr lang="es-ES_tradnl" sz="963">
              <a:solidFill>
                <a:srgbClr val="2D475A"/>
              </a:solidFill>
            </a:endParaRPr>
          </a:p>
        </p:txBody>
      </p:sp>
      <p:sp>
        <p:nvSpPr>
          <p:cNvPr id="105" name="Freeform 11">
            <a:extLst>
              <a:ext uri="{FF2B5EF4-FFF2-40B4-BE49-F238E27FC236}">
                <a16:creationId xmlns:a16="http://schemas.microsoft.com/office/drawing/2014/main" id="{E198B0E4-CC02-1ED1-5024-F2BDABB9F4E1}"/>
              </a:ext>
            </a:extLst>
          </p:cNvPr>
          <p:cNvSpPr>
            <a:spLocks/>
          </p:cNvSpPr>
          <p:nvPr/>
        </p:nvSpPr>
        <p:spPr bwMode="auto">
          <a:xfrm>
            <a:off x="6044706" y="3165864"/>
            <a:ext cx="155750" cy="148606"/>
          </a:xfrm>
          <a:custGeom>
            <a:avLst/>
            <a:gdLst/>
            <a:ahLst/>
            <a:cxnLst>
              <a:cxn ang="0">
                <a:pos x="208" y="120"/>
              </a:cxn>
              <a:cxn ang="0">
                <a:pos x="208" y="120"/>
              </a:cxn>
              <a:cxn ang="0">
                <a:pos x="104" y="241"/>
              </a:cxn>
              <a:cxn ang="0">
                <a:pos x="0" y="120"/>
              </a:cxn>
              <a:cxn ang="0">
                <a:pos x="104" y="0"/>
              </a:cxn>
              <a:cxn ang="0">
                <a:pos x="208" y="120"/>
              </a:cxn>
            </a:cxnLst>
            <a:rect l="0" t="0" r="r" b="b"/>
            <a:pathLst>
              <a:path w="208" h="241">
                <a:moveTo>
                  <a:pt x="208" y="120"/>
                </a:moveTo>
                <a:lnTo>
                  <a:pt x="208" y="120"/>
                </a:lnTo>
                <a:cubicBezTo>
                  <a:pt x="208" y="187"/>
                  <a:pt x="161" y="241"/>
                  <a:pt x="104" y="241"/>
                </a:cubicBezTo>
                <a:cubicBezTo>
                  <a:pt x="47" y="241"/>
                  <a:pt x="0" y="187"/>
                  <a:pt x="0" y="120"/>
                </a:cubicBezTo>
                <a:cubicBezTo>
                  <a:pt x="0" y="54"/>
                  <a:pt x="47" y="0"/>
                  <a:pt x="104" y="0"/>
                </a:cubicBezTo>
                <a:cubicBezTo>
                  <a:pt x="161" y="0"/>
                  <a:pt x="208" y="54"/>
                  <a:pt x="208" y="120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10647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48923" tIns="24462" rIns="48923" bIns="24462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133350" indent="-133350" algn="l" defTabSz="533400" rtl="0" eaLnBrk="1" latinLnBrk="0" hangingPunct="1">
              <a:spcBef>
                <a:spcPts val="900"/>
              </a:spcBef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00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34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667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01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34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668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001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19834"/>
            <a:endParaRPr lang="es-ES_tradnl" sz="963">
              <a:solidFill>
                <a:srgbClr val="2D475A"/>
              </a:solidFill>
            </a:endParaRPr>
          </a:p>
        </p:txBody>
      </p:sp>
      <p:sp>
        <p:nvSpPr>
          <p:cNvPr id="107" name="Freeform 12">
            <a:extLst>
              <a:ext uri="{FF2B5EF4-FFF2-40B4-BE49-F238E27FC236}">
                <a16:creationId xmlns:a16="http://schemas.microsoft.com/office/drawing/2014/main" id="{5CC5E45D-512C-4434-A716-460745360793}"/>
              </a:ext>
            </a:extLst>
          </p:cNvPr>
          <p:cNvSpPr>
            <a:spLocks/>
          </p:cNvSpPr>
          <p:nvPr/>
        </p:nvSpPr>
        <p:spPr bwMode="auto">
          <a:xfrm>
            <a:off x="6364077" y="3079582"/>
            <a:ext cx="155750" cy="148606"/>
          </a:xfrm>
          <a:custGeom>
            <a:avLst/>
            <a:gdLst/>
            <a:ahLst/>
            <a:cxnLst>
              <a:cxn ang="0">
                <a:pos x="207" y="120"/>
              </a:cxn>
              <a:cxn ang="0">
                <a:pos x="207" y="120"/>
              </a:cxn>
              <a:cxn ang="0">
                <a:pos x="103" y="240"/>
              </a:cxn>
              <a:cxn ang="0">
                <a:pos x="0" y="120"/>
              </a:cxn>
              <a:cxn ang="0">
                <a:pos x="103" y="0"/>
              </a:cxn>
              <a:cxn ang="0">
                <a:pos x="207" y="120"/>
              </a:cxn>
            </a:cxnLst>
            <a:rect l="0" t="0" r="r" b="b"/>
            <a:pathLst>
              <a:path w="207" h="240">
                <a:moveTo>
                  <a:pt x="207" y="120"/>
                </a:moveTo>
                <a:lnTo>
                  <a:pt x="207" y="120"/>
                </a:lnTo>
                <a:cubicBezTo>
                  <a:pt x="207" y="187"/>
                  <a:pt x="161" y="240"/>
                  <a:pt x="103" y="240"/>
                </a:cubicBezTo>
                <a:cubicBezTo>
                  <a:pt x="46" y="240"/>
                  <a:pt x="0" y="187"/>
                  <a:pt x="0" y="120"/>
                </a:cubicBezTo>
                <a:cubicBezTo>
                  <a:pt x="0" y="54"/>
                  <a:pt x="46" y="0"/>
                  <a:pt x="103" y="0"/>
                </a:cubicBezTo>
                <a:cubicBezTo>
                  <a:pt x="161" y="0"/>
                  <a:pt x="207" y="54"/>
                  <a:pt x="207" y="120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10647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48923" tIns="24462" rIns="48923" bIns="24462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133350" indent="-133350" algn="l" defTabSz="533400" rtl="0" eaLnBrk="1" latinLnBrk="0" hangingPunct="1">
              <a:spcBef>
                <a:spcPts val="900"/>
              </a:spcBef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00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34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667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01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34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668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001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19834"/>
            <a:endParaRPr lang="es-ES_tradnl" sz="963">
              <a:solidFill>
                <a:srgbClr val="2D475A"/>
              </a:solidFill>
            </a:endParaRPr>
          </a:p>
        </p:txBody>
      </p:sp>
      <p:sp>
        <p:nvSpPr>
          <p:cNvPr id="109" name="Freeform 9">
            <a:extLst>
              <a:ext uri="{FF2B5EF4-FFF2-40B4-BE49-F238E27FC236}">
                <a16:creationId xmlns:a16="http://schemas.microsoft.com/office/drawing/2014/main" id="{A42401FC-D8B1-F8B9-62A4-38160791540E}"/>
              </a:ext>
            </a:extLst>
          </p:cNvPr>
          <p:cNvSpPr>
            <a:spLocks/>
          </p:cNvSpPr>
          <p:nvPr/>
        </p:nvSpPr>
        <p:spPr bwMode="auto">
          <a:xfrm>
            <a:off x="5722658" y="2760169"/>
            <a:ext cx="156901" cy="148606"/>
          </a:xfrm>
          <a:custGeom>
            <a:avLst/>
            <a:gdLst/>
            <a:ahLst/>
            <a:cxnLst>
              <a:cxn ang="0">
                <a:pos x="207" y="120"/>
              </a:cxn>
              <a:cxn ang="0">
                <a:pos x="207" y="120"/>
              </a:cxn>
              <a:cxn ang="0">
                <a:pos x="104" y="240"/>
              </a:cxn>
              <a:cxn ang="0">
                <a:pos x="0" y="120"/>
              </a:cxn>
              <a:cxn ang="0">
                <a:pos x="104" y="0"/>
              </a:cxn>
              <a:cxn ang="0">
                <a:pos x="207" y="120"/>
              </a:cxn>
            </a:cxnLst>
            <a:rect l="0" t="0" r="r" b="b"/>
            <a:pathLst>
              <a:path w="207" h="240">
                <a:moveTo>
                  <a:pt x="207" y="120"/>
                </a:moveTo>
                <a:lnTo>
                  <a:pt x="207" y="120"/>
                </a:lnTo>
                <a:cubicBezTo>
                  <a:pt x="207" y="186"/>
                  <a:pt x="161" y="240"/>
                  <a:pt x="104" y="240"/>
                </a:cubicBezTo>
                <a:cubicBezTo>
                  <a:pt x="46" y="240"/>
                  <a:pt x="0" y="186"/>
                  <a:pt x="0" y="120"/>
                </a:cubicBezTo>
                <a:cubicBezTo>
                  <a:pt x="0" y="54"/>
                  <a:pt x="46" y="0"/>
                  <a:pt x="104" y="0"/>
                </a:cubicBezTo>
                <a:cubicBezTo>
                  <a:pt x="161" y="0"/>
                  <a:pt x="207" y="54"/>
                  <a:pt x="207" y="120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10647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48923" tIns="24462" rIns="48923" bIns="24462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133350" indent="-133350" algn="l" defTabSz="533400" rtl="0" eaLnBrk="1" latinLnBrk="0" hangingPunct="1">
              <a:spcBef>
                <a:spcPts val="900"/>
              </a:spcBef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00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34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667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01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34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668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001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19834"/>
            <a:endParaRPr lang="es-ES_tradnl" sz="963">
              <a:solidFill>
                <a:srgbClr val="2D475A"/>
              </a:solidFill>
            </a:endParaRPr>
          </a:p>
        </p:txBody>
      </p:sp>
      <p:sp>
        <p:nvSpPr>
          <p:cNvPr id="113" name="Freeform 6">
            <a:extLst>
              <a:ext uri="{FF2B5EF4-FFF2-40B4-BE49-F238E27FC236}">
                <a16:creationId xmlns:a16="http://schemas.microsoft.com/office/drawing/2014/main" id="{428772AA-5CB0-F5CC-625F-7E5142BC87FB}"/>
              </a:ext>
            </a:extLst>
          </p:cNvPr>
          <p:cNvSpPr>
            <a:spLocks/>
          </p:cNvSpPr>
          <p:nvPr/>
        </p:nvSpPr>
        <p:spPr bwMode="auto">
          <a:xfrm>
            <a:off x="9240416" y="2738822"/>
            <a:ext cx="821888" cy="511140"/>
          </a:xfrm>
          <a:custGeom>
            <a:avLst/>
            <a:gdLst/>
            <a:ahLst/>
            <a:cxnLst>
              <a:cxn ang="0">
                <a:pos x="1157" y="376"/>
              </a:cxn>
              <a:cxn ang="0">
                <a:pos x="1157" y="376"/>
              </a:cxn>
              <a:cxn ang="0">
                <a:pos x="579" y="753"/>
              </a:cxn>
              <a:cxn ang="0">
                <a:pos x="0" y="376"/>
              </a:cxn>
              <a:cxn ang="0">
                <a:pos x="579" y="0"/>
              </a:cxn>
              <a:cxn ang="0">
                <a:pos x="1157" y="376"/>
              </a:cxn>
              <a:cxn ang="0">
                <a:pos x="1157" y="376"/>
              </a:cxn>
            </a:cxnLst>
            <a:rect l="0" t="0" r="r" b="b"/>
            <a:pathLst>
              <a:path w="1157" h="753">
                <a:moveTo>
                  <a:pt x="1157" y="376"/>
                </a:moveTo>
                <a:lnTo>
                  <a:pt x="1157" y="376"/>
                </a:lnTo>
                <a:cubicBezTo>
                  <a:pt x="1157" y="584"/>
                  <a:pt x="898" y="753"/>
                  <a:pt x="579" y="753"/>
                </a:cubicBezTo>
                <a:cubicBezTo>
                  <a:pt x="259" y="753"/>
                  <a:pt x="0" y="584"/>
                  <a:pt x="0" y="376"/>
                </a:cubicBezTo>
                <a:cubicBezTo>
                  <a:pt x="0" y="169"/>
                  <a:pt x="259" y="0"/>
                  <a:pt x="579" y="0"/>
                </a:cubicBezTo>
                <a:cubicBezTo>
                  <a:pt x="898" y="0"/>
                  <a:pt x="1157" y="169"/>
                  <a:pt x="1157" y="376"/>
                </a:cubicBezTo>
                <a:lnTo>
                  <a:pt x="1157" y="376"/>
                </a:lnTo>
                <a:close/>
              </a:path>
            </a:pathLst>
          </a:custGeom>
          <a:noFill/>
          <a:ln w="9525" cap="flat" cmpd="sng" algn="ctr">
            <a:solidFill>
              <a:srgbClr val="86A44A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square" lIns="48923" tIns="24462" rIns="48923" bIns="24462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133350" indent="-133350" algn="l" defTabSz="533400" rtl="0" eaLnBrk="1" latinLnBrk="0" hangingPunct="1">
              <a:spcBef>
                <a:spcPts val="900"/>
              </a:spcBef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00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34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667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01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34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668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001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19834"/>
            <a:endParaRPr lang="es-ES_tradnl" sz="963">
              <a:solidFill>
                <a:srgbClr val="000000"/>
              </a:solidFill>
            </a:endParaRPr>
          </a:p>
        </p:txBody>
      </p:sp>
      <p:sp>
        <p:nvSpPr>
          <p:cNvPr id="115" name="Freeform 7">
            <a:extLst>
              <a:ext uri="{FF2B5EF4-FFF2-40B4-BE49-F238E27FC236}">
                <a16:creationId xmlns:a16="http://schemas.microsoft.com/office/drawing/2014/main" id="{A41B8BAE-E334-510F-6192-FD780E10362D}"/>
              </a:ext>
            </a:extLst>
          </p:cNvPr>
          <p:cNvSpPr>
            <a:spLocks/>
          </p:cNvSpPr>
          <p:nvPr/>
        </p:nvSpPr>
        <p:spPr bwMode="auto">
          <a:xfrm>
            <a:off x="9572374" y="2658000"/>
            <a:ext cx="155750" cy="148606"/>
          </a:xfrm>
          <a:custGeom>
            <a:avLst/>
            <a:gdLst/>
            <a:ahLst/>
            <a:cxnLst>
              <a:cxn ang="0">
                <a:pos x="208" y="119"/>
              </a:cxn>
              <a:cxn ang="0">
                <a:pos x="208" y="119"/>
              </a:cxn>
              <a:cxn ang="0">
                <a:pos x="104" y="239"/>
              </a:cxn>
              <a:cxn ang="0">
                <a:pos x="0" y="119"/>
              </a:cxn>
              <a:cxn ang="0">
                <a:pos x="104" y="0"/>
              </a:cxn>
              <a:cxn ang="0">
                <a:pos x="208" y="119"/>
              </a:cxn>
            </a:cxnLst>
            <a:rect l="0" t="0" r="r" b="b"/>
            <a:pathLst>
              <a:path w="208" h="239">
                <a:moveTo>
                  <a:pt x="208" y="119"/>
                </a:moveTo>
                <a:lnTo>
                  <a:pt x="208" y="119"/>
                </a:lnTo>
                <a:cubicBezTo>
                  <a:pt x="208" y="185"/>
                  <a:pt x="161" y="239"/>
                  <a:pt x="104" y="239"/>
                </a:cubicBezTo>
                <a:cubicBezTo>
                  <a:pt x="47" y="239"/>
                  <a:pt x="0" y="185"/>
                  <a:pt x="0" y="119"/>
                </a:cubicBezTo>
                <a:cubicBezTo>
                  <a:pt x="0" y="53"/>
                  <a:pt x="47" y="0"/>
                  <a:pt x="104" y="0"/>
                </a:cubicBezTo>
                <a:cubicBezTo>
                  <a:pt x="161" y="0"/>
                  <a:pt x="208" y="53"/>
                  <a:pt x="208" y="119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86A44A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48923" tIns="24462" rIns="48923" bIns="24462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133350" indent="-133350" algn="l" defTabSz="533400" rtl="0" eaLnBrk="1" latinLnBrk="0" hangingPunct="1">
              <a:spcBef>
                <a:spcPts val="900"/>
              </a:spcBef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00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34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667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01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34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668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001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19834"/>
            <a:endParaRPr lang="es-ES_tradnl" sz="963">
              <a:solidFill>
                <a:srgbClr val="2D475A"/>
              </a:solidFill>
            </a:endParaRPr>
          </a:p>
        </p:txBody>
      </p:sp>
      <p:sp>
        <p:nvSpPr>
          <p:cNvPr id="117" name="Freeform 8">
            <a:extLst>
              <a:ext uri="{FF2B5EF4-FFF2-40B4-BE49-F238E27FC236}">
                <a16:creationId xmlns:a16="http://schemas.microsoft.com/office/drawing/2014/main" id="{4EDBE6E7-A8E1-1BF2-EB6D-F932209A981C}"/>
              </a:ext>
            </a:extLst>
          </p:cNvPr>
          <p:cNvSpPr>
            <a:spLocks/>
          </p:cNvSpPr>
          <p:nvPr/>
        </p:nvSpPr>
        <p:spPr bwMode="auto">
          <a:xfrm>
            <a:off x="9891745" y="2749743"/>
            <a:ext cx="155750" cy="148606"/>
          </a:xfrm>
          <a:custGeom>
            <a:avLst/>
            <a:gdLst/>
            <a:ahLst/>
            <a:cxnLst>
              <a:cxn ang="0">
                <a:pos x="207" y="120"/>
              </a:cxn>
              <a:cxn ang="0">
                <a:pos x="207" y="120"/>
              </a:cxn>
              <a:cxn ang="0">
                <a:pos x="103" y="240"/>
              </a:cxn>
              <a:cxn ang="0">
                <a:pos x="0" y="120"/>
              </a:cxn>
              <a:cxn ang="0">
                <a:pos x="103" y="0"/>
              </a:cxn>
              <a:cxn ang="0">
                <a:pos x="207" y="120"/>
              </a:cxn>
            </a:cxnLst>
            <a:rect l="0" t="0" r="r" b="b"/>
            <a:pathLst>
              <a:path w="207" h="240">
                <a:moveTo>
                  <a:pt x="207" y="120"/>
                </a:moveTo>
                <a:lnTo>
                  <a:pt x="207" y="120"/>
                </a:lnTo>
                <a:cubicBezTo>
                  <a:pt x="207" y="186"/>
                  <a:pt x="161" y="240"/>
                  <a:pt x="103" y="240"/>
                </a:cubicBezTo>
                <a:cubicBezTo>
                  <a:pt x="46" y="240"/>
                  <a:pt x="0" y="186"/>
                  <a:pt x="0" y="120"/>
                </a:cubicBezTo>
                <a:cubicBezTo>
                  <a:pt x="0" y="54"/>
                  <a:pt x="46" y="0"/>
                  <a:pt x="103" y="0"/>
                </a:cubicBezTo>
                <a:cubicBezTo>
                  <a:pt x="161" y="0"/>
                  <a:pt x="207" y="54"/>
                  <a:pt x="207" y="120"/>
                </a:cubicBezTo>
                <a:close/>
              </a:path>
            </a:pathLst>
          </a:custGeom>
          <a:solidFill>
            <a:srgbClr val="00B050"/>
          </a:solidFill>
          <a:ln w="12700" cap="flat" cmpd="sng" algn="ctr">
            <a:solidFill>
              <a:srgbClr val="86A44A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48923" tIns="24462" rIns="48923" bIns="24462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133350" indent="-133350" algn="l" defTabSz="533400" rtl="0" eaLnBrk="1" latinLnBrk="0" hangingPunct="1">
              <a:spcBef>
                <a:spcPts val="900"/>
              </a:spcBef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00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34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667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01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34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668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001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19834"/>
            <a:endParaRPr lang="es-ES_tradnl" sz="963">
              <a:solidFill>
                <a:srgbClr val="2D475A"/>
              </a:solidFill>
            </a:endParaRPr>
          </a:p>
        </p:txBody>
      </p:sp>
      <p:sp>
        <p:nvSpPr>
          <p:cNvPr id="119" name="Freeform 10">
            <a:extLst>
              <a:ext uri="{FF2B5EF4-FFF2-40B4-BE49-F238E27FC236}">
                <a16:creationId xmlns:a16="http://schemas.microsoft.com/office/drawing/2014/main" id="{DBE8BE20-A55F-C320-312C-F5ACBB331CFF}"/>
              </a:ext>
            </a:extLst>
          </p:cNvPr>
          <p:cNvSpPr>
            <a:spLocks/>
          </p:cNvSpPr>
          <p:nvPr/>
        </p:nvSpPr>
        <p:spPr bwMode="auto">
          <a:xfrm>
            <a:off x="9265598" y="3079582"/>
            <a:ext cx="155750" cy="148606"/>
          </a:xfrm>
          <a:custGeom>
            <a:avLst/>
            <a:gdLst/>
            <a:ahLst/>
            <a:cxnLst>
              <a:cxn ang="0">
                <a:pos x="207" y="120"/>
              </a:cxn>
              <a:cxn ang="0">
                <a:pos x="207" y="120"/>
              </a:cxn>
              <a:cxn ang="0">
                <a:pos x="104" y="240"/>
              </a:cxn>
              <a:cxn ang="0">
                <a:pos x="0" y="120"/>
              </a:cxn>
              <a:cxn ang="0">
                <a:pos x="104" y="0"/>
              </a:cxn>
              <a:cxn ang="0">
                <a:pos x="207" y="120"/>
              </a:cxn>
            </a:cxnLst>
            <a:rect l="0" t="0" r="r" b="b"/>
            <a:pathLst>
              <a:path w="207" h="240">
                <a:moveTo>
                  <a:pt x="207" y="120"/>
                </a:moveTo>
                <a:lnTo>
                  <a:pt x="207" y="120"/>
                </a:lnTo>
                <a:cubicBezTo>
                  <a:pt x="207" y="187"/>
                  <a:pt x="161" y="240"/>
                  <a:pt x="104" y="240"/>
                </a:cubicBezTo>
                <a:cubicBezTo>
                  <a:pt x="46" y="240"/>
                  <a:pt x="0" y="187"/>
                  <a:pt x="0" y="120"/>
                </a:cubicBezTo>
                <a:cubicBezTo>
                  <a:pt x="0" y="54"/>
                  <a:pt x="46" y="0"/>
                  <a:pt x="104" y="0"/>
                </a:cubicBezTo>
                <a:cubicBezTo>
                  <a:pt x="161" y="0"/>
                  <a:pt x="207" y="54"/>
                  <a:pt x="207" y="120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86A44A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48923" tIns="24462" rIns="48923" bIns="24462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133350" indent="-133350" algn="l" defTabSz="533400" rtl="0" eaLnBrk="1" latinLnBrk="0" hangingPunct="1">
              <a:spcBef>
                <a:spcPts val="900"/>
              </a:spcBef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00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34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667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01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34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668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001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19834"/>
            <a:endParaRPr lang="es-ES_tradnl" sz="963">
              <a:solidFill>
                <a:srgbClr val="2D475A"/>
              </a:solidFill>
            </a:endParaRPr>
          </a:p>
        </p:txBody>
      </p:sp>
      <p:sp>
        <p:nvSpPr>
          <p:cNvPr id="121" name="Freeform 11">
            <a:extLst>
              <a:ext uri="{FF2B5EF4-FFF2-40B4-BE49-F238E27FC236}">
                <a16:creationId xmlns:a16="http://schemas.microsoft.com/office/drawing/2014/main" id="{BDBEA3CC-F075-C9F2-EA6B-B502C1B71D71}"/>
              </a:ext>
            </a:extLst>
          </p:cNvPr>
          <p:cNvSpPr>
            <a:spLocks/>
          </p:cNvSpPr>
          <p:nvPr/>
        </p:nvSpPr>
        <p:spPr bwMode="auto">
          <a:xfrm>
            <a:off x="9572374" y="3165864"/>
            <a:ext cx="155750" cy="148606"/>
          </a:xfrm>
          <a:custGeom>
            <a:avLst/>
            <a:gdLst/>
            <a:ahLst/>
            <a:cxnLst>
              <a:cxn ang="0">
                <a:pos x="208" y="120"/>
              </a:cxn>
              <a:cxn ang="0">
                <a:pos x="208" y="120"/>
              </a:cxn>
              <a:cxn ang="0">
                <a:pos x="104" y="241"/>
              </a:cxn>
              <a:cxn ang="0">
                <a:pos x="0" y="120"/>
              </a:cxn>
              <a:cxn ang="0">
                <a:pos x="104" y="0"/>
              </a:cxn>
              <a:cxn ang="0">
                <a:pos x="208" y="120"/>
              </a:cxn>
            </a:cxnLst>
            <a:rect l="0" t="0" r="r" b="b"/>
            <a:pathLst>
              <a:path w="208" h="241">
                <a:moveTo>
                  <a:pt x="208" y="120"/>
                </a:moveTo>
                <a:lnTo>
                  <a:pt x="208" y="120"/>
                </a:lnTo>
                <a:cubicBezTo>
                  <a:pt x="208" y="187"/>
                  <a:pt x="161" y="241"/>
                  <a:pt x="104" y="241"/>
                </a:cubicBezTo>
                <a:cubicBezTo>
                  <a:pt x="47" y="241"/>
                  <a:pt x="0" y="187"/>
                  <a:pt x="0" y="120"/>
                </a:cubicBezTo>
                <a:cubicBezTo>
                  <a:pt x="0" y="54"/>
                  <a:pt x="47" y="0"/>
                  <a:pt x="104" y="0"/>
                </a:cubicBezTo>
                <a:cubicBezTo>
                  <a:pt x="161" y="0"/>
                  <a:pt x="208" y="54"/>
                  <a:pt x="208" y="120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86A44A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48923" tIns="24462" rIns="48923" bIns="24462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133350" indent="-133350" algn="l" defTabSz="533400" rtl="0" eaLnBrk="1" latinLnBrk="0" hangingPunct="1">
              <a:spcBef>
                <a:spcPts val="900"/>
              </a:spcBef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00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34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667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01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34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668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001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19834"/>
            <a:endParaRPr lang="es-ES_tradnl" sz="963">
              <a:solidFill>
                <a:srgbClr val="2D475A"/>
              </a:solidFill>
            </a:endParaRPr>
          </a:p>
        </p:txBody>
      </p:sp>
      <p:sp>
        <p:nvSpPr>
          <p:cNvPr id="123" name="Freeform 12">
            <a:extLst>
              <a:ext uri="{FF2B5EF4-FFF2-40B4-BE49-F238E27FC236}">
                <a16:creationId xmlns:a16="http://schemas.microsoft.com/office/drawing/2014/main" id="{819E2FDE-913B-FAEE-801F-D4847B03A76C}"/>
              </a:ext>
            </a:extLst>
          </p:cNvPr>
          <p:cNvSpPr>
            <a:spLocks/>
          </p:cNvSpPr>
          <p:nvPr/>
        </p:nvSpPr>
        <p:spPr bwMode="auto">
          <a:xfrm>
            <a:off x="9891745" y="3079582"/>
            <a:ext cx="155750" cy="148606"/>
          </a:xfrm>
          <a:custGeom>
            <a:avLst/>
            <a:gdLst/>
            <a:ahLst/>
            <a:cxnLst>
              <a:cxn ang="0">
                <a:pos x="207" y="120"/>
              </a:cxn>
              <a:cxn ang="0">
                <a:pos x="207" y="120"/>
              </a:cxn>
              <a:cxn ang="0">
                <a:pos x="103" y="240"/>
              </a:cxn>
              <a:cxn ang="0">
                <a:pos x="0" y="120"/>
              </a:cxn>
              <a:cxn ang="0">
                <a:pos x="103" y="0"/>
              </a:cxn>
              <a:cxn ang="0">
                <a:pos x="207" y="120"/>
              </a:cxn>
            </a:cxnLst>
            <a:rect l="0" t="0" r="r" b="b"/>
            <a:pathLst>
              <a:path w="207" h="240">
                <a:moveTo>
                  <a:pt x="207" y="120"/>
                </a:moveTo>
                <a:lnTo>
                  <a:pt x="207" y="120"/>
                </a:lnTo>
                <a:cubicBezTo>
                  <a:pt x="207" y="187"/>
                  <a:pt x="161" y="240"/>
                  <a:pt x="103" y="240"/>
                </a:cubicBezTo>
                <a:cubicBezTo>
                  <a:pt x="46" y="240"/>
                  <a:pt x="0" y="187"/>
                  <a:pt x="0" y="120"/>
                </a:cubicBezTo>
                <a:cubicBezTo>
                  <a:pt x="0" y="54"/>
                  <a:pt x="46" y="0"/>
                  <a:pt x="103" y="0"/>
                </a:cubicBezTo>
                <a:cubicBezTo>
                  <a:pt x="161" y="0"/>
                  <a:pt x="207" y="54"/>
                  <a:pt x="207" y="120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86A44A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48923" tIns="24462" rIns="48923" bIns="24462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133350" indent="-133350" algn="l" defTabSz="533400" rtl="0" eaLnBrk="1" latinLnBrk="0" hangingPunct="1">
              <a:spcBef>
                <a:spcPts val="900"/>
              </a:spcBef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00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34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667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01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34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668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001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19834"/>
            <a:endParaRPr lang="es-ES_tradnl" sz="963">
              <a:solidFill>
                <a:srgbClr val="2D475A"/>
              </a:solidFill>
            </a:endParaRPr>
          </a:p>
        </p:txBody>
      </p:sp>
      <p:sp>
        <p:nvSpPr>
          <p:cNvPr id="125" name="Freeform 9">
            <a:extLst>
              <a:ext uri="{FF2B5EF4-FFF2-40B4-BE49-F238E27FC236}">
                <a16:creationId xmlns:a16="http://schemas.microsoft.com/office/drawing/2014/main" id="{DC288495-4918-B759-1635-407854461C46}"/>
              </a:ext>
            </a:extLst>
          </p:cNvPr>
          <p:cNvSpPr>
            <a:spLocks/>
          </p:cNvSpPr>
          <p:nvPr/>
        </p:nvSpPr>
        <p:spPr bwMode="auto">
          <a:xfrm>
            <a:off x="9250326" y="2760169"/>
            <a:ext cx="156901" cy="148606"/>
          </a:xfrm>
          <a:custGeom>
            <a:avLst/>
            <a:gdLst/>
            <a:ahLst/>
            <a:cxnLst>
              <a:cxn ang="0">
                <a:pos x="207" y="120"/>
              </a:cxn>
              <a:cxn ang="0">
                <a:pos x="207" y="120"/>
              </a:cxn>
              <a:cxn ang="0">
                <a:pos x="104" y="240"/>
              </a:cxn>
              <a:cxn ang="0">
                <a:pos x="0" y="120"/>
              </a:cxn>
              <a:cxn ang="0">
                <a:pos x="104" y="0"/>
              </a:cxn>
              <a:cxn ang="0">
                <a:pos x="207" y="120"/>
              </a:cxn>
            </a:cxnLst>
            <a:rect l="0" t="0" r="r" b="b"/>
            <a:pathLst>
              <a:path w="207" h="240">
                <a:moveTo>
                  <a:pt x="207" y="120"/>
                </a:moveTo>
                <a:lnTo>
                  <a:pt x="207" y="120"/>
                </a:lnTo>
                <a:cubicBezTo>
                  <a:pt x="207" y="186"/>
                  <a:pt x="161" y="240"/>
                  <a:pt x="104" y="240"/>
                </a:cubicBezTo>
                <a:cubicBezTo>
                  <a:pt x="46" y="240"/>
                  <a:pt x="0" y="186"/>
                  <a:pt x="0" y="120"/>
                </a:cubicBezTo>
                <a:cubicBezTo>
                  <a:pt x="0" y="54"/>
                  <a:pt x="46" y="0"/>
                  <a:pt x="104" y="0"/>
                </a:cubicBezTo>
                <a:cubicBezTo>
                  <a:pt x="161" y="0"/>
                  <a:pt x="207" y="54"/>
                  <a:pt x="207" y="120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86A44A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48923" tIns="24462" rIns="48923" bIns="24462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133350" indent="-133350" algn="l" defTabSz="533400" rtl="0" eaLnBrk="1" latinLnBrk="0" hangingPunct="1">
              <a:spcBef>
                <a:spcPts val="900"/>
              </a:spcBef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00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34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667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01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34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668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001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19834"/>
            <a:endParaRPr lang="es-ES_tradnl" sz="963">
              <a:solidFill>
                <a:srgbClr val="2D475A"/>
              </a:solidFill>
            </a:endParaRPr>
          </a:p>
        </p:txBody>
      </p:sp>
      <p:sp>
        <p:nvSpPr>
          <p:cNvPr id="127" name="Oval 124">
            <a:extLst>
              <a:ext uri="{FF2B5EF4-FFF2-40B4-BE49-F238E27FC236}">
                <a16:creationId xmlns:a16="http://schemas.microsoft.com/office/drawing/2014/main" id="{FF38316B-BC38-78DC-4ECD-7D55E2DC8531}"/>
              </a:ext>
            </a:extLst>
          </p:cNvPr>
          <p:cNvSpPr/>
          <p:nvPr/>
        </p:nvSpPr>
        <p:spPr bwMode="gray">
          <a:xfrm>
            <a:off x="8723872" y="2656807"/>
            <a:ext cx="1886522" cy="657663"/>
          </a:xfrm>
          <a:prstGeom prst="ellipse">
            <a:avLst/>
          </a:prstGeom>
          <a:noFill/>
          <a:ln w="9525" cap="flat" cmpd="sng" algn="ctr">
            <a:solidFill>
              <a:srgbClr val="86A44A"/>
            </a:solidFill>
            <a:prstDash val="dash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7000" tIns="27000" rIns="27000" bIns="27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133350" indent="-133350" algn="l" defTabSz="533400" rtl="0" eaLnBrk="1" latinLnBrk="0" hangingPunct="1">
              <a:spcBef>
                <a:spcPts val="900"/>
              </a:spcBef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2667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00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334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6667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800100" indent="-133350" algn="l" defTabSz="533400" rtl="0" eaLnBrk="1" latinLnBrk="0" hangingPunct="1"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33450" indent="-133350" algn="l" defTabSz="533400" rtl="0" eaLnBrk="1" latinLnBrk="0" hangingPunct="1"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066800" indent="-133350" algn="l" defTabSz="533400" rtl="0" eaLnBrk="1" latinLnBrk="0" hangingPunct="1"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200150" indent="-133350" algn="l" defTabSz="533400" rtl="0" eaLnBrk="1" latinLnBrk="0" hangingPunct="1"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ES_tradnl">
              <a:solidFill>
                <a:schemeClr val="tx1"/>
              </a:solidFill>
            </a:endParaRPr>
          </a:p>
        </p:txBody>
      </p:sp>
      <p:sp>
        <p:nvSpPr>
          <p:cNvPr id="129" name="Rectangle 125">
            <a:extLst>
              <a:ext uri="{FF2B5EF4-FFF2-40B4-BE49-F238E27FC236}">
                <a16:creationId xmlns:a16="http://schemas.microsoft.com/office/drawing/2014/main" id="{4934FF4B-04AC-9D9C-1038-DE0FC0BE1264}"/>
              </a:ext>
            </a:extLst>
          </p:cNvPr>
          <p:cNvSpPr/>
          <p:nvPr/>
        </p:nvSpPr>
        <p:spPr bwMode="gray">
          <a:xfrm>
            <a:off x="1132864" y="2033034"/>
            <a:ext cx="3010565" cy="21608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7000" tIns="27000" rIns="27000" bIns="27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133350" indent="-133350" algn="l" defTabSz="533400" rtl="0" eaLnBrk="1" latinLnBrk="0" hangingPunct="1">
              <a:spcBef>
                <a:spcPts val="900"/>
              </a:spcBef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2667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00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334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6667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800100" indent="-133350" algn="l" defTabSz="533400" rtl="0" eaLnBrk="1" latinLnBrk="0" hangingPunct="1"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33450" indent="-133350" algn="l" defTabSz="533400" rtl="0" eaLnBrk="1" latinLnBrk="0" hangingPunct="1"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066800" indent="-133350" algn="l" defTabSz="533400" rtl="0" eaLnBrk="1" latinLnBrk="0" hangingPunct="1"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200150" indent="-133350" algn="l" defTabSz="533400" rtl="0" eaLnBrk="1" latinLnBrk="0" hangingPunct="1"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_tradnl" sz="1600" b="1">
                <a:solidFill>
                  <a:srgbClr val="5C5C5C"/>
                </a:solidFill>
                <a:latin typeface="+mj-lt"/>
              </a:rPr>
              <a:t>Silos de alto rendimiento</a:t>
            </a:r>
          </a:p>
        </p:txBody>
      </p:sp>
      <p:sp>
        <p:nvSpPr>
          <p:cNvPr id="131" name="Rectangle 126">
            <a:extLst>
              <a:ext uri="{FF2B5EF4-FFF2-40B4-BE49-F238E27FC236}">
                <a16:creationId xmlns:a16="http://schemas.microsoft.com/office/drawing/2014/main" id="{E9A77DFF-6932-8FA4-75BA-7D0C1F0F13FB}"/>
              </a:ext>
            </a:extLst>
          </p:cNvPr>
          <p:cNvSpPr/>
          <p:nvPr/>
        </p:nvSpPr>
        <p:spPr bwMode="gray">
          <a:xfrm>
            <a:off x="4936485" y="2033034"/>
            <a:ext cx="2283725" cy="21608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7000" tIns="27000" rIns="27000" bIns="27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133350" indent="-133350" algn="l" defTabSz="533400" rtl="0" eaLnBrk="1" latinLnBrk="0" hangingPunct="1">
              <a:spcBef>
                <a:spcPts val="900"/>
              </a:spcBef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2667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00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334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6667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800100" indent="-133350" algn="l" defTabSz="533400" rtl="0" eaLnBrk="1" latinLnBrk="0" hangingPunct="1"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33450" indent="-133350" algn="l" defTabSz="533400" rtl="0" eaLnBrk="1" latinLnBrk="0" hangingPunct="1"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066800" indent="-133350" algn="l" defTabSz="533400" rtl="0" eaLnBrk="1" latinLnBrk="0" hangingPunct="1"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200150" indent="-133350" algn="l" defTabSz="533400" rtl="0" eaLnBrk="1" latinLnBrk="0" hangingPunct="1"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  <a:defRPr/>
            </a:pPr>
            <a:r>
              <a:rPr lang="es-ES_tradnl" sz="1600" b="1">
                <a:solidFill>
                  <a:srgbClr val="106470"/>
                </a:solidFill>
                <a:latin typeface="+mj-lt"/>
              </a:rPr>
              <a:t>Equipo cohesivo</a:t>
            </a:r>
          </a:p>
        </p:txBody>
      </p:sp>
      <p:sp>
        <p:nvSpPr>
          <p:cNvPr id="133" name="Rectangle 127">
            <a:extLst>
              <a:ext uri="{FF2B5EF4-FFF2-40B4-BE49-F238E27FC236}">
                <a16:creationId xmlns:a16="http://schemas.microsoft.com/office/drawing/2014/main" id="{213FD3F3-3D89-BAA1-F1D1-F71EF4C93212}"/>
              </a:ext>
            </a:extLst>
          </p:cNvPr>
          <p:cNvSpPr/>
          <p:nvPr/>
        </p:nvSpPr>
        <p:spPr bwMode="gray">
          <a:xfrm>
            <a:off x="8142992" y="2033034"/>
            <a:ext cx="2941374" cy="21608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7000" tIns="27000" rIns="27000" bIns="27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133350" indent="-133350" algn="l" defTabSz="533400" rtl="0" eaLnBrk="1" latinLnBrk="0" hangingPunct="1">
              <a:spcBef>
                <a:spcPts val="900"/>
              </a:spcBef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2667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00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334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6667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800100" indent="-133350" algn="l" defTabSz="533400" rtl="0" eaLnBrk="1" latinLnBrk="0" hangingPunct="1"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33450" indent="-133350" algn="l" defTabSz="533400" rtl="0" eaLnBrk="1" latinLnBrk="0" hangingPunct="1"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066800" indent="-133350" algn="l" defTabSz="533400" rtl="0" eaLnBrk="1" latinLnBrk="0" hangingPunct="1"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200150" indent="-133350" algn="l" defTabSz="533400" rtl="0" eaLnBrk="1" latinLnBrk="0" hangingPunct="1"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_tradnl" sz="1600" b="1">
                <a:solidFill>
                  <a:srgbClr val="86A44A"/>
                </a:solidFill>
                <a:latin typeface="+mj-lt"/>
              </a:rPr>
              <a:t>Equipo ágil y empoderado</a:t>
            </a:r>
          </a:p>
          <a:p>
            <a:pPr marL="0" indent="0" algn="ctr">
              <a:buNone/>
            </a:pPr>
            <a:r>
              <a:rPr lang="es-ES_tradnl" sz="1600">
                <a:solidFill>
                  <a:schemeClr val="tx1"/>
                </a:solidFill>
                <a:latin typeface="+mj-lt"/>
              </a:rPr>
              <a:t> </a:t>
            </a:r>
          </a:p>
        </p:txBody>
      </p:sp>
      <p:cxnSp>
        <p:nvCxnSpPr>
          <p:cNvPr id="135" name="Straight Connector 128">
            <a:extLst>
              <a:ext uri="{FF2B5EF4-FFF2-40B4-BE49-F238E27FC236}">
                <a16:creationId xmlns:a16="http://schemas.microsoft.com/office/drawing/2014/main" id="{BCF01B31-32FF-4969-5632-F023E17FFFAC}"/>
              </a:ext>
            </a:extLst>
          </p:cNvPr>
          <p:cNvCxnSpPr/>
          <p:nvPr/>
        </p:nvCxnSpPr>
        <p:spPr>
          <a:xfrm>
            <a:off x="4401005" y="2031932"/>
            <a:ext cx="0" cy="1584642"/>
          </a:xfrm>
          <a:prstGeom prst="line">
            <a:avLst/>
          </a:prstGeom>
          <a:ln w="9525" cap="flat" cmpd="sng" algn="ctr">
            <a:solidFill>
              <a:srgbClr val="85858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OTLSHAPE_SL_8911bceb679441adb3756a794b682f31_HeaderRectangle24">
            <a:extLst>
              <a:ext uri="{FF2B5EF4-FFF2-40B4-BE49-F238E27FC236}">
                <a16:creationId xmlns:a16="http://schemas.microsoft.com/office/drawing/2014/main" id="{3209E926-DC40-BE05-29A3-FE84755574B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 rot="5400000">
            <a:off x="7962702" y="4629974"/>
            <a:ext cx="689611" cy="231179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Roboto Condensed" panose="02000000000000000000" pitchFamily="2" charset="0"/>
                <a:cs typeface="Calibri"/>
              </a:rPr>
              <a:t>Aspiración </a:t>
            </a:r>
          </a:p>
        </p:txBody>
      </p:sp>
      <p:sp>
        <p:nvSpPr>
          <p:cNvPr id="139" name="OTLSHAPE_SL_8911bceb679441adb3756a794b682f31_HeaderRectangle24">
            <a:extLst>
              <a:ext uri="{FF2B5EF4-FFF2-40B4-BE49-F238E27FC236}">
                <a16:creationId xmlns:a16="http://schemas.microsoft.com/office/drawing/2014/main" id="{CF71B584-CAEC-1BC5-75D7-93EB404FADF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 rot="5400000">
            <a:off x="3651852" y="4629974"/>
            <a:ext cx="689611" cy="231179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Roboto Condensed" panose="02000000000000000000" pitchFamily="2" charset="0"/>
                <a:cs typeface="Calibri"/>
              </a:rPr>
              <a:t>Compromiso</a:t>
            </a:r>
          </a:p>
        </p:txBody>
      </p:sp>
      <p:cxnSp>
        <p:nvCxnSpPr>
          <p:cNvPr id="141" name="Conector recto 140">
            <a:extLst>
              <a:ext uri="{FF2B5EF4-FFF2-40B4-BE49-F238E27FC236}">
                <a16:creationId xmlns:a16="http://schemas.microsoft.com/office/drawing/2014/main" id="{6B0D9E6D-5643-6BA8-F413-D652EA6381C4}"/>
              </a:ext>
            </a:extLst>
          </p:cNvPr>
          <p:cNvCxnSpPr/>
          <p:nvPr/>
        </p:nvCxnSpPr>
        <p:spPr>
          <a:xfrm>
            <a:off x="2143312" y="6280219"/>
            <a:ext cx="79359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riángulo isósceles 1">
            <a:extLst>
              <a:ext uri="{FF2B5EF4-FFF2-40B4-BE49-F238E27FC236}">
                <a16:creationId xmlns:a16="http://schemas.microsoft.com/office/drawing/2014/main" id="{33F1ABFA-FF05-8ED6-4B97-CB75D08F884B}"/>
              </a:ext>
            </a:extLst>
          </p:cNvPr>
          <p:cNvSpPr/>
          <p:nvPr/>
        </p:nvSpPr>
        <p:spPr>
          <a:xfrm>
            <a:off x="5096440" y="6413095"/>
            <a:ext cx="2067653" cy="340998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932949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g2c711885e3a_0_215"/>
          <p:cNvGrpSpPr/>
          <p:nvPr/>
        </p:nvGrpSpPr>
        <p:grpSpPr>
          <a:xfrm>
            <a:off x="0" y="6926580"/>
            <a:ext cx="12192100" cy="137160"/>
            <a:chOff x="0" y="6926580"/>
            <a:chExt cx="12192100" cy="137160"/>
          </a:xfrm>
        </p:grpSpPr>
        <p:sp>
          <p:nvSpPr>
            <p:cNvPr id="239" name="Google Shape;239;g2c711885e3a_0_215"/>
            <p:cNvSpPr/>
            <p:nvPr/>
          </p:nvSpPr>
          <p:spPr>
            <a:xfrm>
              <a:off x="11861800" y="6926580"/>
              <a:ext cx="3303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2c711885e3a_0_215"/>
            <p:cNvSpPr/>
            <p:nvPr/>
          </p:nvSpPr>
          <p:spPr>
            <a:xfrm>
              <a:off x="5829300" y="6926580"/>
              <a:ext cx="5334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1" name="Google Shape;241;g2c711885e3a_0_215"/>
            <p:cNvCxnSpPr/>
            <p:nvPr/>
          </p:nvCxnSpPr>
          <p:spPr>
            <a:xfrm rot="10800000">
              <a:off x="118618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2" name="Google Shape;242;g2c711885e3a_0_215"/>
            <p:cNvCxnSpPr/>
            <p:nvPr/>
          </p:nvCxnSpPr>
          <p:spPr>
            <a:xfrm rot="10800000">
              <a:off x="63627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43" name="Google Shape;243;g2c711885e3a_0_215"/>
            <p:cNvSpPr/>
            <p:nvPr/>
          </p:nvSpPr>
          <p:spPr>
            <a:xfrm>
              <a:off x="0" y="6926580"/>
              <a:ext cx="3303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4" name="Google Shape;244;g2c711885e3a_0_215"/>
            <p:cNvCxnSpPr/>
            <p:nvPr/>
          </p:nvCxnSpPr>
          <p:spPr>
            <a:xfrm rot="10800000">
              <a:off x="58293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5" name="Google Shape;245;g2c711885e3a_0_215"/>
            <p:cNvCxnSpPr/>
            <p:nvPr/>
          </p:nvCxnSpPr>
          <p:spPr>
            <a:xfrm rot="10800000">
              <a:off x="3302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46" name="Google Shape;246;g2c711885e3a_0_215"/>
          <p:cNvGrpSpPr/>
          <p:nvPr/>
        </p:nvGrpSpPr>
        <p:grpSpPr>
          <a:xfrm>
            <a:off x="0" y="-205740"/>
            <a:ext cx="12192100" cy="137160"/>
            <a:chOff x="0" y="-205740"/>
            <a:chExt cx="12192100" cy="137160"/>
          </a:xfrm>
        </p:grpSpPr>
        <p:sp>
          <p:nvSpPr>
            <p:cNvPr id="247" name="Google Shape;247;g2c711885e3a_0_215"/>
            <p:cNvSpPr/>
            <p:nvPr/>
          </p:nvSpPr>
          <p:spPr>
            <a:xfrm>
              <a:off x="11861800" y="-205740"/>
              <a:ext cx="3303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2c711885e3a_0_215"/>
            <p:cNvSpPr/>
            <p:nvPr/>
          </p:nvSpPr>
          <p:spPr>
            <a:xfrm>
              <a:off x="5829300" y="-205740"/>
              <a:ext cx="5334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9" name="Google Shape;249;g2c711885e3a_0_215"/>
            <p:cNvCxnSpPr/>
            <p:nvPr/>
          </p:nvCxnSpPr>
          <p:spPr>
            <a:xfrm rot="10800000">
              <a:off x="118618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0" name="Google Shape;250;g2c711885e3a_0_215"/>
            <p:cNvCxnSpPr/>
            <p:nvPr/>
          </p:nvCxnSpPr>
          <p:spPr>
            <a:xfrm rot="10800000">
              <a:off x="63627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51" name="Google Shape;251;g2c711885e3a_0_215"/>
            <p:cNvSpPr/>
            <p:nvPr/>
          </p:nvSpPr>
          <p:spPr>
            <a:xfrm>
              <a:off x="0" y="-205740"/>
              <a:ext cx="330300" cy="137100"/>
            </a:xfrm>
            <a:prstGeom prst="rect">
              <a:avLst/>
            </a:prstGeom>
            <a:solidFill>
              <a:srgbClr val="FFFFFF">
                <a:alpha val="2471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2" name="Google Shape;252;g2c711885e3a_0_215"/>
            <p:cNvCxnSpPr/>
            <p:nvPr/>
          </p:nvCxnSpPr>
          <p:spPr>
            <a:xfrm rot="10800000">
              <a:off x="58293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3" name="Google Shape;253;g2c711885e3a_0_215"/>
            <p:cNvCxnSpPr/>
            <p:nvPr/>
          </p:nvCxnSpPr>
          <p:spPr>
            <a:xfrm rot="10800000">
              <a:off x="3302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65" name="Google Shape;265;g2c711885e3a_0_215"/>
          <p:cNvGrpSpPr/>
          <p:nvPr/>
        </p:nvGrpSpPr>
        <p:grpSpPr>
          <a:xfrm>
            <a:off x="330200" y="5745480"/>
            <a:ext cx="11531700" cy="824999"/>
            <a:chOff x="-711496" y="909638"/>
            <a:chExt cx="11531700" cy="1125818"/>
          </a:xfrm>
        </p:grpSpPr>
        <p:sp>
          <p:nvSpPr>
            <p:cNvPr id="266" name="Google Shape;266;g2c711885e3a_0_215"/>
            <p:cNvSpPr txBox="1"/>
            <p:nvPr/>
          </p:nvSpPr>
          <p:spPr>
            <a:xfrm>
              <a:off x="-711496" y="1401541"/>
              <a:ext cx="11531700" cy="6339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025" tIns="36025" rIns="36025" bIns="180175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13832"/>
                </a:buClr>
                <a:buSzPts val="1600"/>
                <a:buFont typeface="Arial"/>
                <a:buNone/>
              </a:pPr>
              <a:r>
                <a:rPr lang="en-US" sz="1600" b="1" u="none" strike="noStrike" cap="none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  <a:sym typeface="Arial"/>
                </a:rPr>
                <a:t>Distinción</a:t>
              </a:r>
              <a:r>
                <a:rPr lang="en-US" sz="1600" b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: </a:t>
              </a:r>
              <a:r>
                <a:rPr lang="en-US" sz="1600" b="1" u="none" strike="noStrike" cap="none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  <a:sym typeface="Arial"/>
                </a:rPr>
                <a:t>Las </a:t>
              </a:r>
              <a:r>
                <a:rPr lang="en-US" sz="1600" b="1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</a:rPr>
                <a:t>t</a:t>
              </a:r>
              <a:r>
                <a:rPr lang="en-US" sz="1600" b="1" u="none" strike="noStrike" cap="none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  <a:sym typeface="Arial"/>
                </a:rPr>
                <a:t>ransformaciones</a:t>
              </a:r>
              <a:r>
                <a:rPr lang="en-US" sz="1600" b="1" u="none" strike="noStrike" cap="none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  <a:sym typeface="Arial"/>
                </a:rPr>
                <a:t> </a:t>
              </a:r>
              <a:r>
                <a:rPr lang="en-US" sz="1600" b="1" u="none" strike="noStrike" cap="none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  <a:sym typeface="Arial"/>
                </a:rPr>
                <a:t>requerieren</a:t>
              </a:r>
              <a:r>
                <a:rPr lang="en-US" sz="1600" b="1" u="none" strike="noStrike" cap="none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  <a:sym typeface="Arial"/>
                </a:rPr>
                <a:t> </a:t>
              </a:r>
              <a:r>
                <a:rPr lang="en-US" sz="1600" b="1" u="none" strike="noStrike" cap="none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  <a:sym typeface="Arial"/>
                </a:rPr>
                <a:t>gestionar</a:t>
              </a:r>
              <a:r>
                <a:rPr lang="en-US" sz="1600" b="1" u="none" strike="noStrike" cap="none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  <a:sym typeface="Arial"/>
                </a:rPr>
                <a:t> </a:t>
              </a:r>
              <a:r>
                <a:rPr lang="en-US" sz="1600" b="1" u="none" strike="noStrike" cap="none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  <a:sym typeface="Arial"/>
                </a:rPr>
                <a:t>mentalidades</a:t>
              </a:r>
              <a:r>
                <a:rPr lang="en-US" sz="1600" b="1" u="none" strike="noStrike" cap="none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  <a:sym typeface="Arial"/>
                </a:rPr>
                <a:t> que son </a:t>
              </a:r>
              <a:r>
                <a:rPr lang="en-US" sz="1600" b="1" u="none" strike="noStrike" cap="none" err="1">
                  <a:solidFill>
                    <a:srgbClr val="C13832"/>
                  </a:solidFill>
                  <a:latin typeface="Century Gothic" charset="0"/>
                  <a:ea typeface="Century Gothic" charset="0"/>
                  <a:cs typeface="Century Gothic" charset="0"/>
                  <a:sym typeface="Arial"/>
                </a:rPr>
                <a:t>contradictorias</a:t>
              </a:r>
              <a:endParaRPr b="1">
                <a:latin typeface="Century Gothic" charset="0"/>
                <a:ea typeface="Century Gothic" charset="0"/>
                <a:cs typeface="Century Gothic" charset="0"/>
              </a:endParaRPr>
            </a:p>
          </p:txBody>
        </p:sp>
        <p:sp>
          <p:nvSpPr>
            <p:cNvPr id="267" name="Google Shape;267;g2c711885e3a_0_215"/>
            <p:cNvSpPr/>
            <p:nvPr/>
          </p:nvSpPr>
          <p:spPr>
            <a:xfrm>
              <a:off x="4621870" y="909638"/>
              <a:ext cx="864900" cy="491700"/>
            </a:xfrm>
            <a:prstGeom prst="downArrow">
              <a:avLst>
                <a:gd name="adj1" fmla="val 50000"/>
                <a:gd name="adj2" fmla="val 70000"/>
              </a:avLst>
            </a:prstGeom>
            <a:noFill/>
            <a:ln w="9525" cap="flat" cmpd="sng">
              <a:solidFill>
                <a:srgbClr val="C1383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8" name="Google Shape;268;g2c711885e3a_0_215"/>
            <p:cNvCxnSpPr/>
            <p:nvPr/>
          </p:nvCxnSpPr>
          <p:spPr>
            <a:xfrm>
              <a:off x="-711496" y="1237643"/>
              <a:ext cx="5419800" cy="0"/>
            </a:xfrm>
            <a:prstGeom prst="straightConnector1">
              <a:avLst/>
            </a:prstGeom>
            <a:noFill/>
            <a:ln w="9525" cap="flat" cmpd="sng">
              <a:solidFill>
                <a:srgbClr val="C1383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69" name="Google Shape;269;g2c711885e3a_0_215"/>
            <p:cNvCxnSpPr/>
            <p:nvPr/>
          </p:nvCxnSpPr>
          <p:spPr>
            <a:xfrm>
              <a:off x="5400252" y="1237643"/>
              <a:ext cx="5419800" cy="0"/>
            </a:xfrm>
            <a:prstGeom prst="straightConnector1">
              <a:avLst/>
            </a:prstGeom>
            <a:noFill/>
            <a:ln w="9525" cap="flat" cmpd="sng">
              <a:solidFill>
                <a:srgbClr val="C1383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" name="OTLSHAPE_SL_8911bceb679441adb3756a794b682f31_HeaderRectangle24">
            <a:extLst>
              <a:ext uri="{FF2B5EF4-FFF2-40B4-BE49-F238E27FC236}">
                <a16:creationId xmlns:a16="http://schemas.microsoft.com/office/drawing/2014/main" id="{7CF3EED1-E89D-296A-ABB4-517DB182FD6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rot="5400000">
            <a:off x="8046238" y="475357"/>
            <a:ext cx="596899" cy="190738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Aspirar </a:t>
            </a:r>
          </a:p>
        </p:txBody>
      </p:sp>
      <p:sp>
        <p:nvSpPr>
          <p:cNvPr id="3" name="OTLSHAPE_SL_8911bceb679441adb3756a794b682f31_HeaderRectangle24">
            <a:extLst>
              <a:ext uri="{FF2B5EF4-FFF2-40B4-BE49-F238E27FC236}">
                <a16:creationId xmlns:a16="http://schemas.microsoft.com/office/drawing/2014/main" id="{3E2AE84A-5302-76AF-84E2-A0592D2E430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rot="5400000">
            <a:off x="4489513" y="475357"/>
            <a:ext cx="596899" cy="190738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Cumplir</a:t>
            </a:r>
          </a:p>
        </p:txBody>
      </p:sp>
      <p:sp>
        <p:nvSpPr>
          <p:cNvPr id="4" name="OTLSHAPE_SLT_44de9765e7204557b88297f4709b8c30_Title33">
            <a:extLst>
              <a:ext uri="{FF2B5EF4-FFF2-40B4-BE49-F238E27FC236}">
                <a16:creationId xmlns:a16="http://schemas.microsoft.com/office/drawing/2014/main" id="{50F2A0E5-7A9B-199C-D4DC-F10E427B94C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55099" y="2159415"/>
            <a:ext cx="1756496" cy="620067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defPPr>
              <a:defRPr lang="es-CL"/>
            </a:defPPr>
            <a:lvl1pPr marR="0" lvl="0" indent="0" algn="ctr" defTabSz="914377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200" b="1" i="0" u="none" strike="noStrike" cap="none" spc="-7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defRPr>
            </a:lvl1pPr>
          </a:lstStyle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u="none" strike="noStrike" kern="0" cap="none" spc="-7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Resultados</a:t>
            </a:r>
          </a:p>
        </p:txBody>
      </p:sp>
      <p:sp>
        <p:nvSpPr>
          <p:cNvPr id="6" name="OTLSHAPE_SLT_44de9765e7204557b88297f4709b8c30_Title33">
            <a:extLst>
              <a:ext uri="{FF2B5EF4-FFF2-40B4-BE49-F238E27FC236}">
                <a16:creationId xmlns:a16="http://schemas.microsoft.com/office/drawing/2014/main" id="{3F427AD1-F6F4-508C-FE63-092A61533C7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55099" y="3272296"/>
            <a:ext cx="1756496" cy="620067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defPPr>
              <a:defRPr lang="es-CL"/>
            </a:defPPr>
            <a:lvl1pPr marR="0" lvl="0" indent="0" algn="ctr" defTabSz="914377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200" b="1" i="0" u="none" strike="noStrike" cap="none" spc="-7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defRPr>
            </a:lvl1pPr>
          </a:lstStyle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u="none" strike="noStrike" kern="0" cap="none" spc="-7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Procesos</a:t>
            </a:r>
          </a:p>
        </p:txBody>
      </p:sp>
      <p:sp>
        <p:nvSpPr>
          <p:cNvPr id="31" name="OTLSHAPE_SLT_44de9765e7204557b88297f4709b8c30_Title33">
            <a:extLst>
              <a:ext uri="{FF2B5EF4-FFF2-40B4-BE49-F238E27FC236}">
                <a16:creationId xmlns:a16="http://schemas.microsoft.com/office/drawing/2014/main" id="{59CD33C9-0299-CA86-0E4B-BDDFD41CB78F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55099" y="4443052"/>
            <a:ext cx="1756496" cy="620067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defPPr>
              <a:defRPr lang="es-CL"/>
            </a:defPPr>
            <a:lvl1pPr marR="0" lvl="0" indent="0" algn="ctr" defTabSz="914377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200" b="1" i="0" u="none" strike="noStrike" cap="none" spc="-7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defRPr>
            </a:lvl1pPr>
          </a:lstStyle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u="none" strike="noStrike" kern="0" cap="none" spc="-7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Mentalidad y Comportamiento</a:t>
            </a:r>
          </a:p>
        </p:txBody>
      </p:sp>
      <p:sp>
        <p:nvSpPr>
          <p:cNvPr id="224" name="OTLSHAPE_SLT_44de9765e7204557b88297f4709b8c30_Title33">
            <a:extLst>
              <a:ext uri="{FF2B5EF4-FFF2-40B4-BE49-F238E27FC236}">
                <a16:creationId xmlns:a16="http://schemas.microsoft.com/office/drawing/2014/main" id="{64F4030D-2127-A3BA-472F-D7D03523C73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510180" y="2008946"/>
            <a:ext cx="2569581" cy="10299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defPPr>
              <a:defRPr lang="es-CL"/>
            </a:defPPr>
            <a:lvl1pPr marR="0" lvl="0" indent="0" algn="ctr" defTabSz="914377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200" b="1" i="0" u="none" strike="noStrike" cap="none" spc="-7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defRPr>
            </a:lvl1pPr>
          </a:lstStyle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s-ES" sz="1600" b="0">
                <a:latin typeface="Century Gothic" charset="0"/>
                <a:ea typeface="Century Gothic" charset="0"/>
                <a:cs typeface="Century Gothic" charset="0"/>
              </a:rPr>
              <a:t>Consultoría e Ingeniería de calidad rentables</a:t>
            </a:r>
          </a:p>
        </p:txBody>
      </p:sp>
      <p:sp>
        <p:nvSpPr>
          <p:cNvPr id="225" name="OTLSHAPE_SLT_44de9765e7204557b88297f4709b8c30_Title33">
            <a:extLst>
              <a:ext uri="{FF2B5EF4-FFF2-40B4-BE49-F238E27FC236}">
                <a16:creationId xmlns:a16="http://schemas.microsoft.com/office/drawing/2014/main" id="{5EE377C4-4E6A-945D-6887-93BB44E37159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503171" y="3201177"/>
            <a:ext cx="2569581" cy="10299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defPPr>
              <a:defRPr lang="es-CL"/>
            </a:defPPr>
            <a:lvl1pPr marR="0" lvl="0" indent="0" algn="ctr" defTabSz="914377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200" b="1" i="0" u="none" strike="noStrike" cap="none" spc="-7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defRPr>
            </a:lvl1pPr>
          </a:lstStyle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s-ES" sz="1600" b="0">
                <a:latin typeface="Century Gothic" charset="0"/>
                <a:ea typeface="Century Gothic" charset="0"/>
                <a:cs typeface="Century Gothic" charset="0"/>
              </a:rPr>
              <a:t>Asegurar la confiabilidad de la promesa</a:t>
            </a:r>
          </a:p>
        </p:txBody>
      </p:sp>
      <p:sp>
        <p:nvSpPr>
          <p:cNvPr id="226" name="OTLSHAPE_SLT_44de9765e7204557b88297f4709b8c30_Title33">
            <a:extLst>
              <a:ext uri="{FF2B5EF4-FFF2-40B4-BE49-F238E27FC236}">
                <a16:creationId xmlns:a16="http://schemas.microsoft.com/office/drawing/2014/main" id="{46D89C95-27D8-D581-3FA3-0AEF1326B5DB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510178" y="4392009"/>
            <a:ext cx="2569581" cy="10299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defPPr>
              <a:defRPr lang="es-CL"/>
            </a:defPPr>
            <a:lvl1pPr marR="0" lvl="0" indent="0" algn="ctr" defTabSz="914377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200" b="1" i="0" u="none" strike="noStrike" cap="none" spc="-7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defRPr>
            </a:lvl1pPr>
          </a:lstStyle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s-ES" sz="1600" b="0">
                <a:latin typeface="Century Gothic" charset="0"/>
                <a:ea typeface="Century Gothic" charset="0"/>
                <a:cs typeface="Century Gothic" charset="0"/>
              </a:rPr>
              <a:t>Evitar errores</a:t>
            </a:r>
          </a:p>
        </p:txBody>
      </p:sp>
      <p:sp>
        <p:nvSpPr>
          <p:cNvPr id="227" name="OTLSHAPE_SLT_44de9765e7204557b88297f4709b8c30_Title33">
            <a:extLst>
              <a:ext uri="{FF2B5EF4-FFF2-40B4-BE49-F238E27FC236}">
                <a16:creationId xmlns:a16="http://schemas.microsoft.com/office/drawing/2014/main" id="{9DACB568-5F88-0CA6-7FC5-F1F880D9FE8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066910" y="2008946"/>
            <a:ext cx="2569581" cy="10299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defPPr>
              <a:defRPr lang="es-CL"/>
            </a:defPPr>
            <a:lvl1pPr marR="0" lvl="0" indent="0" algn="ctr" defTabSz="914377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200" b="1" i="0" u="none" strike="noStrike" cap="none" spc="-7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defRPr>
            </a:lvl1pPr>
          </a:lstStyle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s-ES" sz="1600" b="0">
                <a:latin typeface="Century Gothic" charset="0"/>
                <a:ea typeface="Century Gothic" charset="0"/>
                <a:cs typeface="Century Gothic" charset="0"/>
              </a:rPr>
              <a:t>Innovar para evolucionar las Consultorías e Ingenierías</a:t>
            </a:r>
          </a:p>
        </p:txBody>
      </p:sp>
      <p:sp>
        <p:nvSpPr>
          <p:cNvPr id="228" name="OTLSHAPE_SLT_44de9765e7204557b88297f4709b8c30_Title33">
            <a:extLst>
              <a:ext uri="{FF2B5EF4-FFF2-40B4-BE49-F238E27FC236}">
                <a16:creationId xmlns:a16="http://schemas.microsoft.com/office/drawing/2014/main" id="{F651A656-EBB4-8F31-8695-51FA1C31276D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066909" y="3203730"/>
            <a:ext cx="2569581" cy="10299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defPPr>
              <a:defRPr lang="es-CL"/>
            </a:defPPr>
            <a:lvl1pPr marR="0" lvl="0" indent="0" algn="ctr" defTabSz="914377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200" b="1" i="0" u="none" strike="noStrike" cap="none" spc="-7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defRPr>
            </a:lvl1pPr>
          </a:lstStyle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s-ES" sz="1600" b="0">
                <a:latin typeface="Century Gothic" charset="0"/>
                <a:ea typeface="Century Gothic" charset="0"/>
                <a:cs typeface="Century Gothic" charset="0"/>
              </a:rPr>
              <a:t>Generar ambientes para hacerlo distinto</a:t>
            </a:r>
          </a:p>
        </p:txBody>
      </p:sp>
      <p:sp>
        <p:nvSpPr>
          <p:cNvPr id="229" name="OTLSHAPE_SLT_44de9765e7204557b88297f4709b8c30_Title33">
            <a:extLst>
              <a:ext uri="{FF2B5EF4-FFF2-40B4-BE49-F238E27FC236}">
                <a16:creationId xmlns:a16="http://schemas.microsoft.com/office/drawing/2014/main" id="{4C0A712F-1A76-D59C-6559-AFCEC05F63C7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7066908" y="4392009"/>
            <a:ext cx="2569581" cy="10299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defPPr>
              <a:defRPr lang="es-CL"/>
            </a:defPPr>
            <a:lvl1pPr marR="0" lvl="0" indent="0" algn="ctr" defTabSz="914377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200" b="1" i="0" u="none" strike="noStrike" cap="none" spc="-7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defRPr>
            </a:lvl1pPr>
          </a:lstStyle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s-ES" sz="1600" b="0">
                <a:latin typeface="Century Gothic" charset="0"/>
                <a:ea typeface="Century Gothic" charset="0"/>
                <a:cs typeface="Century Gothic" charset="0"/>
              </a:rPr>
              <a:t>Error es una fuente de aprendizaje</a:t>
            </a:r>
          </a:p>
        </p:txBody>
      </p:sp>
      <p:cxnSp>
        <p:nvCxnSpPr>
          <p:cNvPr id="230" name="Conector recto 229">
            <a:extLst>
              <a:ext uri="{FF2B5EF4-FFF2-40B4-BE49-F238E27FC236}">
                <a16:creationId xmlns:a16="http://schemas.microsoft.com/office/drawing/2014/main" id="{D5FBC847-FE2E-76C1-178D-A96B91A85BAF}"/>
              </a:ext>
            </a:extLst>
          </p:cNvPr>
          <p:cNvCxnSpPr/>
          <p:nvPr/>
        </p:nvCxnSpPr>
        <p:spPr>
          <a:xfrm>
            <a:off x="3258835" y="1856932"/>
            <a:ext cx="654769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Conector recto 230">
            <a:extLst>
              <a:ext uri="{FF2B5EF4-FFF2-40B4-BE49-F238E27FC236}">
                <a16:creationId xmlns:a16="http://schemas.microsoft.com/office/drawing/2014/main" id="{4C16131C-1B1F-484E-961F-B2BC10CC949A}"/>
              </a:ext>
            </a:extLst>
          </p:cNvPr>
          <p:cNvCxnSpPr/>
          <p:nvPr/>
        </p:nvCxnSpPr>
        <p:spPr>
          <a:xfrm>
            <a:off x="3062068" y="1508550"/>
            <a:ext cx="0" cy="39133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Flecha derecha 53">
            <a:extLst>
              <a:ext uri="{FF2B5EF4-FFF2-40B4-BE49-F238E27FC236}">
                <a16:creationId xmlns:a16="http://schemas.microsoft.com/office/drawing/2014/main" id="{CB7CE457-3CDF-E317-F359-35EC4D0F6B1A}"/>
              </a:ext>
            </a:extLst>
          </p:cNvPr>
          <p:cNvSpPr/>
          <p:nvPr/>
        </p:nvSpPr>
        <p:spPr>
          <a:xfrm>
            <a:off x="6268252" y="3397948"/>
            <a:ext cx="252984" cy="38115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rgbClr val="FF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233" name="Flecha derecha 55">
            <a:extLst>
              <a:ext uri="{FF2B5EF4-FFF2-40B4-BE49-F238E27FC236}">
                <a16:creationId xmlns:a16="http://schemas.microsoft.com/office/drawing/2014/main" id="{B92F1910-FE53-780C-1B1A-8BD3A34965ED}"/>
              </a:ext>
            </a:extLst>
          </p:cNvPr>
          <p:cNvSpPr/>
          <p:nvPr/>
        </p:nvSpPr>
        <p:spPr>
          <a:xfrm flipH="1">
            <a:off x="6648564" y="3400501"/>
            <a:ext cx="291017" cy="38115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rgbClr val="FF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234" name="Flecha abajo 57">
            <a:extLst>
              <a:ext uri="{FF2B5EF4-FFF2-40B4-BE49-F238E27FC236}">
                <a16:creationId xmlns:a16="http://schemas.microsoft.com/office/drawing/2014/main" id="{1E952DFC-2C38-510E-7C9C-E6AC0BC4DC86}"/>
              </a:ext>
            </a:extLst>
          </p:cNvPr>
          <p:cNvSpPr/>
          <p:nvPr/>
        </p:nvSpPr>
        <p:spPr>
          <a:xfrm flipV="1">
            <a:off x="1883372" y="2910445"/>
            <a:ext cx="289367" cy="221631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235" name="Flecha abajo 58">
            <a:extLst>
              <a:ext uri="{FF2B5EF4-FFF2-40B4-BE49-F238E27FC236}">
                <a16:creationId xmlns:a16="http://schemas.microsoft.com/office/drawing/2014/main" id="{7F0545B6-2471-05A4-98F5-B2CD2D2AFFB7}"/>
              </a:ext>
            </a:extLst>
          </p:cNvPr>
          <p:cNvSpPr/>
          <p:nvPr/>
        </p:nvSpPr>
        <p:spPr>
          <a:xfrm>
            <a:off x="1881447" y="3038156"/>
            <a:ext cx="291292" cy="187841"/>
          </a:xfrm>
          <a:prstGeom prst="downArrow">
            <a:avLst>
              <a:gd name="adj1" fmla="val 46027"/>
              <a:gd name="adj2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236" name="Flecha abajo 59">
            <a:extLst>
              <a:ext uri="{FF2B5EF4-FFF2-40B4-BE49-F238E27FC236}">
                <a16:creationId xmlns:a16="http://schemas.microsoft.com/office/drawing/2014/main" id="{CD1683D7-D395-2A61-FCCA-EFF730828F68}"/>
              </a:ext>
            </a:extLst>
          </p:cNvPr>
          <p:cNvSpPr/>
          <p:nvPr/>
        </p:nvSpPr>
        <p:spPr>
          <a:xfrm flipV="1">
            <a:off x="1885297" y="4009470"/>
            <a:ext cx="289367" cy="221631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237" name="Flecha abajo 60">
            <a:extLst>
              <a:ext uri="{FF2B5EF4-FFF2-40B4-BE49-F238E27FC236}">
                <a16:creationId xmlns:a16="http://schemas.microsoft.com/office/drawing/2014/main" id="{48880C0C-F900-C3A8-AC70-6A6BE7B80C57}"/>
              </a:ext>
            </a:extLst>
          </p:cNvPr>
          <p:cNvSpPr/>
          <p:nvPr/>
        </p:nvSpPr>
        <p:spPr>
          <a:xfrm>
            <a:off x="1883372" y="4137181"/>
            <a:ext cx="291292" cy="187841"/>
          </a:xfrm>
          <a:prstGeom prst="downArrow">
            <a:avLst>
              <a:gd name="adj1" fmla="val 46027"/>
              <a:gd name="adj2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44" name="Título 1">
            <a:extLst>
              <a:ext uri="{FF2B5EF4-FFF2-40B4-BE49-F238E27FC236}">
                <a16:creationId xmlns:a16="http://schemas.microsoft.com/office/drawing/2014/main" id="{2689809F-0EF9-B48D-CEC5-784111D40612}"/>
              </a:ext>
            </a:extLst>
          </p:cNvPr>
          <p:cNvSpPr txBox="1">
            <a:spLocks/>
          </p:cNvSpPr>
          <p:nvPr/>
        </p:nvSpPr>
        <p:spPr>
          <a:xfrm>
            <a:off x="330200" y="358044"/>
            <a:ext cx="11861799" cy="638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CL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Arial"/>
              </a:rPr>
              <a:t>El gran desafío del cumplimiento del diseño estratégico es mantener dos agendas en paralelo, de cumplimiento y de aspiración </a:t>
            </a:r>
          </a:p>
        </p:txBody>
      </p:sp>
    </p:spTree>
    <p:extLst>
      <p:ext uri="{BB962C8B-B14F-4D97-AF65-F5344CB8AC3E}">
        <p14:creationId xmlns:p14="http://schemas.microsoft.com/office/powerpoint/2010/main" val="4288782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6F82CF10-1610-06C6-C4C9-DAE3295BA4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038982"/>
              </p:ext>
            </p:extLst>
          </p:nvPr>
        </p:nvGraphicFramePr>
        <p:xfrm>
          <a:off x="1257904" y="1123808"/>
          <a:ext cx="9823624" cy="48587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55906">
                  <a:extLst>
                    <a:ext uri="{9D8B030D-6E8A-4147-A177-3AD203B41FA5}">
                      <a16:colId xmlns:a16="http://schemas.microsoft.com/office/drawing/2014/main" val="3640463036"/>
                    </a:ext>
                  </a:extLst>
                </a:gridCol>
                <a:gridCol w="2455906">
                  <a:extLst>
                    <a:ext uri="{9D8B030D-6E8A-4147-A177-3AD203B41FA5}">
                      <a16:colId xmlns:a16="http://schemas.microsoft.com/office/drawing/2014/main" val="4123806255"/>
                    </a:ext>
                  </a:extLst>
                </a:gridCol>
                <a:gridCol w="2455906">
                  <a:extLst>
                    <a:ext uri="{9D8B030D-6E8A-4147-A177-3AD203B41FA5}">
                      <a16:colId xmlns:a16="http://schemas.microsoft.com/office/drawing/2014/main" val="1957551428"/>
                    </a:ext>
                  </a:extLst>
                </a:gridCol>
                <a:gridCol w="2455906">
                  <a:extLst>
                    <a:ext uri="{9D8B030D-6E8A-4147-A177-3AD203B41FA5}">
                      <a16:colId xmlns:a16="http://schemas.microsoft.com/office/drawing/2014/main" val="1636844369"/>
                    </a:ext>
                  </a:extLst>
                </a:gridCol>
              </a:tblGrid>
              <a:tr h="1214682">
                <a:tc>
                  <a:txBody>
                    <a:bodyPr/>
                    <a:lstStyle/>
                    <a:p>
                      <a:endParaRPr lang="es-ES_tradnl" sz="180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45720" marR="45720" marT="22860" marB="22860"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>
                          <a:latin typeface="Century Gothic" charset="0"/>
                          <a:ea typeface="Century Gothic" charset="0"/>
                          <a:cs typeface="Century Gothic" charset="0"/>
                        </a:rPr>
                        <a:t>COMODIDAD / EQUILIBRIO</a:t>
                      </a:r>
                    </a:p>
                  </a:txBody>
                  <a:tcPr marL="45720" marR="45720" marT="22860" marB="2286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140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45720" marR="45720" marT="22860" marB="228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8276"/>
                  </a:ext>
                </a:extLst>
              </a:tr>
              <a:tr h="1214682"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1800">
                          <a:latin typeface="Century Gothic" charset="0"/>
                          <a:ea typeface="Century Gothic" charset="0"/>
                          <a:cs typeface="Century Gothic" charset="0"/>
                        </a:rPr>
                        <a:t>REFORZANDO PATRONES DEL PASADO</a:t>
                      </a:r>
                    </a:p>
                  </a:txBody>
                  <a:tcPr marL="45720" marR="45720" marT="22860" marB="2286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05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45720" marR="45720" marT="22860" marB="2286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80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45720" marR="45720" marT="22860" marB="2286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1800">
                          <a:latin typeface="Century Gothic" charset="0"/>
                          <a:ea typeface="Century Gothic" charset="0"/>
                          <a:cs typeface="Century Gothic" charset="0"/>
                        </a:rPr>
                        <a:t>ABRIENDO POSIBILIDADES</a:t>
                      </a:r>
                    </a:p>
                  </a:txBody>
                  <a:tcPr marL="45720" marR="45720" marT="22860" marB="2286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009047"/>
                  </a:ext>
                </a:extLst>
              </a:tr>
              <a:tr h="1214682"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sz="90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45720" marR="45720" marT="22860" marB="2286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80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45720" marR="45720" marT="22860" marB="2286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lang="es-ES_tradnl" sz="4000"/>
                        <a:t>ABRIENDO POSIBILIDADES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2266191"/>
                  </a:ext>
                </a:extLst>
              </a:tr>
              <a:tr h="1214682">
                <a:tc>
                  <a:txBody>
                    <a:bodyPr/>
                    <a:lstStyle/>
                    <a:p>
                      <a:pPr algn="ctr"/>
                      <a:endParaRPr lang="es-ES_tradnl" sz="140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45720" marR="45720" marT="22860" marB="2286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>
                          <a:latin typeface="Century Gothic" charset="0"/>
                          <a:ea typeface="Century Gothic" charset="0"/>
                          <a:cs typeface="Century Gothic" charset="0"/>
                        </a:rPr>
                        <a:t>TENSIÓN / DESEQUILIBRIO</a:t>
                      </a:r>
                    </a:p>
                  </a:txBody>
                  <a:tcPr marL="45720" marR="45720" marT="22860" marB="2286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s-ES_tradnl" sz="4000"/>
                        <a:t>COMODIDAD / EQUILIBRIO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ES_tradnl" sz="180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45720" marR="45720" marT="22860" marB="228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315024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F04FD85A-F4CC-ED7B-D004-6DFAD1C4452E}"/>
              </a:ext>
            </a:extLst>
          </p:cNvPr>
          <p:cNvSpPr txBox="1"/>
          <p:nvPr/>
        </p:nvSpPr>
        <p:spPr>
          <a:xfrm>
            <a:off x="3833042" y="3490518"/>
            <a:ext cx="23077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ES_tradnl" sz="1600" b="1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  <a:p>
            <a:pPr algn="ctr"/>
            <a:r>
              <a:rPr lang="es-ES_tradnl" sz="1600" b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DEBATE DE TRINCHERAS</a:t>
            </a:r>
          </a:p>
          <a:p>
            <a:pPr algn="ctr"/>
            <a:r>
              <a:rPr lang="es-ES_tradnl" sz="1600" b="1">
                <a:solidFill>
                  <a:srgbClr val="C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30%</a:t>
            </a:r>
          </a:p>
          <a:p>
            <a:pPr algn="ctr"/>
            <a:endParaRPr lang="es-ES_tradnl" sz="1600" b="1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3424FCB-724D-37BB-2625-DFB57DD52F1C}"/>
              </a:ext>
            </a:extLst>
          </p:cNvPr>
          <p:cNvSpPr txBox="1"/>
          <p:nvPr/>
        </p:nvSpPr>
        <p:spPr>
          <a:xfrm>
            <a:off x="3833042" y="2167079"/>
            <a:ext cx="23077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ES_tradnl" sz="1600" b="1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  <a:p>
            <a:pPr algn="ctr"/>
            <a:r>
              <a:rPr lang="es-ES_tradnl" sz="1600" b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COMUNICACIÓN POLITICAMENTE CORRECTA</a:t>
            </a:r>
          </a:p>
          <a:p>
            <a:pPr algn="ctr"/>
            <a:r>
              <a:rPr lang="es-ES_tradnl" sz="1600" b="1">
                <a:solidFill>
                  <a:srgbClr val="C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40%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403FD68-6B8F-054E-385A-7DBE6B2835C7}"/>
              </a:ext>
            </a:extLst>
          </p:cNvPr>
          <p:cNvSpPr txBox="1"/>
          <p:nvPr/>
        </p:nvSpPr>
        <p:spPr>
          <a:xfrm>
            <a:off x="6202946" y="3490518"/>
            <a:ext cx="23077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ES_tradnl" sz="1600" b="1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  <a:p>
            <a:pPr algn="ctr"/>
            <a:r>
              <a:rPr lang="es-ES_tradnl" sz="1600" b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CONVERSACIONES DIFICILES</a:t>
            </a:r>
          </a:p>
          <a:p>
            <a:pPr algn="ctr"/>
            <a:r>
              <a:rPr lang="es-ES_tradnl" sz="1600" b="1">
                <a:solidFill>
                  <a:srgbClr val="C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20%</a:t>
            </a:r>
          </a:p>
          <a:p>
            <a:pPr algn="ctr"/>
            <a:endParaRPr lang="es-ES_tradnl" sz="1600" b="1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C9C119F-0ACD-863E-35E9-52F6644EF177}"/>
              </a:ext>
            </a:extLst>
          </p:cNvPr>
          <p:cNvSpPr txBox="1"/>
          <p:nvPr/>
        </p:nvSpPr>
        <p:spPr>
          <a:xfrm>
            <a:off x="6202946" y="2254668"/>
            <a:ext cx="23077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ES_tradnl" sz="1600" b="1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  <a:p>
            <a:pPr algn="ctr"/>
            <a:r>
              <a:rPr lang="es-ES_tradnl" sz="1600" b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DIALOGO </a:t>
            </a:r>
          </a:p>
          <a:p>
            <a:pPr algn="ctr"/>
            <a:r>
              <a:rPr lang="es-ES_tradnl" sz="1600" b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GENERATIVO</a:t>
            </a:r>
          </a:p>
          <a:p>
            <a:pPr algn="ctr"/>
            <a:r>
              <a:rPr lang="es-ES_tradnl" sz="1600" b="1">
                <a:solidFill>
                  <a:srgbClr val="C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10%</a:t>
            </a:r>
          </a:p>
          <a:p>
            <a:pPr algn="ctr"/>
            <a:endParaRPr lang="es-ES_tradnl" sz="1600" b="1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9" name="Google Shape;743;p15"/>
          <p:cNvSpPr txBox="1"/>
          <p:nvPr/>
        </p:nvSpPr>
        <p:spPr>
          <a:xfrm>
            <a:off x="146159" y="144627"/>
            <a:ext cx="12045841" cy="898982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defTabSz="914400" eaLnBrk="1" latinLnBrk="0" hangingPunct="1">
              <a:defRPr sz="2800" kern="12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9144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ym typeface="Century Gothic"/>
              </a:rPr>
              <a:t>REDCO </a:t>
            </a:r>
            <a:r>
              <a:rPr lang="en-US" err="1">
                <a:sym typeface="Century Gothic"/>
              </a:rPr>
              <a:t>sostiene</a:t>
            </a:r>
            <a:r>
              <a:rPr lang="en-US">
                <a:sym typeface="Century Gothic"/>
              </a:rPr>
              <a:t> la mayor parte del </a:t>
            </a:r>
            <a:r>
              <a:rPr lang="en-US" err="1">
                <a:sym typeface="Century Gothic"/>
              </a:rPr>
              <a:t>tiempo</a:t>
            </a:r>
            <a:r>
              <a:rPr lang="en-US">
                <a:sym typeface="Century Gothic"/>
              </a:rPr>
              <a:t> </a:t>
            </a:r>
            <a:r>
              <a:rPr lang="en-US" err="1">
                <a:sym typeface="Century Gothic"/>
              </a:rPr>
              <a:t>conversaciones</a:t>
            </a:r>
            <a:r>
              <a:rPr lang="en-US">
                <a:sym typeface="Century Gothic"/>
              </a:rPr>
              <a:t> que no </a:t>
            </a:r>
            <a:r>
              <a:rPr lang="en-US" err="1">
                <a:sym typeface="Century Gothic"/>
              </a:rPr>
              <a:t>generan</a:t>
            </a:r>
            <a:r>
              <a:rPr lang="en-US">
                <a:sym typeface="Century Gothic"/>
              </a:rPr>
              <a:t> </a:t>
            </a:r>
            <a:r>
              <a:rPr lang="en-US" err="1">
                <a:sym typeface="Century Gothic"/>
              </a:rPr>
              <a:t>nuevas</a:t>
            </a:r>
            <a:r>
              <a:rPr lang="en-US">
                <a:sym typeface="Century Gothic"/>
              </a:rPr>
              <a:t> </a:t>
            </a:r>
            <a:r>
              <a:rPr lang="en-US" err="1">
                <a:sym typeface="Century Gothic"/>
              </a:rPr>
              <a:t>oportunidades</a:t>
            </a:r>
            <a:endParaRPr lang="en-US">
              <a:sym typeface="Century Gothic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1257904" y="6092630"/>
            <a:ext cx="1053966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  <a:latin typeface="Century Gothic" charset="0"/>
                <a:ea typeface="Century Gothic" charset="0"/>
                <a:cs typeface="Century Gothic" charset="0"/>
                <a:sym typeface="Century Gothic"/>
              </a:rPr>
              <a:t>Las </a:t>
            </a:r>
            <a:r>
              <a:rPr lang="en-US" sz="1600" b="1" err="1">
                <a:solidFill>
                  <a:srgbClr val="C00000"/>
                </a:solidFill>
                <a:latin typeface="Century Gothic" charset="0"/>
                <a:ea typeface="Century Gothic" charset="0"/>
                <a:cs typeface="Century Gothic" charset="0"/>
                <a:sym typeface="Century Gothic"/>
              </a:rPr>
              <a:t>conversaciones</a:t>
            </a:r>
            <a:r>
              <a:rPr lang="en-US" sz="1600" b="1">
                <a:solidFill>
                  <a:srgbClr val="C00000"/>
                </a:solidFill>
                <a:latin typeface="Century Gothic" charset="0"/>
                <a:ea typeface="Century Gothic" charset="0"/>
                <a:cs typeface="Century Gothic" charset="0"/>
                <a:sym typeface="Century Gothic"/>
              </a:rPr>
              <a:t> que el </a:t>
            </a:r>
            <a:r>
              <a:rPr lang="en-US" sz="1600" b="1" err="1">
                <a:solidFill>
                  <a:srgbClr val="C00000"/>
                </a:solidFill>
                <a:latin typeface="Century Gothic" charset="0"/>
                <a:ea typeface="Century Gothic" charset="0"/>
                <a:cs typeface="Century Gothic" charset="0"/>
                <a:sym typeface="Century Gothic"/>
              </a:rPr>
              <a:t>equipo</a:t>
            </a:r>
            <a:r>
              <a:rPr lang="en-US" sz="1600" b="1">
                <a:solidFill>
                  <a:srgbClr val="C00000"/>
                </a:solidFill>
                <a:latin typeface="Century Gothic" charset="0"/>
                <a:ea typeface="Century Gothic" charset="0"/>
                <a:cs typeface="Century Gothic" charset="0"/>
                <a:sym typeface="Century Gothic"/>
              </a:rPr>
              <a:t> </a:t>
            </a:r>
            <a:r>
              <a:rPr lang="en-US" sz="1600" b="1" err="1">
                <a:solidFill>
                  <a:srgbClr val="C00000"/>
                </a:solidFill>
                <a:latin typeface="Century Gothic" charset="0"/>
                <a:ea typeface="Century Gothic" charset="0"/>
                <a:cs typeface="Century Gothic" charset="0"/>
                <a:sym typeface="Century Gothic"/>
              </a:rPr>
              <a:t>hace</a:t>
            </a:r>
            <a:r>
              <a:rPr lang="en-US" sz="1600" b="1">
                <a:solidFill>
                  <a:srgbClr val="C00000"/>
                </a:solidFill>
                <a:latin typeface="Century Gothic" charset="0"/>
                <a:ea typeface="Century Gothic" charset="0"/>
                <a:cs typeface="Century Gothic" charset="0"/>
                <a:sym typeface="Century Gothic"/>
              </a:rPr>
              <a:t> o no, me </a:t>
            </a:r>
            <a:r>
              <a:rPr lang="en-US" sz="1600" b="1" err="1">
                <a:solidFill>
                  <a:srgbClr val="C00000"/>
                </a:solidFill>
                <a:latin typeface="Century Gothic" charset="0"/>
                <a:ea typeface="Century Gothic" charset="0"/>
                <a:cs typeface="Century Gothic" charset="0"/>
                <a:sym typeface="Century Gothic"/>
              </a:rPr>
              <a:t>determinan</a:t>
            </a:r>
            <a:r>
              <a:rPr lang="en-US" sz="1600" b="1">
                <a:solidFill>
                  <a:srgbClr val="C00000"/>
                </a:solidFill>
                <a:latin typeface="Century Gothic" charset="0"/>
                <a:ea typeface="Century Gothic" charset="0"/>
                <a:cs typeface="Century Gothic" charset="0"/>
                <a:sym typeface="Century Gothic"/>
              </a:rPr>
              <a:t> </a:t>
            </a:r>
            <a:r>
              <a:rPr lang="en-US" sz="1600" b="1" err="1">
                <a:solidFill>
                  <a:srgbClr val="C00000"/>
                </a:solidFill>
                <a:latin typeface="Century Gothic" charset="0"/>
                <a:ea typeface="Century Gothic" charset="0"/>
                <a:cs typeface="Century Gothic" charset="0"/>
                <a:sym typeface="Century Gothic"/>
              </a:rPr>
              <a:t>los</a:t>
            </a:r>
            <a:r>
              <a:rPr lang="en-US" sz="1600" b="1">
                <a:solidFill>
                  <a:srgbClr val="C00000"/>
                </a:solidFill>
                <a:latin typeface="Century Gothic" charset="0"/>
                <a:ea typeface="Century Gothic" charset="0"/>
                <a:cs typeface="Century Gothic" charset="0"/>
                <a:sym typeface="Century Gothic"/>
              </a:rPr>
              <a:t> </a:t>
            </a:r>
            <a:r>
              <a:rPr lang="en-US" sz="1600" b="1" err="1">
                <a:solidFill>
                  <a:srgbClr val="C00000"/>
                </a:solidFill>
                <a:latin typeface="Century Gothic" charset="0"/>
                <a:ea typeface="Century Gothic" charset="0"/>
                <a:cs typeface="Century Gothic" charset="0"/>
                <a:sym typeface="Century Gothic"/>
              </a:rPr>
              <a:t>estilos</a:t>
            </a:r>
            <a:r>
              <a:rPr lang="en-US" sz="1600" b="1">
                <a:solidFill>
                  <a:srgbClr val="C00000"/>
                </a:solidFill>
                <a:latin typeface="Century Gothic" charset="0"/>
                <a:ea typeface="Century Gothic" charset="0"/>
                <a:cs typeface="Century Gothic" charset="0"/>
                <a:sym typeface="Century Gothic"/>
              </a:rPr>
              <a:t> de </a:t>
            </a:r>
            <a:r>
              <a:rPr lang="en-US" sz="1600" b="1" err="1">
                <a:solidFill>
                  <a:srgbClr val="C00000"/>
                </a:solidFill>
                <a:latin typeface="Century Gothic" charset="0"/>
                <a:ea typeface="Century Gothic" charset="0"/>
                <a:cs typeface="Century Gothic" charset="0"/>
                <a:sym typeface="Century Gothic"/>
              </a:rPr>
              <a:t>trabajo</a:t>
            </a:r>
            <a:r>
              <a:rPr lang="en-US" sz="1600" b="1">
                <a:solidFill>
                  <a:srgbClr val="C00000"/>
                </a:solidFill>
                <a:latin typeface="Century Gothic" charset="0"/>
                <a:ea typeface="Century Gothic" charset="0"/>
                <a:cs typeface="Century Gothic" charset="0"/>
                <a:sym typeface="Century Gothic"/>
              </a:rPr>
              <a:t> y </a:t>
            </a:r>
            <a:r>
              <a:rPr lang="en-US" sz="1600" b="1" err="1">
                <a:solidFill>
                  <a:srgbClr val="C00000"/>
                </a:solidFill>
                <a:latin typeface="Century Gothic" charset="0"/>
                <a:ea typeface="Century Gothic" charset="0"/>
                <a:cs typeface="Century Gothic" charset="0"/>
                <a:sym typeface="Century Gothic"/>
              </a:rPr>
              <a:t>mentalidades</a:t>
            </a:r>
            <a:endParaRPr lang="es-ES_tradnl" sz="1600" b="1">
              <a:solidFill>
                <a:srgbClr val="C00000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7139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432" y="2622767"/>
            <a:ext cx="9144000" cy="436457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65"/>
          <a:stretch/>
        </p:blipFill>
        <p:spPr>
          <a:xfrm>
            <a:off x="3001432" y="0"/>
            <a:ext cx="9144000" cy="2782465"/>
          </a:xfrm>
          <a:prstGeom prst="rect">
            <a:avLst/>
          </a:prstGeom>
        </p:spPr>
      </p:pic>
      <p:sp>
        <p:nvSpPr>
          <p:cNvPr id="4" name="Google Shape;1076;p26"/>
          <p:cNvSpPr txBox="1"/>
          <p:nvPr/>
        </p:nvSpPr>
        <p:spPr>
          <a:xfrm>
            <a:off x="150909" y="138332"/>
            <a:ext cx="2880157" cy="907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rgbClr val="2F549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Cuáles son los aceleradores y frenos de REDCO para la transformación</a:t>
            </a:r>
            <a:endParaRPr sz="2800">
              <a:solidFill>
                <a:srgbClr val="2F549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90940046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"/>
          <p:cNvSpPr/>
          <p:nvPr/>
        </p:nvSpPr>
        <p:spPr>
          <a:xfrm>
            <a:off x="-12504" y="5592"/>
            <a:ext cx="12204504" cy="6863444"/>
          </a:xfrm>
          <a:prstGeom prst="rect">
            <a:avLst/>
          </a:prstGeom>
          <a:blipFill rotWithShape="1">
            <a:blip r:embed="rId3">
              <a:alphaModFix amt="86000"/>
            </a:blip>
            <a:stretch>
              <a:fillRect/>
            </a:stretch>
          </a:blipFill>
          <a:ln>
            <a:noFill/>
          </a:ln>
          <a:effectLst>
            <a:outerShdw blurRad="50800" dist="762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Calibri"/>
              <a:buNone/>
            </a:pPr>
            <a:endParaRPr sz="144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3141329" y="3035052"/>
            <a:ext cx="7721402" cy="145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8225" rIns="0" bIns="0" anchor="t" anchorCtr="0">
            <a:spAutoFit/>
          </a:bodyPr>
          <a:lstStyle/>
          <a:p>
            <a:pPr marL="0" marR="3081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B92"/>
              </a:buClr>
              <a:buSzPts val="4002"/>
              <a:buFont typeface="Open Sans"/>
              <a:buNone/>
            </a:pPr>
            <a:r>
              <a:rPr lang="es-ES" sz="24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Rodrigo Herrera</a:t>
            </a:r>
          </a:p>
          <a:p>
            <a:pPr marR="3081" lvl="0">
              <a:lnSpc>
                <a:spcPct val="90000"/>
              </a:lnSpc>
              <a:buClr>
                <a:srgbClr val="007B92"/>
              </a:buClr>
              <a:buSzPts val="4002"/>
            </a:pPr>
            <a:r>
              <a:rPr lang="es-ES" sz="2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M. Cristina Güell</a:t>
            </a:r>
          </a:p>
          <a:p>
            <a:pPr marL="0" marR="3081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B92"/>
              </a:buClr>
              <a:buSzPts val="4002"/>
              <a:buFont typeface="Open Sans"/>
              <a:buNone/>
            </a:pPr>
            <a:br>
              <a:rPr lang="en-US" sz="24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sz="2400" b="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1777682" y="6342562"/>
            <a:ext cx="67776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28 </a:t>
            </a:r>
            <a:r>
              <a:rPr lang="en-US" sz="1800" err="1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junio</a:t>
            </a:r>
            <a:r>
              <a:rPr lang="en-US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1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2024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1"/>
          <p:cNvCxnSpPr/>
          <p:nvPr/>
        </p:nvCxnSpPr>
        <p:spPr>
          <a:xfrm rot="10800000">
            <a:off x="3073598" y="3935427"/>
            <a:ext cx="3744815" cy="0"/>
          </a:xfrm>
          <a:prstGeom prst="straightConnector1">
            <a:avLst/>
          </a:prstGeom>
          <a:noFill/>
          <a:ln w="19050" cap="flat" cmpd="sng">
            <a:solidFill>
              <a:srgbClr val="B32075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6243820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9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9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9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9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68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68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24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24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27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28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16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20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20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26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20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20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28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28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28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5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5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24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24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27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28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16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208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20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266"/>
  <p:tag name="BTFPLAYOUTENABLED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65"/>
  <p:tag name="BTFPLAYOUTENABLED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68"/>
  <p:tag name="BTFPLAYOUTENABLED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71"/>
  <p:tag name="BTFPLAYOUTENABLED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74"/>
  <p:tag name="BTFPLAYOUTENABLED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20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65"/>
  <p:tag name="BTFPLAYOUTENABLED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71"/>
  <p:tag name="BTFPLAYOUTENABLED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68"/>
  <p:tag name="BTFPLAYOUTENABLED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74"/>
  <p:tag name="BTFPLAYOUTENABLED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266"/>
  <p:tag name="BTFPLAYOUTENABLED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26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26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7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76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69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7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7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73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66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67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7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76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7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7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69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7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66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67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267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268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54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55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56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276"/>
  <p:tag name="BTFPLAYOUTENABLED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08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083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08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086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085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087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088"/>
  <p:tag name="BTFPLAYOUTENABLED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089"/>
  <p:tag name="BTFPLAYOUTENABLED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09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09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09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093"/>
  <p:tag name="BTFPLAYOUTANCHOREBOTTOM" val="False"/>
  <p:tag name="BTFPLAYOUTANCHORELEFT" val="True"/>
  <p:tag name="BTFPLAYOUTANCHORERIGHT" val="False"/>
  <p:tag name="BTFPLAYOUTANCHORETOP" val="True"/>
  <p:tag name="BTFPLAYOUTENABLED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094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04"/>
  <p:tag name="BTFPLAYOUTENABLED" val="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277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278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59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6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6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6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63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8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8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65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66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8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8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68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69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7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7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8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73"/>
  <p:tag name="BTFPLAYOUTENABLED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76"/>
  <p:tag name="BTFPLAYOUTENABLED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79"/>
  <p:tag name="BTFPLAYOUTENABLED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82"/>
  <p:tag name="BTFPLAYOUTENABLED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85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86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83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84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8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8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77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78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74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75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16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16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16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16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295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296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297"/>
  <p:tag name="BTFPLAYOUTENABLED" val="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298"/>
  <p:tag name="BTFPLAYOUTENABLED" val="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299"/>
  <p:tag name="BTFPLAYOUTENABLED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00"/>
  <p:tag name="BTFPLAYOUTENABLED" val="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03"/>
  <p:tag name="BTFPLAYOUTENABLED" val="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06"/>
  <p:tag name="BTFPLAYOUTENABLED" val="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07"/>
  <p:tag name="BTFPLAYOUTENABLED" val="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10"/>
  <p:tag name="BTFPLAYOUTENABLED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16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17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18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19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20"/>
  <p:tag name="BTFPLAYOUTENABLED" val="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21"/>
  <p:tag name="BTFPLAYOUTENABLED" val="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26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27"/>
  <p:tag name="BTFPLAYOUTENABLED" val="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30"/>
  <p:tag name="BTFPLAYOUTENABLED" val="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3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32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33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34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35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36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37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28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29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22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23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24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25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1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12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08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09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04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05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0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02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29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292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293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09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10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1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12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13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14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15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16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17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18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19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20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2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22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23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24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25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26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27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28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29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30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3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32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33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34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35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36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37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39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40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41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42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43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44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45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46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47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48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49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50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55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51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52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53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54"/>
  <p:tag name="BTFPLAYOUTENABLED" val="1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55"/>
  <p:tag name="BTFPLAYOUTENABLED" val="1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56"/>
  <p:tag name="BTFPLAYOUTENABLED" val="1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57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58"/>
  <p:tag name="BTFPLAYOUTENABLED" val="1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59"/>
  <p:tag name="BTFPLAYOUTENABLED" val="1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62"/>
  <p:tag name="BTFPLAYOUTENABLED" val="1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65"/>
  <p:tag name="BTFPLAYOUTENABLED" val="1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68"/>
  <p:tag name="BTFPLAYOUTENABLED" val="1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295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69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70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71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72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66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67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63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64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60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61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04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05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06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09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295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36"/>
  <p:tag name="OTLMARKERSHAPE" val="OTL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36"/>
  <p:tag name="OTLMARKERSHAPE" val="OTL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04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05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06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36"/>
  <p:tag name="OTLMARKERSHAPE" val="OTL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36"/>
  <p:tag name="OTLMARKERSHAPE" val="OTL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45"/>
  <p:tag name="OTLMARKERSHAPE" val="OTL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45"/>
  <p:tag name="OTLMARKERSHAPE" val="OTL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45"/>
  <p:tag name="OTLMARKERSHAPE" val="OTL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45"/>
  <p:tag name="OTLMARKERSHAPE" val="OTL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45"/>
  <p:tag name="OTLMARKERSHAPE" val="OTL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45"/>
  <p:tag name="OTLMARKERSHAPE" val="OTL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45"/>
  <p:tag name="OTLMARKERSHAPE" val="OTL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45"/>
  <p:tag name="OTLMARKERSHAPE" val="OTL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45"/>
  <p:tag name="OTLMARKERSHAPE" val="OTL"/>
</p:tagLst>
</file>

<file path=ppt/theme/theme1.xml><?xml version="1.0" encoding="utf-8"?>
<a:theme xmlns:a="http://schemas.openxmlformats.org/drawingml/2006/main" name="Tema de Office">
  <a:themeElements>
    <a:clrScheme name="Office Them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50</Slides>
  <Notes>33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50</vt:i4>
      </vt:variant>
    </vt:vector>
  </HeadingPairs>
  <TitlesOfParts>
    <vt:vector size="51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Qué: Se deben mantener siempre vivas las agendas en función de la “Estrategia Viva”  que guían los diálogos</vt:lpstr>
      <vt:lpstr>Presentación de PowerPoint</vt:lpstr>
      <vt:lpstr>Presentación de PowerPoint</vt:lpstr>
      <vt:lpstr>Presentación de PowerPoint</vt:lpstr>
      <vt:lpstr>Presentación de PowerPoint</vt:lpstr>
      <vt:lpstr>Redco está enfrentando un nuevo crecimiento, que requiere revisar y explicitar su gestión estratégica  </vt:lpstr>
      <vt:lpstr>Las ventas 2020-2023 se han multiplicado 2,76 veces (carg 40%) </vt:lpstr>
      <vt:lpstr>El sostener relaciones comerciales solidadas con 3 a 4 clientes claves ha sido receta. </vt:lpstr>
      <vt:lpstr>La estructura financiera tiene un buen comportamiento</vt:lpstr>
      <vt:lpstr>El mercado de la minería es promisorio para diversos metales (transición energética)</vt:lpstr>
      <vt:lpstr>Al hacer un zoom en el mercado del Cobre se estiman que faltan 131 bUS$ en proyectos para cubrir dda al 2031</vt:lpstr>
      <vt:lpstr>Por lo tanto los principales fundamentos de la estrategia</vt:lpstr>
      <vt:lpstr>Para crecer con rentabilidades sostenibles lo primordial es cuidar el core del negocio en todo mometo…. y desde ahí desarrollar adyacencias.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Analizamos y vemos que son altas las probabilidades de éxito creciendo en países y/o tipo de clientes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Primer prototipo: Agenda cumplimiento control de gestión mensual</vt:lpstr>
      <vt:lpstr>Resultado primer prototipo: agenda cumplimiento control de gestión mensual para REDCO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Valentina Von Muhlenbrock</dc:creator>
  <cp:revision>4</cp:revision>
  <cp:lastPrinted>2024-06-28T15:15:08Z</cp:lastPrinted>
  <dcterms:created xsi:type="dcterms:W3CDTF">2022-10-13T22:02:32Z</dcterms:created>
  <dcterms:modified xsi:type="dcterms:W3CDTF">2026-07-08T18:11:12Z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0x010100242CC4B57C04E549B045A3396E5055CB</vt:lpwstr>
  </property>
</Properties>
</file>